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24"/>
    <p:sldId id="266" r:id="rId12"/>
    <p:sldId id="267" r:id="rId13"/>
    <p:sldId id="272" r:id="rId2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687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0–5. Καλωσόρισμα. Σήμερα είναι το πρώτο από 15 τρίωρα εργαστήρια. Ο στόχος της μέρας: να μπορεί κάθε εκπαιδευόμενος να εξηγήσει τι κάνει το ΛΣ και να φτιάξει την «κάρτα συστήματος» του υπολογιστή του.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5–15. Παρουσίαση του εξαμήνου. Τονίζουμε ότι το μάθημα είναι 100% εργαστηριακό: θεωρία μόνο όσο χρειάζεται για να καταλάβουμε τι κάνουμε στον υπολογιστή.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15–20. Αφήνουμε πρώτα τους εκπαιδευόμενους να απαντήσουν. Μετά αποκαλύπτουμε τις τέσσερις κάρτες. Συμπέρασμα: χωρίς ΛΣ το υλικό είναι άχρηστο για τον απλό χρήστη. (Η μόνη εξαίρεση: το BIOS/UEFI, που απλώς ψάχνει από πού θα φορτώσει ΛΣ.)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20–30. Το σχήμα με τα στρώματα είναι η κεντρική εικόνα της σημερινής μέρας. Οι εφαρμογές δεν αγγίζουν απευθείας το υλικό, περνούν πάντα από το ΛΣ.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30–35. Ρωτήστε: ποιος στόχος είναι πιο σημαντικός σε ένα κινητό; (ευκολία) Σε έναν server; (αποδοτικότητα)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35–45. Για κάθε αρμοδιότητα ζητάμε ένα παράδειγμα από την καθημερινότητα. Ζωντανή επίδειξη: Ctrl+Shift+Esc → καρτέλα Επιδόσεις: CPU, Μνήμη, Δίσκος, Δίκτυο είναι οι πόροι που μοιράζει το ΛΣ.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45–50. Ζωντανή επίδειξη: ανοίγουμε cmd και το ίδιο αρχείο το βλέπουμε με dir και με την Εξερεύνηση αρχείων: δύο κελύφη, ο ίδιος πυρήνας από κάτω. Σε 5 εβδομάδες θα δουλεύουμε πολύ με το CLI.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50–60. Δεν απομνημονεύουμε χρονολογίες: κρατάμε τι άλλαξε σε κάθε γενιά. Οι όροι πολυπρογραμματισμός και καταμερισμός χρόνου θα εξηγηθούν αναλυτικά στο επόμενο εργαστήριο. Διάλειμμα μετά από αυτή τη διαφάνεια.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2, λεπτά 0–10. Δουλεύουν ατομικά 5 λεπτά, μετά συζήτηση. Δείχνουμε τη στήλη ΛΥΣΗ μόνο στο τέλος (μπορείτε να την κρύψετε με animation ή να μείνετε στην εκφώνηση).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2, λεπτά 10–20. Το Android βασίζεται σε πυρήνα Linux αλλά οι εκδόσεις στα κινητά περιέχουν και κλειστά κομμάτια: καλό παράδειγμα ότι η διάκριση δεν είναι πάντα καθαρή. «Ελεύθερο» σημαίνει ελευθερία, όχι μόνο «δωρεάν».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2, λεπτά 20–25. Σύνδεση με την ειδικότητα. Ρωτήστε: πόσα διαφορετικά ΛΣ χρησιμοποίησες σήμερα; (κινητό, PC, ίσως smart TV, ATM...)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2, λεπτά 25–40. Σε ζευγάρια. Κάθε ζευγάρι παρουσιάζει μία περίπτωση. Δεχόμαστε κάθε απάντηση με λογική αιτιολόγηση: το κριτήριο είναι η περίπτωση χρήσης (μαθησιακό αποτέλεσμα του Εγχειριδίου).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2, λεπτά 40–50 και ώρα 3. Επίδειξη στον προβολέα και μετά ο καθένας στον δικό του υπολογιστή. Το msinfo32 και το winver είναι παραδείγματα προγραμμάτων που δεν βρίσκεις εύκολα από τα μενού.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3, λεπτά 0–30. Παραδοτέο του εργαστηρίου 1. Μπορεί να γίνει και σε έντυπο φύλλο εργασίας. Όσοι τελειώσουν νωρίς προχωρούν στην άσκηση Γ1.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3, λεπτά 30–40. Για όσους τελείωσαν την κάρτα συστήματος. Συζήτηση στην ολομέλεια. Το WSL και οι εικονικές μηχανές θα τα δούμε στα εργαστήρια 8 και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3, λεπτά 40–45. Οι τρεις ερωτήσεις γίνονται προφορικά ως έξοδος από την τάξη. Υπενθύμιση: παραδίδουν την κάρτα συστήματος πριν φύγουν.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ΕΡΓΑΣΤΗΡΙΟ 1 · ΕΝΟΤΗΤΑ 2.1.Β.1 · ΤΡΙΤΗ 06/10/2026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12064" y="2487168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είναι το</a:t>
            </a:r>
            <a:endParaRPr lang="en-US" sz="50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Λειτουργικό Σύστημα</a:t>
            </a:r>
            <a:endParaRPr lang="en-US" sz="50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2245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Από το κουμπί λειτουργίας μέχρι την επιφάνεια εργασίας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4800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Ρόλοι του ΛΣ · πυρήνας και κέλυφος · γενιές · εμπορικά και ΕΛ/ΛΑΚ          3 ασκήσεις + εργαστήριο με παραδοτέο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ΓΝΩΡΙΜΙΑ ΜΕ ΤΟ ΜΑΘΗΜΑ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θα κάνουμε φέτος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463040"/>
            <a:ext cx="2583180" cy="2148840"/>
          </a:xfrm>
          <a:prstGeom prst="roundRect">
            <a:avLst>
              <a:gd name="adj" fmla="val 2553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731520" y="1591056"/>
            <a:ext cx="22539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ΕΡΓΑΣΤΗΡΙΑ 01–04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847088"/>
            <a:ext cx="225399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Πώς δουλεύει ένα ΛΣ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197354"/>
            <a:ext cx="2253996" cy="1323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Ρόλοι, διεργασίες, χρονοδρομολόγηση (FCFS, SJF, Round Robin).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32988" y="1463040"/>
            <a:ext cx="2583180" cy="2148840"/>
          </a:xfrm>
          <a:prstGeom prst="roundRect">
            <a:avLst>
              <a:gd name="adj" fmla="val 2553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3497580" y="1591056"/>
            <a:ext cx="22539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ΕΡΓΑΣΤΗΡΙΑ 05–07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97580" y="1847088"/>
            <a:ext cx="225399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97580" y="2197354"/>
            <a:ext cx="2253996" cy="1323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Γραμμή εντολών, γραφικό περιβάλλον, συντήρηση και βλάβες.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99048" y="1463040"/>
            <a:ext cx="2583180" cy="2148840"/>
          </a:xfrm>
          <a:prstGeom prst="roundRect">
            <a:avLst>
              <a:gd name="adj" fmla="val 2553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6263640" y="1591056"/>
            <a:ext cx="22539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ΕΡΓΑΣΤΗΡΙΑ 08–10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1847088"/>
            <a:ext cx="225399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197354"/>
            <a:ext cx="2253996" cy="1323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Ubuntu σε εικονική μηχανή, τερματικό bash, δικαιώματα, πακέτα.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865108" y="1463040"/>
            <a:ext cx="2583180" cy="2148840"/>
          </a:xfrm>
          <a:prstGeom prst="roundRect">
            <a:avLst>
              <a:gd name="adj" fmla="val 2553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 txBox="1"/>
          <p:nvPr/>
        </p:nvSpPr>
        <p:spPr>
          <a:xfrm>
            <a:off x="9029700" y="1591056"/>
            <a:ext cx="22539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ΕΡΓΑΣΤΗΡΙΑ 11–13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029700" y="1847088"/>
            <a:ext cx="2253996" cy="48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Εικονικοποίηση &amp; άλλα ΛΣ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029700" y="2419604"/>
            <a:ext cx="2253996" cy="1100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VirtualBox, Docker, Kubernetes, macOS, Android, iOS.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99048" y="38404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 txBox="1"/>
          <p:nvPr/>
        </p:nvSpPr>
        <p:spPr>
          <a:xfrm>
            <a:off x="6263640" y="3968496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Κανόνες εργαστηρίου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263640" y="4318762"/>
            <a:ext cx="5020056" cy="153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Αποθηκεύεις πάντα στον δικό σου φάκελο, όχι στην επιφάνεια εργασίας.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αλλάζεις ρυθμίσεις του υπολογιστή χωρίς οδηγία.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Κάθε εργαστήριο κλείνει με ένα μικρό παραδοτέο.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Κολλάς; Ρωτάς πρώτα τον διπλανό, μετά εμένα.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ΠΡΟΘΕΡΜΑΝΣΗ · 5 ΛΕΠΤΑ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Ένας υπολογιστής χωρίς ΛΣ;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463040"/>
            <a:ext cx="10881360" cy="105156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66928" y="1463040"/>
            <a:ext cx="41148" cy="105156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73152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ΕΡΩΤΗΣΗ ΓΙΑ ΣΥΖΗΤΗΣΗ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773936"/>
            <a:ext cx="105521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Φαντάσου ότι αγοράζεις καινούργιο υπολογιστή </a:t>
            </a: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χωρίς λειτουργικό σύστημα</a:t>
            </a: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Πατάς το κουμπί λειτουργίας. Τι βλέπεις; Τι μπορείς να κάνεις; Θα έτρεχε ο browser ή ένα παιχνίδι;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2743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ΤΙ ΘΑ ΕΛΕΙΠΕ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" y="3035808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731520" y="3163824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Κανείς δεν μοιράζει τον επεξεργαστή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514090"/>
            <a:ext cx="5020056" cy="61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Ποιο πρόγραμμα τρέχει τώρα; Για πόσο;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99048" y="3035808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6263640" y="3163824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Κανείς δεν οργανώνει τη μνήμη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3514090"/>
            <a:ext cx="5020056" cy="61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Δύο προγράμματα θα έγραφαν το ένα πάνω στο άλλο.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4407408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 txBox="1"/>
          <p:nvPr/>
        </p:nvSpPr>
        <p:spPr>
          <a:xfrm>
            <a:off x="731520" y="4535424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υπάρχουν αρχεία και φάκελοι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4885690"/>
            <a:ext cx="5020056" cy="61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δίσκος είναι μόνο ένα τεράστιο σύνολο από bytes.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99048" y="4407408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 txBox="1"/>
          <p:nvPr/>
        </p:nvSpPr>
        <p:spPr>
          <a:xfrm>
            <a:off x="6263640" y="4535424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«μιλάει» με τις συσκευές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4885690"/>
            <a:ext cx="5020056" cy="61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Πληκτρολόγιο, οθόνη, εκτυπωτής χρειάζονται οδηγούς.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ΟΡΙΣΜΟΣ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ΛΣ είναι ο «μεσάζων»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508760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777240" y="1508760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Χρήστης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εσύ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2532888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777240" y="2532888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Εφαρμογές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Chrome, Word, Steam, VS Code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3557016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777240" y="3557016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Λειτουργικό Σύστημα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Windows, Linux, macOS, Android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66928" y="4581144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777240" y="4581144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Υλικό (hardware)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CPU, RAM, δίσκος, οθόνη, δίκτυο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F4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↕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263640" y="1508760"/>
            <a:ext cx="5184648" cy="160020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263640" y="1508760"/>
            <a:ext cx="41148" cy="16002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 txBox="1"/>
          <p:nvPr/>
        </p:nvSpPr>
        <p:spPr>
          <a:xfrm>
            <a:off x="6428232" y="1600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ΟΡΙΣΜΟΣ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428232" y="1819656"/>
            <a:ext cx="48554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Λειτουργικό σύστημα είναι το </a:t>
            </a: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βασικό λογισμικό</a:t>
            </a: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που </a:t>
            </a: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διαχειρίζεται το υλικό</a:t>
            </a: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του υπολογιστή και </a:t>
            </a: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παρέχει υπηρεσίες</a:t>
            </a: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στις εφαρμογές και στον χρήστη, ώστε να χρησιμοποιούν τον υπολογιστή εύκολα και αποδοτικά.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3291840"/>
            <a:ext cx="5184648" cy="2423160"/>
          </a:xfrm>
          <a:prstGeom prst="roundRect">
            <a:avLst>
              <a:gd name="adj" fmla="val 2264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 txBox="1"/>
          <p:nvPr/>
        </p:nvSpPr>
        <p:spPr>
          <a:xfrm>
            <a:off x="6428232" y="3419856"/>
            <a:ext cx="4855464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Παράδειγμα: πατάς «Αποθήκευση»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28232" y="3770122"/>
            <a:ext cx="4855464" cy="185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Word δεν ξέρει πού είναι φυσικά ο δίσκος.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Ζητά από το ΛΣ: «γράψε αυτά τα bytes στο αρχείο ergasia.docx».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ΛΣ βρίσκει ελεύθερο χώρο, μιλά με τον οδηγό του δίσκου και ενημερώνει τον φάκελο.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ΟΙ ΒΑΣΙΚΟΙ ΣΤΟΧΟΙ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Δύο στόχοι, ένας διαιτητής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46304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731520" y="1591056"/>
            <a:ext cx="5020056" cy="306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Ευκολία για τον χρήστη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43811"/>
            <a:ext cx="5020056" cy="1522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Κρύβει την πολυπλοκότητα του υλικού. Δεν χρειάζεται να ξέρεις σε ποιον τομέα του δίσκου είναι το αρχείο σου: βλέπεις ένα εικονίδιο και κάνεις διπλό κλικ.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99048" y="146304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6263640" y="1591056"/>
            <a:ext cx="5020056" cy="306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Αποδοτική χρήση των πόρων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043811"/>
            <a:ext cx="5020056" cy="1522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Μοιράζει δίκαια και γρήγορα τον επεξεργαστή, τη μνήμη και τις συσκευές ανάμεσα σε πολλά προγράμματα που τρέχουν μαζί.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3886200"/>
            <a:ext cx="10881360" cy="2057400"/>
          </a:xfrm>
          <a:prstGeom prst="roundRect">
            <a:avLst>
              <a:gd name="adj" fmla="val 2667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731520" y="4014216"/>
            <a:ext cx="10552176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Αναλογία: ο διευθυντής του ξενοδοχείου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380357"/>
            <a:ext cx="10552176" cy="1471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 δωμάτια (μνήμη), το ασανσέρ (επεξεργαστής) και η ρεσεψιόν (συσκευές) είναι το υλικό. Οι πελάτες είναι τα προγράμματα. Ο </a:t>
            </a:r>
            <a:r>
              <a:rPr lang="en-US" sz="13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διευθυντής</a:t>
            </a:r>
            <a:r>
              <a:rPr lang="en-US" sz="13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(ΛΣ) αποφασίζει ποιος παίρνει ποιο δωμάτιο, ποιος ανεβαίνει πρώτος και φροντίζει να μη μπει κανείς σε ξένο δωμάτιο. Οι πελάτες απλώς ζητούν ό,τι θέλουν από τη ρεσεψιόν.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ΑΡΜΟΔΙΟΤΗΤΕΣ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ακριβώς διαχειρίζεται το ΛΣ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463040"/>
            <a:ext cx="3502152" cy="2057400"/>
          </a:xfrm>
          <a:prstGeom prst="roundRect">
            <a:avLst>
              <a:gd name="adj" fmla="val 2667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731520" y="159105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847088"/>
            <a:ext cx="317296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Διεργασίες &amp; CPU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213229"/>
            <a:ext cx="3172968" cy="121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Ποιο πρόγραμμα τρέχει, πότε και για πόσο. Βλ. Διαχείριση Εργασιών.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51960" y="1463040"/>
            <a:ext cx="3502152" cy="2057400"/>
          </a:xfrm>
          <a:prstGeom prst="roundRect">
            <a:avLst>
              <a:gd name="adj" fmla="val 266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4416552" y="159105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416552" y="1847088"/>
            <a:ext cx="317296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Κύρια μνήμη (RAM)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416552" y="2213229"/>
            <a:ext cx="3172968" cy="121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Δίνει σε κάθε πρόγραμμα τον χώρο του και τον παίρνει πίσω όταν κλείσει.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36992" y="1463040"/>
            <a:ext cx="3502152" cy="2057400"/>
          </a:xfrm>
          <a:prstGeom prst="roundRect">
            <a:avLst>
              <a:gd name="adj" fmla="val 2667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8101584" y="159105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101584" y="1847088"/>
            <a:ext cx="317296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Αρχεία &amp; φάκελοι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01584" y="2213229"/>
            <a:ext cx="3172968" cy="121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Οργανώνει τον δίσκο σε σύστημα αρχείων (NTFS, ext4, APFS).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" y="3749040"/>
            <a:ext cx="3502152" cy="2057400"/>
          </a:xfrm>
          <a:prstGeom prst="roundRect">
            <a:avLst>
              <a:gd name="adj" fmla="val 266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 txBox="1"/>
          <p:nvPr/>
        </p:nvSpPr>
        <p:spPr>
          <a:xfrm>
            <a:off x="731520" y="387705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133088"/>
            <a:ext cx="317296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Συσκευές Ε/Ε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4499229"/>
            <a:ext cx="3172968" cy="121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Μιλά με πληκτρολόγιο, οθόνη, εκτυπωτή, USB μέσω οδηγών (drivers).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251960" y="3749040"/>
            <a:ext cx="3502152" cy="2057400"/>
          </a:xfrm>
          <a:prstGeom prst="roundRect">
            <a:avLst>
              <a:gd name="adj" fmla="val 2667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 txBox="1"/>
          <p:nvPr/>
        </p:nvSpPr>
        <p:spPr>
          <a:xfrm>
            <a:off x="4416552" y="387705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416552" y="4133088"/>
            <a:ext cx="317296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Ασφάλεια &amp; χρήστες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4416552" y="4499229"/>
            <a:ext cx="3172968" cy="121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Λογαριασμοί, κωδικοί, δικαιώματα πρόσβασης, ενημερώσεις ασφαλείας.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936992" y="3749040"/>
            <a:ext cx="3502152" cy="2057400"/>
          </a:xfrm>
          <a:prstGeom prst="roundRect">
            <a:avLst>
              <a:gd name="adj" fmla="val 266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 txBox="1"/>
          <p:nvPr/>
        </p:nvSpPr>
        <p:spPr>
          <a:xfrm>
            <a:off x="8101584" y="387705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101584" y="4133088"/>
            <a:ext cx="317296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Διεπαφή με τον χρήστη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101584" y="4499229"/>
            <a:ext cx="3172968" cy="121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Γραφικό περιβάλλον (GUI) ή γραμμή εντολών (CLI).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ΔΟΜΗ ΤΟΥ ΛΣ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Πυρήνας και κέλυφος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960120" y="1645920"/>
            <a:ext cx="4297680" cy="4297680"/>
          </a:xfrm>
          <a:prstGeom prst="ellipse">
            <a:avLst/>
          </a:prstGeom>
          <a:solidFill>
            <a:srgbClr val="FBFCFE"/>
          </a:solidFill>
          <a:ln w="12700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645920" y="2331720"/>
            <a:ext cx="2926080" cy="2926080"/>
          </a:xfrm>
          <a:prstGeom prst="ellipse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331720" y="3017520"/>
            <a:ext cx="1554480" cy="155448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233172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ΥΛΙΚΟ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2496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Πυρήνας (kernel)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Κέλυφος (shell) &amp; εφαρμογές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52160" y="1463040"/>
            <a:ext cx="5596128" cy="1463040"/>
          </a:xfrm>
          <a:prstGeom prst="roundRect">
            <a:avLst>
              <a:gd name="adj" fmla="val 375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6016752" y="1591056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ΕΣΩΤΕΡΙΚΑ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016752" y="1847088"/>
            <a:ext cx="5266944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Πυρήνας (kernel)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016752" y="2197354"/>
            <a:ext cx="5266944" cy="637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καρδιά του ΛΣ. Φορτώνεται πρώτος, μένει πάντα στη μνήμη και έχει πλήρη πρόσβαση στο υλικό.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52160" y="3108960"/>
            <a:ext cx="5596128" cy="1463040"/>
          </a:xfrm>
          <a:prstGeom prst="roundRect">
            <a:avLst>
              <a:gd name="adj" fmla="val 3750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 txBox="1"/>
          <p:nvPr/>
        </p:nvSpPr>
        <p:spPr>
          <a:xfrm>
            <a:off x="6016752" y="3236976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ΕΞΩΤΕΡΙΚΑ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016752" y="3493008"/>
            <a:ext cx="5266944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Κέλυφος (shell)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016752" y="3843274"/>
            <a:ext cx="5266944" cy="637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Αυτό που βλέπει ο χρήστης: </a:t>
            </a:r>
            <a:r>
              <a:rPr lang="en-US" sz="12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</a:t>
            </a: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(παράθυρα, εικονίδια) ή </a:t>
            </a:r>
            <a:r>
              <a:rPr lang="en-US" sz="12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</a:t>
            </a: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(cmd, PowerShell, bash).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52160" y="4754880"/>
            <a:ext cx="5596128" cy="1188720"/>
          </a:xfrm>
          <a:prstGeom prst="roundRect">
            <a:avLst>
              <a:gd name="adj" fmla="val 461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 txBox="1"/>
          <p:nvPr/>
        </p:nvSpPr>
        <p:spPr>
          <a:xfrm>
            <a:off x="6016752" y="4882896"/>
            <a:ext cx="5266944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Κλήσεις συστήματος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016752" y="5233162"/>
            <a:ext cx="5266944" cy="61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μόνος «νόμιμος» τρόπος μιας εφαρμογής να ζητήσει κάτι από τον πυρήνα.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ΙΣΤΟΡΙΑ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Πέντε γενιές σε 80 χρόνια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581912" y="1965960"/>
            <a:ext cx="8851392" cy="0"/>
          </a:xfrm>
          <a:prstGeom prst="line">
            <a:avLst/>
          </a:prstGeom>
          <a:noFill/>
          <a:ln w="25400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325880" y="1709928"/>
            <a:ext cx="512064" cy="512064"/>
          </a:xfrm>
          <a:prstGeom prst="ellipse">
            <a:avLst/>
          </a:prstGeom>
          <a:solidFill>
            <a:srgbClr val="FBFCFE"/>
          </a:solidFill>
          <a:ln w="1905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1325880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1η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3317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1945–55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2697480"/>
            <a:ext cx="2029968" cy="2240280"/>
          </a:xfrm>
          <a:prstGeom prst="roundRect">
            <a:avLst>
              <a:gd name="adj" fmla="val 2703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731520" y="2825496"/>
            <a:ext cx="1700784" cy="2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Λυχνίες κενού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159887"/>
            <a:ext cx="1700784" cy="168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Χωρίς ΛΣ. Προγραμματισμός με διακόπτες και καλώδια.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538728" y="1709928"/>
            <a:ext cx="512064" cy="512064"/>
          </a:xfrm>
          <a:prstGeom prst="ellipse">
            <a:avLst/>
          </a:prstGeom>
          <a:solidFill>
            <a:srgbClr val="FBFCFE"/>
          </a:solidFill>
          <a:ln w="1905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 txBox="1"/>
          <p:nvPr/>
        </p:nvSpPr>
        <p:spPr>
          <a:xfrm>
            <a:off x="3538728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2η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779776" y="23317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1955–65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79776" y="2697480"/>
            <a:ext cx="2029968" cy="2240280"/>
          </a:xfrm>
          <a:prstGeom prst="roundRect">
            <a:avLst>
              <a:gd name="adj" fmla="val 2703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 txBox="1"/>
          <p:nvPr/>
        </p:nvSpPr>
        <p:spPr>
          <a:xfrm>
            <a:off x="2944368" y="2825496"/>
            <a:ext cx="1700784" cy="2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Τρανζίστορ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944368" y="3159887"/>
            <a:ext cx="1700784" cy="168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Ομαδική επεξεργασία (batch): εργασίες σε διάτρητες κάρτες.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751576" y="1709928"/>
            <a:ext cx="512064" cy="512064"/>
          </a:xfrm>
          <a:prstGeom prst="ellipse">
            <a:avLst/>
          </a:prstGeom>
          <a:solidFill>
            <a:srgbClr val="FBFCFE"/>
          </a:solidFill>
          <a:ln w="1905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 txBox="1"/>
          <p:nvPr/>
        </p:nvSpPr>
        <p:spPr>
          <a:xfrm>
            <a:off x="5751576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3η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992624" y="23317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1965–80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992624" y="2697480"/>
            <a:ext cx="2029968" cy="2240280"/>
          </a:xfrm>
          <a:prstGeom prst="roundRect">
            <a:avLst>
              <a:gd name="adj" fmla="val 2703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 txBox="1"/>
          <p:nvPr/>
        </p:nvSpPr>
        <p:spPr>
          <a:xfrm>
            <a:off x="5157216" y="2825496"/>
            <a:ext cx="1700784" cy="449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Ολοκληρωμένα κυκλώματα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157216" y="3366262"/>
            <a:ext cx="1700784" cy="1480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Πολυπρογραμματισμός, καταμερισμός χρόνου, UNIX (1969).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964424" y="1709928"/>
            <a:ext cx="512064" cy="512064"/>
          </a:xfrm>
          <a:prstGeom prst="ellipse">
            <a:avLst/>
          </a:prstGeom>
          <a:solidFill>
            <a:srgbClr val="FBFCFE"/>
          </a:solidFill>
          <a:ln w="1905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 txBox="1"/>
          <p:nvPr/>
        </p:nvSpPr>
        <p:spPr>
          <a:xfrm>
            <a:off x="7964424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4η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205472" y="23317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1980–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205472" y="2697480"/>
            <a:ext cx="2029968" cy="2240280"/>
          </a:xfrm>
          <a:prstGeom prst="roundRect">
            <a:avLst>
              <a:gd name="adj" fmla="val 2703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 txBox="1"/>
          <p:nvPr/>
        </p:nvSpPr>
        <p:spPr>
          <a:xfrm>
            <a:off x="7370064" y="2825496"/>
            <a:ext cx="1700784" cy="449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Προσωπικοί υπολογιστές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370064" y="3366262"/>
            <a:ext cx="1700784" cy="1480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MS-DOS, Mac, Windows, Linux (1991). Έρχεται το GUI.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0177272" y="1709928"/>
            <a:ext cx="512064" cy="512064"/>
          </a:xfrm>
          <a:prstGeom prst="ellipse">
            <a:avLst/>
          </a:prstGeom>
          <a:solidFill>
            <a:srgbClr val="2F4BD8"/>
          </a:solidFill>
          <a:ln w="1905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 txBox="1"/>
          <p:nvPr/>
        </p:nvSpPr>
        <p:spPr>
          <a:xfrm>
            <a:off x="10177272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5η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418320" y="23317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2007–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418320" y="2697480"/>
            <a:ext cx="2029968" cy="2240280"/>
          </a:xfrm>
          <a:prstGeom prst="roundRect">
            <a:avLst>
              <a:gd name="adj" fmla="val 2703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 txBox="1"/>
          <p:nvPr/>
        </p:nvSpPr>
        <p:spPr>
          <a:xfrm>
            <a:off x="9582912" y="2825496"/>
            <a:ext cx="1700784" cy="2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Κινητά &amp; cloud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9582912" y="3159887"/>
            <a:ext cx="1700784" cy="168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iOS, Android, εικονικές μηχανές, containers.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566928" y="51663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 txBox="1"/>
          <p:nvPr/>
        </p:nvSpPr>
        <p:spPr>
          <a:xfrm>
            <a:off x="731520" y="5294376"/>
            <a:ext cx="10552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νήμα που τα ενώνει: </a:t>
            </a: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κάθε γενιά υλικού έφερε ένα ΛΣ που εκμεταλλεύεται καλύτερα τον επεξεργαστή και κάνει τον υπολογιστή πιο εύκολο για περισσότερους ανθρώπους.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ΑΣΚΗΣΗ Α1 · ΕΥΚΟΛΗ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Ποια αρμοδιότητα δουλεύει;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●○○  ΕΥΚΟΛΗ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463040"/>
            <a:ext cx="10881360" cy="77724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66928" y="1463040"/>
            <a:ext cx="41148" cy="77724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73152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ΕΚΦΩΝΗΣΗ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1773936"/>
            <a:ext cx="10552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κάθε σενάριο γράψε ποια από τις </a:t>
            </a: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αρμοδιότητες</a:t>
            </a: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του ΛΣ (διαφάνεια 05) είναι υπεύθυνη.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2423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ΛΥΣΗ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480"/>
          <a:ext cx="10881360" cy="307238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ΣΕΝΑΡΙΟ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ΑΡΜΟΔΙΟΤΗΤΑ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Συνδέεις ποντίκι USB και σε 3 δευτερόλεπτα δουλεύει.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Συσκευές Ε/Ε (οδηγός)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β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Ακούς Spotify ενώ γράφεις στο Word.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Διεργασίες &amp; CPU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 αδερφός σου δεν βλέπει τα αρχεία του λογαριασμού σου.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Ασφάλεια &amp; χρήστες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δ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Ανοίγεις 40 καρτέλες και ο υπολογιστής «σέρνεται».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Κύρια μνήμη (RAM)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Μετακινείς μια φωτογραφία στον φάκελο «Διακοπές».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Αρχεία &amp; φάκελοι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στ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Κάνεις διπλό κλικ σε ένα εικονίδιο και ανοίγει παράθυρο.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Διεπαφή χρήστη (GUI)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ΑΔΕΙΕΣ ΧΡΗΣΗΣ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Εμπορικά ή ελεύθερα (ΕΛ/ΛΑΚ);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7223760" cy="341071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ΕΜΠΟΡΙΚΑ (ΜΕ ΑΔΕΙΑ)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ΕΛ/ΛΑΚ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Κόστος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2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Συνήθως πληρώνεις άδεια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Συνήθως δωρεάν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Πηγαίος κώδικας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2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Κλειστός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Ανοιχτός: τον βλέπεις και τον αλλάζεις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Υποστήριξη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2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Από την εταιρεία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Από κοινότητες ή εταιρείες (π.χ. Canonical, Red Hat)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Παραμετροποίηση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2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Περιορισμένη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Πλήρης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Συμβατότητα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2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Τα περισσότερα επαγγελματικά προγράμματα και παιχνίδια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Πολύ καλή για servers και ανάπτυξη, λιγότερη για ορισμένα προγράμματα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Παραδείγματα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2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Windows, macOS, iOS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Ubuntu, Debian, Fedora, Linux Mint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001000" y="1463040"/>
            <a:ext cx="3447288" cy="4480560"/>
          </a:xfrm>
          <a:prstGeom prst="roundRect">
            <a:avLst>
              <a:gd name="adj" fmla="val 1592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 txBox="1"/>
          <p:nvPr/>
        </p:nvSpPr>
        <p:spPr>
          <a:xfrm>
            <a:off x="8165592" y="1591056"/>
            <a:ext cx="3118104" cy="48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Οι 4 ελευθερίες του ελεύθερου λογισμικού</a:t>
            </a:r>
            <a:endParaRPr lang="en-US" sz="1400" dirty="0"/>
          </a:p>
        </p:txBody>
      </p:sp>
      <p:sp>
        <p:nvSpPr>
          <p:cNvPr id="8" name="Text 7"/>
          <p:cNvSpPr txBox="1"/>
          <p:nvPr/>
        </p:nvSpPr>
        <p:spPr>
          <a:xfrm>
            <a:off x="8165592" y="2163572"/>
            <a:ext cx="3118104" cy="368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· </a:t>
            </a: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το εκτελείς για οποιονδήποτε σκοπό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</a:t>
            </a: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μελετάς πώς δουλεύει και να το αλλάζεις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</a:t>
            </a: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μοιράζεσαι αντίγραφα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</a:t>
            </a: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μοιράζεσαι τις βελτιώσεις σου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ΤΟ ΤΟΠΙΟ ΣΗΜΕΡΑ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Ποιο ΛΣ συναντάμε πού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463040"/>
            <a:ext cx="2583180" cy="3017520"/>
          </a:xfrm>
          <a:prstGeom prst="roundRect">
            <a:avLst>
              <a:gd name="adj" fmla="val 2124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731520" y="1591056"/>
            <a:ext cx="22539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847088"/>
            <a:ext cx="225399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Υπολογιστές γραφείου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197354"/>
            <a:ext cx="2253996" cy="219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11, macOS, Ubuntu / Linux Mint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Κυριαρχούν τα Windows σε γραφεία και σπίτια.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32988" y="1463040"/>
            <a:ext cx="2583180" cy="3017520"/>
          </a:xfrm>
          <a:prstGeom prst="roundRect">
            <a:avLst>
              <a:gd name="adj" fmla="val 2124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3497580" y="1591056"/>
            <a:ext cx="22539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97580" y="1847088"/>
            <a:ext cx="225399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Servers &amp; cloud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97580" y="2197354"/>
            <a:ext cx="2253996" cy="219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(Ubuntu Server, Debian, RHEL), Windows Server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Οι περισσότεροι web servers τρέχουν Linux.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99048" y="1463040"/>
            <a:ext cx="2583180" cy="3017520"/>
          </a:xfrm>
          <a:prstGeom prst="roundRect">
            <a:avLst>
              <a:gd name="adj" fmla="val 2124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6263640" y="1591056"/>
            <a:ext cx="22539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1847088"/>
            <a:ext cx="225399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Κινητά &amp; tablet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197354"/>
            <a:ext cx="2253996" cy="219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Android, iOS / iPadOS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Δύο οικογένειες μοιράζονται σχεδόν όλη την αγορά.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865108" y="1463040"/>
            <a:ext cx="2583180" cy="3017520"/>
          </a:xfrm>
          <a:prstGeom prst="roundRect">
            <a:avLst>
              <a:gd name="adj" fmla="val 2124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 txBox="1"/>
          <p:nvPr/>
        </p:nvSpPr>
        <p:spPr>
          <a:xfrm>
            <a:off x="9029700" y="1591056"/>
            <a:ext cx="22539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029700" y="1847088"/>
            <a:ext cx="225399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Ενσωματωμένα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029700" y="2197354"/>
            <a:ext cx="2253996" cy="219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Linux, RTOS, ειδικά ΛΣ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TV, ρούτερ, αυτοκίνητα, ATM, κονσόλες.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" y="470916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 txBox="1"/>
          <p:nvPr/>
        </p:nvSpPr>
        <p:spPr>
          <a:xfrm>
            <a:off x="731520" y="4837176"/>
            <a:ext cx="1055217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σε αφορά ως τεχνικό εφαρμογών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87442"/>
            <a:ext cx="10552176" cy="66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Ως web developer ή game developer θα γράφεις κώδικα σε Windows ή macOS, θα τον ανεβάζεις σε server Linux και θα τον δοκιμάζεις σε Android και iOS. Χρειάζεσαι και τα τρία.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ΑΣΚΗΣΗ Α2 · ΜΕΤΡΙΑ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Ποιο ΛΣ θα πρότεινες;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●●○  ΜΕΤΡΙΑ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463040"/>
            <a:ext cx="10881360" cy="77724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66928" y="1463040"/>
            <a:ext cx="41148" cy="77724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73152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ΕΚΦΩΝΗΣΗ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1773936"/>
            <a:ext cx="10552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κάθε περίπτωση πρότεινε ΛΣ και δώσε </a:t>
            </a: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έναν λόγο</a:t>
            </a: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Δεν υπάρχει μόνο μία σωστή απάντηση, μετράει η αιτιολόγηση.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2423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ΕΝΔΕΙΚΤΙΚΗ ΛΥΣΗ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" y="269748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731520" y="2825496"/>
            <a:ext cx="5020056" cy="449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 · Σχολικό εργαστήριο με παλιούς υπολογιστές και μηδέν budget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366262"/>
            <a:ext cx="5020056" cy="70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(π.χ. Linux Mint, Lubuntu): δωρεάν, ελαφρύ, τρέχει σε παλιό υλικό.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99048" y="269748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 txBox="1"/>
          <p:nvPr/>
        </p:nvSpPr>
        <p:spPr>
          <a:xfrm>
            <a:off x="6263640" y="2825496"/>
            <a:ext cx="5020056" cy="2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 · Γραφίστας που δουλεύει με Adobe και Final Cut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3159887"/>
            <a:ext cx="5020056" cy="909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macOS: το Final Cut υπάρχει μόνο εκεί και η Adobe υποστηρίζεται πλήρως.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434340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 txBox="1"/>
          <p:nvPr/>
        </p:nvSpPr>
        <p:spPr>
          <a:xfrm>
            <a:off x="731520" y="4471416"/>
            <a:ext cx="5020056" cy="2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 · Server π</a:t>
            </a:r>
            <a:r>
              <a:rPr lang="en-US" sz="1300" b="1" dirty="0" err="1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ου</a:t>
            </a: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l-GR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μπορεί να </a:t>
            </a:r>
            <a:r>
              <a:rPr lang="en-US" sz="1300" b="1" dirty="0" err="1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φιλοξενεί</a:t>
            </a: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l-GR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 </a:t>
            </a: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805807"/>
            <a:ext cx="5020056" cy="909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(π.χ. Ubuntu Server): σταθερό, δωρεάν, πρότυπο για web servers.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99048" y="434340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 txBox="1"/>
          <p:nvPr/>
        </p:nvSpPr>
        <p:spPr>
          <a:xfrm>
            <a:off x="6263640" y="4471416"/>
            <a:ext cx="5020056" cy="2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 · Λογιστήριο με ειδικό λογιστικό πρόγραμμα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4805807"/>
            <a:ext cx="5020056" cy="909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Windows: τα περισσότερα ελληνικά λογιστικά προγράμματα τρέχουν μόνο εκεί.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ΕΡΓΑΣΤΗΡΙΟ · ΒΗΜΑ-ΒΗΜΑ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Γνώρισε τον υπολογιστή σου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682496"/>
            <a:ext cx="512064" cy="512064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566928" y="1682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80160" y="1463040"/>
            <a:ext cx="10168128" cy="950976"/>
          </a:xfrm>
          <a:prstGeom prst="roundRect">
            <a:avLst>
              <a:gd name="adj" fmla="val 5769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1463040" y="15727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Ρυθμίσεις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19385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+ I → Σύστημα → Πληροφορίες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1463040"/>
            <a:ext cx="6035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Όνομα συσκευής, επεξεργαστής, RAM, τύπος συστήματος, έκδοση Windows.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2798064"/>
            <a:ext cx="512064" cy="512064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566928" y="27980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280160" y="2578608"/>
            <a:ext cx="10168128" cy="950976"/>
          </a:xfrm>
          <a:prstGeom prst="roundRect">
            <a:avLst>
              <a:gd name="adj" fmla="val 576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1463040" y="26883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winver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0540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+ R → winver → Enter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212080" y="2578608"/>
            <a:ext cx="6035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ακριβής έκδοση και το build του ΛΣ.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" y="3913632"/>
            <a:ext cx="512064" cy="512064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 txBox="1"/>
          <p:nvPr/>
        </p:nvSpPr>
        <p:spPr>
          <a:xfrm>
            <a:off x="566928" y="3913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80160" y="3694176"/>
            <a:ext cx="10168128" cy="950976"/>
          </a:xfrm>
          <a:prstGeom prst="roundRect">
            <a:avLst>
              <a:gd name="adj" fmla="val 5769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 txBox="1"/>
          <p:nvPr/>
        </p:nvSpPr>
        <p:spPr>
          <a:xfrm>
            <a:off x="1463040" y="38039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Πληροφορίες συστήματος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41696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+ R → msinfo32 → Enter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212080" y="3694176"/>
            <a:ext cx="6035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Κατασκευαστής, μοντέλο, BIOS/UEFI, όλα τα στοιχεία σε μία λίστα.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66928" y="5029200"/>
            <a:ext cx="512064" cy="512064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 txBox="1"/>
          <p:nvPr/>
        </p:nvSpPr>
        <p:spPr>
          <a:xfrm>
            <a:off x="566928" y="5029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280160" y="4809744"/>
            <a:ext cx="10168128" cy="950976"/>
          </a:xfrm>
          <a:prstGeom prst="roundRect">
            <a:avLst>
              <a:gd name="adj" fmla="val 576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 txBox="1"/>
          <p:nvPr/>
        </p:nvSpPr>
        <p:spPr>
          <a:xfrm>
            <a:off x="1463040" y="49194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Διαχείριση εργασιών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463040" y="52852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Esc → Επιδόσεις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212080" y="4809744"/>
            <a:ext cx="6035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Πυρήνες CPU, ταχύτητα, χρήση μνήμης και δίσκου ζωντανά.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ΕΡΓΑΣΤΗΡΙΟ · ΠΑΡΑΔΟΤΕΟ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κάρτα συστήματος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463040"/>
            <a:ext cx="10881360" cy="91440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66928" y="1463040"/>
            <a:ext cx="41148" cy="9144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73152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ΕΚΦΩΝΗΣΗ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773936"/>
            <a:ext cx="10552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Συμπλήρωσε την κάρτα για τον υπολογιστή σου και αποθήκευσέ την ως </a:t>
            </a: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Karta_Systimatos_Eponymo.docx</a:t>
            </a: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στον φάκελό σου. Βάλε και ένα στιγμιότυπο οθόνης από το msinfo32 (Win + Shift + S).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60320"/>
          <a:ext cx="10881360" cy="314553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ΣΤΟΙΧΕΙΟ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ΠΟΥ ΤΟ ΒΡΙΣΚΩ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Η ΤΙΜΗ ΣΤΟΝ ΔΙΚΟ ΜΟΥ PC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Όνομα υπολογιστή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Ρυθμίσεις → Πληροφορίες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ΛΣ, έκδοση και build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winver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Τύπος συστήματος (32/64-bit)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Ρυθμίσεις → Πληροφορίες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Επεξεργαστής και αριθμός πυρήνων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Διαχείριση εργασιών → Επιδόσεις → CPU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Εγκατεστημένη RAM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msinfo32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Χωρητικότητα και τύπος δίσκου (HDD/SSD)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Διαχείριση εργασιών → Επιδόσεις → Δίσκος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BIOS ή UEFI;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msinfo32 → Λειτουργία BIOS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ΑΣΚΗΣΗ Γ1 · ΔΥΣΚΟΛΗ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Στήσε το γραφείο μιας startup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B0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●●●  ΔΥΣΚΟΛΗ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463040"/>
            <a:ext cx="10881360" cy="109728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66928" y="1463040"/>
            <a:ext cx="41148" cy="109728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73152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ΕΚΦΩΝΗΣΗ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1773936"/>
            <a:ext cx="10552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Μια μικρή εταιρεία παιχνιδιών έχει </a:t>
            </a: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developers, 1 γραφίστα, 1 λογίστρια</a:t>
            </a: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θέλει έναν </a:t>
            </a: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για το site και το multiplayer. Πρότεινε ΛΣ για κάθε θέση και αιτιολόγησε με βάση κόστος, λογισμικό και ασφάλεια.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2743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ΕΝΔΕΙΚΤΙΚΗ ΛΥΣΗ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" y="3017520"/>
            <a:ext cx="3502152" cy="18288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731520" y="3145536"/>
            <a:ext cx="3172968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495802"/>
            <a:ext cx="3172968" cy="1259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11 (Unity, Unreal, DirectX) ή Linux αν δουλεύουν web. Στα Windows μπορούν να έχουν και Linux με WSL ή εικονική μηχανή.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51960" y="3017520"/>
            <a:ext cx="3502152" cy="1828800"/>
          </a:xfrm>
          <a:prstGeom prst="roundRect">
            <a:avLst>
              <a:gd name="adj" fmla="val 3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 txBox="1"/>
          <p:nvPr/>
        </p:nvSpPr>
        <p:spPr>
          <a:xfrm>
            <a:off x="4416552" y="3145536"/>
            <a:ext cx="3172968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Γραφίστας &amp; λογίστρια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416552" y="3495802"/>
            <a:ext cx="3172968" cy="1259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ή Windows για τον γραφίστα (Adobe). Windows για τη λογίστρια, λόγω ελληνικών λογιστικών προγραμμάτων.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946136" y="3017520"/>
            <a:ext cx="3502152" cy="18288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 txBox="1"/>
          <p:nvPr/>
        </p:nvSpPr>
        <p:spPr>
          <a:xfrm>
            <a:off x="8110728" y="3145536"/>
            <a:ext cx="3172968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110728" y="3495802"/>
            <a:ext cx="3172968" cy="1259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(π.χ. Ubuntu Server): χωρίς κόστος άδειας, σταθερό, ασφαλές και πρότυπο για web και game servers.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66928" y="50292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 txBox="1"/>
          <p:nvPr/>
        </p:nvSpPr>
        <p:spPr>
          <a:xfrm>
            <a:off x="731520" y="5157216"/>
            <a:ext cx="105521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ζουμί της άσκησης: </a:t>
            </a: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σε μια επιχείρηση σπάνια υπάρχει «ένα ΛΣ για όλους». Η επιλογή γίνεται ανά ρόλο, με βάση το λογισμικό που χρειάζεται ο καθένας.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tmp/claude-0/-home-claude/8f07f1d1-9bfe-540b-b195-992cdc902b9e/scratchpad/os1/logo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r>
              <a:rPr lang="en-US" sz="1000" kern="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ΣΥΝΟΨΗ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κρατάμε από σήμερα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4630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731520" y="1591056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είναι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941322"/>
            <a:ext cx="5020056" cy="52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λογισμικό που διαχειρίζεται το υλικό και εξυπηρετεί εφαρμογές και χρήστη.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99048" y="14630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6263640" y="1591056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κάνει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1941322"/>
            <a:ext cx="5020056" cy="52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Διεργασίες, μνήμη, αρχεία, συσκευές, ασφάλεια, διεπαφή.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274320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731520" y="2871216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Πώς είναι φτιαγμένο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221482"/>
            <a:ext cx="5020056" cy="52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Πυρήνας στο κέντρο, κέλυφος (GUI ή CLI) γύρω του.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99048" y="274320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 txBox="1"/>
          <p:nvPr/>
        </p:nvSpPr>
        <p:spPr>
          <a:xfrm>
            <a:off x="6263640" y="2871216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Πώς επιλέγουμε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3221482"/>
            <a:ext cx="5020056" cy="52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βάση την περίπτωση χρήσης: κόστος, λογισμικό, ασφάλεια.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" y="4114800"/>
            <a:ext cx="6949440" cy="1828800"/>
          </a:xfrm>
          <a:prstGeom prst="roundRect">
            <a:avLst>
              <a:gd name="adj" fmla="val 300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 txBox="1"/>
          <p:nvPr/>
        </p:nvSpPr>
        <p:spPr>
          <a:xfrm>
            <a:off x="731520" y="4242816"/>
            <a:ext cx="66202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Έλεγξε τον εαυτό σου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593082"/>
            <a:ext cx="6620256" cy="1259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το Word δεν γράφει απευθείας στον δίσκο;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Ποια η διαφορά πυρήνα και κελύφους;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Ανάφερε ένα πλεονέκτημα και ένα μειονέκτημα του Linux.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699248" y="4114800"/>
            <a:ext cx="3749040" cy="1828800"/>
          </a:xfrm>
          <a:prstGeom prst="roundRect">
            <a:avLst>
              <a:gd name="adj" fmla="val 3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 txBox="1"/>
          <p:nvPr/>
        </p:nvSpPr>
        <p:spPr>
          <a:xfrm>
            <a:off x="7863840" y="424281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13/10/2026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0" y="4498848"/>
            <a:ext cx="34198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Επόμενο εργαστήριο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863840" y="4849114"/>
            <a:ext cx="3419856" cy="10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Τρίτη 13/10: κατηγορίες ΛΣ και διεργασίες. Θα «κυνηγήσουμε» διεργασίες στη Διαχείριση εργασιών.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l-GR" sz="950" dirty="0"/>
          </a:p>
          <a:p>
            <a:pPr indent="0" marL="0">
              <a:buNone/>
            </a:pPr>
            <a:r>
              <a:rPr lang="el-GR" sz="9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l-GR" sz="950" dirty="0"/>
          </a:p>
        </p:txBody>
      </p:sp>
      <p:sp>
        <p:nvSpPr>
          <p:cNvPr id="103" name="Text 103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l-GR" sz="900" dirty="0"/>
          </a:p>
        </p:txBody>
      </p:sp>
      <p:sp>
        <p:nvSpPr>
          <p:cNvPr id="104" name="Text 104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00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13  </a:t>
            </a:r>
            <a:r>
              <a:rPr lang="el-GR" sz="100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ΠΟΙΟ ΛΣ ΓΙΑ ΠΟΙΑ ΔΟΥΛΕΙΑ</a:t>
            </a:r>
            <a:endParaRPr lang="el-GR" sz="1000" dirty="0"/>
          </a:p>
        </p:txBody>
      </p:sp>
      <p:sp>
        <p:nvSpPr>
          <p:cNvPr id="105" name="Text 105"/>
          <p:cNvSpPr txBox="1"/>
          <p:nvPr/>
        </p:nvSpPr>
        <p:spPr>
          <a:xfrm>
            <a:off x="530352" y="6583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Ποιο ΛΣ για ποια δουλειά;</a:t>
            </a:r>
            <a:endParaRPr lang="el-GR" sz="3000" dirty="0"/>
          </a:p>
        </p:txBody>
      </p:sp>
      <p:sp>
        <p:nvSpPr>
          <p:cNvPr id="106" name="Text 106"/>
          <p:cNvSpPr txBox="1"/>
          <p:nvPr/>
        </p:nvSpPr>
        <p:spPr>
          <a:xfrm>
            <a:off x="9098280" y="749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1100" b="1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SITE</a:t>
            </a:r>
            <a:endParaRPr lang="el-GR" sz="1100" dirty="0"/>
          </a:p>
        </p:txBody>
      </p:sp>
      <p:graphicFrame>
        <p:nvGraphicFramePr>
          <p:cNvPr id="107" name="Table 107"/>
          <p:cNvGraphicFramePr>
            <a:graphicFrameLocks noGrp="1"/>
          </p:cNvGraphicFramePr>
          <p:nvPr/>
        </p:nvGraphicFramePr>
        <p:xfrm>
          <a:off x="566928" y="1463040"/>
          <a:ext cx="10881360" cy="3182112"/>
        </p:xfrm>
        <a:graphic>
          <a:graphicData uri="http://schemas.openxmlformats.org/drawingml/2006/table">
            <a:tbl>
              <a:tblPr/>
              <a:tblGrid>
                <a:gridCol w="3931920"/>
                <a:gridCol w="1371600"/>
                <a:gridCol w="5577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ΠΕΡΙΠΤΩΣΗ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ΛΣ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ΓΙΑΤΙ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Εργαστήριο με παλιούς υπολογιστές και μηδέν budget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Linux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Δωρεάν και ελαφρύ (Linux Mint, Lubuntu): τρέχει και σε παλιό υλικό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Γραφίστας με Final Cut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macOS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Final Cut υπάρχει μόνο σε macOS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server για το site μιας εταιρείας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Linux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Σταθερό, δωρεάν, το πιο διαδεδομένο σε servers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Λογιστήριο με ελληνικό λογιστικό πρόγραμμα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Τα περισσότερα ελληνικά λογιστικά τρέχουν μόνο σε Windows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Developer παιχνιδιών με DirectX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DirectX είναι της Microsoft και υπάρχει μόνο στα Windows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Developer εφαρμογών για iPhone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macOS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Xcode, που χρειάζεται για iPhone, τρέχει μόνο σε macOS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108" name="Shape 108"/>
          <p:cNvSpPr/>
          <p:nvPr/>
        </p:nvSpPr>
        <p:spPr>
          <a:xfrm>
            <a:off x="566928" y="4873752"/>
            <a:ext cx="10881360" cy="1115568"/>
          </a:xfrm>
          <a:prstGeom prst="roundRect">
            <a:avLst>
              <a:gd name="adj" fmla="val 193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09" name="Text 109"/>
          <p:cNvSpPr txBox="1"/>
          <p:nvPr/>
        </p:nvSpPr>
        <p:spPr>
          <a:xfrm>
            <a:off x="731520" y="50017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Τρεις ερωτήσεις πριν διαλέξεις</a:t>
            </a:r>
            <a:endParaRPr lang="el-GR" sz="1400" dirty="0"/>
          </a:p>
        </p:txBody>
      </p:sp>
      <p:sp>
        <p:nvSpPr>
          <p:cNvPr id="110" name="Text 110"/>
          <p:cNvSpPr txBox="1"/>
          <p:nvPr/>
        </p:nvSpPr>
        <p:spPr>
          <a:xfrm>
            <a:off x="731520" y="5349240"/>
            <a:ext cx="10552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l-GR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Πόσο κοστίζει;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· </a:t>
            </a:r>
            <a:r>
              <a:rPr lang="el-GR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Ποιο λογισμικό χρειάζεται η δουλειά;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· </a:t>
            </a:r>
            <a:r>
              <a:rPr lang="el-GR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Πόσο σταθερό και ασφαλές πρέπει να είναι;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Το ΛΣ το διαλέγει η δουλειά, όχι η συνήθεια.</a:t>
            </a:r>
            <a:endParaRPr lang="el-GR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l-GR" sz="950" dirty="0"/>
          </a:p>
          <a:p>
            <a:pPr indent="0" marL="0">
              <a:buNone/>
            </a:pPr>
            <a:r>
              <a:rPr lang="el-GR" sz="9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l-GR" sz="950" dirty="0"/>
          </a:p>
        </p:txBody>
      </p:sp>
      <p:sp>
        <p:nvSpPr>
          <p:cNvPr id="103" name="Text 103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l-GR" sz="900" dirty="0"/>
          </a:p>
        </p:txBody>
      </p:sp>
      <p:sp>
        <p:nvSpPr>
          <p:cNvPr id="104" name="Text 104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00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10  </a:t>
            </a:r>
            <a:r>
              <a:rPr lang="el-GR" sz="100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ΑΔΕΙΕΣ ΧΡΗΣΗΣ · ΠΑΡΑΔΕΙΓΜΑΤΑ</a:t>
            </a:r>
            <a:endParaRPr lang="el-GR" sz="1000" dirty="0"/>
          </a:p>
        </p:txBody>
      </p:sp>
      <p:sp>
        <p:nvSpPr>
          <p:cNvPr id="105" name="Text 105"/>
          <p:cNvSpPr txBox="1"/>
          <p:nvPr/>
        </p:nvSpPr>
        <p:spPr>
          <a:xfrm>
            <a:off x="530352" y="6583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26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Εμπορικό ή ΕΛ/ΛΑΚ; Γνωστά προγράμματα</a:t>
            </a:r>
            <a:endParaRPr lang="el-GR" sz="2600" dirty="0"/>
          </a:p>
        </p:txBody>
      </p:sp>
      <p:sp>
        <p:nvSpPr>
          <p:cNvPr id="106" name="Text 106"/>
          <p:cNvSpPr txBox="1"/>
          <p:nvPr/>
        </p:nvSpPr>
        <p:spPr>
          <a:xfrm>
            <a:off x="9098280" y="749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1100" b="1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SITE</a:t>
            </a:r>
            <a:endParaRPr lang="el-GR" sz="1100" dirty="0"/>
          </a:p>
        </p:txBody>
      </p:sp>
      <p:graphicFrame>
        <p:nvGraphicFramePr>
          <p:cNvPr id="107" name="Table 107"/>
          <p:cNvGraphicFramePr>
            <a:graphicFrameLocks noGrp="1"/>
          </p:cNvGraphicFramePr>
          <p:nvPr/>
        </p:nvGraphicFramePr>
        <p:xfrm>
          <a:off x="566928" y="1463040"/>
          <a:ext cx="10881360" cy="3127248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011680"/>
                <a:gridCol w="2834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ΠΡΟΓΡΑΜΜΑ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ΤΙ ΕΙΝΑΙ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ΑΔΕΙΑ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 ΠΟΙΟΝ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 11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Λειτουργικό σύστημα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Εμπορικό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macOS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Λειτουργικό σύστημα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Εμπορικό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Apple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Ubuntu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Λειτουργικό σύστημα (Linux)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ΕΛ/ΛΑΚ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Canonical και κοινότητα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Office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Πρόγραμμα γραφείου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Εμπορικό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LibreOffice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Πρόγραμμα γραφείου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ΕΛ/ΛΑΚ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Document Foundation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Adobe Photoshop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Επεξεργασία εικόνας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Εμπορικό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Adobe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GIMP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Επεξεργασία εικόνας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ΕΛ/ΛΑΚ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Κοινότητα GNOME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Firefox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Φυλλομετρητής (browser)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ΕΛ/ΛΑΚ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Mozilla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7-Zip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Συμπίεση αρχείων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ΕΛ/ΛΑΚ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Igor Pavlov</a:t>
                      </a:r>
                      <a:endParaRPr lang="el-GR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108" name="Shape 108"/>
          <p:cNvSpPr/>
          <p:nvPr/>
        </p:nvSpPr>
        <p:spPr>
          <a:xfrm>
            <a:off x="566928" y="4818888"/>
            <a:ext cx="10881360" cy="1170432"/>
          </a:xfrm>
          <a:prstGeom prst="roundRect">
            <a:avLst>
              <a:gd name="adj" fmla="val 193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09" name="Text 109"/>
          <p:cNvSpPr txBox="1"/>
          <p:nvPr/>
        </p:nvSpPr>
        <p:spPr>
          <a:xfrm>
            <a:off x="731520" y="4946904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Δωρεάν δεν σημαίνει ΕΛ/ΛΑΚ</a:t>
            </a:r>
            <a:endParaRPr lang="el-GR" sz="1400" dirty="0"/>
          </a:p>
        </p:txBody>
      </p:sp>
      <p:sp>
        <p:nvSpPr>
          <p:cNvPr id="110" name="Text 110"/>
          <p:cNvSpPr txBox="1"/>
          <p:nvPr/>
        </p:nvSpPr>
        <p:spPr>
          <a:xfrm>
            <a:off x="731520" y="5294376"/>
            <a:ext cx="10552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Το Chrome και το WhatsApp είναι δωρεάν, αλλά ο κώδικάς τους είναι κλειστός. </a:t>
            </a:r>
            <a:r>
              <a:rPr lang="el-GR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ΕΛ/ΛΑΚ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σημαίνει ότι ο κώδικας είναι </a:t>
            </a:r>
            <a:r>
              <a:rPr lang="el-GR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ανοιχτός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τον βλέπεις, τον αλλάζεις, τον μοιράζεσαι.</a:t>
            </a:r>
            <a:endParaRPr lang="el-GR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2496</Words>
  <Application>Microsoft Office PowerPoint</Application>
  <PresentationFormat>Widescreen</PresentationFormat>
  <Paragraphs>356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Εργαστήριο 1 — Τι είναι το Λειτουργικό Σύστημα</dc:title>
  <dc:subject>PptxGenJS Presentation</dc:subject>
  <dc:creator>Λαμπρόπουλος Χρήστος</dc:creator>
  <cp:lastModifiedBy>Office</cp:lastModifiedBy>
  <cp:revision>3</cp:revision>
  <dcterms:created xsi:type="dcterms:W3CDTF">2026-10-05T20:37:55Z</dcterms:created>
  <dcterms:modified xsi:type="dcterms:W3CDTF">2026-10-05T20:46:32Z</dcterms:modified>
</cp:coreProperties>
</file>