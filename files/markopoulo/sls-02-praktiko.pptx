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0–2. Σήμερα κάθε έννοια τη βλέπουν πρώτα στην οθόνη και μετά της δίνουμε όνομα.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2–7. Συγκρίνετε φωναχτά τους αριθμούς ανάμεσα σε 2-3 υπολογιστές. Μην εξηγήσετε ακόμη το αίνιγμα.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7–12. Πολύ σύντομα, η κατανόηση έρχεται από την επόμενη αποστολή.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12–24. Στα Windows 11 το Σημειωματάριο μπορεί να ανοίξει με καρτέλες σε ένα παράθυρο. Αν συμβεί, ζητήστε να ανοίξουν νέα παράθυρα (Ctrl+Shift+N) ή χρησιμοποιήστε το παράδειγμα της Αριθμομηχανής ή του Paint (mspaint). ΜΗΝ κλείσουν τα Notepad: θα τα χρειαστούμε.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24–34. Στο Edge το αντίστοιχο είναι επίσης Shift+Esc. Σύνδεση με την ασφάλεια: απομόνωση διεργασιών.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1, λεπτά 34–40. Επιστρέψτε στους αριθμούς του ζεστάματος. Το κβάντο στο σχήμα είναι ενδεικτικό. Στο επόμενο πείραμα θα «γεμίσουμε» τους πυρήνες για να το δούμε.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0–15. Κάθε while($true){} φορτώνει έναν λογικό επεξεργαστή στο 100%. Όταν τα παράθυρα ξεπεράσουν τους λογικούς επεξεργαστές, όλοι οι πυρήνες είναι γεμάτοι και οι διεργασίες μοιράζονται τον χρόνο. Ο υπολογιστής μπορεί να αργήσει λίγο: είναι αναμενόμενο. Το $PID δείχνει το PID του κάθε PowerShell, για να το βρουν στη Διαχείριση εργασιών.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15–30. Η διαφορά φαίνεται μόνο όταν οι πυρήνες είναι όλοι γεμάτοι (γι' αυτό +1 παράθυρο). Αν δεν φαίνεται, ανοίξτε ακόμη 1-2 PowerShell. Η τιμή CPU στη Διαχείριση εργασιών είναι ποσοστό όλου του επεξεργαστή, όχι ενός πυρήνα. Στο τέλος βεβαιωθείτε ότι έκλεισαν ΟΛΑ τα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30–40. Συνδέστε κάθε κατάσταση με κάτι που είδαν: PowerShell = Εκτελούμενη/Έτοιμη, Notepad σε αναμονή = Μπλοκαρισμένη, PowerShell που έκλεισε = Τερματισμένη.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2, λεπτά 40–45 και ώρα 3, λεπτά 0–5. Όσο είναι σε αναστολή, το Notepad δεν ανταποκρίνεται και τα πλήκτρα εμφανίζονται μετά τη Συνέχιση. Αυτό αντιστοιχεί στη «νάρκωση/αφύπνιση» του Εγχειριδίου.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5–15. Ο τερματισμός από cmd είναι αυτό που κάνουν οι τεχνικοί όταν μια εφαρμογή «κολλήσει» και δεν ανοίγει η Διαχείριση εργασιών. Θα ξαναδούμε tasklist/taskkill στο εργαστήριο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15–20. Γρήγορα, ως λεξιλόγιο. Η επόμενη άσκηση το εμπεδώνει.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20–25. Ατομικά, έλεγχος στην ολομέλεια.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25–40. Παραδοτέο του εργαστηρίου 2. Όσοι τελειώσουν νωρίς προχωρούν στην άσκηση της επόμενης διαφάνειας.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Προαιρετική. Το βήμα 5 είναι η παγίδα: μετά το τέλος της Ε/Ε η διεργασία πάει στις Έτοιμες, όχι απευθείας στον επεξεργαστή.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Ώρα 3, λεπτά 40–45. Ερωτήσεις εξόδου προφορικά. Έλεγχος ότι έκλεισαν όλα τα PowerShell και ότι το Diergasies.docx είναι στον φάκελο.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ΕΡΓΑΣΤΗΡΙΟ 2 · ΕΝΟΤΗΤΑ 2.1.Β.1 · ΤΡΙΤΗ 13/10/2026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12064" y="2487168"/>
            <a:ext cx="1005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Διεργασίες</a:t>
            </a:r>
            <a:endParaRPr lang="en-US" sz="5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στην πράξη</a:t>
            </a:r>
            <a:endParaRPr lang="en-US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Κυνηγάμε, φρενάρουμε, παγώνουμε και κλείνουμε διεργασίες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00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αποστολές στη Διαχείριση εργασιών, στην Παρακολούθηση πόρων και στο cmd · καταστάσεις διεργασίας · κατηγορίες ΛΣ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ΖΕΣΤΑΜΑ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Μέτρα τον υπολογιστή σου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5΄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86868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1463040"/>
            <a:ext cx="41148" cy="86868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ΤΙ ΚΑΝΕΙΣ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Esc → Επιδόσεις → CPU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γράψε στο φύλλο εργασίας τους τέσσερις αριθμούς κάτω από το γράφημα.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2560320"/>
            <a:ext cx="2583180" cy="1737360"/>
          </a:xfrm>
          <a:prstGeom prst="roundRect">
            <a:avLst>
              <a:gd name="adj" fmla="val 3158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697480"/>
            <a:ext cx="25831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" y="3383280"/>
            <a:ext cx="23088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Πυρήνες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πραγματικοί «εργάτες»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332988" y="2560320"/>
            <a:ext cx="2583180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32988" y="2697480"/>
            <a:ext cx="25831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383280"/>
            <a:ext cx="23088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Λογικοί επεξεργαστές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όσα πράγματα τρέχουν πραγματικά μαζί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099048" y="2560320"/>
            <a:ext cx="2583180" cy="1737360"/>
          </a:xfrm>
          <a:prstGeom prst="roundRect">
            <a:avLst>
              <a:gd name="adj" fmla="val 3158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99048" y="2697480"/>
            <a:ext cx="25831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3383280"/>
            <a:ext cx="23088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Διεργασίες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προγράμματα σε εκτέλεση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865108" y="2560320"/>
            <a:ext cx="2583180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865108" y="2697480"/>
            <a:ext cx="25831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9002268" y="3383280"/>
            <a:ext cx="23088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Νήματα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μικρότερα κομμάτια δουλειάς μέσα στις διεργασίες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65429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αίνιγμα της ημέρας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5004562"/>
            <a:ext cx="10552176" cy="847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έχεις π.χ. 4 λογικούς επεξεργαστές και πάνω από 150 διεργασίες, πώς τρέχουν όλες «μαζί»; Κράτα την απάντησή σου. Θα την ελέγξουμε με πειράματα.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ΕΝΝΟΙΕΣ · 5 ΛΕΠΤΑ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Πρόγραμμα ή διεργασία;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591056"/>
            <a:ext cx="5020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ΣΤΟΝ ΔΙΣΚΟ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47088"/>
            <a:ext cx="5020056" cy="290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Πρόγραμμα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229104"/>
            <a:ext cx="5020056" cy="87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Αρχείο στον δίσκο, π.χ.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notepad.exe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Παθητικό: δεν κάνει τίποτα μόνο του.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99048" y="146304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1591056"/>
            <a:ext cx="5020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ΣΤΗ ΜΝΗΜΗ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1847088"/>
            <a:ext cx="5020056" cy="290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Διεργασία (process)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229104"/>
            <a:ext cx="5020056" cy="87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 πρόγραμμα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 εκτέλεση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στη μνήμη. Έχει δικό της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(αριθμό ταυτότητας), κατάσταση και προτεραιότητα.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55701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Αναλογία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3907282"/>
            <a:ext cx="10552176" cy="61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συνταγή στο βιβλίο είναι το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πρόγραμμα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Κάθε φορά που κάποιος τη μαγειρεύει είναι μια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διεργασία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Τρεις μάγειρες με την ίδια συνταγή = 1 πρόγραμμα, 3 διεργασίες.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80060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492861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Θα το επιβεβαιώσεις σε 2 λεπτά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5278882"/>
            <a:ext cx="10552176" cy="573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Στην αποστολή 1 θα ανοίξεις το ίδιο πρόγραμμα τρεις φορές και θα βρεις τρεις διεργασίες με διαφορετικό PID.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1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πρόγραμμα, 3 διεργασίες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12΄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66878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6687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07008" y="146304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1536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3 Σημειωματάρια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notepad  (× 3)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146304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Γράψε σε καθένα κάτι διαφορετικό: «ένα», «δύο», «τρία».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267462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74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07008" y="246888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89888" y="25420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Βρες τα PID στο GUI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2953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Esc → Λεπτομέρειες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2468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Ταξινόμησε κατά Όνομα. Γράψε τα PID των τριών Notepad.exe.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7008" y="34747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89888" y="35478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Βρες τα PID στο cmd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89888" y="39593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cmd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47472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Γράψε την εντολή του πλαισίου. Τα PID είναι ίδια με του βήματος 2;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654296"/>
            <a:ext cx="10552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ΕΝΤΟΛΗ ΓΙΑ ΤΟ ΒΗΜΑ 3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937760"/>
            <a:ext cx="1055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tasklist /FI "IMAGENAME eq notepad.exe"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δείχνει μόνο τις διεργασίες notepad.exe με τα PID τους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2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ο browser έχει τόσες διεργασίες;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10΄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66878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6687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07008" y="146304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1536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3 καρτέλες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 ή Edge → 3 διαφορετικά sites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146304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Π.χ. ένα βίντεο, ένα site ειδήσεων, το site της ΣΑΕΚ.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267462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74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07008" y="246888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89888" y="25420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Δες την ομάδα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2953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Διαχείριση εργασιών → Διεργασίες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2468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Ανάπτυξε το Chrome (βελάκι). Πόσες διεργασίες έχει;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7008" y="34747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89888" y="35478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δικός του διαχειριστής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89888" y="39593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Μέσα στον Chrome: Shift + Esc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47472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καρτέλα τρώει την περισσότερη μνήμη; Κλείσε τη από εκεί.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65429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το κάνει αυτό;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5004562"/>
            <a:ext cx="10552176" cy="847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καρτέλα τρέχει σε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ξεχωριστή διεργασία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 «κολλήσει» μία, οι άλλες συνεχίζουν, και η μία καρτέλα δεν μπορεί να διαβάσει τη μνήμη της άλλης. Το ΛΣ τις κρατά απομονωμένες.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ΕΝΝΟΙΕΣ · 5 ΛΕΠΤΑ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λύση: καταμερισμός χρόνου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10881360" cy="100584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463040"/>
            <a:ext cx="41148" cy="100584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 ΙΔΕΑ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773936"/>
            <a:ext cx="105521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πυρήνας δίνεται σε κάθε διεργασία για ένα πολύ μικρό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κβάντο χρόνου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μετά περνά στην επόμενη. Η εναλλαγή γίνεται τόσο γρήγορα που όλα μοιάζουν να τρέχουν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ταυτόχρονα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88720" cy="640080"/>
          </a:xfrm>
          <a:prstGeom prst="rect">
            <a:avLst/>
          </a:prstGeom>
          <a:solidFill>
            <a:srgbClr val="2F4BD8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778508" y="2743200"/>
            <a:ext cx="1188720" cy="640080"/>
          </a:xfrm>
          <a:prstGeom prst="rect">
            <a:avLst/>
          </a:prstGeom>
          <a:solidFill>
            <a:srgbClr val="5C73E6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7850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990088" y="2743200"/>
            <a:ext cx="1188720" cy="640080"/>
          </a:xfrm>
          <a:prstGeom prst="rect">
            <a:avLst/>
          </a:prstGeom>
          <a:solidFill>
            <a:srgbClr val="8FA0EE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9008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201668" y="2743200"/>
            <a:ext cx="1188720" cy="640080"/>
          </a:xfrm>
          <a:prstGeom prst="rect">
            <a:avLst/>
          </a:prstGeom>
          <a:solidFill>
            <a:srgbClr val="2F4BD8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0166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13248" y="2743200"/>
            <a:ext cx="1188720" cy="640080"/>
          </a:xfrm>
          <a:prstGeom prst="rect">
            <a:avLst/>
          </a:prstGeom>
          <a:solidFill>
            <a:srgbClr val="5C73E6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1324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624828" y="2743200"/>
            <a:ext cx="1188720" cy="640080"/>
          </a:xfrm>
          <a:prstGeom prst="rect">
            <a:avLst/>
          </a:prstGeom>
          <a:solidFill>
            <a:srgbClr val="8FA0EE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482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836408" y="2743200"/>
            <a:ext cx="1188720" cy="640080"/>
          </a:xfrm>
          <a:prstGeom prst="rect">
            <a:avLst/>
          </a:prstGeom>
          <a:solidFill>
            <a:srgbClr val="2F4BD8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3640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Spotify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047988" y="2743200"/>
            <a:ext cx="1188720" cy="640080"/>
          </a:xfrm>
          <a:prstGeom prst="rect">
            <a:avLst/>
          </a:prstGeom>
          <a:solidFill>
            <a:srgbClr val="5C73E6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4798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259568" y="2743200"/>
            <a:ext cx="1188720" cy="640080"/>
          </a:xfrm>
          <a:prstGeom prst="rect">
            <a:avLst/>
          </a:prstGeom>
          <a:solidFill>
            <a:srgbClr val="8FA0EE"/>
          </a:solidFill>
          <a:ln w="12700">
            <a:solidFill>
              <a:srgbClr val="FBFCF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259568" y="2743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24688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ms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45846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ms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267004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ms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388162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ms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09320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ms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630478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ms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751636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ms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872794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 ms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993952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ms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11151108" y="34290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ms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3931920"/>
            <a:ext cx="5349240" cy="2011680"/>
          </a:xfrm>
          <a:prstGeom prst="roundRect">
            <a:avLst>
              <a:gd name="adj" fmla="val 2727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520" y="405993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Πολυπρογραμματισμός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1520" y="4410202"/>
            <a:ext cx="5020056" cy="1441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Πολλές διεργασίες βρίσκονται μαζί στη μνήμη. Όταν μία περιμένει (δίσκο, δίκτυο, πλήκτρο), ο πυρήνας δίνεται αμέσως σε άλλη.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6099048" y="3931920"/>
            <a:ext cx="5349240" cy="2011680"/>
          </a:xfrm>
          <a:prstGeom prst="roundRect">
            <a:avLst>
              <a:gd name="adj" fmla="val 2727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63640" y="405993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απάντηση στο αίνιγμα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263640" y="4410202"/>
            <a:ext cx="5020056" cy="1441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περισσότερες από τις 150 διεργασίες απλώς περιμένουν. Λίγες θέλουν πραγματικά επεξεργαστή, και αυτές μοιράζονται τους πυρήνες με εναλλαγή.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3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Πείραμα: γέμισε τον επεξεργαστή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15΄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66878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6687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07008" y="146304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1536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Δες κάθε πυρήνα χωριστά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Επιδόσεις → CPU → δεξί κλικ στο γράφημα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146304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Αλλαγή γραφήματος σε → Λογικοί επεξεργαστές. Ένα γράφημα ανά λογικό επεξεργαστή.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267462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74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07008" y="246888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89888" y="25420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Φτιάξε διεργασία που «καίει» CPU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2953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powershell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2468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Γράψε τις δύο εντολές του πλαισίου. Μία διεργασία θα τρέχει ασταμάτητα.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7008" y="34747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89888" y="35478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Πρόσθεσε κι άλλες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89888" y="39593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άνοιξε κι άλλα PowerShell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47472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Συνέχισε μέχρι να έχεις όσα παράθυρα είναι οι λογικοί επεξεργαστές + 1. Τι βλέπεις στα γραφήματα;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526280"/>
            <a:ext cx="6949440" cy="1417320"/>
          </a:xfrm>
          <a:prstGeom prst="roundRect">
            <a:avLst>
              <a:gd name="adj" fmla="val 3871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654296"/>
            <a:ext cx="6620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ΣΕ ΚΑΘΕ ΠΑΡΑΘΥΡΟ POWERSHELL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937760"/>
            <a:ext cx="6620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$PID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γράψε τον αριθμό που βγάζει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($true) { }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ατέρμων βρόχος (σταματά με Ctrl + C)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699248" y="452628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63840" y="4654296"/>
            <a:ext cx="34198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Προσοχή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863840" y="5004562"/>
            <a:ext cx="3419856" cy="847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ΜΗΝ κλείσεις τα PowerShell ακόμη. Τα χρειάζεσαι στην επόμενη αποστολή.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4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Πείραμα: ποιος παίρνει περισσότερο χρόνο;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15΄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655064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655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07008" y="1463040"/>
            <a:ext cx="10241280" cy="841248"/>
          </a:xfrm>
          <a:prstGeom prst="roundRect">
            <a:avLst>
              <a:gd name="adj" fmla="val 6522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1536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Βρες τα PowerShell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Διαχείριση εργασιών → Λεπτομέρειες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1463040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Ταξινόμησε κατά Όνομα. Βρες τα powershell.exe από το PID τους. Δες τη στήλη CPU.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260604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07008" y="2414016"/>
            <a:ext cx="10241280" cy="841248"/>
          </a:xfrm>
          <a:prstGeom prst="roundRect">
            <a:avLst>
              <a:gd name="adj" fmla="val 6522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89888" y="248716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Άλλαξε προτεραιότητα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28712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δεξί κλικ → Ορισμός προτεραιότητας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2414016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Στο ένα βάλε «Υψηλή», στο άλλο «Χαμηλή». ΠΟΤΕ «Πραγματικού χρόνου».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557016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7008" y="3364992"/>
            <a:ext cx="10241280" cy="841248"/>
          </a:xfrm>
          <a:prstGeom prst="roundRect">
            <a:avLst>
              <a:gd name="adj" fmla="val 6522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89888" y="343814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Μέτρησε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89888" y="38221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παρατήρησε 30 δευτερόλεπτα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364992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Γράψε το % CPU της «Υψηλής», μιας «Κανονικής» και της «Χαμηλής».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507992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66928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1207008" y="4315968"/>
            <a:ext cx="10241280" cy="841248"/>
          </a:xfrm>
          <a:prstGeom prst="roundRect">
            <a:avLst>
              <a:gd name="adj" fmla="val 6522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389888" y="4389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Καθάρισε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1389888" y="47731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σε κάθε PowerShell: Ctrl + C, μετά exit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5394960" y="4315968"/>
            <a:ext cx="5897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Έλεγξε στις Επιδόσεις ότι η CPU έπεσε ξανά.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5303520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5431536"/>
            <a:ext cx="10552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περιμένουμε: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όταν οι πυρήνες είναι γεμάτοι, το ΛΣ δίνει περισσότερο χρόνο στη διεργασία με υψηλή προτεραιότητα και λιγότερο σε αυτή με χαμηλή.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ΕΝΝΟΙΕΣ · 10 ΛΕΠΤΑ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ζωή μιας διεργασίας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640080" y="16002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FBFCFE"/>
          </a:solidFill>
          <a:ln w="12700">
            <a:solidFill>
              <a:srgbClr val="D3D9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600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Νέα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23560" y="16002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FBFCFE"/>
          </a:solidFill>
          <a:ln w="12700">
            <a:solidFill>
              <a:srgbClr val="D3D9E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23560" y="1600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Τερματισμένη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463040" y="324612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63040" y="3246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Έτοιμη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54880" y="324612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32461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Εκτελούμενη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108960" y="50292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08960" y="5029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Μπλοκαρισμένη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527048" y="2258568"/>
            <a:ext cx="667512" cy="96926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1874520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εισαγωγή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64408" y="3410712"/>
            <a:ext cx="1472184" cy="91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3172968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επιλογή (scheduler)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 flipH="1">
            <a:off x="3264408" y="3730752"/>
            <a:ext cx="1472184" cy="91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172968" y="3767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λήξη κβάντου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 flipV="1">
            <a:off x="6035040" y="2258568"/>
            <a:ext cx="365760" cy="96926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6309360" y="26060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τέλος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 flipH="1">
            <a:off x="4572000" y="3904488"/>
            <a:ext cx="822960" cy="110642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74920" y="4389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αναμονή Ε/Ε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 flipH="1" flipV="1">
            <a:off x="2377440" y="3904488"/>
            <a:ext cx="822960" cy="1106424"/>
          </a:xfrm>
          <a:prstGeom prst="line">
            <a:avLst/>
          </a:prstGeom>
          <a:noFill/>
          <a:ln w="22225">
            <a:solidFill>
              <a:srgbClr val="2F4BD8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1600200" y="43891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4B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τέλος Ε/Ε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818120" y="1463040"/>
            <a:ext cx="3630168" cy="2148840"/>
          </a:xfrm>
          <a:prstGeom prst="roundRect">
            <a:avLst>
              <a:gd name="adj" fmla="val 2553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82712" y="1591056"/>
            <a:ext cx="330098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είδες στο πείραμα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982712" y="1941322"/>
            <a:ext cx="3300984" cy="1579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γεμάτους πυρήνες, κάθε PowerShell ήταν άλλοτε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Εκτελούμενο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άλλοτε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Έτοιμο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περιμένοντας τη σειρά του.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818120" y="3794760"/>
            <a:ext cx="3630168" cy="2148840"/>
          </a:xfrm>
          <a:prstGeom prst="roundRect">
            <a:avLst>
              <a:gd name="adj" fmla="val 2553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82712" y="3922776"/>
            <a:ext cx="3300984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Και το Notepad;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982712" y="4273042"/>
            <a:ext cx="3300984" cy="1579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Όσο δεν γράφεις τίποτα, είναι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Μπλοκαρισμένο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περιμένει πλήκτρο. Γι' αυτό δεν «τρώει» καθόλου CPU.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5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Πάγωσε και ξύπνησε μια διεργασία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10΄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66878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6687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07008" y="146304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89888" y="1536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Άνοιξε την Παρακολούθηση πόρων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89888" y="19476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+ R → resmon → καρτέλα CPU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146304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Βρες το notepad.exe με το PID που κράτησες από την αποστολή 1.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267462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74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207008" y="246888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89888" y="25420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Νάρκωση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89888" y="2953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δεξί κλικ → Αναστολή διεργασίας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394960" y="246888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Γύρνα στο Notepad και προσπάθησε να γράψεις. Τι γίνεται; Τι γράφει η στήλη Κατάσταση;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680460"/>
            <a:ext cx="457200" cy="457200"/>
          </a:xfrm>
          <a:prstGeom prst="ellipse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07008" y="34747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89888" y="35478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Αφύπνιση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89888" y="39593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δεξί κλικ → Συνέχιση διεργασίας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474720"/>
            <a:ext cx="5897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έγινε με όσα πληκτρολόγησες όσο ήταν παγωμένο;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65429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Προσοχή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5004562"/>
            <a:ext cx="10552176" cy="847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Αναστολή κάνουμε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μόνο στο Notepad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 παγώσεις διεργασία του συστήματος (π.χ. explorer.exe), μπορεί να «κολλήσει» όλη η οθόνη και να χρειαστεί επανεκκίνηση.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ΑΠΟΣΤΟΛΗ 6 · ΣΤΟ PC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Κλείσε διεργασίες από τη γραμμή εντολών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▶ 10΄ ΣΤΟ PC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6949440" cy="2834640"/>
          </a:xfrm>
          <a:prstGeom prst="roundRect">
            <a:avLst>
              <a:gd name="adj" fmla="val 1935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91056"/>
            <a:ext cx="6620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ΣΤΟ CMD, ΜΙΑ-ΜΙΑ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874520"/>
            <a:ext cx="6620256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tasklist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όλες οι διεργασίες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tasklist | find "notepad"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μόνο τα Notepad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taskkill /PID 1234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κλείσε ένα (βάλε το δικό σου PID)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taskkill /IM notepad.exe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κλείσε όλα τα Notepad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taskkill /IM notepad.exe /F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αναγκαστικά, χωρίς ερώτηση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1463040"/>
            <a:ext cx="3749040" cy="2834640"/>
          </a:xfrm>
          <a:prstGeom prst="roundRect">
            <a:avLst>
              <a:gd name="adj" fmla="val 193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1591056"/>
            <a:ext cx="34198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να προσέξεις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941322"/>
            <a:ext cx="3419856" cy="2264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 /F, το Notepad ρωτά αν θέλεις να αποθηκεύσεις.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/F κλείνει αμέσως και ό,τι δεν αποθηκεύτηκε χάνεται.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Ποτέ taskkill σε διεργασίες συστήματος.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526280"/>
            <a:ext cx="10881360" cy="1417320"/>
          </a:xfrm>
          <a:prstGeom prst="roundRect">
            <a:avLst>
              <a:gd name="adj" fmla="val 3871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654296"/>
            <a:ext cx="1055217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Ερώτηση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004562"/>
            <a:ext cx="10552176" cy="847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Μετά το taskkill, σε ποια κατάσταση πέρασε η διεργασία; Τρέξε ξανά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tasklist | find "notepad"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υπάρχει ακόμη;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ΕΝΝΟΙΕΣ · 5 ΛΕΠΤΑ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κατηγορίες ΛΣ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29768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ΚΑΤΗΓΟΡΙΑ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ΚΥΡΙΟ ΧΑΡΑΚΤΗΡΙΣΤΙΚΟ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ΠΑΡΑΔΕΙΓΜΑ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Ομαδικής επεξεργασίας / πολυπρογραμματισμού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Εργασίες σε σειρά, πολλά προγράμματα στη μνήμη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Νυχτερινή μισθοδοσία τράπεζας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Καταμερισμού χρόνου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Κβάντο χρόνου σε κάθε διεργασία (το είδες σήμερα)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Windows, Linux, Android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Πραγματικού χρόνου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Απάντηση μέσα σε αυστηρό χρονικό όριο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ABS, αερόσακος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Κατανεμημένα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Πολλοί υπολογιστές σαν ένα σύστημα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Cloud, μηχανές αναζήτησης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Ενσωματωμένα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Μέσα σε συσκευή, για μία δουλειά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Router, πλυντήριο, smart TV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065776"/>
            <a:ext cx="10552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Προσοχή: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ένα σύγχρονο ΛΣ συνδυάζει κατηγορίες. Τα Windows είναι και πολυπρογραμματισμού και καταμερισμού χρόνου.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ΑΣΚΗΣΗ Α1 · ΕΥΚΟΛΗ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 ποια κατηγορία ανήκει;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1B6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●○○  ΕΥΚΟΛΗ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77724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1463040"/>
            <a:ext cx="41148" cy="77724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 κάθε σύστημα γράψε την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κύρια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κατηγορία ΛΣ και μία λέξη-κλειδί που σε οδήγησε εκεί.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423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ΛΥΣΗ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0"/>
                <a:gridCol w="265176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ΣΥΣΤΗΜΑ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ΚΑΤΗΓΟΡΙΑ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ΛΕΞΗ-ΚΛΕΙΔΙ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 ελεγκτής του αερόσακου ενός αυτοκινήτου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Πραγματικού χρόνου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χρονικό όριο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β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Netflix που σερβίρει ταινίες από χιλιάδες servers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Κατανεμημένο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πολλοί υπολογιστές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 υπολογιστής του εργαστηρίου με Windows 11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Καταμερισμού χρόνου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κβάντο, εναλλαγή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ΛΣ μέσα στον ρούτερ του σπιτιού σου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Ενσωματωμένο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μέσα σε συσκευή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Η εκτύπωση 50.000 λογαριασμών μέσα στη νύχτα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Ομαδικής επεξεργασίας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σειρά εργασιών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ΠΑΡΑΔΟΤΕΟ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Φύλλο μετρήσεων: οι διεργασίες μου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10881360" cy="9144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463040"/>
            <a:ext cx="41148" cy="9144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ΤΙ ΚΑΝΕΙΣ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773936"/>
            <a:ext cx="10552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Συμπλήρωσε τον πίνακα με τις δικές σου μετρήσεις και αποθήκευσέ τον ως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Diergasies.docx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στον φάκελο LS_Eponymo, με ένα στιγμιότυπο από το πείραμα της αποστολής 3.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603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30936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ΜΕΤΡΗΣΗ / ΕΡΩΤΗΣΗ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Η ΑΠΑΝΤΗΣΗ ΜΟΥ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Πυρήνες · λογικοί επεξεργαστές · διεργασίες · νήματα (ζέσταμα)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Τα PID των τριών Notepad (GUI και cmd ίδια;)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Πόσες διεργασίες είχε ο browser με 3 καρτέλες;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% CPU: Υψηλή · Κανονική · Χαμηλή προτεραιότητα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Τι έγινε όταν έγραψες σε Notepad σε αναστολή;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Η εντολή που έκλεισε όλα τα Notepad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ΑΣΚΗΣΗ Β1 · ΓΙΑ ΟΣΟΥΣ ΤΕΛΕΙΩΣΑΝ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Ακολούθησε τη διεργασία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7498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●●○  ΜΕΤΡΙΑ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463040"/>
            <a:ext cx="10881360" cy="9144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1463040"/>
            <a:ext cx="41148" cy="9144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1554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ΕΚΦΩΝΗΣΗ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1773936"/>
            <a:ext cx="10552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υπολογιστής έχει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πυρήνα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Ανοίγεις το Word, γράφεις, πατάς «Αποθήκευση» και μετά το κλείνεις. Σε ποια κατάσταση είναι η διεργασία του Word μετά από κάθε γεγονός;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25603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ΛΥΣΗ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2377440"/>
                <a:gridCol w="38404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ΓΕΓΟΝΟΣ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ΚΑΤΑΣΤΑΣΗ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ΓΙΑΤΙ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Διπλό κλικ στο εικονίδιο του Word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Νέα → Έτοιμη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Δημιουργείται και μπαίνει στην ουρά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 scheduler τη διαλέγει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Εκτελούμενη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Πήρε τον επεξεργαστή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Spotify παίρνει τη σειρά του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Έτοιμη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Έληξε το κβάντο της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Πατάς «Αποθήκευση», γράφει στον δίσκο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Μπλοκαρισμένη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Περιμένει τον δίσκο (Ε/Ε)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Ο δίσκος τελείωσε την εγγραφή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Έτοιμη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 κατευθείαν Εκτελούμενη!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B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Κλείνεις το Word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Τερματισμένη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ΛΣ παίρνει πίσω τους πόρους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12700">
            <a:solidFill>
              <a:srgbClr val="2F4BD8"/>
            </a:solidFill>
            <a:prstDash val="solid"/>
          </a:ln>
        </p:spPr>
      </p:sp>
      <p:pic>
        <p:nvPicPr>
          <p:cNvPr id="3" name="Image 0" descr="/tmp/claude-0/-home-claude/8f07f1d1-9bfe-540b-b195-992cdc902b9e/scratchpad/prak/logo_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73768" y="246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Μαρκοπούλου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Σύγχρονα Λειτουργικά Συστήματα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38404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ΣΥΝΟΨΗ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65836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είδες σήμερα με τα μάτια σου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66928" y="1463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59105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Πρόγραμμα ≠ διεργασία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94132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Notepad.exe, 3 διεργασίες με 3 PID.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99048" y="1463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159105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Καταμερισμός χρόνου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194132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Περισσότερες διεργασίες από πυρήνες: μοιράζονται τον χρόνο.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274320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287121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Προτεραιότητα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22148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γεμάτους πυρήνες, η «Υψηλή» πήρε περισσότερη CPU.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99048" y="274320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63640" y="2871216"/>
            <a:ext cx="50200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Καταστάσεις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3221482"/>
            <a:ext cx="5020056" cy="52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Εκτελούμενη, Έτοιμη, Μπλοκαρισμένη, ανεσταλμένη, Τερματισμένη.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114800"/>
            <a:ext cx="6949440" cy="1828800"/>
          </a:xfrm>
          <a:prstGeom prst="roundRect">
            <a:avLst>
              <a:gd name="adj" fmla="val 3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4242816"/>
            <a:ext cx="66202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Έλεγξε τον εαυτό σου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93082"/>
            <a:ext cx="6620256" cy="125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το Notepad που περιμένει δεν «τρώει» CPU;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ο browser χρησιμοποιεί πολλές διεργασίες;</a:t>
            </a:r>
            <a:endParaRPr lang="en-US" sz="1250" dirty="0"/>
          </a:p>
          <a:p>
            <a:pPr marL="177800" indent="-1778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εντολή κλείνει διεργασία από το cmd;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699248" y="4114800"/>
            <a:ext cx="3749040" cy="1828800"/>
          </a:xfrm>
          <a:prstGeom prst="roundRect">
            <a:avLst>
              <a:gd name="adj" fmla="val 3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242816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20/10/2026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498848"/>
            <a:ext cx="3419856" cy="258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Επόμενο εργαστήριο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4849114"/>
            <a:ext cx="3419856" cy="1003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Τρίτη 20/10: ποια διεργασία παίρνει πρώτη τον επεξεργαστή; FCFS και SJF με διαγράμματα Gantt.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Εργαστήριο 2 — Διεργασίες στην πράξη</dc:title>
  <dc:subject>PptxGenJS Presentation</dc:subject>
  <dc:creator>Λαμπρόπουλος Χρήστος</dc:creator>
  <cp:lastModifiedBy>Λαμπρόπουλος Χρήστος</cp:lastModifiedBy>
  <cp:revision>1</cp:revision>
  <dcterms:created xsi:type="dcterms:W3CDTF">2026-10-05T21:05:13Z</dcterms:created>
  <dcterms:modified xsi:type="dcterms:W3CDTF">2026-10-05T21:05:13Z</dcterms:modified>
</cp:coreProperties>
</file>