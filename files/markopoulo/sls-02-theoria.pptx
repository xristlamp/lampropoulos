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0–5. Στόχος: να ταξινομούν τα ΛΣ σε κατηγορίες, να ξεχωρίζουν πρόγραμμα από διεργασία και να αναγνωρίζουν τις καταστάσεις μιας διεργασίας, βλέποντάς τες στη Διαχείριση εργασιών.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5–10. Προφορικές απαντήσεις πριν αποκαλύψετε τις κάρτες. Ζωντανά: Ctrl+Shift+Esc → Επιδόσεις → CPU, κάτω αριστερά φαίνεται ο αριθμός διεργασιών. Δείξτε τον αριθμό, χωρίς να εξηγήσετε ακόμη.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10–20. Διαβάστε μαζί το διάγραμμα: στην πρώτη γραμμή, όσο το Α περιμένει τον δίσκο, ο επεξεργαστής κάθεται. Στη δεύτερη, το ΛΣ γεμίζει το κενό με το Β. Ίδια δουλειά, 10 → 7 μονάδες χρόνου. Αυτή είναι η ιδέα πίσω από όλα τα σύγχρονα ΛΣ.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20–25. Το κβάντο στο σχήμα είναι ενδεικτικό (10 ms). Με πολλούς πυρήνες ισχύει το ίδιο για κάθε πυρήνα χωριστά. Τον αλγόριθμο εκ περιτροπής (Round Robin) θα τον δούμε αναλυτικά στο εργαστήριο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25–35. Ρωτήστε: αν το ABS απαντήσει σε 2 δευτερόλεπτα αντί για 2 χιλιοστά, είναι σωστή η απάντηση; Οι κατηγορίες δεν αποκλείουν η μία την άλλη: ένα smart TV είναι ενσωματωμένο σύστημα και ταυτόχρονα καταμερισμού χρόνου.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35–40. Αυτός ο πίνακας είναι το «φροντιστήριο» της θεωρίας. Ζητήστε να τον αντιγράψουν ή να τον φωτογραφίσουν.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40–45. Ατομικά 4 λεπτά, έλεγχος στην ολομέλεια. Δεχτείτε και δεύτερη κατηγορία αν αιτιολογηθεί (π.χ. το γ είναι και πολυπρογραμματισμού). Διάλειμμα μετά.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0–10. Όλα αυτά τα στοιχεία αποθηκεύονται σε μια δομή που λέγεται Μπλοκ Ελέγχου Διεργασίας (PCB). Στο εργαστήριο θα δουν το PID και την κατάσταση στη Διαχείριση εργασιών.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10–15. Αναλογία: σελιδοδείκτης. Η Α βάζει σελιδοδείκτη (σώζεται η κατάσταση) ώστε να συνεχίσει αργότερα ακριβώς από το ίδιο σημείο.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15–30. Η πιο σημαντική διαφάνεια της ημέρας. Ακολουθήστε ένα παράδειγμα: ανοίγω το Word (Νέα → Έτοιμη), παίρνει τον επεξεργαστή (Εκτελούμενη), ζητά να διαβάσει το αρχείο από τον δίσκο (Μπλοκαρισμένη), το αρχείο ήρθε (Έτοιμη), ξανά Εκτελούμενη, κλείνω το Word (Τερματισμένη).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30–35. Η νάρκωση στο βιβλίο αντιστοιχεί στην «Αναστολή διεργασίας» της Παρακολούθησης πόρων των Windows. Θα τα κάνουν όλα στο εργαστήριο σε λίγα λεπτά.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35–45. Σε ζευγάρια. Το βήμα 5 είναι η παγίδα: μετά το τέλος της Ε/Ε η διεργασία πάει στις Έτοιμες, όχι απευθείας στον επεξεργαστή.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45 – ώρα 3, λεπτά 15. Επίδειξη στον προβολέα και μετά ο καθένας μόνος του. Στο βήμα 4 το Notepad δεν ανταποκρίνεται όσο είναι σε αναστολή: τα πλήκτρα που πατάνε εμφανίζονται μόλις γίνει Συνέχιση. ΠΡΟΣΟΧΗ: μόνο στο Notepad, ποτέ σε διεργασίες συστήματος.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15–35. Παραδοτέο του εργαστηρίου 2. Όσοι τελειώσουν νωρίς προχωρούν στην άσκηση Γ1.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35–40. Συζήτηση στην ολομέλεια. Αυτή η ερώτηση απαντά στο αίνιγμα της αρχής: 100+ διεργασίες σε λίγους πυρήνες.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40–45. Οι τρεις ερωτήσεις προφορικά ως έξοδος. Υπενθύμιση: παραδίδουν το φύλλο εργασίας πριν φύγουν.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2148840"/>
            <a:ext cx="9144000" cy="274320"/>
          </a:xfrm>
          <a:prstGeom prst="rect">
            <a:avLst/>
          </a:prstGeom>
          <a:noFill/>
          <a:ln/>
        </p:spPr>
        <p:txBody>
          <a:bodyPr wrap="square" lIns="0" tIns="0" rIns="0" bIns="0" rtlCol="0" anchor="ctr"/>
          <a:lstStyle/>
          <a:p>
            <a:pPr indent="0" marL="0">
              <a:buNone/>
            </a:pPr>
            <a:r>
              <a:rPr lang="en-US" sz="1200" spc="240" kern="0" dirty="0">
                <a:solidFill>
                  <a:srgbClr val="2F4BD8"/>
                </a:solidFill>
                <a:latin typeface="Consolas" pitchFamily="34" charset="0"/>
                <a:ea typeface="Consolas" pitchFamily="34" charset="-122"/>
                <a:cs typeface="Consolas" pitchFamily="34" charset="-120"/>
              </a:rPr>
              <a:t>ΕΡΓΑΣΤΗΡΙΟ 2 · ΕΝΟΤΗΤΑ 2.1.Β.1 · ΤΡΙΤΗ 13/10/2026</a:t>
            </a:r>
            <a:endParaRPr lang="en-US" sz="1200" dirty="0"/>
          </a:p>
        </p:txBody>
      </p:sp>
      <p:sp>
        <p:nvSpPr>
          <p:cNvPr id="7" name="Text 4"/>
          <p:cNvSpPr txBox="1"/>
          <p:nvPr/>
        </p:nvSpPr>
        <p:spPr>
          <a:xfrm>
            <a:off x="512064" y="2487168"/>
            <a:ext cx="10058400" cy="1691640"/>
          </a:xfrm>
          <a:prstGeom prst="rect">
            <a:avLst/>
          </a:prstGeom>
          <a:noFill/>
          <a:ln/>
        </p:spPr>
        <p:txBody>
          <a:bodyPr wrap="square" lIns="0" tIns="0" rIns="0" bIns="0" rtlCol="0" anchor="ctr"/>
          <a:lstStyle/>
          <a:p>
            <a:pPr indent="0" marL="0">
              <a:lnSpc>
                <a:spcPct val="92000"/>
              </a:lnSpc>
              <a:buNone/>
            </a:pPr>
            <a:r>
              <a:rPr lang="en-US" sz="5000" b="1" dirty="0">
                <a:solidFill>
                  <a:srgbClr val="171B26"/>
                </a:solidFill>
                <a:latin typeface="Segoe UI" pitchFamily="34" charset="0"/>
                <a:ea typeface="Segoe UI" pitchFamily="34" charset="-122"/>
                <a:cs typeface="Segoe UI" pitchFamily="34" charset="-120"/>
              </a:rPr>
              <a:t>Κατηγορίες ΛΣ</a:t>
            </a:r>
            <a:endParaRPr lang="en-US" sz="5000" dirty="0"/>
          </a:p>
          <a:p>
            <a:pPr indent="0" marL="0">
              <a:lnSpc>
                <a:spcPct val="92000"/>
              </a:lnSpc>
              <a:buNone/>
            </a:pPr>
            <a:r>
              <a:rPr lang="en-US" sz="5000" b="1" dirty="0">
                <a:solidFill>
                  <a:srgbClr val="171B26"/>
                </a:solidFill>
                <a:latin typeface="Segoe UI" pitchFamily="34" charset="0"/>
                <a:ea typeface="Segoe UI" pitchFamily="34" charset="-122"/>
                <a:cs typeface="Segoe UI" pitchFamily="34" charset="-120"/>
              </a:rPr>
              <a:t>και διεργασίες</a:t>
            </a:r>
            <a:endParaRPr lang="en-US" sz="5000" dirty="0"/>
          </a:p>
        </p:txBody>
      </p:sp>
      <p:sp>
        <p:nvSpPr>
          <p:cNvPr id="8" name="Text 5"/>
          <p:cNvSpPr txBox="1"/>
          <p:nvPr/>
        </p:nvSpPr>
        <p:spPr>
          <a:xfrm>
            <a:off x="566928" y="4224528"/>
            <a:ext cx="10058400" cy="365760"/>
          </a:xfrm>
          <a:prstGeom prst="rect">
            <a:avLst/>
          </a:prstGeom>
          <a:noFill/>
          <a:ln/>
        </p:spPr>
        <p:txBody>
          <a:bodyPr wrap="square" lIns="0" tIns="0" rIns="0" bIns="0" rtlCol="0" anchor="ctr"/>
          <a:lstStyle/>
          <a:p>
            <a:pPr indent="0" marL="0">
              <a:buNone/>
            </a:pPr>
            <a:r>
              <a:rPr lang="en-US" sz="1800" dirty="0">
                <a:solidFill>
                  <a:srgbClr val="4A5265"/>
                </a:solidFill>
                <a:latin typeface="Segoe UI" pitchFamily="34" charset="0"/>
                <a:ea typeface="Segoe UI" pitchFamily="34" charset="-122"/>
                <a:cs typeface="Segoe UI" pitchFamily="34" charset="-120"/>
              </a:rPr>
              <a:t>Πώς τρέχουν τόσα προγράμματα «ταυτόχρονα» σε έναν επεξεργαστή</a:t>
            </a:r>
            <a:endParaRPr lang="en-US" sz="1800" dirty="0"/>
          </a:p>
        </p:txBody>
      </p:sp>
      <p:sp>
        <p:nvSpPr>
          <p:cNvPr id="9" name="Text 6"/>
          <p:cNvSpPr txBox="1"/>
          <p:nvPr/>
        </p:nvSpPr>
        <p:spPr>
          <a:xfrm>
            <a:off x="566928" y="4800600"/>
            <a:ext cx="10515600" cy="27432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5 κατηγορίες ΛΣ · πρόγραμμα και διεργασία · καταστάσεις διεργασίας          3 ασκήσεις + εργαστήριο στη Διαχείριση εργασιών</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01  </a:t>
            </a:r>
            <a:pPr indent="0" marL="0">
              <a:buNone/>
            </a:pPr>
            <a:r>
              <a:rPr lang="en-US" sz="1000" spc="140" kern="0" dirty="0">
                <a:solidFill>
                  <a:srgbClr val="8A91A3"/>
                </a:solidFill>
                <a:latin typeface="Consolas" pitchFamily="34" charset="0"/>
                <a:ea typeface="Consolas" pitchFamily="34" charset="-122"/>
                <a:cs typeface="Consolas" pitchFamily="34" charset="-120"/>
              </a:rPr>
              <a:t>ΕΠΑΝΑΛΗΨΗ · 5 ΛΕΠΤΑ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Θυμάσαι από την προηγούμενη φορά;</a:t>
            </a:r>
            <a:endParaRPr lang="en-US" sz="3000" dirty="0"/>
          </a:p>
        </p:txBody>
      </p:sp>
      <p:sp>
        <p:nvSpPr>
          <p:cNvPr id="8" name="Shape 5"/>
          <p:cNvSpPr/>
          <p:nvPr/>
        </p:nvSpPr>
        <p:spPr>
          <a:xfrm>
            <a:off x="566928" y="1463040"/>
            <a:ext cx="3502152" cy="2377440"/>
          </a:xfrm>
          <a:prstGeom prst="roundRect">
            <a:avLst>
              <a:gd name="adj" fmla="val 2308"/>
            </a:avLst>
          </a:prstGeom>
          <a:solidFill>
            <a:srgbClr val="FBFCFE"/>
          </a:solidFill>
          <a:ln w="9525">
            <a:solidFill>
              <a:srgbClr val="D3D9E4"/>
            </a:solidFill>
            <a:prstDash val="solid"/>
          </a:ln>
        </p:spPr>
      </p:sp>
      <p:sp>
        <p:nvSpPr>
          <p:cNvPr id="9" name="Text 6"/>
          <p:cNvSpPr txBox="1"/>
          <p:nvPr/>
        </p:nvSpPr>
        <p:spPr>
          <a:xfrm>
            <a:off x="731520"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ΕΡΩΤΗΣΗ 1</a:t>
            </a:r>
            <a:endParaRPr lang="en-US" sz="900" dirty="0"/>
          </a:p>
        </p:txBody>
      </p:sp>
      <p:sp>
        <p:nvSpPr>
          <p:cNvPr id="10" name="Text 7"/>
          <p:cNvSpPr txBox="1"/>
          <p:nvPr/>
        </p:nvSpPr>
        <p:spPr>
          <a:xfrm>
            <a:off x="731520" y="1847088"/>
            <a:ext cx="3172968"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Τι είναι το ΛΣ;</a:t>
            </a:r>
            <a:endParaRPr lang="en-US" sz="1500" dirty="0"/>
          </a:p>
        </p:txBody>
      </p:sp>
      <p:sp>
        <p:nvSpPr>
          <p:cNvPr id="11" name="Text 8"/>
          <p:cNvSpPr txBox="1"/>
          <p:nvPr/>
        </p:nvSpPr>
        <p:spPr>
          <a:xfrm>
            <a:off x="731520" y="2213229"/>
            <a:ext cx="3172968" cy="1535811"/>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Το λογισμικό που διαχειρίζεται το υλικό και εξυπηρετεί τις εφαρμογές και τον χρήστη.</a:t>
            </a:r>
            <a:endParaRPr lang="en-US" sz="1250" dirty="0"/>
          </a:p>
        </p:txBody>
      </p:sp>
      <p:sp>
        <p:nvSpPr>
          <p:cNvPr id="12" name="Shape 9"/>
          <p:cNvSpPr/>
          <p:nvPr/>
        </p:nvSpPr>
        <p:spPr>
          <a:xfrm>
            <a:off x="4251960" y="1463040"/>
            <a:ext cx="3502152" cy="2377440"/>
          </a:xfrm>
          <a:prstGeom prst="roundRect">
            <a:avLst>
              <a:gd name="adj" fmla="val 2308"/>
            </a:avLst>
          </a:prstGeom>
          <a:solidFill>
            <a:srgbClr val="E4E8FB"/>
          </a:solidFill>
          <a:ln w="12700">
            <a:solidFill>
              <a:srgbClr val="E4E8FB"/>
            </a:solidFill>
            <a:prstDash val="solid"/>
          </a:ln>
        </p:spPr>
      </p:sp>
      <p:sp>
        <p:nvSpPr>
          <p:cNvPr id="13" name="Text 10"/>
          <p:cNvSpPr txBox="1"/>
          <p:nvPr/>
        </p:nvSpPr>
        <p:spPr>
          <a:xfrm>
            <a:off x="4416552"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ΕΡΩΤΗΣΗ 2</a:t>
            </a:r>
            <a:endParaRPr lang="en-US" sz="900" dirty="0"/>
          </a:p>
        </p:txBody>
      </p:sp>
      <p:sp>
        <p:nvSpPr>
          <p:cNvPr id="14" name="Text 11"/>
          <p:cNvSpPr txBox="1"/>
          <p:nvPr/>
        </p:nvSpPr>
        <p:spPr>
          <a:xfrm>
            <a:off x="4416552" y="1847088"/>
            <a:ext cx="3172968"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Πυρήνας ή κέλυφος;</a:t>
            </a:r>
            <a:endParaRPr lang="en-US" sz="1500" dirty="0"/>
          </a:p>
        </p:txBody>
      </p:sp>
      <p:sp>
        <p:nvSpPr>
          <p:cNvPr id="15" name="Text 12"/>
          <p:cNvSpPr txBox="1"/>
          <p:nvPr/>
        </p:nvSpPr>
        <p:spPr>
          <a:xfrm>
            <a:off x="4416552" y="2213229"/>
            <a:ext cx="3172968" cy="1535811"/>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Ο πυρήνας μιλά με το υλικό. Το κέλυφος (GUI ή CLI) είναι αυτό που βλέπει ο χρήστης.</a:t>
            </a:r>
            <a:endParaRPr lang="en-US" sz="1250" dirty="0"/>
          </a:p>
        </p:txBody>
      </p:sp>
      <p:sp>
        <p:nvSpPr>
          <p:cNvPr id="16" name="Shape 13"/>
          <p:cNvSpPr/>
          <p:nvPr/>
        </p:nvSpPr>
        <p:spPr>
          <a:xfrm>
            <a:off x="7936992" y="1463040"/>
            <a:ext cx="3502152" cy="2377440"/>
          </a:xfrm>
          <a:prstGeom prst="roundRect">
            <a:avLst>
              <a:gd name="adj" fmla="val 2308"/>
            </a:avLst>
          </a:prstGeom>
          <a:solidFill>
            <a:srgbClr val="FBFCFE"/>
          </a:solidFill>
          <a:ln w="9525">
            <a:solidFill>
              <a:srgbClr val="D3D9E4"/>
            </a:solidFill>
            <a:prstDash val="solid"/>
          </a:ln>
        </p:spPr>
      </p:sp>
      <p:sp>
        <p:nvSpPr>
          <p:cNvPr id="17" name="Text 14"/>
          <p:cNvSpPr txBox="1"/>
          <p:nvPr/>
        </p:nvSpPr>
        <p:spPr>
          <a:xfrm>
            <a:off x="8101584"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ΕΡΩΤΗΣΗ 3</a:t>
            </a:r>
            <a:endParaRPr lang="en-US" sz="900" dirty="0"/>
          </a:p>
        </p:txBody>
      </p:sp>
      <p:sp>
        <p:nvSpPr>
          <p:cNvPr id="18" name="Text 15"/>
          <p:cNvSpPr txBox="1"/>
          <p:nvPr/>
        </p:nvSpPr>
        <p:spPr>
          <a:xfrm>
            <a:off x="8101584" y="1847088"/>
            <a:ext cx="3172968" cy="512826"/>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Ποια αρμοδιότητα είναι σήμερα στο κέντρο;</a:t>
            </a:r>
            <a:endParaRPr lang="en-US" sz="1500" dirty="0"/>
          </a:p>
        </p:txBody>
      </p:sp>
      <p:sp>
        <p:nvSpPr>
          <p:cNvPr id="19" name="Text 16"/>
          <p:cNvSpPr txBox="1"/>
          <p:nvPr/>
        </p:nvSpPr>
        <p:spPr>
          <a:xfrm>
            <a:off x="8101584" y="2451354"/>
            <a:ext cx="3172968" cy="1297686"/>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Η διαχείριση διεργασιών και επεξεργαστή: ποιο πρόγραμμα τρέχει, πότε και για πόσο.</a:t>
            </a:r>
            <a:endParaRPr lang="en-US" sz="1250" dirty="0"/>
          </a:p>
        </p:txBody>
      </p:sp>
      <p:sp>
        <p:nvSpPr>
          <p:cNvPr id="20" name="Shape 17"/>
          <p:cNvSpPr/>
          <p:nvPr/>
        </p:nvSpPr>
        <p:spPr>
          <a:xfrm>
            <a:off x="566928" y="4069080"/>
            <a:ext cx="10881360" cy="1874520"/>
          </a:xfrm>
          <a:prstGeom prst="roundRect">
            <a:avLst>
              <a:gd name="adj" fmla="val 2927"/>
            </a:avLst>
          </a:prstGeom>
          <a:solidFill>
            <a:srgbClr val="F6EDD6"/>
          </a:solidFill>
          <a:ln w="12700">
            <a:solidFill>
              <a:srgbClr val="F6EDD6"/>
            </a:solidFill>
            <a:prstDash val="solid"/>
          </a:ln>
        </p:spPr>
      </p:sp>
      <p:sp>
        <p:nvSpPr>
          <p:cNvPr id="21" name="Text 18"/>
          <p:cNvSpPr txBox="1"/>
          <p:nvPr/>
        </p:nvSpPr>
        <p:spPr>
          <a:xfrm>
            <a:off x="731520" y="4197096"/>
            <a:ext cx="1055217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Η ερώτηση της σημερινής μέρας</a:t>
            </a:r>
            <a:endParaRPr lang="en-US" sz="1500" dirty="0"/>
          </a:p>
        </p:txBody>
      </p:sp>
      <p:sp>
        <p:nvSpPr>
          <p:cNvPr id="22" name="Text 19"/>
          <p:cNvSpPr txBox="1"/>
          <p:nvPr/>
        </p:nvSpPr>
        <p:spPr>
          <a:xfrm>
            <a:off x="731520" y="4563237"/>
            <a:ext cx="10552176" cy="1288923"/>
          </a:xfrm>
          <a:prstGeom prst="rect">
            <a:avLst/>
          </a:prstGeom>
          <a:noFill/>
          <a:ln/>
        </p:spPr>
        <p:txBody>
          <a:bodyPr wrap="square" lIns="0" tIns="0" rIns="0" bIns="0" rtlCol="0" anchor="t"/>
          <a:lstStyle/>
          <a:p>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Ο υπολογιστής του εργαστηρίου έχει λίγους πυρήνες, αλλά αυτή τη στιγμή τρέχουν πάνω του </a:t>
            </a:r>
            <a:pPr indent="0" marL="0">
              <a:lnSpc>
                <a:spcPct val="112000"/>
              </a:lnSpc>
              <a:buNone/>
            </a:pPr>
            <a:r>
              <a:rPr lang="en-US" sz="1300" b="1" dirty="0">
                <a:solidFill>
                  <a:srgbClr val="4A5265"/>
                </a:solidFill>
                <a:latin typeface="Segoe UI" pitchFamily="34" charset="0"/>
                <a:ea typeface="Segoe UI" pitchFamily="34" charset="-122"/>
                <a:cs typeface="Segoe UI" pitchFamily="34" charset="-120"/>
              </a:rPr>
              <a:t>πάνω από 100 διεργασίες</a:t>
            </a:r>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 Πώς γίνεται; Στο τέλος του τριώρου θα το έχεις δει με τα μάτια σου στη Διαχείριση εργασιών.</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02  </a:t>
            </a:r>
            <a:pPr indent="0" marL="0">
              <a:buNone/>
            </a:pPr>
            <a:r>
              <a:rPr lang="en-US" sz="1000" spc="140" kern="0" dirty="0">
                <a:solidFill>
                  <a:srgbClr val="8A91A3"/>
                </a:solidFill>
                <a:latin typeface="Consolas" pitchFamily="34" charset="0"/>
                <a:ea typeface="Consolas" pitchFamily="34" charset="-122"/>
                <a:cs typeface="Consolas" pitchFamily="34" charset="-120"/>
              </a:rPr>
              <a:t>ΚΑΤΗΓΟΡΙΕΣ ΛΣ · 1</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Από τη σειρά στον πολυπρογραμματισμό</a:t>
            </a:r>
            <a:endParaRPr lang="en-US" sz="3000" dirty="0"/>
          </a:p>
        </p:txBody>
      </p:sp>
      <p:sp>
        <p:nvSpPr>
          <p:cNvPr id="8" name="Shape 5"/>
          <p:cNvSpPr/>
          <p:nvPr/>
        </p:nvSpPr>
        <p:spPr>
          <a:xfrm>
            <a:off x="566928" y="1463040"/>
            <a:ext cx="5349240" cy="1600200"/>
          </a:xfrm>
          <a:prstGeom prst="roundRect">
            <a:avLst>
              <a:gd name="adj" fmla="val 3429"/>
            </a:avLst>
          </a:prstGeom>
          <a:solidFill>
            <a:srgbClr val="FBFCFE"/>
          </a:solidFill>
          <a:ln w="9525">
            <a:solidFill>
              <a:srgbClr val="D3D9E4"/>
            </a:solidFill>
            <a:prstDash val="solid"/>
          </a:ln>
        </p:spPr>
      </p:sp>
      <p:sp>
        <p:nvSpPr>
          <p:cNvPr id="9" name="Text 6"/>
          <p:cNvSpPr txBox="1"/>
          <p:nvPr/>
        </p:nvSpPr>
        <p:spPr>
          <a:xfrm>
            <a:off x="731520" y="15910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Ομαδική επεξεργασία (batch)</a:t>
            </a:r>
            <a:endParaRPr lang="en-US" sz="1400" dirty="0"/>
          </a:p>
        </p:txBody>
      </p:sp>
      <p:sp>
        <p:nvSpPr>
          <p:cNvPr id="10" name="Text 7"/>
          <p:cNvSpPr txBox="1"/>
          <p:nvPr/>
        </p:nvSpPr>
        <p:spPr>
          <a:xfrm>
            <a:off x="731520" y="1941322"/>
            <a:ext cx="5020056" cy="103047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Οι εργασίες μαζεύονται και εκτελούνται η μία μετά την άλλη, χωρίς ο χρήστης να επεμβαίνει. Παράδειγμα σήμερα: η μισθοδοσία μιας τράπεζας τη νύχτα.</a:t>
            </a:r>
            <a:endParaRPr lang="en-US" sz="1200" dirty="0"/>
          </a:p>
        </p:txBody>
      </p:sp>
      <p:sp>
        <p:nvSpPr>
          <p:cNvPr id="11" name="Shape 8"/>
          <p:cNvSpPr/>
          <p:nvPr/>
        </p:nvSpPr>
        <p:spPr>
          <a:xfrm>
            <a:off x="6099048" y="1463040"/>
            <a:ext cx="5349240" cy="1600200"/>
          </a:xfrm>
          <a:prstGeom prst="roundRect">
            <a:avLst>
              <a:gd name="adj" fmla="val 3429"/>
            </a:avLst>
          </a:prstGeom>
          <a:solidFill>
            <a:srgbClr val="E4E8FB"/>
          </a:solidFill>
          <a:ln w="12700">
            <a:solidFill>
              <a:srgbClr val="E4E8FB"/>
            </a:solidFill>
            <a:prstDash val="solid"/>
          </a:ln>
        </p:spPr>
      </p:sp>
      <p:sp>
        <p:nvSpPr>
          <p:cNvPr id="12" name="Text 9"/>
          <p:cNvSpPr txBox="1"/>
          <p:nvPr/>
        </p:nvSpPr>
        <p:spPr>
          <a:xfrm>
            <a:off x="6263640" y="15910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Πολυπρογραμματισμός (multiprogramming)</a:t>
            </a:r>
            <a:endParaRPr lang="en-US" sz="1400" dirty="0"/>
          </a:p>
        </p:txBody>
      </p:sp>
      <p:sp>
        <p:nvSpPr>
          <p:cNvPr id="13" name="Text 10"/>
          <p:cNvSpPr txBox="1"/>
          <p:nvPr/>
        </p:nvSpPr>
        <p:spPr>
          <a:xfrm>
            <a:off x="6263640" y="1941322"/>
            <a:ext cx="5020056" cy="103047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Πολλά προγράμματα βρίσκονται μαζί στη μνήμη. Όταν ένα περιμένει δίσκο ή εκτυπωτή, ο επεξεργαστής δουλεύει αμέσως ένα άλλο.</a:t>
            </a:r>
            <a:endParaRPr lang="en-US" sz="1200" dirty="0"/>
          </a:p>
        </p:txBody>
      </p:sp>
      <p:sp>
        <p:nvSpPr>
          <p:cNvPr id="14" name="Text 11"/>
          <p:cNvSpPr txBox="1"/>
          <p:nvPr/>
        </p:nvSpPr>
        <p:spPr>
          <a:xfrm>
            <a:off x="566928" y="3291840"/>
            <a:ext cx="10881360" cy="201168"/>
          </a:xfrm>
          <a:prstGeom prst="rect">
            <a:avLst/>
          </a:prstGeom>
          <a:noFill/>
          <a:ln/>
        </p:spPr>
        <p:txBody>
          <a:bodyPr wrap="square" lIns="0" tIns="0" rIns="0" bIns="0" rtlCol="0" anchor="ctr"/>
          <a:lstStyle/>
          <a:p>
            <a:pPr indent="0" marL="0">
              <a:buNone/>
            </a:pPr>
            <a:r>
              <a:rPr lang="en-US" sz="900" b="1" spc="120" kern="0" dirty="0">
                <a:solidFill>
                  <a:srgbClr val="9A6B0C"/>
                </a:solidFill>
                <a:latin typeface="Consolas" pitchFamily="34" charset="0"/>
                <a:ea typeface="Consolas" pitchFamily="34" charset="-122"/>
                <a:cs typeface="Consolas" pitchFamily="34" charset="-120"/>
              </a:rPr>
              <a:t>ΔΥΟ ΠΡΟΓΡΑΜΜΑΤΑ Α ΚΑΙ Β · ΤΟ ΚΑΘΕΝΑ: CPU 2 → Ε/Ε 2 → CPU 1 (ΜΟΝΑΔΕΣ ΧΡΟΝΟΥ)</a:t>
            </a:r>
            <a:endParaRPr lang="en-US" sz="900" dirty="0"/>
          </a:p>
        </p:txBody>
      </p:sp>
      <p:sp>
        <p:nvSpPr>
          <p:cNvPr id="15" name="Text 12"/>
          <p:cNvSpPr txBox="1"/>
          <p:nvPr/>
        </p:nvSpPr>
        <p:spPr>
          <a:xfrm>
            <a:off x="566928" y="3657600"/>
            <a:ext cx="1874520" cy="502920"/>
          </a:xfrm>
          <a:prstGeom prst="rect">
            <a:avLst/>
          </a:prstGeom>
          <a:noFill/>
          <a:ln/>
        </p:spPr>
        <p:txBody>
          <a:bodyPr wrap="square" lIns="0" tIns="0" rIns="0" bIns="0" rtlCol="0" anchor="ctr"/>
          <a:lstStyle/>
          <a:p>
            <a:pPr indent="0" marL="0">
              <a:buNone/>
            </a:pPr>
            <a:r>
              <a:rPr lang="en-US" sz="1100" b="1" dirty="0">
                <a:solidFill>
                  <a:srgbClr val="171B26"/>
                </a:solidFill>
                <a:latin typeface="Segoe UI" pitchFamily="34" charset="0"/>
                <a:ea typeface="Segoe UI" pitchFamily="34" charset="-122"/>
                <a:cs typeface="Segoe UI" pitchFamily="34" charset="-120"/>
              </a:rPr>
              <a:t>Χωρίς πολυπρογραμματισμό</a:t>
            </a:r>
            <a:endParaRPr lang="en-US" sz="1100" dirty="0"/>
          </a:p>
        </p:txBody>
      </p:sp>
      <p:sp>
        <p:nvSpPr>
          <p:cNvPr id="16" name="Text 13"/>
          <p:cNvSpPr txBox="1"/>
          <p:nvPr/>
        </p:nvSpPr>
        <p:spPr>
          <a:xfrm>
            <a:off x="566928" y="4572000"/>
            <a:ext cx="1874520" cy="502920"/>
          </a:xfrm>
          <a:prstGeom prst="rect">
            <a:avLst/>
          </a:prstGeom>
          <a:noFill/>
          <a:ln/>
        </p:spPr>
        <p:txBody>
          <a:bodyPr wrap="square" lIns="0" tIns="0" rIns="0" bIns="0" rtlCol="0" anchor="ctr"/>
          <a:lstStyle/>
          <a:p>
            <a:pPr indent="0" marL="0">
              <a:buNone/>
            </a:pPr>
            <a:r>
              <a:rPr lang="en-US" sz="1100" b="1" dirty="0">
                <a:solidFill>
                  <a:srgbClr val="171B26"/>
                </a:solidFill>
                <a:latin typeface="Segoe UI" pitchFamily="34" charset="0"/>
                <a:ea typeface="Segoe UI" pitchFamily="34" charset="-122"/>
                <a:cs typeface="Segoe UI" pitchFamily="34" charset="-120"/>
              </a:rPr>
              <a:t>Με πολυπρογραμματισμό</a:t>
            </a:r>
            <a:endParaRPr lang="en-US" sz="1100" dirty="0"/>
          </a:p>
        </p:txBody>
      </p:sp>
      <p:sp>
        <p:nvSpPr>
          <p:cNvPr id="17" name="Shape 14"/>
          <p:cNvSpPr/>
          <p:nvPr/>
        </p:nvSpPr>
        <p:spPr>
          <a:xfrm>
            <a:off x="2514600" y="3657600"/>
            <a:ext cx="1572768" cy="502920"/>
          </a:xfrm>
          <a:prstGeom prst="rect">
            <a:avLst/>
          </a:prstGeom>
          <a:solidFill>
            <a:srgbClr val="2F4BD8"/>
          </a:solidFill>
          <a:ln w="12700">
            <a:solidFill>
              <a:srgbClr val="FBFCFE"/>
            </a:solidFill>
            <a:prstDash val="solid"/>
          </a:ln>
        </p:spPr>
      </p:sp>
      <p:sp>
        <p:nvSpPr>
          <p:cNvPr id="18" name="Text 15"/>
          <p:cNvSpPr txBox="1"/>
          <p:nvPr/>
        </p:nvSpPr>
        <p:spPr>
          <a:xfrm>
            <a:off x="2514600" y="3657600"/>
            <a:ext cx="157276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Α</a:t>
            </a:r>
            <a:endParaRPr lang="en-US" sz="1050" dirty="0"/>
          </a:p>
        </p:txBody>
      </p:sp>
      <p:sp>
        <p:nvSpPr>
          <p:cNvPr id="19" name="Shape 16"/>
          <p:cNvSpPr/>
          <p:nvPr/>
        </p:nvSpPr>
        <p:spPr>
          <a:xfrm>
            <a:off x="4087368" y="3657600"/>
            <a:ext cx="1572768" cy="502920"/>
          </a:xfrm>
          <a:prstGeom prst="rect">
            <a:avLst/>
          </a:prstGeom>
          <a:solidFill>
            <a:srgbClr val="F6EDD6"/>
          </a:solidFill>
          <a:ln w="12700">
            <a:solidFill>
              <a:srgbClr val="FBFCFE"/>
            </a:solidFill>
            <a:prstDash val="solid"/>
          </a:ln>
        </p:spPr>
      </p:sp>
      <p:sp>
        <p:nvSpPr>
          <p:cNvPr id="20" name="Text 17"/>
          <p:cNvSpPr txBox="1"/>
          <p:nvPr/>
        </p:nvSpPr>
        <p:spPr>
          <a:xfrm>
            <a:off x="4087368" y="3657600"/>
            <a:ext cx="1572768" cy="502920"/>
          </a:xfrm>
          <a:prstGeom prst="rect">
            <a:avLst/>
          </a:prstGeom>
          <a:noFill/>
          <a:ln/>
        </p:spPr>
        <p:txBody>
          <a:bodyPr wrap="square" lIns="0" tIns="0" rIns="0" bIns="0" rtlCol="0" anchor="ctr"/>
          <a:lstStyle/>
          <a:p>
            <a:pPr algn="ctr" indent="0" marL="0">
              <a:buNone/>
            </a:pPr>
            <a:r>
              <a:rPr lang="en-US" sz="1050" b="1" dirty="0">
                <a:solidFill>
                  <a:srgbClr val="9A6B0C"/>
                </a:solidFill>
                <a:latin typeface="Consolas" pitchFamily="34" charset="0"/>
                <a:ea typeface="Consolas" pitchFamily="34" charset="-122"/>
                <a:cs typeface="Consolas" pitchFamily="34" charset="-120"/>
              </a:rPr>
              <a:t>αδρανής</a:t>
            </a:r>
            <a:endParaRPr lang="en-US" sz="1050" dirty="0"/>
          </a:p>
        </p:txBody>
      </p:sp>
      <p:sp>
        <p:nvSpPr>
          <p:cNvPr id="21" name="Shape 18"/>
          <p:cNvSpPr/>
          <p:nvPr/>
        </p:nvSpPr>
        <p:spPr>
          <a:xfrm>
            <a:off x="5660136" y="3657600"/>
            <a:ext cx="786384" cy="502920"/>
          </a:xfrm>
          <a:prstGeom prst="rect">
            <a:avLst/>
          </a:prstGeom>
          <a:solidFill>
            <a:srgbClr val="2F4BD8"/>
          </a:solidFill>
          <a:ln w="12700">
            <a:solidFill>
              <a:srgbClr val="FBFCFE"/>
            </a:solidFill>
            <a:prstDash val="solid"/>
          </a:ln>
        </p:spPr>
      </p:sp>
      <p:sp>
        <p:nvSpPr>
          <p:cNvPr id="22" name="Text 19"/>
          <p:cNvSpPr txBox="1"/>
          <p:nvPr/>
        </p:nvSpPr>
        <p:spPr>
          <a:xfrm>
            <a:off x="5660136" y="3657600"/>
            <a:ext cx="786384"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Α</a:t>
            </a:r>
            <a:endParaRPr lang="en-US" sz="1050" dirty="0"/>
          </a:p>
        </p:txBody>
      </p:sp>
      <p:sp>
        <p:nvSpPr>
          <p:cNvPr id="23" name="Shape 20"/>
          <p:cNvSpPr/>
          <p:nvPr/>
        </p:nvSpPr>
        <p:spPr>
          <a:xfrm>
            <a:off x="6446520" y="3657600"/>
            <a:ext cx="1572768" cy="502920"/>
          </a:xfrm>
          <a:prstGeom prst="rect">
            <a:avLst/>
          </a:prstGeom>
          <a:solidFill>
            <a:srgbClr val="5C73E6"/>
          </a:solidFill>
          <a:ln w="12700">
            <a:solidFill>
              <a:srgbClr val="FBFCFE"/>
            </a:solidFill>
            <a:prstDash val="solid"/>
          </a:ln>
        </p:spPr>
      </p:sp>
      <p:sp>
        <p:nvSpPr>
          <p:cNvPr id="24" name="Text 21"/>
          <p:cNvSpPr txBox="1"/>
          <p:nvPr/>
        </p:nvSpPr>
        <p:spPr>
          <a:xfrm>
            <a:off x="6446520" y="3657600"/>
            <a:ext cx="157276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Β</a:t>
            </a:r>
            <a:endParaRPr lang="en-US" sz="1050" dirty="0"/>
          </a:p>
        </p:txBody>
      </p:sp>
      <p:sp>
        <p:nvSpPr>
          <p:cNvPr id="25" name="Shape 22"/>
          <p:cNvSpPr/>
          <p:nvPr/>
        </p:nvSpPr>
        <p:spPr>
          <a:xfrm>
            <a:off x="8019288" y="3657600"/>
            <a:ext cx="1572768" cy="502920"/>
          </a:xfrm>
          <a:prstGeom prst="rect">
            <a:avLst/>
          </a:prstGeom>
          <a:solidFill>
            <a:srgbClr val="F6EDD6"/>
          </a:solidFill>
          <a:ln w="12700">
            <a:solidFill>
              <a:srgbClr val="FBFCFE"/>
            </a:solidFill>
            <a:prstDash val="solid"/>
          </a:ln>
        </p:spPr>
      </p:sp>
      <p:sp>
        <p:nvSpPr>
          <p:cNvPr id="26" name="Text 23"/>
          <p:cNvSpPr txBox="1"/>
          <p:nvPr/>
        </p:nvSpPr>
        <p:spPr>
          <a:xfrm>
            <a:off x="8019288" y="3657600"/>
            <a:ext cx="1572768" cy="502920"/>
          </a:xfrm>
          <a:prstGeom prst="rect">
            <a:avLst/>
          </a:prstGeom>
          <a:noFill/>
          <a:ln/>
        </p:spPr>
        <p:txBody>
          <a:bodyPr wrap="square" lIns="0" tIns="0" rIns="0" bIns="0" rtlCol="0" anchor="ctr"/>
          <a:lstStyle/>
          <a:p>
            <a:pPr algn="ctr" indent="0" marL="0">
              <a:buNone/>
            </a:pPr>
            <a:r>
              <a:rPr lang="en-US" sz="1050" b="1" dirty="0">
                <a:solidFill>
                  <a:srgbClr val="9A6B0C"/>
                </a:solidFill>
                <a:latin typeface="Consolas" pitchFamily="34" charset="0"/>
                <a:ea typeface="Consolas" pitchFamily="34" charset="-122"/>
                <a:cs typeface="Consolas" pitchFamily="34" charset="-120"/>
              </a:rPr>
              <a:t>αδρανής</a:t>
            </a:r>
            <a:endParaRPr lang="en-US" sz="1050" dirty="0"/>
          </a:p>
        </p:txBody>
      </p:sp>
      <p:sp>
        <p:nvSpPr>
          <p:cNvPr id="27" name="Shape 24"/>
          <p:cNvSpPr/>
          <p:nvPr/>
        </p:nvSpPr>
        <p:spPr>
          <a:xfrm>
            <a:off x="9592056" y="3657600"/>
            <a:ext cx="786384" cy="502920"/>
          </a:xfrm>
          <a:prstGeom prst="rect">
            <a:avLst/>
          </a:prstGeom>
          <a:solidFill>
            <a:srgbClr val="5C73E6"/>
          </a:solidFill>
          <a:ln w="12700">
            <a:solidFill>
              <a:srgbClr val="FBFCFE"/>
            </a:solidFill>
            <a:prstDash val="solid"/>
          </a:ln>
        </p:spPr>
      </p:sp>
      <p:sp>
        <p:nvSpPr>
          <p:cNvPr id="28" name="Text 25"/>
          <p:cNvSpPr txBox="1"/>
          <p:nvPr/>
        </p:nvSpPr>
        <p:spPr>
          <a:xfrm>
            <a:off x="9592056" y="3657600"/>
            <a:ext cx="786384"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Β</a:t>
            </a:r>
            <a:endParaRPr lang="en-US" sz="1050" dirty="0"/>
          </a:p>
        </p:txBody>
      </p:sp>
      <p:sp>
        <p:nvSpPr>
          <p:cNvPr id="29" name="Shape 26"/>
          <p:cNvSpPr/>
          <p:nvPr/>
        </p:nvSpPr>
        <p:spPr>
          <a:xfrm>
            <a:off x="2514600" y="4572000"/>
            <a:ext cx="1572768" cy="502920"/>
          </a:xfrm>
          <a:prstGeom prst="rect">
            <a:avLst/>
          </a:prstGeom>
          <a:solidFill>
            <a:srgbClr val="2F4BD8"/>
          </a:solidFill>
          <a:ln w="12700">
            <a:solidFill>
              <a:srgbClr val="FBFCFE"/>
            </a:solidFill>
            <a:prstDash val="solid"/>
          </a:ln>
        </p:spPr>
      </p:sp>
      <p:sp>
        <p:nvSpPr>
          <p:cNvPr id="30" name="Text 27"/>
          <p:cNvSpPr txBox="1"/>
          <p:nvPr/>
        </p:nvSpPr>
        <p:spPr>
          <a:xfrm>
            <a:off x="2514600" y="4572000"/>
            <a:ext cx="157276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Α</a:t>
            </a:r>
            <a:endParaRPr lang="en-US" sz="1050" dirty="0"/>
          </a:p>
        </p:txBody>
      </p:sp>
      <p:sp>
        <p:nvSpPr>
          <p:cNvPr id="31" name="Shape 28"/>
          <p:cNvSpPr/>
          <p:nvPr/>
        </p:nvSpPr>
        <p:spPr>
          <a:xfrm>
            <a:off x="4087368" y="4572000"/>
            <a:ext cx="1572768" cy="502920"/>
          </a:xfrm>
          <a:prstGeom prst="rect">
            <a:avLst/>
          </a:prstGeom>
          <a:solidFill>
            <a:srgbClr val="5C73E6"/>
          </a:solidFill>
          <a:ln w="12700">
            <a:solidFill>
              <a:srgbClr val="FBFCFE"/>
            </a:solidFill>
            <a:prstDash val="solid"/>
          </a:ln>
        </p:spPr>
      </p:sp>
      <p:sp>
        <p:nvSpPr>
          <p:cNvPr id="32" name="Text 29"/>
          <p:cNvSpPr txBox="1"/>
          <p:nvPr/>
        </p:nvSpPr>
        <p:spPr>
          <a:xfrm>
            <a:off x="4087368" y="4572000"/>
            <a:ext cx="1572768"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Β</a:t>
            </a:r>
            <a:endParaRPr lang="en-US" sz="1050" dirty="0"/>
          </a:p>
        </p:txBody>
      </p:sp>
      <p:sp>
        <p:nvSpPr>
          <p:cNvPr id="33" name="Shape 30"/>
          <p:cNvSpPr/>
          <p:nvPr/>
        </p:nvSpPr>
        <p:spPr>
          <a:xfrm>
            <a:off x="5660136" y="4572000"/>
            <a:ext cx="786384" cy="502920"/>
          </a:xfrm>
          <a:prstGeom prst="rect">
            <a:avLst/>
          </a:prstGeom>
          <a:solidFill>
            <a:srgbClr val="2F4BD8"/>
          </a:solidFill>
          <a:ln w="12700">
            <a:solidFill>
              <a:srgbClr val="FBFCFE"/>
            </a:solidFill>
            <a:prstDash val="solid"/>
          </a:ln>
        </p:spPr>
      </p:sp>
      <p:sp>
        <p:nvSpPr>
          <p:cNvPr id="34" name="Text 31"/>
          <p:cNvSpPr txBox="1"/>
          <p:nvPr/>
        </p:nvSpPr>
        <p:spPr>
          <a:xfrm>
            <a:off x="5660136" y="4572000"/>
            <a:ext cx="786384"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Α</a:t>
            </a:r>
            <a:endParaRPr lang="en-US" sz="1050" dirty="0"/>
          </a:p>
        </p:txBody>
      </p:sp>
      <p:sp>
        <p:nvSpPr>
          <p:cNvPr id="35" name="Shape 32"/>
          <p:cNvSpPr/>
          <p:nvPr/>
        </p:nvSpPr>
        <p:spPr>
          <a:xfrm>
            <a:off x="6446520" y="4572000"/>
            <a:ext cx="786384" cy="502920"/>
          </a:xfrm>
          <a:prstGeom prst="rect">
            <a:avLst/>
          </a:prstGeom>
          <a:solidFill>
            <a:srgbClr val="F6EDD6"/>
          </a:solidFill>
          <a:ln w="12700">
            <a:solidFill>
              <a:srgbClr val="FBFCFE"/>
            </a:solidFill>
            <a:prstDash val="solid"/>
          </a:ln>
        </p:spPr>
      </p:sp>
      <p:sp>
        <p:nvSpPr>
          <p:cNvPr id="36" name="Text 33"/>
          <p:cNvSpPr txBox="1"/>
          <p:nvPr/>
        </p:nvSpPr>
        <p:spPr>
          <a:xfrm>
            <a:off x="6446520" y="4572000"/>
            <a:ext cx="786384" cy="502920"/>
          </a:xfrm>
          <a:prstGeom prst="rect">
            <a:avLst/>
          </a:prstGeom>
          <a:noFill/>
          <a:ln/>
        </p:spPr>
        <p:txBody>
          <a:bodyPr wrap="square" lIns="0" tIns="0" rIns="0" bIns="0" rtlCol="0" anchor="ctr"/>
          <a:lstStyle/>
          <a:p>
            <a:pPr algn="ctr" indent="0" marL="0">
              <a:buNone/>
            </a:pPr>
            <a:r>
              <a:rPr lang="en-US" sz="1050" b="1" dirty="0">
                <a:solidFill>
                  <a:srgbClr val="9A6B0C"/>
                </a:solidFill>
                <a:latin typeface="Consolas" pitchFamily="34" charset="0"/>
                <a:ea typeface="Consolas" pitchFamily="34" charset="-122"/>
                <a:cs typeface="Consolas" pitchFamily="34" charset="-120"/>
              </a:rPr>
              <a:t>αδρανής</a:t>
            </a:r>
            <a:endParaRPr lang="en-US" sz="1050" dirty="0"/>
          </a:p>
        </p:txBody>
      </p:sp>
      <p:sp>
        <p:nvSpPr>
          <p:cNvPr id="37" name="Shape 34"/>
          <p:cNvSpPr/>
          <p:nvPr/>
        </p:nvSpPr>
        <p:spPr>
          <a:xfrm>
            <a:off x="7232904" y="4572000"/>
            <a:ext cx="786384" cy="502920"/>
          </a:xfrm>
          <a:prstGeom prst="rect">
            <a:avLst/>
          </a:prstGeom>
          <a:solidFill>
            <a:srgbClr val="5C73E6"/>
          </a:solidFill>
          <a:ln w="12700">
            <a:solidFill>
              <a:srgbClr val="FBFCFE"/>
            </a:solidFill>
            <a:prstDash val="solid"/>
          </a:ln>
        </p:spPr>
      </p:sp>
      <p:sp>
        <p:nvSpPr>
          <p:cNvPr id="38" name="Text 35"/>
          <p:cNvSpPr txBox="1"/>
          <p:nvPr/>
        </p:nvSpPr>
        <p:spPr>
          <a:xfrm>
            <a:off x="7232904" y="4572000"/>
            <a:ext cx="786384"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Β</a:t>
            </a:r>
            <a:endParaRPr lang="en-US" sz="1050" dirty="0"/>
          </a:p>
        </p:txBody>
      </p:sp>
      <p:sp>
        <p:nvSpPr>
          <p:cNvPr id="39" name="Text 36"/>
          <p:cNvSpPr txBox="1"/>
          <p:nvPr/>
        </p:nvSpPr>
        <p:spPr>
          <a:xfrm>
            <a:off x="2331720"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0</a:t>
            </a:r>
            <a:endParaRPr lang="en-US" sz="900" dirty="0"/>
          </a:p>
        </p:txBody>
      </p:sp>
      <p:sp>
        <p:nvSpPr>
          <p:cNvPr id="40" name="Text 37"/>
          <p:cNvSpPr txBox="1"/>
          <p:nvPr/>
        </p:nvSpPr>
        <p:spPr>
          <a:xfrm>
            <a:off x="3118104"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1</a:t>
            </a:r>
            <a:endParaRPr lang="en-US" sz="900" dirty="0"/>
          </a:p>
        </p:txBody>
      </p:sp>
      <p:sp>
        <p:nvSpPr>
          <p:cNvPr id="41" name="Text 38"/>
          <p:cNvSpPr txBox="1"/>
          <p:nvPr/>
        </p:nvSpPr>
        <p:spPr>
          <a:xfrm>
            <a:off x="3904488"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2</a:t>
            </a:r>
            <a:endParaRPr lang="en-US" sz="900" dirty="0"/>
          </a:p>
        </p:txBody>
      </p:sp>
      <p:sp>
        <p:nvSpPr>
          <p:cNvPr id="42" name="Text 39"/>
          <p:cNvSpPr txBox="1"/>
          <p:nvPr/>
        </p:nvSpPr>
        <p:spPr>
          <a:xfrm>
            <a:off x="4690872"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3</a:t>
            </a:r>
            <a:endParaRPr lang="en-US" sz="900" dirty="0"/>
          </a:p>
        </p:txBody>
      </p:sp>
      <p:sp>
        <p:nvSpPr>
          <p:cNvPr id="43" name="Text 40"/>
          <p:cNvSpPr txBox="1"/>
          <p:nvPr/>
        </p:nvSpPr>
        <p:spPr>
          <a:xfrm>
            <a:off x="5477256"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4</a:t>
            </a:r>
            <a:endParaRPr lang="en-US" sz="900" dirty="0"/>
          </a:p>
        </p:txBody>
      </p:sp>
      <p:sp>
        <p:nvSpPr>
          <p:cNvPr id="44" name="Text 41"/>
          <p:cNvSpPr txBox="1"/>
          <p:nvPr/>
        </p:nvSpPr>
        <p:spPr>
          <a:xfrm>
            <a:off x="6263640"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5</a:t>
            </a:r>
            <a:endParaRPr lang="en-US" sz="900" dirty="0"/>
          </a:p>
        </p:txBody>
      </p:sp>
      <p:sp>
        <p:nvSpPr>
          <p:cNvPr id="45" name="Text 42"/>
          <p:cNvSpPr txBox="1"/>
          <p:nvPr/>
        </p:nvSpPr>
        <p:spPr>
          <a:xfrm>
            <a:off x="7050024"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6</a:t>
            </a:r>
            <a:endParaRPr lang="en-US" sz="900" dirty="0"/>
          </a:p>
        </p:txBody>
      </p:sp>
      <p:sp>
        <p:nvSpPr>
          <p:cNvPr id="46" name="Text 43"/>
          <p:cNvSpPr txBox="1"/>
          <p:nvPr/>
        </p:nvSpPr>
        <p:spPr>
          <a:xfrm>
            <a:off x="7836408"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7</a:t>
            </a:r>
            <a:endParaRPr lang="en-US" sz="900" dirty="0"/>
          </a:p>
        </p:txBody>
      </p:sp>
      <p:sp>
        <p:nvSpPr>
          <p:cNvPr id="47" name="Text 44"/>
          <p:cNvSpPr txBox="1"/>
          <p:nvPr/>
        </p:nvSpPr>
        <p:spPr>
          <a:xfrm>
            <a:off x="8622792"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8</a:t>
            </a:r>
            <a:endParaRPr lang="en-US" sz="900" dirty="0"/>
          </a:p>
        </p:txBody>
      </p:sp>
      <p:sp>
        <p:nvSpPr>
          <p:cNvPr id="48" name="Text 45"/>
          <p:cNvSpPr txBox="1"/>
          <p:nvPr/>
        </p:nvSpPr>
        <p:spPr>
          <a:xfrm>
            <a:off x="9409176"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9</a:t>
            </a:r>
            <a:endParaRPr lang="en-US" sz="900" dirty="0"/>
          </a:p>
        </p:txBody>
      </p:sp>
      <p:sp>
        <p:nvSpPr>
          <p:cNvPr id="49" name="Text 46"/>
          <p:cNvSpPr txBox="1"/>
          <p:nvPr/>
        </p:nvSpPr>
        <p:spPr>
          <a:xfrm>
            <a:off x="10195560" y="5120640"/>
            <a:ext cx="36576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10</a:t>
            </a:r>
            <a:endParaRPr lang="en-US" sz="900" dirty="0"/>
          </a:p>
        </p:txBody>
      </p:sp>
      <p:sp>
        <p:nvSpPr>
          <p:cNvPr id="50" name="Text 47"/>
          <p:cNvSpPr txBox="1"/>
          <p:nvPr/>
        </p:nvSpPr>
        <p:spPr>
          <a:xfrm>
            <a:off x="8001000" y="3383280"/>
            <a:ext cx="2377440" cy="237744"/>
          </a:xfrm>
          <a:prstGeom prst="rect">
            <a:avLst/>
          </a:prstGeom>
          <a:noFill/>
          <a:ln/>
        </p:spPr>
        <p:txBody>
          <a:bodyPr wrap="square" lIns="0" tIns="0" rIns="0" bIns="0" rtlCol="0" anchor="ctr"/>
          <a:lstStyle/>
          <a:p>
            <a:pPr algn="r" indent="0" marL="0">
              <a:buNone/>
            </a:pPr>
            <a:r>
              <a:rPr lang="en-US" sz="1000" b="1" dirty="0">
                <a:solidFill>
                  <a:srgbClr val="B0362A"/>
                </a:solidFill>
                <a:latin typeface="Segoe UI" pitchFamily="34" charset="0"/>
                <a:ea typeface="Segoe UI" pitchFamily="34" charset="-122"/>
                <a:cs typeface="Segoe UI" pitchFamily="34" charset="-120"/>
              </a:rPr>
              <a:t>τέλος στο 10 · CPU αδρανής 4</a:t>
            </a:r>
            <a:endParaRPr lang="en-US" sz="1000" dirty="0"/>
          </a:p>
        </p:txBody>
      </p:sp>
      <p:sp>
        <p:nvSpPr>
          <p:cNvPr id="51" name="Text 48"/>
          <p:cNvSpPr txBox="1"/>
          <p:nvPr/>
        </p:nvSpPr>
        <p:spPr>
          <a:xfrm>
            <a:off x="8110728" y="4572000"/>
            <a:ext cx="2560320" cy="502920"/>
          </a:xfrm>
          <a:prstGeom prst="rect">
            <a:avLst/>
          </a:prstGeom>
          <a:noFill/>
          <a:ln/>
        </p:spPr>
        <p:txBody>
          <a:bodyPr wrap="square" lIns="0" tIns="0" rIns="0" bIns="0" rtlCol="0" anchor="ctr"/>
          <a:lstStyle/>
          <a:p>
            <a:pPr indent="0" marL="0">
              <a:buNone/>
            </a:pPr>
            <a:r>
              <a:rPr lang="en-US" sz="1000" b="1" dirty="0">
                <a:solidFill>
                  <a:srgbClr val="1B6B52"/>
                </a:solidFill>
                <a:latin typeface="Segoe UI" pitchFamily="34" charset="0"/>
                <a:ea typeface="Segoe UI" pitchFamily="34" charset="-122"/>
                <a:cs typeface="Segoe UI" pitchFamily="34" charset="-120"/>
              </a:rPr>
              <a:t>τέλος στο 7 · CPU αδρανής 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03  </a:t>
            </a:r>
            <a:pPr indent="0" marL="0">
              <a:buNone/>
            </a:pPr>
            <a:r>
              <a:rPr lang="en-US" sz="1000" spc="140" kern="0" dirty="0">
                <a:solidFill>
                  <a:srgbClr val="8A91A3"/>
                </a:solidFill>
                <a:latin typeface="Consolas" pitchFamily="34" charset="0"/>
                <a:ea typeface="Consolas" pitchFamily="34" charset="-122"/>
                <a:cs typeface="Consolas" pitchFamily="34" charset="-120"/>
              </a:rPr>
              <a:t>ΚΑΤΗΓΟΡΙΕΣ ΛΣ · 2</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Καταμερισμός χρόνου (time sharing)</a:t>
            </a:r>
            <a:endParaRPr lang="en-US" sz="3000" dirty="0"/>
          </a:p>
        </p:txBody>
      </p:sp>
      <p:sp>
        <p:nvSpPr>
          <p:cNvPr id="8" name="Shape 5"/>
          <p:cNvSpPr/>
          <p:nvPr/>
        </p:nvSpPr>
        <p:spPr>
          <a:xfrm>
            <a:off x="566928" y="1463040"/>
            <a:ext cx="10881360" cy="1051560"/>
          </a:xfrm>
          <a:prstGeom prst="rect">
            <a:avLst/>
          </a:prstGeom>
          <a:solidFill>
            <a:srgbClr val="E4E8FB"/>
          </a:solidFill>
          <a:ln w="12700">
            <a:solidFill>
              <a:srgbClr val="E4E8FB"/>
            </a:solidFill>
            <a:prstDash val="solid"/>
          </a:ln>
        </p:spPr>
      </p:sp>
      <p:sp>
        <p:nvSpPr>
          <p:cNvPr id="9" name="Shape 6"/>
          <p:cNvSpPr/>
          <p:nvPr/>
        </p:nvSpPr>
        <p:spPr>
          <a:xfrm>
            <a:off x="566928" y="1463040"/>
            <a:ext cx="41148" cy="1051560"/>
          </a:xfrm>
          <a:prstGeom prst="rect">
            <a:avLst/>
          </a:prstGeom>
          <a:solidFill>
            <a:srgbClr val="2F4BD8"/>
          </a:solidFill>
          <a:ln w="12700">
            <a:solidFill>
              <a:srgbClr val="2F4BD8"/>
            </a:solidFill>
            <a:prstDash val="solid"/>
          </a:ln>
        </p:spPr>
      </p:sp>
      <p:sp>
        <p:nvSpPr>
          <p:cNvPr id="10" name="Text 7"/>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Η ΙΔΕΑ</a:t>
            </a:r>
            <a:endParaRPr lang="en-US" sz="900" dirty="0"/>
          </a:p>
        </p:txBody>
      </p:sp>
      <p:sp>
        <p:nvSpPr>
          <p:cNvPr id="11" name="Text 8"/>
          <p:cNvSpPr txBox="1"/>
          <p:nvPr/>
        </p:nvSpPr>
        <p:spPr>
          <a:xfrm>
            <a:off x="731520" y="1773936"/>
            <a:ext cx="10552176" cy="66751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Ο επεξεργαστής δίνεται σε κάθε πρόγραμμα για ένα πολύ μικρό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κβάντο χρόνου</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(λίγα χιλιοστά του δευτερολέπτου) και μετά περνά στο επόμενο. Η εναλλαγή είναι τόσο γρήγορη που ο χρήστης νομίζει ότι όλα τρέχουν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ταυτόχρονα</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a:t>
            </a:r>
            <a:endParaRPr lang="en-US" sz="1200" dirty="0"/>
          </a:p>
        </p:txBody>
      </p:sp>
      <p:sp>
        <p:nvSpPr>
          <p:cNvPr id="12" name="Shape 9"/>
          <p:cNvSpPr/>
          <p:nvPr/>
        </p:nvSpPr>
        <p:spPr>
          <a:xfrm>
            <a:off x="566928" y="2971800"/>
            <a:ext cx="1188720" cy="640080"/>
          </a:xfrm>
          <a:prstGeom prst="rect">
            <a:avLst/>
          </a:prstGeom>
          <a:solidFill>
            <a:srgbClr val="2F4BD8"/>
          </a:solidFill>
          <a:ln w="12700">
            <a:solidFill>
              <a:srgbClr val="FBFCFE"/>
            </a:solidFill>
            <a:prstDash val="solid"/>
          </a:ln>
        </p:spPr>
      </p:sp>
      <p:sp>
        <p:nvSpPr>
          <p:cNvPr id="13" name="Text 10"/>
          <p:cNvSpPr txBox="1"/>
          <p:nvPr/>
        </p:nvSpPr>
        <p:spPr>
          <a:xfrm>
            <a:off x="56692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Spotify</a:t>
            </a:r>
            <a:endParaRPr lang="en-US" sz="1050" dirty="0"/>
          </a:p>
        </p:txBody>
      </p:sp>
      <p:sp>
        <p:nvSpPr>
          <p:cNvPr id="14" name="Shape 11"/>
          <p:cNvSpPr/>
          <p:nvPr/>
        </p:nvSpPr>
        <p:spPr>
          <a:xfrm>
            <a:off x="1778508" y="2971800"/>
            <a:ext cx="1188720" cy="640080"/>
          </a:xfrm>
          <a:prstGeom prst="rect">
            <a:avLst/>
          </a:prstGeom>
          <a:solidFill>
            <a:srgbClr val="5C73E6"/>
          </a:solidFill>
          <a:ln w="12700">
            <a:solidFill>
              <a:srgbClr val="FBFCFE"/>
            </a:solidFill>
            <a:prstDash val="solid"/>
          </a:ln>
        </p:spPr>
      </p:sp>
      <p:sp>
        <p:nvSpPr>
          <p:cNvPr id="15" name="Text 12"/>
          <p:cNvSpPr txBox="1"/>
          <p:nvPr/>
        </p:nvSpPr>
        <p:spPr>
          <a:xfrm>
            <a:off x="177850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Word</a:t>
            </a:r>
            <a:endParaRPr lang="en-US" sz="1050" dirty="0"/>
          </a:p>
        </p:txBody>
      </p:sp>
      <p:sp>
        <p:nvSpPr>
          <p:cNvPr id="16" name="Shape 13"/>
          <p:cNvSpPr/>
          <p:nvPr/>
        </p:nvSpPr>
        <p:spPr>
          <a:xfrm>
            <a:off x="2990088" y="2971800"/>
            <a:ext cx="1188720" cy="640080"/>
          </a:xfrm>
          <a:prstGeom prst="rect">
            <a:avLst/>
          </a:prstGeom>
          <a:solidFill>
            <a:srgbClr val="8FA0EE"/>
          </a:solidFill>
          <a:ln w="12700">
            <a:solidFill>
              <a:srgbClr val="FBFCFE"/>
            </a:solidFill>
            <a:prstDash val="solid"/>
          </a:ln>
        </p:spPr>
      </p:sp>
      <p:sp>
        <p:nvSpPr>
          <p:cNvPr id="17" name="Text 14"/>
          <p:cNvSpPr txBox="1"/>
          <p:nvPr/>
        </p:nvSpPr>
        <p:spPr>
          <a:xfrm>
            <a:off x="299008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Chrome</a:t>
            </a:r>
            <a:endParaRPr lang="en-US" sz="1050" dirty="0"/>
          </a:p>
        </p:txBody>
      </p:sp>
      <p:sp>
        <p:nvSpPr>
          <p:cNvPr id="18" name="Shape 15"/>
          <p:cNvSpPr/>
          <p:nvPr/>
        </p:nvSpPr>
        <p:spPr>
          <a:xfrm>
            <a:off x="4201668" y="2971800"/>
            <a:ext cx="1188720" cy="640080"/>
          </a:xfrm>
          <a:prstGeom prst="rect">
            <a:avLst/>
          </a:prstGeom>
          <a:solidFill>
            <a:srgbClr val="2F4BD8"/>
          </a:solidFill>
          <a:ln w="12700">
            <a:solidFill>
              <a:srgbClr val="FBFCFE"/>
            </a:solidFill>
            <a:prstDash val="solid"/>
          </a:ln>
        </p:spPr>
      </p:sp>
      <p:sp>
        <p:nvSpPr>
          <p:cNvPr id="19" name="Text 16"/>
          <p:cNvSpPr txBox="1"/>
          <p:nvPr/>
        </p:nvSpPr>
        <p:spPr>
          <a:xfrm>
            <a:off x="420166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Spotify</a:t>
            </a:r>
            <a:endParaRPr lang="en-US" sz="1050" dirty="0"/>
          </a:p>
        </p:txBody>
      </p:sp>
      <p:sp>
        <p:nvSpPr>
          <p:cNvPr id="20" name="Shape 17"/>
          <p:cNvSpPr/>
          <p:nvPr/>
        </p:nvSpPr>
        <p:spPr>
          <a:xfrm>
            <a:off x="5413248" y="2971800"/>
            <a:ext cx="1188720" cy="640080"/>
          </a:xfrm>
          <a:prstGeom prst="rect">
            <a:avLst/>
          </a:prstGeom>
          <a:solidFill>
            <a:srgbClr val="5C73E6"/>
          </a:solidFill>
          <a:ln w="12700">
            <a:solidFill>
              <a:srgbClr val="FBFCFE"/>
            </a:solidFill>
            <a:prstDash val="solid"/>
          </a:ln>
        </p:spPr>
      </p:sp>
      <p:sp>
        <p:nvSpPr>
          <p:cNvPr id="21" name="Text 18"/>
          <p:cNvSpPr txBox="1"/>
          <p:nvPr/>
        </p:nvSpPr>
        <p:spPr>
          <a:xfrm>
            <a:off x="541324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Word</a:t>
            </a:r>
            <a:endParaRPr lang="en-US" sz="1050" dirty="0"/>
          </a:p>
        </p:txBody>
      </p:sp>
      <p:sp>
        <p:nvSpPr>
          <p:cNvPr id="22" name="Shape 19"/>
          <p:cNvSpPr/>
          <p:nvPr/>
        </p:nvSpPr>
        <p:spPr>
          <a:xfrm>
            <a:off x="6624828" y="2971800"/>
            <a:ext cx="1188720" cy="640080"/>
          </a:xfrm>
          <a:prstGeom prst="rect">
            <a:avLst/>
          </a:prstGeom>
          <a:solidFill>
            <a:srgbClr val="8FA0EE"/>
          </a:solidFill>
          <a:ln w="12700">
            <a:solidFill>
              <a:srgbClr val="FBFCFE"/>
            </a:solidFill>
            <a:prstDash val="solid"/>
          </a:ln>
        </p:spPr>
      </p:sp>
      <p:sp>
        <p:nvSpPr>
          <p:cNvPr id="23" name="Text 20"/>
          <p:cNvSpPr txBox="1"/>
          <p:nvPr/>
        </p:nvSpPr>
        <p:spPr>
          <a:xfrm>
            <a:off x="662482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Chrome</a:t>
            </a:r>
            <a:endParaRPr lang="en-US" sz="1050" dirty="0"/>
          </a:p>
        </p:txBody>
      </p:sp>
      <p:sp>
        <p:nvSpPr>
          <p:cNvPr id="24" name="Shape 21"/>
          <p:cNvSpPr/>
          <p:nvPr/>
        </p:nvSpPr>
        <p:spPr>
          <a:xfrm>
            <a:off x="7836408" y="2971800"/>
            <a:ext cx="1188720" cy="640080"/>
          </a:xfrm>
          <a:prstGeom prst="rect">
            <a:avLst/>
          </a:prstGeom>
          <a:solidFill>
            <a:srgbClr val="2F4BD8"/>
          </a:solidFill>
          <a:ln w="12700">
            <a:solidFill>
              <a:srgbClr val="FBFCFE"/>
            </a:solidFill>
            <a:prstDash val="solid"/>
          </a:ln>
        </p:spPr>
      </p:sp>
      <p:sp>
        <p:nvSpPr>
          <p:cNvPr id="25" name="Text 22"/>
          <p:cNvSpPr txBox="1"/>
          <p:nvPr/>
        </p:nvSpPr>
        <p:spPr>
          <a:xfrm>
            <a:off x="783640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Spotify</a:t>
            </a:r>
            <a:endParaRPr lang="en-US" sz="1050" dirty="0"/>
          </a:p>
        </p:txBody>
      </p:sp>
      <p:sp>
        <p:nvSpPr>
          <p:cNvPr id="26" name="Shape 23"/>
          <p:cNvSpPr/>
          <p:nvPr/>
        </p:nvSpPr>
        <p:spPr>
          <a:xfrm>
            <a:off x="9047988" y="2971800"/>
            <a:ext cx="1188720" cy="640080"/>
          </a:xfrm>
          <a:prstGeom prst="rect">
            <a:avLst/>
          </a:prstGeom>
          <a:solidFill>
            <a:srgbClr val="5C73E6"/>
          </a:solidFill>
          <a:ln w="12700">
            <a:solidFill>
              <a:srgbClr val="FBFCFE"/>
            </a:solidFill>
            <a:prstDash val="solid"/>
          </a:ln>
        </p:spPr>
      </p:sp>
      <p:sp>
        <p:nvSpPr>
          <p:cNvPr id="27" name="Text 24"/>
          <p:cNvSpPr txBox="1"/>
          <p:nvPr/>
        </p:nvSpPr>
        <p:spPr>
          <a:xfrm>
            <a:off x="904798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Word</a:t>
            </a:r>
            <a:endParaRPr lang="en-US" sz="1050" dirty="0"/>
          </a:p>
        </p:txBody>
      </p:sp>
      <p:sp>
        <p:nvSpPr>
          <p:cNvPr id="28" name="Shape 25"/>
          <p:cNvSpPr/>
          <p:nvPr/>
        </p:nvSpPr>
        <p:spPr>
          <a:xfrm>
            <a:off x="10259568" y="2971800"/>
            <a:ext cx="1188720" cy="640080"/>
          </a:xfrm>
          <a:prstGeom prst="rect">
            <a:avLst/>
          </a:prstGeom>
          <a:solidFill>
            <a:srgbClr val="8FA0EE"/>
          </a:solidFill>
          <a:ln w="12700">
            <a:solidFill>
              <a:srgbClr val="FBFCFE"/>
            </a:solidFill>
            <a:prstDash val="solid"/>
          </a:ln>
        </p:spPr>
      </p:sp>
      <p:sp>
        <p:nvSpPr>
          <p:cNvPr id="29" name="Text 26"/>
          <p:cNvSpPr txBox="1"/>
          <p:nvPr/>
        </p:nvSpPr>
        <p:spPr>
          <a:xfrm>
            <a:off x="10259568" y="2971800"/>
            <a:ext cx="118872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Chrome</a:t>
            </a:r>
            <a:endParaRPr lang="en-US" sz="1050" dirty="0"/>
          </a:p>
        </p:txBody>
      </p:sp>
      <p:sp>
        <p:nvSpPr>
          <p:cNvPr id="30" name="Text 27"/>
          <p:cNvSpPr txBox="1"/>
          <p:nvPr/>
        </p:nvSpPr>
        <p:spPr>
          <a:xfrm>
            <a:off x="24688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0 ms</a:t>
            </a:r>
            <a:endParaRPr lang="en-US" sz="900" dirty="0"/>
          </a:p>
        </p:txBody>
      </p:sp>
      <p:sp>
        <p:nvSpPr>
          <p:cNvPr id="31" name="Text 28"/>
          <p:cNvSpPr txBox="1"/>
          <p:nvPr/>
        </p:nvSpPr>
        <p:spPr>
          <a:xfrm>
            <a:off x="145846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10 ms</a:t>
            </a:r>
            <a:endParaRPr lang="en-US" sz="900" dirty="0"/>
          </a:p>
        </p:txBody>
      </p:sp>
      <p:sp>
        <p:nvSpPr>
          <p:cNvPr id="32" name="Text 29"/>
          <p:cNvSpPr txBox="1"/>
          <p:nvPr/>
        </p:nvSpPr>
        <p:spPr>
          <a:xfrm>
            <a:off x="267004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20 ms</a:t>
            </a:r>
            <a:endParaRPr lang="en-US" sz="900" dirty="0"/>
          </a:p>
        </p:txBody>
      </p:sp>
      <p:sp>
        <p:nvSpPr>
          <p:cNvPr id="33" name="Text 30"/>
          <p:cNvSpPr txBox="1"/>
          <p:nvPr/>
        </p:nvSpPr>
        <p:spPr>
          <a:xfrm>
            <a:off x="388162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30 ms</a:t>
            </a:r>
            <a:endParaRPr lang="en-US" sz="900" dirty="0"/>
          </a:p>
        </p:txBody>
      </p:sp>
      <p:sp>
        <p:nvSpPr>
          <p:cNvPr id="34" name="Text 31"/>
          <p:cNvSpPr txBox="1"/>
          <p:nvPr/>
        </p:nvSpPr>
        <p:spPr>
          <a:xfrm>
            <a:off x="509320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40 ms</a:t>
            </a:r>
            <a:endParaRPr lang="en-US" sz="900" dirty="0"/>
          </a:p>
        </p:txBody>
      </p:sp>
      <p:sp>
        <p:nvSpPr>
          <p:cNvPr id="35" name="Text 32"/>
          <p:cNvSpPr txBox="1"/>
          <p:nvPr/>
        </p:nvSpPr>
        <p:spPr>
          <a:xfrm>
            <a:off x="630478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50 ms</a:t>
            </a:r>
            <a:endParaRPr lang="en-US" sz="900" dirty="0"/>
          </a:p>
        </p:txBody>
      </p:sp>
      <p:sp>
        <p:nvSpPr>
          <p:cNvPr id="36" name="Text 33"/>
          <p:cNvSpPr txBox="1"/>
          <p:nvPr/>
        </p:nvSpPr>
        <p:spPr>
          <a:xfrm>
            <a:off x="751636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60 ms</a:t>
            </a:r>
            <a:endParaRPr lang="en-US" sz="900" dirty="0"/>
          </a:p>
        </p:txBody>
      </p:sp>
      <p:sp>
        <p:nvSpPr>
          <p:cNvPr id="37" name="Text 34"/>
          <p:cNvSpPr txBox="1"/>
          <p:nvPr/>
        </p:nvSpPr>
        <p:spPr>
          <a:xfrm>
            <a:off x="872794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70 ms</a:t>
            </a:r>
            <a:endParaRPr lang="en-US" sz="900" dirty="0"/>
          </a:p>
        </p:txBody>
      </p:sp>
      <p:sp>
        <p:nvSpPr>
          <p:cNvPr id="38" name="Text 35"/>
          <p:cNvSpPr txBox="1"/>
          <p:nvPr/>
        </p:nvSpPr>
        <p:spPr>
          <a:xfrm>
            <a:off x="993952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80 ms</a:t>
            </a:r>
            <a:endParaRPr lang="en-US" sz="900" dirty="0"/>
          </a:p>
        </p:txBody>
      </p:sp>
      <p:sp>
        <p:nvSpPr>
          <p:cNvPr id="39" name="Text 36"/>
          <p:cNvSpPr txBox="1"/>
          <p:nvPr/>
        </p:nvSpPr>
        <p:spPr>
          <a:xfrm>
            <a:off x="11151108" y="3657600"/>
            <a:ext cx="640080" cy="228600"/>
          </a:xfrm>
          <a:prstGeom prst="rect">
            <a:avLst/>
          </a:prstGeom>
          <a:noFill/>
          <a:ln/>
        </p:spPr>
        <p:txBody>
          <a:bodyPr wrap="square" lIns="0" tIns="0" rIns="0" bIns="0" rtlCol="0" anchor="ctr"/>
          <a:lstStyle/>
          <a:p>
            <a:pPr algn="ctr" indent="0" marL="0">
              <a:buNone/>
            </a:pPr>
            <a:r>
              <a:rPr lang="en-US" sz="900" dirty="0">
                <a:solidFill>
                  <a:srgbClr val="8A91A3"/>
                </a:solidFill>
                <a:latin typeface="Consolas" pitchFamily="34" charset="0"/>
                <a:ea typeface="Consolas" pitchFamily="34" charset="-122"/>
                <a:cs typeface="Consolas" pitchFamily="34" charset="-120"/>
              </a:rPr>
              <a:t>90 ms</a:t>
            </a:r>
            <a:endParaRPr lang="en-US" sz="900" dirty="0"/>
          </a:p>
        </p:txBody>
      </p:sp>
      <p:sp>
        <p:nvSpPr>
          <p:cNvPr id="40" name="Shape 37"/>
          <p:cNvSpPr/>
          <p:nvPr/>
        </p:nvSpPr>
        <p:spPr>
          <a:xfrm>
            <a:off x="566928" y="4069080"/>
            <a:ext cx="3502152" cy="1874520"/>
          </a:xfrm>
          <a:prstGeom prst="roundRect">
            <a:avLst>
              <a:gd name="adj" fmla="val 2927"/>
            </a:avLst>
          </a:prstGeom>
          <a:solidFill>
            <a:srgbClr val="FBFCFE"/>
          </a:solidFill>
          <a:ln w="9525">
            <a:solidFill>
              <a:srgbClr val="D3D9E4"/>
            </a:solidFill>
            <a:prstDash val="solid"/>
          </a:ln>
        </p:spPr>
      </p:sp>
      <p:sp>
        <p:nvSpPr>
          <p:cNvPr id="41" name="Text 38"/>
          <p:cNvSpPr txBox="1"/>
          <p:nvPr/>
        </p:nvSpPr>
        <p:spPr>
          <a:xfrm>
            <a:off x="731520" y="4197096"/>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Για τον χρήστη</a:t>
            </a:r>
            <a:endParaRPr lang="en-US" sz="1400" dirty="0"/>
          </a:p>
        </p:txBody>
      </p:sp>
      <p:sp>
        <p:nvSpPr>
          <p:cNvPr id="42" name="Text 39"/>
          <p:cNvSpPr txBox="1"/>
          <p:nvPr/>
        </p:nvSpPr>
        <p:spPr>
          <a:xfrm>
            <a:off x="731520" y="4547362"/>
            <a:ext cx="3172968" cy="130479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Η μουσική παίζει, η πληκτρολόγηση εμφανίζεται, η σελίδα φορτώνει: όλα μαζί.</a:t>
            </a:r>
            <a:endParaRPr lang="en-US" sz="1200" dirty="0"/>
          </a:p>
        </p:txBody>
      </p:sp>
      <p:sp>
        <p:nvSpPr>
          <p:cNvPr id="43" name="Shape 40"/>
          <p:cNvSpPr/>
          <p:nvPr/>
        </p:nvSpPr>
        <p:spPr>
          <a:xfrm>
            <a:off x="4251960" y="4069080"/>
            <a:ext cx="3502152" cy="1874520"/>
          </a:xfrm>
          <a:prstGeom prst="roundRect">
            <a:avLst>
              <a:gd name="adj" fmla="val 2927"/>
            </a:avLst>
          </a:prstGeom>
          <a:solidFill>
            <a:srgbClr val="E4E8FB"/>
          </a:solidFill>
          <a:ln w="12700">
            <a:solidFill>
              <a:srgbClr val="E4E8FB"/>
            </a:solidFill>
            <a:prstDash val="solid"/>
          </a:ln>
        </p:spPr>
      </p:sp>
      <p:sp>
        <p:nvSpPr>
          <p:cNvPr id="44" name="Text 41"/>
          <p:cNvSpPr txBox="1"/>
          <p:nvPr/>
        </p:nvSpPr>
        <p:spPr>
          <a:xfrm>
            <a:off x="4416552" y="4197096"/>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Για τον επεξεργαστή</a:t>
            </a:r>
            <a:endParaRPr lang="en-US" sz="1400" dirty="0"/>
          </a:p>
        </p:txBody>
      </p:sp>
      <p:sp>
        <p:nvSpPr>
          <p:cNvPr id="45" name="Text 42"/>
          <p:cNvSpPr txBox="1"/>
          <p:nvPr/>
        </p:nvSpPr>
        <p:spPr>
          <a:xfrm>
            <a:off x="4416552" y="4547362"/>
            <a:ext cx="3172968" cy="130479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Σε κάθε στιγμή κάθε πυρήνας εκτελεί μόνο ένα πρόγραμμα. Η ταυτόχρονη εκτέλεση είναι ψευδαίσθηση.</a:t>
            </a:r>
            <a:endParaRPr lang="en-US" sz="1200" dirty="0"/>
          </a:p>
        </p:txBody>
      </p:sp>
      <p:sp>
        <p:nvSpPr>
          <p:cNvPr id="46" name="Shape 43"/>
          <p:cNvSpPr/>
          <p:nvPr/>
        </p:nvSpPr>
        <p:spPr>
          <a:xfrm>
            <a:off x="7946136" y="4069080"/>
            <a:ext cx="3502152" cy="1874520"/>
          </a:xfrm>
          <a:prstGeom prst="roundRect">
            <a:avLst>
              <a:gd name="adj" fmla="val 2927"/>
            </a:avLst>
          </a:prstGeom>
          <a:solidFill>
            <a:srgbClr val="F6EDD6"/>
          </a:solidFill>
          <a:ln w="12700">
            <a:solidFill>
              <a:srgbClr val="F6EDD6"/>
            </a:solidFill>
            <a:prstDash val="solid"/>
          </a:ln>
        </p:spPr>
      </p:sp>
      <p:sp>
        <p:nvSpPr>
          <p:cNvPr id="47" name="Text 44"/>
          <p:cNvSpPr txBox="1"/>
          <p:nvPr/>
        </p:nvSpPr>
        <p:spPr>
          <a:xfrm>
            <a:off x="8110728" y="4197096"/>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Πού το βρίσκουμε</a:t>
            </a:r>
            <a:endParaRPr lang="en-US" sz="1400" dirty="0"/>
          </a:p>
        </p:txBody>
      </p:sp>
      <p:sp>
        <p:nvSpPr>
          <p:cNvPr id="48" name="Text 45"/>
          <p:cNvSpPr txBox="1"/>
          <p:nvPr/>
        </p:nvSpPr>
        <p:spPr>
          <a:xfrm>
            <a:off x="8110728" y="4547362"/>
            <a:ext cx="3172968" cy="130479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Σε όλα τα σημερινά ΛΣ γραφείου και κινητών: Windows, Linux, macOS, Android, iOS.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04  </a:t>
            </a:r>
            <a:pPr indent="0" marL="0">
              <a:buNone/>
            </a:pPr>
            <a:r>
              <a:rPr lang="en-US" sz="1000" spc="140" kern="0" dirty="0">
                <a:solidFill>
                  <a:srgbClr val="8A91A3"/>
                </a:solidFill>
                <a:latin typeface="Consolas" pitchFamily="34" charset="0"/>
                <a:ea typeface="Consolas" pitchFamily="34" charset="-122"/>
                <a:cs typeface="Consolas" pitchFamily="34" charset="-120"/>
              </a:rPr>
              <a:t>ΚΑΤΗΓΟΡΙΕΣ ΛΣ · 3</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Τρεις ειδικές κατηγορίες</a:t>
            </a:r>
            <a:endParaRPr lang="en-US" sz="3000" dirty="0"/>
          </a:p>
        </p:txBody>
      </p:sp>
      <p:sp>
        <p:nvSpPr>
          <p:cNvPr id="8" name="Shape 5"/>
          <p:cNvSpPr/>
          <p:nvPr/>
        </p:nvSpPr>
        <p:spPr>
          <a:xfrm>
            <a:off x="566928" y="1463040"/>
            <a:ext cx="3502152" cy="2788920"/>
          </a:xfrm>
          <a:prstGeom prst="roundRect">
            <a:avLst>
              <a:gd name="adj" fmla="val 1967"/>
            </a:avLst>
          </a:prstGeom>
          <a:solidFill>
            <a:srgbClr val="FBFCFE"/>
          </a:solidFill>
          <a:ln w="9525">
            <a:solidFill>
              <a:srgbClr val="D3D9E4"/>
            </a:solidFill>
            <a:prstDash val="solid"/>
          </a:ln>
        </p:spPr>
      </p:sp>
      <p:sp>
        <p:nvSpPr>
          <p:cNvPr id="9" name="Text 6"/>
          <p:cNvSpPr txBox="1"/>
          <p:nvPr/>
        </p:nvSpPr>
        <p:spPr>
          <a:xfrm>
            <a:off x="731520"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03</a:t>
            </a:r>
            <a:endParaRPr lang="en-US" sz="900" dirty="0"/>
          </a:p>
        </p:txBody>
      </p:sp>
      <p:sp>
        <p:nvSpPr>
          <p:cNvPr id="10" name="Text 7"/>
          <p:cNvSpPr txBox="1"/>
          <p:nvPr/>
        </p:nvSpPr>
        <p:spPr>
          <a:xfrm>
            <a:off x="731520" y="1847088"/>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Πραγματικού χρόνου (real time)</a:t>
            </a:r>
            <a:endParaRPr lang="en-US" sz="1400" dirty="0"/>
          </a:p>
        </p:txBody>
      </p:sp>
      <p:sp>
        <p:nvSpPr>
          <p:cNvPr id="11" name="Text 8"/>
          <p:cNvSpPr txBox="1"/>
          <p:nvPr/>
        </p:nvSpPr>
        <p:spPr>
          <a:xfrm>
            <a:off x="731520" y="2197354"/>
            <a:ext cx="3172968" cy="196316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Η απάντηση πρέπει να έρθει μέσα σε αυστηρό χρονικό όριο. Αργή απάντηση = λάθος απάντηση.</a:t>
            </a:r>
            <a:endParaRPr lang="en-US" sz="1200" dirty="0"/>
          </a:p>
        </p:txBody>
      </p:sp>
      <p:sp>
        <p:nvSpPr>
          <p:cNvPr id="12" name="Shape 9"/>
          <p:cNvSpPr/>
          <p:nvPr/>
        </p:nvSpPr>
        <p:spPr>
          <a:xfrm>
            <a:off x="566928" y="4434840"/>
            <a:ext cx="3502152" cy="1508760"/>
          </a:xfrm>
          <a:prstGeom prst="roundRect">
            <a:avLst>
              <a:gd name="adj" fmla="val 3636"/>
            </a:avLst>
          </a:prstGeom>
          <a:solidFill>
            <a:srgbClr val="F6EDD6"/>
          </a:solidFill>
          <a:ln w="12700">
            <a:solidFill>
              <a:srgbClr val="F6EDD6"/>
            </a:solidFill>
            <a:prstDash val="solid"/>
          </a:ln>
        </p:spPr>
      </p:sp>
      <p:sp>
        <p:nvSpPr>
          <p:cNvPr id="13" name="Text 10"/>
          <p:cNvSpPr txBox="1"/>
          <p:nvPr/>
        </p:nvSpPr>
        <p:spPr>
          <a:xfrm>
            <a:off x="731520" y="4562856"/>
            <a:ext cx="3172968" cy="1289304"/>
          </a:xfrm>
          <a:prstGeom prst="rect">
            <a:avLst/>
          </a:prstGeom>
          <a:noFill/>
          <a:ln/>
        </p:spPr>
        <p:txBody>
          <a:bodyPr wrap="square" lIns="0" tIns="0" rIns="0" bIns="0" rtlCol="0" anchor="t"/>
          <a:lstStyle/>
          <a:p>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Παραδείγματα: </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Αερόσακος και ABS αυτοκινήτου, βηματοδότης, έλεγχος πτήσης.</a:t>
            </a:r>
            <a:endParaRPr lang="en-US" sz="1200" dirty="0"/>
          </a:p>
        </p:txBody>
      </p:sp>
      <p:sp>
        <p:nvSpPr>
          <p:cNvPr id="14" name="Shape 11"/>
          <p:cNvSpPr/>
          <p:nvPr/>
        </p:nvSpPr>
        <p:spPr>
          <a:xfrm>
            <a:off x="4251960" y="1463040"/>
            <a:ext cx="3502152" cy="2788920"/>
          </a:xfrm>
          <a:prstGeom prst="roundRect">
            <a:avLst>
              <a:gd name="adj" fmla="val 1967"/>
            </a:avLst>
          </a:prstGeom>
          <a:solidFill>
            <a:srgbClr val="E4E8FB"/>
          </a:solidFill>
          <a:ln w="12700">
            <a:solidFill>
              <a:srgbClr val="E4E8FB"/>
            </a:solidFill>
            <a:prstDash val="solid"/>
          </a:ln>
        </p:spPr>
      </p:sp>
      <p:sp>
        <p:nvSpPr>
          <p:cNvPr id="15" name="Text 12"/>
          <p:cNvSpPr txBox="1"/>
          <p:nvPr/>
        </p:nvSpPr>
        <p:spPr>
          <a:xfrm>
            <a:off x="4416552"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04</a:t>
            </a:r>
            <a:endParaRPr lang="en-US" sz="900" dirty="0"/>
          </a:p>
        </p:txBody>
      </p:sp>
      <p:sp>
        <p:nvSpPr>
          <p:cNvPr id="16" name="Text 13"/>
          <p:cNvSpPr txBox="1"/>
          <p:nvPr/>
        </p:nvSpPr>
        <p:spPr>
          <a:xfrm>
            <a:off x="4416552" y="1847088"/>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Κατανεμημένα (distributed)</a:t>
            </a:r>
            <a:endParaRPr lang="en-US" sz="1400" dirty="0"/>
          </a:p>
        </p:txBody>
      </p:sp>
      <p:sp>
        <p:nvSpPr>
          <p:cNvPr id="17" name="Text 14"/>
          <p:cNvSpPr txBox="1"/>
          <p:nvPr/>
        </p:nvSpPr>
        <p:spPr>
          <a:xfrm>
            <a:off x="4416552" y="2197354"/>
            <a:ext cx="3172968" cy="196316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Πολλοί υπολογιστές συνδεδεμένοι σε δίκτυο δουλεύουν σαν ένα σύστημα και μοιράζονται τη δουλειά.</a:t>
            </a:r>
            <a:endParaRPr lang="en-US" sz="1200" dirty="0"/>
          </a:p>
        </p:txBody>
      </p:sp>
      <p:sp>
        <p:nvSpPr>
          <p:cNvPr id="18" name="Shape 15"/>
          <p:cNvSpPr/>
          <p:nvPr/>
        </p:nvSpPr>
        <p:spPr>
          <a:xfrm>
            <a:off x="4251960" y="4434840"/>
            <a:ext cx="3502152" cy="1508760"/>
          </a:xfrm>
          <a:prstGeom prst="roundRect">
            <a:avLst>
              <a:gd name="adj" fmla="val 3636"/>
            </a:avLst>
          </a:prstGeom>
          <a:solidFill>
            <a:srgbClr val="F6EDD6"/>
          </a:solidFill>
          <a:ln w="12700">
            <a:solidFill>
              <a:srgbClr val="F6EDD6"/>
            </a:solidFill>
            <a:prstDash val="solid"/>
          </a:ln>
        </p:spPr>
      </p:sp>
      <p:sp>
        <p:nvSpPr>
          <p:cNvPr id="19" name="Text 16"/>
          <p:cNvSpPr txBox="1"/>
          <p:nvPr/>
        </p:nvSpPr>
        <p:spPr>
          <a:xfrm>
            <a:off x="4416552" y="4562856"/>
            <a:ext cx="3172968" cy="1289304"/>
          </a:xfrm>
          <a:prstGeom prst="rect">
            <a:avLst/>
          </a:prstGeom>
          <a:noFill/>
          <a:ln/>
        </p:spPr>
        <p:txBody>
          <a:bodyPr wrap="square" lIns="0" tIns="0" rIns="0" bIns="0" rtlCol="0" anchor="t"/>
          <a:lstStyle/>
          <a:p>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Παραδείγματα: </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Μηχανές αναζήτησης, cloud, clusters, online παιχνίδια με πολλούς servers.</a:t>
            </a:r>
            <a:endParaRPr lang="en-US" sz="1200" dirty="0"/>
          </a:p>
        </p:txBody>
      </p:sp>
      <p:sp>
        <p:nvSpPr>
          <p:cNvPr id="20" name="Shape 17"/>
          <p:cNvSpPr/>
          <p:nvPr/>
        </p:nvSpPr>
        <p:spPr>
          <a:xfrm>
            <a:off x="7936992" y="1463040"/>
            <a:ext cx="3502152" cy="2788920"/>
          </a:xfrm>
          <a:prstGeom prst="roundRect">
            <a:avLst>
              <a:gd name="adj" fmla="val 1967"/>
            </a:avLst>
          </a:prstGeom>
          <a:solidFill>
            <a:srgbClr val="FBFCFE"/>
          </a:solidFill>
          <a:ln w="9525">
            <a:solidFill>
              <a:srgbClr val="D3D9E4"/>
            </a:solidFill>
            <a:prstDash val="solid"/>
          </a:ln>
        </p:spPr>
      </p:sp>
      <p:sp>
        <p:nvSpPr>
          <p:cNvPr id="21" name="Text 18"/>
          <p:cNvSpPr txBox="1"/>
          <p:nvPr/>
        </p:nvSpPr>
        <p:spPr>
          <a:xfrm>
            <a:off x="8101584"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05</a:t>
            </a:r>
            <a:endParaRPr lang="en-US" sz="900" dirty="0"/>
          </a:p>
        </p:txBody>
      </p:sp>
      <p:sp>
        <p:nvSpPr>
          <p:cNvPr id="22" name="Text 19"/>
          <p:cNvSpPr txBox="1"/>
          <p:nvPr/>
        </p:nvSpPr>
        <p:spPr>
          <a:xfrm>
            <a:off x="8101584" y="1847088"/>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Ενσωματωμένα (embedded)</a:t>
            </a:r>
            <a:endParaRPr lang="en-US" sz="1400" dirty="0"/>
          </a:p>
        </p:txBody>
      </p:sp>
      <p:sp>
        <p:nvSpPr>
          <p:cNvPr id="23" name="Text 20"/>
          <p:cNvSpPr txBox="1"/>
          <p:nvPr/>
        </p:nvSpPr>
        <p:spPr>
          <a:xfrm>
            <a:off x="8101584" y="2197354"/>
            <a:ext cx="3172968" cy="196316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Μικρό ΛΣ μέσα σε συσκευή που κάνει μία συγκεκριμένη δουλειά, συχνά με λίγη μνήμη και χωρίς οθόνη.</a:t>
            </a:r>
            <a:endParaRPr lang="en-US" sz="1200" dirty="0"/>
          </a:p>
        </p:txBody>
      </p:sp>
      <p:sp>
        <p:nvSpPr>
          <p:cNvPr id="24" name="Shape 21"/>
          <p:cNvSpPr/>
          <p:nvPr/>
        </p:nvSpPr>
        <p:spPr>
          <a:xfrm>
            <a:off x="7936992" y="4434840"/>
            <a:ext cx="3502152" cy="1508760"/>
          </a:xfrm>
          <a:prstGeom prst="roundRect">
            <a:avLst>
              <a:gd name="adj" fmla="val 3636"/>
            </a:avLst>
          </a:prstGeom>
          <a:solidFill>
            <a:srgbClr val="F6EDD6"/>
          </a:solidFill>
          <a:ln w="12700">
            <a:solidFill>
              <a:srgbClr val="F6EDD6"/>
            </a:solidFill>
            <a:prstDash val="solid"/>
          </a:ln>
        </p:spPr>
      </p:sp>
      <p:sp>
        <p:nvSpPr>
          <p:cNvPr id="25" name="Text 22"/>
          <p:cNvSpPr txBox="1"/>
          <p:nvPr/>
        </p:nvSpPr>
        <p:spPr>
          <a:xfrm>
            <a:off x="8101584" y="4562856"/>
            <a:ext cx="3172968" cy="1289304"/>
          </a:xfrm>
          <a:prstGeom prst="rect">
            <a:avLst/>
          </a:prstGeom>
          <a:noFill/>
          <a:ln/>
        </p:spPr>
        <p:txBody>
          <a:bodyPr wrap="square" lIns="0" tIns="0" rIns="0" bIns="0" rtlCol="0" anchor="t"/>
          <a:lstStyle/>
          <a:p>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Παραδείγματα: </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Router, smart TV, πλυντήριο, ATM, έξυπνο ρολόι.</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05  </a:t>
            </a:r>
            <a:pPr indent="0" marL="0">
              <a:buNone/>
            </a:pPr>
            <a:r>
              <a:rPr lang="en-US" sz="1000" spc="140" kern="0" dirty="0">
                <a:solidFill>
                  <a:srgbClr val="8A91A3"/>
                </a:solidFill>
                <a:latin typeface="Consolas" pitchFamily="34" charset="0"/>
                <a:ea typeface="Consolas" pitchFamily="34" charset="-122"/>
                <a:cs typeface="Consolas" pitchFamily="34" charset="-120"/>
              </a:rPr>
              <a:t>ΣΥΝΟΨΗ ΚΑΤΗΓΟΡΙΩΝ</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Οι 5 κατηγορίες σε έναν πίνακα</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0881360" cy="914400"/>
        </p:xfrm>
        <a:graphic>
          <a:graphicData uri="http://schemas.openxmlformats.org/drawingml/2006/table">
            <a:tbl>
              <a:tblPr/>
              <a:tblGrid>
                <a:gridCol w="3017520"/>
                <a:gridCol w="3017520"/>
                <a:gridCol w="2560320"/>
                <a:gridCol w="2286000"/>
              </a:tblGrid>
              <a:tr h="365760">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ΚΑΤΗΓΟΡΙΑ</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ΚΥΡΙΟ ΧΑΡΑΚΤΗΡΙΣΤΙΚΟ</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ΣΤΟΧΟΣ</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ΠΑΡΑΔΕΙΓΜΑ</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6858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Ομαδικής επεξεργασίας / πολυπρογραμματισμού</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Εργασίες σε σειρά, πολλά προγράμματα στη μνήμη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Ο επεξεργαστής να μη μένει αδρανής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Νυχτερινή μισθοδοσία τράπεζας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54864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Καταμερισμού χρόνου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Κβάντο χρόνου σε κάθε πρόγραμμα, εναλλαγή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Γρήγορη απόκριση στον χρήστη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Windows, Linux, Android</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54864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Πραγματικού χρόνου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Αυστηρά χρονικά όρια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Απάντηση πάντα στην ώρα της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ABS, αερόσακος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54864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Κατανεμημένα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Πολλοί υπολογιστές σαν ένα σύστημα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Ισχύς και αξιοπιστία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Cloud, μηχανές αναζήτησης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54864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Ενσωματωμένα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Μέσα σε συσκευή, μία δουλειά</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Μικρό κόστος, λίγοι πόροι</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Router, πλυντήριο, smart TV</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
        <p:nvSpPr>
          <p:cNvPr id="9" name="Shape 5"/>
          <p:cNvSpPr/>
          <p:nvPr/>
        </p:nvSpPr>
        <p:spPr>
          <a:xfrm>
            <a:off x="566928" y="5120640"/>
            <a:ext cx="10881360" cy="822960"/>
          </a:xfrm>
          <a:prstGeom prst="roundRect">
            <a:avLst>
              <a:gd name="adj" fmla="val 6667"/>
            </a:avLst>
          </a:prstGeom>
          <a:solidFill>
            <a:srgbClr val="F6EDD6"/>
          </a:solidFill>
          <a:ln w="12700">
            <a:solidFill>
              <a:srgbClr val="F6EDD6"/>
            </a:solidFill>
            <a:prstDash val="solid"/>
          </a:ln>
        </p:spPr>
      </p:sp>
      <p:sp>
        <p:nvSpPr>
          <p:cNvPr id="10" name="Text 6"/>
          <p:cNvSpPr txBox="1"/>
          <p:nvPr/>
        </p:nvSpPr>
        <p:spPr>
          <a:xfrm>
            <a:off x="731520" y="5248656"/>
            <a:ext cx="10552176" cy="603504"/>
          </a:xfrm>
          <a:prstGeom prst="rect">
            <a:avLst/>
          </a:prstGeom>
          <a:noFill/>
          <a:ln/>
        </p:spPr>
        <p:txBody>
          <a:bodyPr wrap="square" lIns="0" tIns="0" rIns="0" bIns="0" rtlCol="0" anchor="t"/>
          <a:lstStyle/>
          <a:p>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Προσοχή: </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ένα σύγχρονο ΛΣ συνδυάζει πολλές κατηγορίες. Τα Windows είναι και πολυπρογραμματισμού και καταμερισμού χρόνου.</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06  </a:t>
            </a:r>
            <a:pPr indent="0" marL="0">
              <a:buNone/>
            </a:pPr>
            <a:r>
              <a:rPr lang="en-US" sz="1000" spc="140" kern="0" dirty="0">
                <a:solidFill>
                  <a:srgbClr val="8A91A3"/>
                </a:solidFill>
                <a:latin typeface="Consolas" pitchFamily="34" charset="0"/>
                <a:ea typeface="Consolas" pitchFamily="34" charset="-122"/>
                <a:cs typeface="Consolas" pitchFamily="34" charset="-120"/>
              </a:rPr>
              <a:t>ΑΣΚΗΣΗ Α1 · ΕΥΚΟΛΗ</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Σε ποια κατηγορία ανήκει;</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ΕΥΚΟΛΗ</a:t>
            </a:r>
            <a:endParaRPr lang="en-US" sz="1100" dirty="0"/>
          </a:p>
        </p:txBody>
      </p:sp>
      <p:sp>
        <p:nvSpPr>
          <p:cNvPr id="9" name="Shape 6"/>
          <p:cNvSpPr/>
          <p:nvPr/>
        </p:nvSpPr>
        <p:spPr>
          <a:xfrm>
            <a:off x="566928" y="1463040"/>
            <a:ext cx="10881360" cy="777240"/>
          </a:xfrm>
          <a:prstGeom prst="rect">
            <a:avLst/>
          </a:prstGeom>
          <a:solidFill>
            <a:srgbClr val="E4E8FB"/>
          </a:solidFill>
          <a:ln w="12700">
            <a:solidFill>
              <a:srgbClr val="E4E8FB"/>
            </a:solidFill>
            <a:prstDash val="solid"/>
          </a:ln>
        </p:spPr>
      </p:sp>
      <p:sp>
        <p:nvSpPr>
          <p:cNvPr id="10" name="Shape 7"/>
          <p:cNvSpPr/>
          <p:nvPr/>
        </p:nvSpPr>
        <p:spPr>
          <a:xfrm>
            <a:off x="566928" y="1463040"/>
            <a:ext cx="41148" cy="777240"/>
          </a:xfrm>
          <a:prstGeom prst="rect">
            <a:avLst/>
          </a:prstGeom>
          <a:solidFill>
            <a:srgbClr val="2F4BD8"/>
          </a:solidFill>
          <a:ln w="12700">
            <a:solidFill>
              <a:srgbClr val="2F4BD8"/>
            </a:solidFill>
            <a:prstDash val="solid"/>
          </a:ln>
        </p:spPr>
      </p:sp>
      <p:sp>
        <p:nvSpPr>
          <p:cNvPr id="11" name="Text 8"/>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ΕΚΦΩΝΗΣΗ</a:t>
            </a:r>
            <a:endParaRPr lang="en-US" sz="900" dirty="0"/>
          </a:p>
        </p:txBody>
      </p:sp>
      <p:sp>
        <p:nvSpPr>
          <p:cNvPr id="12" name="Text 9"/>
          <p:cNvSpPr txBox="1"/>
          <p:nvPr/>
        </p:nvSpPr>
        <p:spPr>
          <a:xfrm>
            <a:off x="731520" y="1773936"/>
            <a:ext cx="10552176" cy="39319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Για κάθε σύστημα γράψε την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κύρια</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κατηγορία ΛΣ που του ταιριάζει και μία λέξη-κλειδί που σε οδήγησε εκεί.</a:t>
            </a:r>
            <a:endParaRPr lang="en-US" sz="1200" dirty="0"/>
          </a:p>
        </p:txBody>
      </p:sp>
      <p:sp>
        <p:nvSpPr>
          <p:cNvPr id="13" name="Text 10"/>
          <p:cNvSpPr txBox="1"/>
          <p:nvPr/>
        </p:nvSpPr>
        <p:spPr>
          <a:xfrm>
            <a:off x="566928" y="2423160"/>
            <a:ext cx="4572000" cy="201168"/>
          </a:xfrm>
          <a:prstGeom prst="rect">
            <a:avLst/>
          </a:prstGeom>
          <a:noFill/>
          <a:ln/>
        </p:spPr>
        <p:txBody>
          <a:bodyPr wrap="square" lIns="0" tIns="0" rIns="0" bIns="0" rtlCol="0" anchor="ctr"/>
          <a:lstStyle/>
          <a:p>
            <a:pPr indent="0" marL="0">
              <a:buNone/>
            </a:pPr>
            <a:r>
              <a:rPr lang="en-US" sz="900" b="1" spc="120" kern="0" dirty="0">
                <a:solidFill>
                  <a:srgbClr val="9A6B0C"/>
                </a:solidFill>
                <a:latin typeface="Consolas" pitchFamily="34" charset="0"/>
                <a:ea typeface="Consolas" pitchFamily="34" charset="-122"/>
                <a:cs typeface="Consolas" pitchFamily="34" charset="-120"/>
              </a:rPr>
              <a:t>ΛΥΣΗ</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0881360" cy="914400"/>
        </p:xfrm>
        <a:graphic>
          <a:graphicData uri="http://schemas.openxmlformats.org/drawingml/2006/table">
            <a:tbl>
              <a:tblPr/>
              <a:tblGrid>
                <a:gridCol w="457200"/>
                <a:gridCol w="5486400"/>
                <a:gridCol w="2651760"/>
                <a:gridCol w="2286000"/>
              </a:tblGrid>
              <a:tr h="457200">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ΣΥΣΤΗΜΑ</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ΚΑΤΗΓΟΡΙΑ</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ΛΕΞΗ-ΚΛΕΙΔΙ</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α</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Ο ελεγκτής του αερόσακου ενός αυτοκινήτου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Πραγματικού χρόνου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χρονικό όριο</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β</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Το Netflix που σερβίρει ταινίες από χιλιάδες servers</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Κατανεμημένο</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πολλοί υπολογιστές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γ</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Ο υπολογιστής του εργαστηρίου με Windows 11</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Καταμερισμού χρόνου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κβάντο, εναλλαγή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δ</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Το ΛΣ μέσα στον ρούτερ του σπιτιού σου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Ενσωματωμένο</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μέσα σε συσκευή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ε</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Η εκτύπωση 50.000 λογαριασμών ΔΕΗ μέσα στη νύχτα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Ομαδικής επεξεργασίας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σειρά εργασιών</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07  </a:t>
            </a:r>
            <a:pPr indent="0" marL="0">
              <a:buNone/>
            </a:pPr>
            <a:r>
              <a:rPr lang="en-US" sz="1000" spc="140" kern="0" dirty="0">
                <a:solidFill>
                  <a:srgbClr val="8A91A3"/>
                </a:solidFill>
                <a:latin typeface="Consolas" pitchFamily="34" charset="0"/>
                <a:ea typeface="Consolas" pitchFamily="34" charset="-122"/>
                <a:cs typeface="Consolas" pitchFamily="34" charset="-120"/>
              </a:rPr>
              <a:t>ΔΙΕΡΓΑΣΙΕΣ</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Πρόγραμμα ή διεργασία;</a:t>
            </a:r>
            <a:endParaRPr lang="en-US" sz="3000" dirty="0"/>
          </a:p>
        </p:txBody>
      </p:sp>
      <p:sp>
        <p:nvSpPr>
          <p:cNvPr id="8" name="Shape 5"/>
          <p:cNvSpPr/>
          <p:nvPr/>
        </p:nvSpPr>
        <p:spPr>
          <a:xfrm>
            <a:off x="566928" y="1463040"/>
            <a:ext cx="5349240" cy="1874520"/>
          </a:xfrm>
          <a:prstGeom prst="roundRect">
            <a:avLst>
              <a:gd name="adj" fmla="val 2927"/>
            </a:avLst>
          </a:prstGeom>
          <a:solidFill>
            <a:srgbClr val="FBFCFE"/>
          </a:solidFill>
          <a:ln w="9525">
            <a:solidFill>
              <a:srgbClr val="D3D9E4"/>
            </a:solidFill>
            <a:prstDash val="solid"/>
          </a:ln>
        </p:spPr>
      </p:sp>
      <p:sp>
        <p:nvSpPr>
          <p:cNvPr id="9" name="Text 6"/>
          <p:cNvSpPr txBox="1"/>
          <p:nvPr/>
        </p:nvSpPr>
        <p:spPr>
          <a:xfrm>
            <a:off x="731520" y="1591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ΣΤΟΝ ΔΙΣΚΟ</a:t>
            </a:r>
            <a:endParaRPr lang="en-US" sz="900" dirty="0"/>
          </a:p>
        </p:txBody>
      </p:sp>
      <p:sp>
        <p:nvSpPr>
          <p:cNvPr id="10" name="Text 7"/>
          <p:cNvSpPr txBox="1"/>
          <p:nvPr/>
        </p:nvSpPr>
        <p:spPr>
          <a:xfrm>
            <a:off x="731520" y="1847088"/>
            <a:ext cx="5020056" cy="290576"/>
          </a:xfrm>
          <a:prstGeom prst="rect">
            <a:avLst/>
          </a:prstGeom>
          <a:noFill/>
          <a:ln/>
        </p:spPr>
        <p:txBody>
          <a:bodyPr wrap="square" lIns="0" tIns="0" rIns="0" bIns="0" rtlCol="0" anchor="t"/>
          <a:lstStyle/>
          <a:p>
            <a:pPr indent="0" marL="0">
              <a:buNone/>
            </a:pPr>
            <a:r>
              <a:rPr lang="en-US" sz="1600" b="1" dirty="0">
                <a:solidFill>
                  <a:srgbClr val="171B26"/>
                </a:solidFill>
                <a:latin typeface="Segoe UI" pitchFamily="34" charset="0"/>
                <a:ea typeface="Segoe UI" pitchFamily="34" charset="-122"/>
                <a:cs typeface="Segoe UI" pitchFamily="34" charset="-120"/>
              </a:rPr>
              <a:t>Πρόγραμμα</a:t>
            </a:r>
            <a:endParaRPr lang="en-US" sz="1600" dirty="0"/>
          </a:p>
        </p:txBody>
      </p:sp>
      <p:sp>
        <p:nvSpPr>
          <p:cNvPr id="11" name="Text 8"/>
          <p:cNvSpPr txBox="1"/>
          <p:nvPr/>
        </p:nvSpPr>
        <p:spPr>
          <a:xfrm>
            <a:off x="731520" y="2229104"/>
            <a:ext cx="5020056" cy="1017016"/>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Αρχείο στον δίσκο με εντολές, π.χ. </a:t>
            </a:r>
            <a:pPr indent="0" marL="0">
              <a:lnSpc>
                <a:spcPct val="112000"/>
              </a:lnSpc>
              <a:buNone/>
            </a:pPr>
            <a:r>
              <a:rPr lang="en-US" sz="1250" dirty="0">
                <a:solidFill>
                  <a:srgbClr val="2F4BD8"/>
                </a:solidFill>
                <a:latin typeface="Consolas" pitchFamily="34" charset="0"/>
                <a:ea typeface="Consolas" pitchFamily="34" charset="-122"/>
                <a:cs typeface="Consolas" pitchFamily="34" charset="-120"/>
              </a:rPr>
              <a:t>notepad.exe</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Είναι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παθητικό</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δεν κάνει τίποτα μόνο του.</a:t>
            </a:r>
            <a:endParaRPr lang="en-US" sz="1250" dirty="0"/>
          </a:p>
        </p:txBody>
      </p:sp>
      <p:sp>
        <p:nvSpPr>
          <p:cNvPr id="12" name="Shape 9"/>
          <p:cNvSpPr/>
          <p:nvPr/>
        </p:nvSpPr>
        <p:spPr>
          <a:xfrm>
            <a:off x="6099048" y="1463040"/>
            <a:ext cx="5349240" cy="1874520"/>
          </a:xfrm>
          <a:prstGeom prst="roundRect">
            <a:avLst>
              <a:gd name="adj" fmla="val 2927"/>
            </a:avLst>
          </a:prstGeom>
          <a:solidFill>
            <a:srgbClr val="E4E8FB"/>
          </a:solidFill>
          <a:ln w="12700">
            <a:solidFill>
              <a:srgbClr val="E4E8FB"/>
            </a:solidFill>
            <a:prstDash val="solid"/>
          </a:ln>
        </p:spPr>
      </p:sp>
      <p:sp>
        <p:nvSpPr>
          <p:cNvPr id="13" name="Text 10"/>
          <p:cNvSpPr txBox="1"/>
          <p:nvPr/>
        </p:nvSpPr>
        <p:spPr>
          <a:xfrm>
            <a:off x="6263640" y="1591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ΣΤΗ ΜΝΗΜΗ</a:t>
            </a:r>
            <a:endParaRPr lang="en-US" sz="900" dirty="0"/>
          </a:p>
        </p:txBody>
      </p:sp>
      <p:sp>
        <p:nvSpPr>
          <p:cNvPr id="14" name="Text 11"/>
          <p:cNvSpPr txBox="1"/>
          <p:nvPr/>
        </p:nvSpPr>
        <p:spPr>
          <a:xfrm>
            <a:off x="6263640" y="1847088"/>
            <a:ext cx="5020056" cy="290576"/>
          </a:xfrm>
          <a:prstGeom prst="rect">
            <a:avLst/>
          </a:prstGeom>
          <a:noFill/>
          <a:ln/>
        </p:spPr>
        <p:txBody>
          <a:bodyPr wrap="square" lIns="0" tIns="0" rIns="0" bIns="0" rtlCol="0" anchor="t"/>
          <a:lstStyle/>
          <a:p>
            <a:pPr indent="0" marL="0">
              <a:buNone/>
            </a:pPr>
            <a:r>
              <a:rPr lang="en-US" sz="1600" b="1" dirty="0">
                <a:solidFill>
                  <a:srgbClr val="171B26"/>
                </a:solidFill>
                <a:latin typeface="Segoe UI" pitchFamily="34" charset="0"/>
                <a:ea typeface="Segoe UI" pitchFamily="34" charset="-122"/>
                <a:cs typeface="Segoe UI" pitchFamily="34" charset="-120"/>
              </a:rPr>
              <a:t>Διεργασία (process)</a:t>
            </a:r>
            <a:endParaRPr lang="en-US" sz="1600" dirty="0"/>
          </a:p>
        </p:txBody>
      </p:sp>
      <p:sp>
        <p:nvSpPr>
          <p:cNvPr id="15" name="Text 12"/>
          <p:cNvSpPr txBox="1"/>
          <p:nvPr/>
        </p:nvSpPr>
        <p:spPr>
          <a:xfrm>
            <a:off x="6263640" y="2229104"/>
            <a:ext cx="5020056" cy="1017016"/>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Ένα πρόγραμμα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σε εκτέλεση</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φορτωμένο στη μνήμη. Είναι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ενεργή</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έχει δική της κατάσταση και δικούς της πόρους.</a:t>
            </a:r>
            <a:endParaRPr lang="en-US" sz="1250" dirty="0"/>
          </a:p>
        </p:txBody>
      </p:sp>
      <p:sp>
        <p:nvSpPr>
          <p:cNvPr id="16" name="Shape 13"/>
          <p:cNvSpPr/>
          <p:nvPr/>
        </p:nvSpPr>
        <p:spPr>
          <a:xfrm>
            <a:off x="566928" y="3520440"/>
            <a:ext cx="5349240" cy="2423160"/>
          </a:xfrm>
          <a:prstGeom prst="roundRect">
            <a:avLst>
              <a:gd name="adj" fmla="val 2264"/>
            </a:avLst>
          </a:prstGeom>
          <a:solidFill>
            <a:srgbClr val="F6EDD6"/>
          </a:solidFill>
          <a:ln w="12700">
            <a:solidFill>
              <a:srgbClr val="F6EDD6"/>
            </a:solidFill>
            <a:prstDash val="solid"/>
          </a:ln>
        </p:spPr>
      </p:sp>
      <p:sp>
        <p:nvSpPr>
          <p:cNvPr id="17" name="Text 14"/>
          <p:cNvSpPr txBox="1"/>
          <p:nvPr/>
        </p:nvSpPr>
        <p:spPr>
          <a:xfrm>
            <a:off x="731520" y="36484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Αναλογία: συνταγή και μαγείρεμα</a:t>
            </a:r>
            <a:endParaRPr lang="en-US" sz="1400" dirty="0"/>
          </a:p>
        </p:txBody>
      </p:sp>
      <p:sp>
        <p:nvSpPr>
          <p:cNvPr id="18" name="Text 15"/>
          <p:cNvSpPr txBox="1"/>
          <p:nvPr/>
        </p:nvSpPr>
        <p:spPr>
          <a:xfrm>
            <a:off x="731520" y="3998722"/>
            <a:ext cx="5020056" cy="185343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Η συνταγή στο βιβλίο είναι το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πρόγραμμα</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Κάθε φορά που κάποιος τη μαγειρεύει είναι μια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διεργασία</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Τρεις μάγειρες με την ίδια συνταγή = 1 πρόγραμμα, 3 διεργασίες.</a:t>
            </a:r>
            <a:endParaRPr lang="en-US" sz="1250" dirty="0"/>
          </a:p>
        </p:txBody>
      </p:sp>
      <p:sp>
        <p:nvSpPr>
          <p:cNvPr id="19" name="Shape 16"/>
          <p:cNvSpPr/>
          <p:nvPr/>
        </p:nvSpPr>
        <p:spPr>
          <a:xfrm>
            <a:off x="6099048" y="3520440"/>
            <a:ext cx="5349240" cy="2423160"/>
          </a:xfrm>
          <a:prstGeom prst="roundRect">
            <a:avLst>
              <a:gd name="adj" fmla="val 2264"/>
            </a:avLst>
          </a:prstGeom>
          <a:solidFill>
            <a:srgbClr val="FBFCFE"/>
          </a:solidFill>
          <a:ln w="9525">
            <a:solidFill>
              <a:srgbClr val="D3D9E4"/>
            </a:solidFill>
            <a:prstDash val="solid"/>
          </a:ln>
        </p:spPr>
      </p:sp>
      <p:sp>
        <p:nvSpPr>
          <p:cNvPr id="20" name="Text 17"/>
          <p:cNvSpPr txBox="1"/>
          <p:nvPr/>
        </p:nvSpPr>
        <p:spPr>
          <a:xfrm>
            <a:off x="6263640" y="36484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Τι κρατά το ΛΣ για κάθε διεργασία</a:t>
            </a:r>
            <a:endParaRPr lang="en-US" sz="1400" dirty="0"/>
          </a:p>
        </p:txBody>
      </p:sp>
      <p:sp>
        <p:nvSpPr>
          <p:cNvPr id="21" name="Text 18"/>
          <p:cNvSpPr txBox="1"/>
          <p:nvPr/>
        </p:nvSpPr>
        <p:spPr>
          <a:xfrm>
            <a:off x="6263640" y="3998722"/>
            <a:ext cx="5020056" cy="1853438"/>
          </a:xfrm>
          <a:prstGeom prst="rect">
            <a:avLst/>
          </a:prstGeom>
          <a:noFill/>
          <a:ln/>
        </p:spPr>
        <p:txBody>
          <a:bodyPr wrap="square" lIns="0" tIns="0" rIns="0" bIns="0" rtlCol="0" anchor="t"/>
          <a:lstStyle/>
          <a:p>
            <a:pPr marL="177800" indent="-177800">
              <a:lnSpc>
                <a:spcPct val="112000"/>
              </a:lnSpc>
              <a:spcAft>
                <a:spcPts val="400"/>
              </a:spcAft>
              <a:buSzPct val="100000"/>
              <a:buChar char="•"/>
            </a:pPr>
            <a:r>
              <a:rPr lang="en-US" sz="1200" b="1" dirty="0">
                <a:solidFill>
                  <a:srgbClr val="4A5265"/>
                </a:solidFill>
                <a:latin typeface="Segoe UI" pitchFamily="34" charset="0"/>
                <a:ea typeface="Segoe UI" pitchFamily="34" charset="-122"/>
                <a:cs typeface="Segoe UI" pitchFamily="34" charset="-120"/>
              </a:rPr>
              <a:t>PID</a:t>
            </a:r>
            <a:pPr indent="0" marL="0">
              <a:lnSpc>
                <a:spcPct val="112000"/>
              </a:lnSpc>
              <a:spcAft>
                <a:spcPts val="400"/>
              </a:spcAft>
              <a:buNone/>
            </a:pPr>
            <a:r>
              <a:rPr lang="en-US" sz="1200" dirty="0">
                <a:solidFill>
                  <a:srgbClr val="4A5265"/>
                </a:solidFill>
                <a:latin typeface="Segoe UI" pitchFamily="34" charset="0"/>
                <a:ea typeface="Segoe UI" pitchFamily="34" charset="-122"/>
                <a:cs typeface="Segoe UI" pitchFamily="34" charset="-120"/>
              </a:rPr>
              <a:t>: μοναδικός αριθμός ταυτότητας</a:t>
            </a:r>
            <a:endParaRPr lang="en-US" sz="1200" dirty="0"/>
          </a:p>
          <a:p>
            <a:pPr marL="177800" indent="-177800">
              <a:lnSpc>
                <a:spcPct val="112000"/>
              </a:lnSpc>
              <a:spcAft>
                <a:spcPts val="400"/>
              </a:spcAft>
              <a:buSzPct val="100000"/>
              <a:buChar char="•"/>
            </a:pPr>
            <a:r>
              <a:rPr lang="en-US" sz="1200" b="1" dirty="0">
                <a:solidFill>
                  <a:srgbClr val="4A5265"/>
                </a:solidFill>
                <a:latin typeface="Segoe UI" pitchFamily="34" charset="0"/>
                <a:ea typeface="Segoe UI" pitchFamily="34" charset="-122"/>
                <a:cs typeface="Segoe UI" pitchFamily="34" charset="-120"/>
              </a:rPr>
              <a:t>Κατάσταση</a:t>
            </a:r>
            <a:pPr indent="0" marL="0">
              <a:lnSpc>
                <a:spcPct val="112000"/>
              </a:lnSpc>
              <a:spcAft>
                <a:spcPts val="400"/>
              </a:spcAft>
              <a:buNone/>
            </a:pPr>
            <a:r>
              <a:rPr lang="en-US" sz="1200" dirty="0">
                <a:solidFill>
                  <a:srgbClr val="4A5265"/>
                </a:solidFill>
                <a:latin typeface="Segoe UI" pitchFamily="34" charset="0"/>
                <a:ea typeface="Segoe UI" pitchFamily="34" charset="-122"/>
                <a:cs typeface="Segoe UI" pitchFamily="34" charset="-120"/>
              </a:rPr>
              <a:t>: έτοιμη, εκτελούμενη, μπλοκαρισμένη…</a:t>
            </a:r>
            <a:endParaRPr lang="en-US" sz="1200" dirty="0"/>
          </a:p>
          <a:p>
            <a:pPr marL="177800" indent="-177800">
              <a:lnSpc>
                <a:spcPct val="112000"/>
              </a:lnSpc>
              <a:spcAft>
                <a:spcPts val="400"/>
              </a:spcAft>
              <a:buSzPct val="100000"/>
              <a:buChar char="•"/>
            </a:pPr>
            <a:r>
              <a:rPr lang="en-US" sz="1200" b="1" dirty="0">
                <a:solidFill>
                  <a:srgbClr val="4A5265"/>
                </a:solidFill>
                <a:latin typeface="Segoe UI" pitchFamily="34" charset="0"/>
                <a:ea typeface="Segoe UI" pitchFamily="34" charset="-122"/>
                <a:cs typeface="Segoe UI" pitchFamily="34" charset="-120"/>
              </a:rPr>
              <a:t>Προτεραιότητα</a:t>
            </a:r>
            <a:pPr indent="0" marL="0">
              <a:lnSpc>
                <a:spcPct val="112000"/>
              </a:lnSpc>
              <a:spcAft>
                <a:spcPts val="400"/>
              </a:spcAft>
              <a:buNone/>
            </a:pPr>
            <a:r>
              <a:rPr lang="en-US" sz="1200" dirty="0">
                <a:solidFill>
                  <a:srgbClr val="4A5265"/>
                </a:solidFill>
                <a:latin typeface="Segoe UI" pitchFamily="34" charset="0"/>
                <a:ea typeface="Segoe UI" pitchFamily="34" charset="-122"/>
                <a:cs typeface="Segoe UI" pitchFamily="34" charset="-120"/>
              </a:rPr>
              <a:t>: πόσο «βιάζεται»</a:t>
            </a:r>
            <a:endParaRPr lang="en-US" sz="1200" dirty="0"/>
          </a:p>
          <a:p>
            <a:pPr marL="177800" indent="-177800">
              <a:lnSpc>
                <a:spcPct val="112000"/>
              </a:lnSpc>
              <a:spcAft>
                <a:spcPts val="400"/>
              </a:spcAft>
              <a:buSzPct val="100000"/>
              <a:buChar char="•"/>
            </a:pPr>
            <a:r>
              <a:rPr lang="en-US" sz="1200" b="1" dirty="0">
                <a:solidFill>
                  <a:srgbClr val="4A5265"/>
                </a:solidFill>
                <a:latin typeface="Segoe UI" pitchFamily="34" charset="0"/>
                <a:ea typeface="Segoe UI" pitchFamily="34" charset="-122"/>
                <a:cs typeface="Segoe UI" pitchFamily="34" charset="-120"/>
              </a:rPr>
              <a:t>Μνήμη και ανοιχτά αρχεία</a:t>
            </a:r>
            <a:pPr indent="0" marL="0">
              <a:lnSpc>
                <a:spcPct val="112000"/>
              </a:lnSpc>
              <a:spcAft>
                <a:spcPts val="400"/>
              </a:spcAft>
              <a:buNone/>
            </a:pPr>
            <a:r>
              <a:rPr lang="en-US" sz="1200" dirty="0">
                <a:solidFill>
                  <a:srgbClr val="4A5265"/>
                </a:solidFill>
                <a:latin typeface="Segoe UI" pitchFamily="34" charset="0"/>
                <a:ea typeface="Segoe UI" pitchFamily="34" charset="-122"/>
                <a:cs typeface="Segoe UI" pitchFamily="34" charset="-120"/>
              </a:rPr>
              <a:t> που χρησιμοποιεί</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08  </a:t>
            </a:r>
            <a:pPr indent="0" marL="0">
              <a:buNone/>
            </a:pPr>
            <a:r>
              <a:rPr lang="en-US" sz="1000" spc="140" kern="0" dirty="0">
                <a:solidFill>
                  <a:srgbClr val="8A91A3"/>
                </a:solidFill>
                <a:latin typeface="Consolas" pitchFamily="34" charset="0"/>
                <a:ea typeface="Consolas" pitchFamily="34" charset="-122"/>
                <a:cs typeface="Consolas" pitchFamily="34" charset="-120"/>
              </a:rPr>
              <a:t>ΔΙΕΡΓΑΣΙΕΣ</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Μία ή πολλές διεργασίες μαζί;</a:t>
            </a:r>
            <a:endParaRPr lang="en-US" sz="3000" dirty="0"/>
          </a:p>
        </p:txBody>
      </p:sp>
      <p:sp>
        <p:nvSpPr>
          <p:cNvPr id="8" name="Shape 5"/>
          <p:cNvSpPr/>
          <p:nvPr/>
        </p:nvSpPr>
        <p:spPr>
          <a:xfrm>
            <a:off x="566928" y="1463040"/>
            <a:ext cx="5349240" cy="1828800"/>
          </a:xfrm>
          <a:prstGeom prst="roundRect">
            <a:avLst>
              <a:gd name="adj" fmla="val 3000"/>
            </a:avLst>
          </a:prstGeom>
          <a:solidFill>
            <a:srgbClr val="FBFCFE"/>
          </a:solidFill>
          <a:ln w="9525">
            <a:solidFill>
              <a:srgbClr val="D3D9E4"/>
            </a:solidFill>
            <a:prstDash val="solid"/>
          </a:ln>
        </p:spPr>
      </p:sp>
      <p:sp>
        <p:nvSpPr>
          <p:cNvPr id="9" name="Text 6"/>
          <p:cNvSpPr txBox="1"/>
          <p:nvPr/>
        </p:nvSpPr>
        <p:spPr>
          <a:xfrm>
            <a:off x="731520" y="15910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Μονοδιεργασιακά (single-tasking)</a:t>
            </a:r>
            <a:endParaRPr lang="en-US" sz="1400" dirty="0"/>
          </a:p>
        </p:txBody>
      </p:sp>
      <p:sp>
        <p:nvSpPr>
          <p:cNvPr id="10" name="Text 7"/>
          <p:cNvSpPr txBox="1"/>
          <p:nvPr/>
        </p:nvSpPr>
        <p:spPr>
          <a:xfrm>
            <a:off x="731520" y="1941322"/>
            <a:ext cx="5020056" cy="125907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Τρέχει μία διεργασία τη φορά. Για να ανοίξεις άλλο πρόγραμμα, κλείνεις το προηγούμενο. Παράδειγμα: MS-DOS.</a:t>
            </a:r>
            <a:endParaRPr lang="en-US" sz="1250" dirty="0"/>
          </a:p>
        </p:txBody>
      </p:sp>
      <p:sp>
        <p:nvSpPr>
          <p:cNvPr id="11" name="Shape 8"/>
          <p:cNvSpPr/>
          <p:nvPr/>
        </p:nvSpPr>
        <p:spPr>
          <a:xfrm>
            <a:off x="6099048" y="1463040"/>
            <a:ext cx="5349240" cy="1828800"/>
          </a:xfrm>
          <a:prstGeom prst="roundRect">
            <a:avLst>
              <a:gd name="adj" fmla="val 3000"/>
            </a:avLst>
          </a:prstGeom>
          <a:solidFill>
            <a:srgbClr val="E4E8FB"/>
          </a:solidFill>
          <a:ln w="12700">
            <a:solidFill>
              <a:srgbClr val="E4E8FB"/>
            </a:solidFill>
            <a:prstDash val="solid"/>
          </a:ln>
        </p:spPr>
      </p:sp>
      <p:sp>
        <p:nvSpPr>
          <p:cNvPr id="12" name="Text 9"/>
          <p:cNvSpPr txBox="1"/>
          <p:nvPr/>
        </p:nvSpPr>
        <p:spPr>
          <a:xfrm>
            <a:off x="6263640" y="15910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Πολυδιεργασιακά (multi-tasking)</a:t>
            </a:r>
            <a:endParaRPr lang="en-US" sz="1400" dirty="0"/>
          </a:p>
        </p:txBody>
      </p:sp>
      <p:sp>
        <p:nvSpPr>
          <p:cNvPr id="13" name="Text 10"/>
          <p:cNvSpPr txBox="1"/>
          <p:nvPr/>
        </p:nvSpPr>
        <p:spPr>
          <a:xfrm>
            <a:off x="6263640" y="1941322"/>
            <a:ext cx="5020056" cy="125907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Πολλές διεργασίες ενεργές μαζί, με εναλλαγή στον επεξεργαστή. Παράδειγμα: Windows, Linux, macOS, Android.</a:t>
            </a:r>
            <a:endParaRPr lang="en-US" sz="1250" dirty="0"/>
          </a:p>
        </p:txBody>
      </p:sp>
      <p:sp>
        <p:nvSpPr>
          <p:cNvPr id="14" name="Text 11"/>
          <p:cNvSpPr txBox="1"/>
          <p:nvPr/>
        </p:nvSpPr>
        <p:spPr>
          <a:xfrm>
            <a:off x="566928" y="3520440"/>
            <a:ext cx="10881360" cy="201168"/>
          </a:xfrm>
          <a:prstGeom prst="rect">
            <a:avLst/>
          </a:prstGeom>
          <a:noFill/>
          <a:ln/>
        </p:spPr>
        <p:txBody>
          <a:bodyPr wrap="square" lIns="0" tIns="0" rIns="0" bIns="0" rtlCol="0" anchor="ctr"/>
          <a:lstStyle/>
          <a:p>
            <a:pPr indent="0" marL="0">
              <a:buNone/>
            </a:pPr>
            <a:r>
              <a:rPr lang="en-US" sz="900" b="1" spc="120" kern="0" dirty="0">
                <a:solidFill>
                  <a:srgbClr val="9A6B0C"/>
                </a:solidFill>
                <a:latin typeface="Consolas" pitchFamily="34" charset="0"/>
                <a:ea typeface="Consolas" pitchFamily="34" charset="-122"/>
                <a:cs typeface="Consolas" pitchFamily="34" charset="-120"/>
              </a:rPr>
              <a:t>ΕΝΑΛΛΑΓΗ ΔΙΕΡΓΑΣΙΩΝ (CONTEXT SWITCH)</a:t>
            </a:r>
            <a:endParaRPr lang="en-US" sz="900" dirty="0"/>
          </a:p>
        </p:txBody>
      </p:sp>
      <p:sp>
        <p:nvSpPr>
          <p:cNvPr id="15" name="Shape 12"/>
          <p:cNvSpPr/>
          <p:nvPr/>
        </p:nvSpPr>
        <p:spPr>
          <a:xfrm>
            <a:off x="566928" y="3840480"/>
            <a:ext cx="2011680" cy="1143000"/>
          </a:xfrm>
          <a:prstGeom prst="roundRect">
            <a:avLst>
              <a:gd name="adj" fmla="val 4800"/>
            </a:avLst>
          </a:prstGeom>
          <a:solidFill>
            <a:srgbClr val="FBFCFE"/>
          </a:solidFill>
          <a:ln w="9525">
            <a:solidFill>
              <a:srgbClr val="D3D9E4"/>
            </a:solidFill>
            <a:prstDash val="solid"/>
          </a:ln>
        </p:spPr>
      </p:sp>
      <p:sp>
        <p:nvSpPr>
          <p:cNvPr id="16" name="Text 13"/>
          <p:cNvSpPr txBox="1"/>
          <p:nvPr/>
        </p:nvSpPr>
        <p:spPr>
          <a:xfrm>
            <a:off x="704088" y="3840480"/>
            <a:ext cx="1737360" cy="1143000"/>
          </a:xfrm>
          <a:prstGeom prst="rect">
            <a:avLst/>
          </a:prstGeom>
          <a:noFill/>
          <a:ln/>
        </p:spPr>
        <p:txBody>
          <a:bodyPr wrap="square" lIns="0" tIns="0" rIns="0" bIns="0" rtlCol="0" anchor="ctr"/>
          <a:lstStyle/>
          <a:p>
            <a:pPr indent="0" marL="0">
              <a:buNone/>
            </a:pPr>
            <a:r>
              <a:rPr lang="en-US" sz="1200" b="1" dirty="0">
                <a:solidFill>
                  <a:srgbClr val="2F4BD8"/>
                </a:solidFill>
                <a:latin typeface="Consolas" pitchFamily="34" charset="0"/>
                <a:ea typeface="Consolas" pitchFamily="34" charset="-122"/>
                <a:cs typeface="Consolas" pitchFamily="34" charset="-120"/>
              </a:rPr>
              <a:t>1</a:t>
            </a:r>
            <a:endParaRPr lang="en-US" sz="1200" dirty="0"/>
          </a:p>
          <a:p>
            <a:pPr indent="0" marL="0">
              <a:buNone/>
            </a:pPr>
            <a:r>
              <a:rPr lang="en-US" sz="1200" dirty="0">
                <a:solidFill>
                  <a:srgbClr val="171B26"/>
                </a:solidFill>
                <a:latin typeface="Segoe UI" pitchFamily="34" charset="0"/>
                <a:ea typeface="Segoe UI" pitchFamily="34" charset="-122"/>
                <a:cs typeface="Segoe UI" pitchFamily="34" charset="-120"/>
              </a:rPr>
              <a:t>Σταματά η διεργασία Α</a:t>
            </a:r>
            <a:endParaRPr lang="en-US" sz="1200" dirty="0"/>
          </a:p>
        </p:txBody>
      </p:sp>
      <p:sp>
        <p:nvSpPr>
          <p:cNvPr id="17" name="Shape 14"/>
          <p:cNvSpPr/>
          <p:nvPr/>
        </p:nvSpPr>
        <p:spPr>
          <a:xfrm>
            <a:off x="2606040" y="4411980"/>
            <a:ext cx="150876" cy="914"/>
          </a:xfrm>
          <a:prstGeom prst="line">
            <a:avLst/>
          </a:prstGeom>
          <a:noFill/>
          <a:ln w="22225">
            <a:solidFill>
              <a:srgbClr val="2F4BD8"/>
            </a:solidFill>
            <a:prstDash val="solid"/>
            <a:tailEnd type="triangle"/>
          </a:ln>
        </p:spPr>
      </p:sp>
      <p:sp>
        <p:nvSpPr>
          <p:cNvPr id="18" name="Shape 15"/>
          <p:cNvSpPr/>
          <p:nvPr/>
        </p:nvSpPr>
        <p:spPr>
          <a:xfrm>
            <a:off x="2784348" y="3840480"/>
            <a:ext cx="2011680" cy="1143000"/>
          </a:xfrm>
          <a:prstGeom prst="roundRect">
            <a:avLst>
              <a:gd name="adj" fmla="val 4800"/>
            </a:avLst>
          </a:prstGeom>
          <a:solidFill>
            <a:srgbClr val="E4E8FB"/>
          </a:solidFill>
          <a:ln w="12700">
            <a:solidFill>
              <a:srgbClr val="E4E8FB"/>
            </a:solidFill>
            <a:prstDash val="solid"/>
          </a:ln>
        </p:spPr>
      </p:sp>
      <p:sp>
        <p:nvSpPr>
          <p:cNvPr id="19" name="Text 16"/>
          <p:cNvSpPr txBox="1"/>
          <p:nvPr/>
        </p:nvSpPr>
        <p:spPr>
          <a:xfrm>
            <a:off x="2921508" y="3840480"/>
            <a:ext cx="1737360" cy="1143000"/>
          </a:xfrm>
          <a:prstGeom prst="rect">
            <a:avLst/>
          </a:prstGeom>
          <a:noFill/>
          <a:ln/>
        </p:spPr>
        <p:txBody>
          <a:bodyPr wrap="square" lIns="0" tIns="0" rIns="0" bIns="0" rtlCol="0" anchor="ctr"/>
          <a:lstStyle/>
          <a:p>
            <a:pPr indent="0" marL="0">
              <a:buNone/>
            </a:pPr>
            <a:r>
              <a:rPr lang="en-US" sz="1200" b="1" dirty="0">
                <a:solidFill>
                  <a:srgbClr val="2F4BD8"/>
                </a:solidFill>
                <a:latin typeface="Consolas" pitchFamily="34" charset="0"/>
                <a:ea typeface="Consolas" pitchFamily="34" charset="-122"/>
                <a:cs typeface="Consolas" pitchFamily="34" charset="-120"/>
              </a:rPr>
              <a:t>2</a:t>
            </a:r>
            <a:endParaRPr lang="en-US" sz="1200" dirty="0"/>
          </a:p>
          <a:p>
            <a:pPr indent="0" marL="0">
              <a:buNone/>
            </a:pPr>
            <a:r>
              <a:rPr lang="en-US" sz="1200" dirty="0">
                <a:solidFill>
                  <a:srgbClr val="171B26"/>
                </a:solidFill>
                <a:latin typeface="Segoe UI" pitchFamily="34" charset="0"/>
                <a:ea typeface="Segoe UI" pitchFamily="34" charset="-122"/>
                <a:cs typeface="Segoe UI" pitchFamily="34" charset="-120"/>
              </a:rPr>
              <a:t>Το ΛΣ σώζει την κατάστασή της</a:t>
            </a:r>
            <a:endParaRPr lang="en-US" sz="1200" dirty="0"/>
          </a:p>
        </p:txBody>
      </p:sp>
      <p:sp>
        <p:nvSpPr>
          <p:cNvPr id="20" name="Shape 17"/>
          <p:cNvSpPr/>
          <p:nvPr/>
        </p:nvSpPr>
        <p:spPr>
          <a:xfrm>
            <a:off x="4823460" y="4411980"/>
            <a:ext cx="150876" cy="914"/>
          </a:xfrm>
          <a:prstGeom prst="line">
            <a:avLst/>
          </a:prstGeom>
          <a:noFill/>
          <a:ln w="22225">
            <a:solidFill>
              <a:srgbClr val="2F4BD8"/>
            </a:solidFill>
            <a:prstDash val="solid"/>
            <a:tailEnd type="triangle"/>
          </a:ln>
        </p:spPr>
      </p:sp>
      <p:sp>
        <p:nvSpPr>
          <p:cNvPr id="21" name="Shape 18"/>
          <p:cNvSpPr/>
          <p:nvPr/>
        </p:nvSpPr>
        <p:spPr>
          <a:xfrm>
            <a:off x="5001768" y="3840480"/>
            <a:ext cx="2011680" cy="1143000"/>
          </a:xfrm>
          <a:prstGeom prst="roundRect">
            <a:avLst>
              <a:gd name="adj" fmla="val 4800"/>
            </a:avLst>
          </a:prstGeom>
          <a:solidFill>
            <a:srgbClr val="FBFCFE"/>
          </a:solidFill>
          <a:ln w="9525">
            <a:solidFill>
              <a:srgbClr val="D3D9E4"/>
            </a:solidFill>
            <a:prstDash val="solid"/>
          </a:ln>
        </p:spPr>
      </p:sp>
      <p:sp>
        <p:nvSpPr>
          <p:cNvPr id="22" name="Text 19"/>
          <p:cNvSpPr txBox="1"/>
          <p:nvPr/>
        </p:nvSpPr>
        <p:spPr>
          <a:xfrm>
            <a:off x="5138928" y="3840480"/>
            <a:ext cx="1737360" cy="1143000"/>
          </a:xfrm>
          <a:prstGeom prst="rect">
            <a:avLst/>
          </a:prstGeom>
          <a:noFill/>
          <a:ln/>
        </p:spPr>
        <p:txBody>
          <a:bodyPr wrap="square" lIns="0" tIns="0" rIns="0" bIns="0" rtlCol="0" anchor="ctr"/>
          <a:lstStyle/>
          <a:p>
            <a:pPr indent="0" marL="0">
              <a:buNone/>
            </a:pPr>
            <a:r>
              <a:rPr lang="en-US" sz="1200" b="1" dirty="0">
                <a:solidFill>
                  <a:srgbClr val="2F4BD8"/>
                </a:solidFill>
                <a:latin typeface="Consolas" pitchFamily="34" charset="0"/>
                <a:ea typeface="Consolas" pitchFamily="34" charset="-122"/>
                <a:cs typeface="Consolas" pitchFamily="34" charset="-120"/>
              </a:rPr>
              <a:t>3</a:t>
            </a:r>
            <a:endParaRPr lang="en-US" sz="1200" dirty="0"/>
          </a:p>
          <a:p>
            <a:pPr indent="0" marL="0">
              <a:buNone/>
            </a:pPr>
            <a:r>
              <a:rPr lang="en-US" sz="1200" dirty="0">
                <a:solidFill>
                  <a:srgbClr val="171B26"/>
                </a:solidFill>
                <a:latin typeface="Segoe UI" pitchFamily="34" charset="0"/>
                <a:ea typeface="Segoe UI" pitchFamily="34" charset="-122"/>
                <a:cs typeface="Segoe UI" pitchFamily="34" charset="-120"/>
              </a:rPr>
              <a:t>Ο scheduler διαλέγει τη Β</a:t>
            </a:r>
            <a:endParaRPr lang="en-US" sz="1200" dirty="0"/>
          </a:p>
        </p:txBody>
      </p:sp>
      <p:sp>
        <p:nvSpPr>
          <p:cNvPr id="23" name="Shape 20"/>
          <p:cNvSpPr/>
          <p:nvPr/>
        </p:nvSpPr>
        <p:spPr>
          <a:xfrm>
            <a:off x="7040880" y="4411980"/>
            <a:ext cx="150876" cy="914"/>
          </a:xfrm>
          <a:prstGeom prst="line">
            <a:avLst/>
          </a:prstGeom>
          <a:noFill/>
          <a:ln w="22225">
            <a:solidFill>
              <a:srgbClr val="2F4BD8"/>
            </a:solidFill>
            <a:prstDash val="solid"/>
            <a:tailEnd type="triangle"/>
          </a:ln>
        </p:spPr>
      </p:sp>
      <p:sp>
        <p:nvSpPr>
          <p:cNvPr id="24" name="Shape 21"/>
          <p:cNvSpPr/>
          <p:nvPr/>
        </p:nvSpPr>
        <p:spPr>
          <a:xfrm>
            <a:off x="7219188" y="3840480"/>
            <a:ext cx="2011680" cy="1143000"/>
          </a:xfrm>
          <a:prstGeom prst="roundRect">
            <a:avLst>
              <a:gd name="adj" fmla="val 4800"/>
            </a:avLst>
          </a:prstGeom>
          <a:solidFill>
            <a:srgbClr val="E4E8FB"/>
          </a:solidFill>
          <a:ln w="12700">
            <a:solidFill>
              <a:srgbClr val="E4E8FB"/>
            </a:solidFill>
            <a:prstDash val="solid"/>
          </a:ln>
        </p:spPr>
      </p:sp>
      <p:sp>
        <p:nvSpPr>
          <p:cNvPr id="25" name="Text 22"/>
          <p:cNvSpPr txBox="1"/>
          <p:nvPr/>
        </p:nvSpPr>
        <p:spPr>
          <a:xfrm>
            <a:off x="7356348" y="3840480"/>
            <a:ext cx="1737360" cy="1143000"/>
          </a:xfrm>
          <a:prstGeom prst="rect">
            <a:avLst/>
          </a:prstGeom>
          <a:noFill/>
          <a:ln/>
        </p:spPr>
        <p:txBody>
          <a:bodyPr wrap="square" lIns="0" tIns="0" rIns="0" bIns="0" rtlCol="0" anchor="ctr"/>
          <a:lstStyle/>
          <a:p>
            <a:pPr indent="0" marL="0">
              <a:buNone/>
            </a:pPr>
            <a:r>
              <a:rPr lang="en-US" sz="1200" b="1" dirty="0">
                <a:solidFill>
                  <a:srgbClr val="2F4BD8"/>
                </a:solidFill>
                <a:latin typeface="Consolas" pitchFamily="34" charset="0"/>
                <a:ea typeface="Consolas" pitchFamily="34" charset="-122"/>
                <a:cs typeface="Consolas" pitchFamily="34" charset="-120"/>
              </a:rPr>
              <a:t>4</a:t>
            </a:r>
            <a:endParaRPr lang="en-US" sz="1200" dirty="0"/>
          </a:p>
          <a:p>
            <a:pPr indent="0" marL="0">
              <a:buNone/>
            </a:pPr>
            <a:r>
              <a:rPr lang="en-US" sz="1200" dirty="0">
                <a:solidFill>
                  <a:srgbClr val="171B26"/>
                </a:solidFill>
                <a:latin typeface="Segoe UI" pitchFamily="34" charset="0"/>
                <a:ea typeface="Segoe UI" pitchFamily="34" charset="-122"/>
                <a:cs typeface="Segoe UI" pitchFamily="34" charset="-120"/>
              </a:rPr>
              <a:t>Φορτώνεται η κατάσταση της Β</a:t>
            </a:r>
            <a:endParaRPr lang="en-US" sz="1200" dirty="0"/>
          </a:p>
        </p:txBody>
      </p:sp>
      <p:sp>
        <p:nvSpPr>
          <p:cNvPr id="26" name="Shape 23"/>
          <p:cNvSpPr/>
          <p:nvPr/>
        </p:nvSpPr>
        <p:spPr>
          <a:xfrm>
            <a:off x="9258300" y="4411980"/>
            <a:ext cx="150876" cy="914"/>
          </a:xfrm>
          <a:prstGeom prst="line">
            <a:avLst/>
          </a:prstGeom>
          <a:noFill/>
          <a:ln w="22225">
            <a:solidFill>
              <a:srgbClr val="2F4BD8"/>
            </a:solidFill>
            <a:prstDash val="solid"/>
            <a:tailEnd type="triangle"/>
          </a:ln>
        </p:spPr>
      </p:sp>
      <p:sp>
        <p:nvSpPr>
          <p:cNvPr id="27" name="Shape 24"/>
          <p:cNvSpPr/>
          <p:nvPr/>
        </p:nvSpPr>
        <p:spPr>
          <a:xfrm>
            <a:off x="9436608" y="3840480"/>
            <a:ext cx="2011680" cy="1143000"/>
          </a:xfrm>
          <a:prstGeom prst="roundRect">
            <a:avLst>
              <a:gd name="adj" fmla="val 4800"/>
            </a:avLst>
          </a:prstGeom>
          <a:solidFill>
            <a:srgbClr val="FBFCFE"/>
          </a:solidFill>
          <a:ln w="9525">
            <a:solidFill>
              <a:srgbClr val="D3D9E4"/>
            </a:solidFill>
            <a:prstDash val="solid"/>
          </a:ln>
        </p:spPr>
      </p:sp>
      <p:sp>
        <p:nvSpPr>
          <p:cNvPr id="28" name="Text 25"/>
          <p:cNvSpPr txBox="1"/>
          <p:nvPr/>
        </p:nvSpPr>
        <p:spPr>
          <a:xfrm>
            <a:off x="9573768" y="3840480"/>
            <a:ext cx="1737360" cy="1143000"/>
          </a:xfrm>
          <a:prstGeom prst="rect">
            <a:avLst/>
          </a:prstGeom>
          <a:noFill/>
          <a:ln/>
        </p:spPr>
        <p:txBody>
          <a:bodyPr wrap="square" lIns="0" tIns="0" rIns="0" bIns="0" rtlCol="0" anchor="ctr"/>
          <a:lstStyle/>
          <a:p>
            <a:pPr indent="0" marL="0">
              <a:buNone/>
            </a:pPr>
            <a:r>
              <a:rPr lang="en-US" sz="1200" b="1" dirty="0">
                <a:solidFill>
                  <a:srgbClr val="2F4BD8"/>
                </a:solidFill>
                <a:latin typeface="Consolas" pitchFamily="34" charset="0"/>
                <a:ea typeface="Consolas" pitchFamily="34" charset="-122"/>
                <a:cs typeface="Consolas" pitchFamily="34" charset="-120"/>
              </a:rPr>
              <a:t>5</a:t>
            </a:r>
            <a:endParaRPr lang="en-US" sz="1200" dirty="0"/>
          </a:p>
          <a:p>
            <a:pPr indent="0" marL="0">
              <a:buNone/>
            </a:pPr>
            <a:r>
              <a:rPr lang="en-US" sz="1200" dirty="0">
                <a:solidFill>
                  <a:srgbClr val="171B26"/>
                </a:solidFill>
                <a:latin typeface="Segoe UI" pitchFamily="34" charset="0"/>
                <a:ea typeface="Segoe UI" pitchFamily="34" charset="-122"/>
                <a:cs typeface="Segoe UI" pitchFamily="34" charset="-120"/>
              </a:rPr>
              <a:t>Η Β συνεχίζει από εκεί που είχε μείνει</a:t>
            </a:r>
            <a:endParaRPr lang="en-US" sz="1200" dirty="0"/>
          </a:p>
        </p:txBody>
      </p:sp>
      <p:sp>
        <p:nvSpPr>
          <p:cNvPr id="29" name="Shape 26"/>
          <p:cNvSpPr/>
          <p:nvPr/>
        </p:nvSpPr>
        <p:spPr>
          <a:xfrm>
            <a:off x="566928" y="5212080"/>
            <a:ext cx="10881360" cy="731520"/>
          </a:xfrm>
          <a:prstGeom prst="roundRect">
            <a:avLst>
              <a:gd name="adj" fmla="val 7500"/>
            </a:avLst>
          </a:prstGeom>
          <a:solidFill>
            <a:srgbClr val="F6EDD6"/>
          </a:solidFill>
          <a:ln w="12700">
            <a:solidFill>
              <a:srgbClr val="F6EDD6"/>
            </a:solidFill>
            <a:prstDash val="solid"/>
          </a:ln>
        </p:spPr>
      </p:sp>
      <p:sp>
        <p:nvSpPr>
          <p:cNvPr id="30" name="Text 27"/>
          <p:cNvSpPr txBox="1"/>
          <p:nvPr/>
        </p:nvSpPr>
        <p:spPr>
          <a:xfrm>
            <a:off x="731520" y="5340096"/>
            <a:ext cx="10552176" cy="512064"/>
          </a:xfrm>
          <a:prstGeom prst="rect">
            <a:avLst/>
          </a:prstGeom>
          <a:noFill/>
          <a:ln/>
        </p:spPr>
        <p:txBody>
          <a:bodyPr wrap="square" lIns="0" tIns="0" rIns="0" bIns="0" rtlCol="0" anchor="t"/>
          <a:lstStyle/>
          <a:p>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Κόστος: </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κάθε εναλλαγή τρώει λίγο χρόνο. Αν γίνονται υπερβολικά πολλές, ο υπολογιστής ξοδεύει χρόνο στο να αλλάζει, όχι στο να δουλεύει.</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09  </a:t>
            </a:r>
            <a:pPr indent="0" marL="0">
              <a:buNone/>
            </a:pPr>
            <a:r>
              <a:rPr lang="en-US" sz="1000" spc="140" kern="0" dirty="0">
                <a:solidFill>
                  <a:srgbClr val="8A91A3"/>
                </a:solidFill>
                <a:latin typeface="Consolas" pitchFamily="34" charset="0"/>
                <a:ea typeface="Consolas" pitchFamily="34" charset="-122"/>
                <a:cs typeface="Consolas" pitchFamily="34" charset="-120"/>
              </a:rPr>
              <a:t>ΚΑΤΑΣΤΑΣΕΙΣ ΔΙΕΡΓΑΣΙΑΣ</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Η ζωή μιας διεργασίας</a:t>
            </a:r>
            <a:endParaRPr lang="en-US" sz="3000" dirty="0"/>
          </a:p>
        </p:txBody>
      </p:sp>
      <p:sp>
        <p:nvSpPr>
          <p:cNvPr id="8" name="Shape 5"/>
          <p:cNvSpPr/>
          <p:nvPr/>
        </p:nvSpPr>
        <p:spPr>
          <a:xfrm>
            <a:off x="640080" y="1600200"/>
            <a:ext cx="1783080" cy="640080"/>
          </a:xfrm>
          <a:prstGeom prst="roundRect">
            <a:avLst>
              <a:gd name="adj" fmla="val 11429"/>
            </a:avLst>
          </a:prstGeom>
          <a:solidFill>
            <a:srgbClr val="FBFCFE"/>
          </a:solidFill>
          <a:ln w="12700">
            <a:solidFill>
              <a:srgbClr val="D3D9E4"/>
            </a:solidFill>
            <a:prstDash val="solid"/>
          </a:ln>
        </p:spPr>
      </p:sp>
      <p:sp>
        <p:nvSpPr>
          <p:cNvPr id="9" name="Text 6"/>
          <p:cNvSpPr txBox="1"/>
          <p:nvPr/>
        </p:nvSpPr>
        <p:spPr>
          <a:xfrm>
            <a:off x="640080" y="1600200"/>
            <a:ext cx="1783080" cy="640080"/>
          </a:xfrm>
          <a:prstGeom prst="rect">
            <a:avLst/>
          </a:prstGeom>
          <a:noFill/>
          <a:ln/>
        </p:spPr>
        <p:txBody>
          <a:bodyPr wrap="square" lIns="0" tIns="0" rIns="0" bIns="0" rtlCol="0" anchor="ctr"/>
          <a:lstStyle/>
          <a:p>
            <a:pPr algn="ctr" indent="0" marL="0">
              <a:buNone/>
            </a:pPr>
            <a:r>
              <a:rPr lang="en-US" sz="1300" b="1" dirty="0">
                <a:solidFill>
                  <a:srgbClr val="171B26"/>
                </a:solidFill>
                <a:latin typeface="Segoe UI" pitchFamily="34" charset="0"/>
                <a:ea typeface="Segoe UI" pitchFamily="34" charset="-122"/>
                <a:cs typeface="Segoe UI" pitchFamily="34" charset="-120"/>
              </a:rPr>
              <a:t>Νέα</a:t>
            </a:r>
            <a:endParaRPr lang="en-US" sz="1300" dirty="0"/>
          </a:p>
        </p:txBody>
      </p:sp>
      <p:sp>
        <p:nvSpPr>
          <p:cNvPr id="10" name="Shape 7"/>
          <p:cNvSpPr/>
          <p:nvPr/>
        </p:nvSpPr>
        <p:spPr>
          <a:xfrm>
            <a:off x="5623560" y="1600200"/>
            <a:ext cx="1783080" cy="640080"/>
          </a:xfrm>
          <a:prstGeom prst="roundRect">
            <a:avLst>
              <a:gd name="adj" fmla="val 11429"/>
            </a:avLst>
          </a:prstGeom>
          <a:solidFill>
            <a:srgbClr val="FBFCFE"/>
          </a:solidFill>
          <a:ln w="12700">
            <a:solidFill>
              <a:srgbClr val="D3D9E4"/>
            </a:solidFill>
            <a:prstDash val="solid"/>
          </a:ln>
        </p:spPr>
      </p:sp>
      <p:sp>
        <p:nvSpPr>
          <p:cNvPr id="11" name="Text 8"/>
          <p:cNvSpPr txBox="1"/>
          <p:nvPr/>
        </p:nvSpPr>
        <p:spPr>
          <a:xfrm>
            <a:off x="5623560" y="1600200"/>
            <a:ext cx="1783080" cy="640080"/>
          </a:xfrm>
          <a:prstGeom prst="rect">
            <a:avLst/>
          </a:prstGeom>
          <a:noFill/>
          <a:ln/>
        </p:spPr>
        <p:txBody>
          <a:bodyPr wrap="square" lIns="0" tIns="0" rIns="0" bIns="0" rtlCol="0" anchor="ctr"/>
          <a:lstStyle/>
          <a:p>
            <a:pPr algn="ctr" indent="0" marL="0">
              <a:buNone/>
            </a:pPr>
            <a:r>
              <a:rPr lang="en-US" sz="1300" b="1" dirty="0">
                <a:solidFill>
                  <a:srgbClr val="171B26"/>
                </a:solidFill>
                <a:latin typeface="Segoe UI" pitchFamily="34" charset="0"/>
                <a:ea typeface="Segoe UI" pitchFamily="34" charset="-122"/>
                <a:cs typeface="Segoe UI" pitchFamily="34" charset="-120"/>
              </a:rPr>
              <a:t>Τερματισμένη</a:t>
            </a:r>
            <a:endParaRPr lang="en-US" sz="1300" dirty="0"/>
          </a:p>
        </p:txBody>
      </p:sp>
      <p:sp>
        <p:nvSpPr>
          <p:cNvPr id="12" name="Shape 9"/>
          <p:cNvSpPr/>
          <p:nvPr/>
        </p:nvSpPr>
        <p:spPr>
          <a:xfrm>
            <a:off x="1463040" y="3246120"/>
            <a:ext cx="1783080" cy="640080"/>
          </a:xfrm>
          <a:prstGeom prst="roundRect">
            <a:avLst>
              <a:gd name="adj" fmla="val 11429"/>
            </a:avLst>
          </a:prstGeom>
          <a:solidFill>
            <a:srgbClr val="E4E8FB"/>
          </a:solidFill>
          <a:ln w="12700">
            <a:solidFill>
              <a:srgbClr val="E4E8FB"/>
            </a:solidFill>
            <a:prstDash val="solid"/>
          </a:ln>
        </p:spPr>
      </p:sp>
      <p:sp>
        <p:nvSpPr>
          <p:cNvPr id="13" name="Text 10"/>
          <p:cNvSpPr txBox="1"/>
          <p:nvPr/>
        </p:nvSpPr>
        <p:spPr>
          <a:xfrm>
            <a:off x="1463040" y="3246120"/>
            <a:ext cx="1783080" cy="640080"/>
          </a:xfrm>
          <a:prstGeom prst="rect">
            <a:avLst/>
          </a:prstGeom>
          <a:noFill/>
          <a:ln/>
        </p:spPr>
        <p:txBody>
          <a:bodyPr wrap="square" lIns="0" tIns="0" rIns="0" bIns="0" rtlCol="0" anchor="ctr"/>
          <a:lstStyle/>
          <a:p>
            <a:pPr algn="ctr" indent="0" marL="0">
              <a:buNone/>
            </a:pPr>
            <a:r>
              <a:rPr lang="en-US" sz="1300" b="1" dirty="0">
                <a:solidFill>
                  <a:srgbClr val="171B26"/>
                </a:solidFill>
                <a:latin typeface="Segoe UI" pitchFamily="34" charset="0"/>
                <a:ea typeface="Segoe UI" pitchFamily="34" charset="-122"/>
                <a:cs typeface="Segoe UI" pitchFamily="34" charset="-120"/>
              </a:rPr>
              <a:t>Έτοιμη</a:t>
            </a:r>
            <a:endParaRPr lang="en-US" sz="1300" dirty="0"/>
          </a:p>
        </p:txBody>
      </p:sp>
      <p:sp>
        <p:nvSpPr>
          <p:cNvPr id="14" name="Shape 11"/>
          <p:cNvSpPr/>
          <p:nvPr/>
        </p:nvSpPr>
        <p:spPr>
          <a:xfrm>
            <a:off x="4754880" y="3246120"/>
            <a:ext cx="1783080" cy="640080"/>
          </a:xfrm>
          <a:prstGeom prst="roundRect">
            <a:avLst>
              <a:gd name="adj" fmla="val 11429"/>
            </a:avLst>
          </a:prstGeom>
          <a:solidFill>
            <a:srgbClr val="2F4BD8"/>
          </a:solidFill>
          <a:ln w="12700">
            <a:solidFill>
              <a:srgbClr val="2F4BD8"/>
            </a:solidFill>
            <a:prstDash val="solid"/>
          </a:ln>
        </p:spPr>
      </p:sp>
      <p:sp>
        <p:nvSpPr>
          <p:cNvPr id="15" name="Text 12"/>
          <p:cNvSpPr txBox="1"/>
          <p:nvPr/>
        </p:nvSpPr>
        <p:spPr>
          <a:xfrm>
            <a:off x="4754880" y="3246120"/>
            <a:ext cx="1783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Εκτελούμενη</a:t>
            </a:r>
            <a:endParaRPr lang="en-US" sz="1300" dirty="0"/>
          </a:p>
        </p:txBody>
      </p:sp>
      <p:sp>
        <p:nvSpPr>
          <p:cNvPr id="16" name="Shape 13"/>
          <p:cNvSpPr/>
          <p:nvPr/>
        </p:nvSpPr>
        <p:spPr>
          <a:xfrm>
            <a:off x="3108960" y="5029200"/>
            <a:ext cx="1783080" cy="640080"/>
          </a:xfrm>
          <a:prstGeom prst="roundRect">
            <a:avLst>
              <a:gd name="adj" fmla="val 11429"/>
            </a:avLst>
          </a:prstGeom>
          <a:solidFill>
            <a:srgbClr val="F6EDD6"/>
          </a:solidFill>
          <a:ln w="12700">
            <a:solidFill>
              <a:srgbClr val="F6EDD6"/>
            </a:solidFill>
            <a:prstDash val="solid"/>
          </a:ln>
        </p:spPr>
      </p:sp>
      <p:sp>
        <p:nvSpPr>
          <p:cNvPr id="17" name="Text 14"/>
          <p:cNvSpPr txBox="1"/>
          <p:nvPr/>
        </p:nvSpPr>
        <p:spPr>
          <a:xfrm>
            <a:off x="3108960" y="5029200"/>
            <a:ext cx="1783080" cy="640080"/>
          </a:xfrm>
          <a:prstGeom prst="rect">
            <a:avLst/>
          </a:prstGeom>
          <a:noFill/>
          <a:ln/>
        </p:spPr>
        <p:txBody>
          <a:bodyPr wrap="square" lIns="0" tIns="0" rIns="0" bIns="0" rtlCol="0" anchor="ctr"/>
          <a:lstStyle/>
          <a:p>
            <a:pPr algn="ctr" indent="0" marL="0">
              <a:buNone/>
            </a:pPr>
            <a:r>
              <a:rPr lang="en-US" sz="1300" b="1" dirty="0">
                <a:solidFill>
                  <a:srgbClr val="171B26"/>
                </a:solidFill>
                <a:latin typeface="Segoe UI" pitchFamily="34" charset="0"/>
                <a:ea typeface="Segoe UI" pitchFamily="34" charset="-122"/>
                <a:cs typeface="Segoe UI" pitchFamily="34" charset="-120"/>
              </a:rPr>
              <a:t>Μπλοκαρισμένη</a:t>
            </a:r>
            <a:endParaRPr lang="en-US" sz="1300" dirty="0"/>
          </a:p>
        </p:txBody>
      </p:sp>
      <p:sp>
        <p:nvSpPr>
          <p:cNvPr id="18" name="Shape 15"/>
          <p:cNvSpPr/>
          <p:nvPr/>
        </p:nvSpPr>
        <p:spPr>
          <a:xfrm>
            <a:off x="1527048" y="2258568"/>
            <a:ext cx="667512" cy="969264"/>
          </a:xfrm>
          <a:prstGeom prst="line">
            <a:avLst/>
          </a:prstGeom>
          <a:noFill/>
          <a:ln w="22225">
            <a:solidFill>
              <a:srgbClr val="2F4BD8"/>
            </a:solidFill>
            <a:prstDash val="solid"/>
            <a:tailEnd type="triangle"/>
          </a:ln>
        </p:spPr>
      </p:sp>
      <p:sp>
        <p:nvSpPr>
          <p:cNvPr id="19" name="Text 16"/>
          <p:cNvSpPr txBox="1"/>
          <p:nvPr/>
        </p:nvSpPr>
        <p:spPr>
          <a:xfrm>
            <a:off x="1874520" y="2560320"/>
            <a:ext cx="1097280" cy="256032"/>
          </a:xfrm>
          <a:prstGeom prst="rect">
            <a:avLst/>
          </a:prstGeom>
          <a:noFill/>
          <a:ln/>
        </p:spPr>
        <p:txBody>
          <a:bodyPr wrap="square" lIns="0" tIns="0" rIns="0" bIns="0" rtlCol="0" anchor="ctr"/>
          <a:lstStyle/>
          <a:p>
            <a:pPr algn="l" indent="0" marL="0">
              <a:buNone/>
            </a:pPr>
            <a:r>
              <a:rPr lang="en-US" sz="1000" b="1" dirty="0">
                <a:solidFill>
                  <a:srgbClr val="2F4BD8"/>
                </a:solidFill>
                <a:latin typeface="Segoe UI" pitchFamily="34" charset="0"/>
                <a:ea typeface="Segoe UI" pitchFamily="34" charset="-122"/>
                <a:cs typeface="Segoe UI" pitchFamily="34" charset="-120"/>
              </a:rPr>
              <a:t>εισαγωγή</a:t>
            </a:r>
            <a:endParaRPr lang="en-US" sz="1000" dirty="0"/>
          </a:p>
        </p:txBody>
      </p:sp>
      <p:sp>
        <p:nvSpPr>
          <p:cNvPr id="20" name="Shape 17"/>
          <p:cNvSpPr/>
          <p:nvPr/>
        </p:nvSpPr>
        <p:spPr>
          <a:xfrm>
            <a:off x="3264408" y="3410712"/>
            <a:ext cx="1472184" cy="914"/>
          </a:xfrm>
          <a:prstGeom prst="line">
            <a:avLst/>
          </a:prstGeom>
          <a:noFill/>
          <a:ln w="22225">
            <a:solidFill>
              <a:srgbClr val="2F4BD8"/>
            </a:solidFill>
            <a:prstDash val="solid"/>
            <a:tailEnd type="triangle"/>
          </a:ln>
        </p:spPr>
      </p:sp>
      <p:sp>
        <p:nvSpPr>
          <p:cNvPr id="21" name="Text 18"/>
          <p:cNvSpPr txBox="1"/>
          <p:nvPr/>
        </p:nvSpPr>
        <p:spPr>
          <a:xfrm>
            <a:off x="3172968" y="3108960"/>
            <a:ext cx="1645920" cy="256032"/>
          </a:xfrm>
          <a:prstGeom prst="rect">
            <a:avLst/>
          </a:prstGeom>
          <a:noFill/>
          <a:ln/>
        </p:spPr>
        <p:txBody>
          <a:bodyPr wrap="square" lIns="0" tIns="0" rIns="0" bIns="0" rtlCol="0" anchor="ctr"/>
          <a:lstStyle/>
          <a:p>
            <a:pPr algn="ctr" indent="0" marL="0">
              <a:buNone/>
            </a:pPr>
            <a:r>
              <a:rPr lang="en-US" sz="1000" b="1" dirty="0">
                <a:solidFill>
                  <a:srgbClr val="2F4BD8"/>
                </a:solidFill>
                <a:latin typeface="Segoe UI" pitchFamily="34" charset="0"/>
                <a:ea typeface="Segoe UI" pitchFamily="34" charset="-122"/>
                <a:cs typeface="Segoe UI" pitchFamily="34" charset="-120"/>
              </a:rPr>
              <a:t>επιλογή (scheduler)</a:t>
            </a:r>
            <a:endParaRPr lang="en-US" sz="1000" dirty="0"/>
          </a:p>
        </p:txBody>
      </p:sp>
      <p:sp>
        <p:nvSpPr>
          <p:cNvPr id="22" name="Shape 19"/>
          <p:cNvSpPr/>
          <p:nvPr/>
        </p:nvSpPr>
        <p:spPr>
          <a:xfrm flipH="1">
            <a:off x="3264408" y="3730752"/>
            <a:ext cx="1472184" cy="914"/>
          </a:xfrm>
          <a:prstGeom prst="line">
            <a:avLst/>
          </a:prstGeom>
          <a:noFill/>
          <a:ln w="22225">
            <a:solidFill>
              <a:srgbClr val="2F4BD8"/>
            </a:solidFill>
            <a:prstDash val="solid"/>
            <a:tailEnd type="triangle"/>
          </a:ln>
        </p:spPr>
      </p:sp>
      <p:sp>
        <p:nvSpPr>
          <p:cNvPr id="23" name="Text 20"/>
          <p:cNvSpPr txBox="1"/>
          <p:nvPr/>
        </p:nvSpPr>
        <p:spPr>
          <a:xfrm>
            <a:off x="3172968" y="3767328"/>
            <a:ext cx="1645920" cy="256032"/>
          </a:xfrm>
          <a:prstGeom prst="rect">
            <a:avLst/>
          </a:prstGeom>
          <a:noFill/>
          <a:ln/>
        </p:spPr>
        <p:txBody>
          <a:bodyPr wrap="square" lIns="0" tIns="0" rIns="0" bIns="0" rtlCol="0" anchor="ctr"/>
          <a:lstStyle/>
          <a:p>
            <a:pPr algn="ctr" indent="0" marL="0">
              <a:buNone/>
            </a:pPr>
            <a:r>
              <a:rPr lang="en-US" sz="1000" b="1" dirty="0">
                <a:solidFill>
                  <a:srgbClr val="2F4BD8"/>
                </a:solidFill>
                <a:latin typeface="Segoe UI" pitchFamily="34" charset="0"/>
                <a:ea typeface="Segoe UI" pitchFamily="34" charset="-122"/>
                <a:cs typeface="Segoe UI" pitchFamily="34" charset="-120"/>
              </a:rPr>
              <a:t>λήξη κβάντου</a:t>
            </a:r>
            <a:endParaRPr lang="en-US" sz="1000" dirty="0"/>
          </a:p>
        </p:txBody>
      </p:sp>
      <p:sp>
        <p:nvSpPr>
          <p:cNvPr id="24" name="Shape 21"/>
          <p:cNvSpPr/>
          <p:nvPr/>
        </p:nvSpPr>
        <p:spPr>
          <a:xfrm flipV="1">
            <a:off x="6035040" y="2258568"/>
            <a:ext cx="365760" cy="969264"/>
          </a:xfrm>
          <a:prstGeom prst="line">
            <a:avLst/>
          </a:prstGeom>
          <a:noFill/>
          <a:ln w="22225">
            <a:solidFill>
              <a:srgbClr val="2F4BD8"/>
            </a:solidFill>
            <a:prstDash val="solid"/>
            <a:tailEnd type="triangle"/>
          </a:ln>
        </p:spPr>
      </p:sp>
      <p:sp>
        <p:nvSpPr>
          <p:cNvPr id="25" name="Text 22"/>
          <p:cNvSpPr txBox="1"/>
          <p:nvPr/>
        </p:nvSpPr>
        <p:spPr>
          <a:xfrm>
            <a:off x="6309360" y="2606040"/>
            <a:ext cx="731520" cy="256032"/>
          </a:xfrm>
          <a:prstGeom prst="rect">
            <a:avLst/>
          </a:prstGeom>
          <a:noFill/>
          <a:ln/>
        </p:spPr>
        <p:txBody>
          <a:bodyPr wrap="square" lIns="0" tIns="0" rIns="0" bIns="0" rtlCol="0" anchor="ctr"/>
          <a:lstStyle/>
          <a:p>
            <a:pPr algn="l" indent="0" marL="0">
              <a:buNone/>
            </a:pPr>
            <a:r>
              <a:rPr lang="en-US" sz="1000" b="1" dirty="0">
                <a:solidFill>
                  <a:srgbClr val="2F4BD8"/>
                </a:solidFill>
                <a:latin typeface="Segoe UI" pitchFamily="34" charset="0"/>
                <a:ea typeface="Segoe UI" pitchFamily="34" charset="-122"/>
                <a:cs typeface="Segoe UI" pitchFamily="34" charset="-120"/>
              </a:rPr>
              <a:t>τέλος</a:t>
            </a:r>
            <a:endParaRPr lang="en-US" sz="1000" dirty="0"/>
          </a:p>
        </p:txBody>
      </p:sp>
      <p:sp>
        <p:nvSpPr>
          <p:cNvPr id="26" name="Shape 23"/>
          <p:cNvSpPr/>
          <p:nvPr/>
        </p:nvSpPr>
        <p:spPr>
          <a:xfrm flipH="1">
            <a:off x="4572000" y="3904488"/>
            <a:ext cx="822960" cy="1106424"/>
          </a:xfrm>
          <a:prstGeom prst="line">
            <a:avLst/>
          </a:prstGeom>
          <a:noFill/>
          <a:ln w="22225">
            <a:solidFill>
              <a:srgbClr val="2F4BD8"/>
            </a:solidFill>
            <a:prstDash val="solid"/>
            <a:tailEnd type="triangle"/>
          </a:ln>
        </p:spPr>
      </p:sp>
      <p:sp>
        <p:nvSpPr>
          <p:cNvPr id="27" name="Text 24"/>
          <p:cNvSpPr txBox="1"/>
          <p:nvPr/>
        </p:nvSpPr>
        <p:spPr>
          <a:xfrm>
            <a:off x="5074920" y="4389120"/>
            <a:ext cx="1371600" cy="256032"/>
          </a:xfrm>
          <a:prstGeom prst="rect">
            <a:avLst/>
          </a:prstGeom>
          <a:noFill/>
          <a:ln/>
        </p:spPr>
        <p:txBody>
          <a:bodyPr wrap="square" lIns="0" tIns="0" rIns="0" bIns="0" rtlCol="0" anchor="ctr"/>
          <a:lstStyle/>
          <a:p>
            <a:pPr algn="l" indent="0" marL="0">
              <a:buNone/>
            </a:pPr>
            <a:r>
              <a:rPr lang="en-US" sz="1000" b="1" dirty="0">
                <a:solidFill>
                  <a:srgbClr val="2F4BD8"/>
                </a:solidFill>
                <a:latin typeface="Segoe UI" pitchFamily="34" charset="0"/>
                <a:ea typeface="Segoe UI" pitchFamily="34" charset="-122"/>
                <a:cs typeface="Segoe UI" pitchFamily="34" charset="-120"/>
              </a:rPr>
              <a:t>αναμονή Ε/Ε</a:t>
            </a:r>
            <a:endParaRPr lang="en-US" sz="1000" dirty="0"/>
          </a:p>
        </p:txBody>
      </p:sp>
      <p:sp>
        <p:nvSpPr>
          <p:cNvPr id="28" name="Shape 25"/>
          <p:cNvSpPr/>
          <p:nvPr/>
        </p:nvSpPr>
        <p:spPr>
          <a:xfrm flipH="1" flipV="1">
            <a:off x="2377440" y="3904488"/>
            <a:ext cx="822960" cy="1106424"/>
          </a:xfrm>
          <a:prstGeom prst="line">
            <a:avLst/>
          </a:prstGeom>
          <a:noFill/>
          <a:ln w="22225">
            <a:solidFill>
              <a:srgbClr val="2F4BD8"/>
            </a:solidFill>
            <a:prstDash val="solid"/>
            <a:tailEnd type="triangle"/>
          </a:ln>
        </p:spPr>
      </p:sp>
      <p:sp>
        <p:nvSpPr>
          <p:cNvPr id="29" name="Text 26"/>
          <p:cNvSpPr txBox="1"/>
          <p:nvPr/>
        </p:nvSpPr>
        <p:spPr>
          <a:xfrm>
            <a:off x="1600200" y="4389120"/>
            <a:ext cx="1097280" cy="256032"/>
          </a:xfrm>
          <a:prstGeom prst="rect">
            <a:avLst/>
          </a:prstGeom>
          <a:noFill/>
          <a:ln/>
        </p:spPr>
        <p:txBody>
          <a:bodyPr wrap="square" lIns="0" tIns="0" rIns="0" bIns="0" rtlCol="0" anchor="ctr"/>
          <a:lstStyle/>
          <a:p>
            <a:pPr algn="l" indent="0" marL="0">
              <a:buNone/>
            </a:pPr>
            <a:r>
              <a:rPr lang="en-US" sz="1000" b="1" dirty="0">
                <a:solidFill>
                  <a:srgbClr val="2F4BD8"/>
                </a:solidFill>
                <a:latin typeface="Segoe UI" pitchFamily="34" charset="0"/>
                <a:ea typeface="Segoe UI" pitchFamily="34" charset="-122"/>
                <a:cs typeface="Segoe UI" pitchFamily="34" charset="-120"/>
              </a:rPr>
              <a:t>τέλος Ε/Ε</a:t>
            </a:r>
            <a:endParaRPr lang="en-US" sz="1000" dirty="0"/>
          </a:p>
        </p:txBody>
      </p:sp>
      <p:sp>
        <p:nvSpPr>
          <p:cNvPr id="30" name="Shape 27"/>
          <p:cNvSpPr/>
          <p:nvPr/>
        </p:nvSpPr>
        <p:spPr>
          <a:xfrm>
            <a:off x="7818120" y="1463040"/>
            <a:ext cx="3630168" cy="2148840"/>
          </a:xfrm>
          <a:prstGeom prst="roundRect">
            <a:avLst>
              <a:gd name="adj" fmla="val 2553"/>
            </a:avLst>
          </a:prstGeom>
          <a:solidFill>
            <a:srgbClr val="E4E8FB"/>
          </a:solidFill>
          <a:ln w="12700">
            <a:solidFill>
              <a:srgbClr val="E4E8FB"/>
            </a:solidFill>
            <a:prstDash val="solid"/>
          </a:ln>
        </p:spPr>
      </p:sp>
      <p:sp>
        <p:nvSpPr>
          <p:cNvPr id="31" name="Text 28"/>
          <p:cNvSpPr txBox="1"/>
          <p:nvPr/>
        </p:nvSpPr>
        <p:spPr>
          <a:xfrm>
            <a:off x="7982712" y="1591056"/>
            <a:ext cx="3300984"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Η χρυσή συνθήκη</a:t>
            </a:r>
            <a:endParaRPr lang="en-US" sz="1400" dirty="0"/>
          </a:p>
        </p:txBody>
      </p:sp>
      <p:sp>
        <p:nvSpPr>
          <p:cNvPr id="32" name="Text 29"/>
          <p:cNvSpPr txBox="1"/>
          <p:nvPr/>
        </p:nvSpPr>
        <p:spPr>
          <a:xfrm>
            <a:off x="7982712" y="1941322"/>
            <a:ext cx="3300984" cy="157911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Σε κάθε πυρήνα, κάθε στιγμή, υπάρχει το πολύ </a:t>
            </a:r>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μία</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 Εκτελούμενη διεργασία. Οι υπόλοιπες περιμένουν στην ουρά των Έτοιμων.</a:t>
            </a:r>
            <a:endParaRPr lang="en-US" sz="1200" dirty="0"/>
          </a:p>
        </p:txBody>
      </p:sp>
      <p:sp>
        <p:nvSpPr>
          <p:cNvPr id="33" name="Shape 30"/>
          <p:cNvSpPr/>
          <p:nvPr/>
        </p:nvSpPr>
        <p:spPr>
          <a:xfrm>
            <a:off x="7818120" y="3794760"/>
            <a:ext cx="3630168" cy="2148840"/>
          </a:xfrm>
          <a:prstGeom prst="roundRect">
            <a:avLst>
              <a:gd name="adj" fmla="val 2553"/>
            </a:avLst>
          </a:prstGeom>
          <a:solidFill>
            <a:srgbClr val="FBFCFE"/>
          </a:solidFill>
          <a:ln w="9525">
            <a:solidFill>
              <a:srgbClr val="D3D9E4"/>
            </a:solidFill>
            <a:prstDash val="solid"/>
          </a:ln>
        </p:spPr>
      </p:sp>
      <p:sp>
        <p:nvSpPr>
          <p:cNvPr id="34" name="Text 31"/>
          <p:cNvSpPr txBox="1"/>
          <p:nvPr/>
        </p:nvSpPr>
        <p:spPr>
          <a:xfrm>
            <a:off x="7982712" y="3922776"/>
            <a:ext cx="3300984"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Έτοιμη ή Μπλοκαρισμένη;</a:t>
            </a:r>
            <a:endParaRPr lang="en-US" sz="1400" dirty="0"/>
          </a:p>
        </p:txBody>
      </p:sp>
      <p:sp>
        <p:nvSpPr>
          <p:cNvPr id="35" name="Text 32"/>
          <p:cNvSpPr txBox="1"/>
          <p:nvPr/>
        </p:nvSpPr>
        <p:spPr>
          <a:xfrm>
            <a:off x="7982712" y="4273042"/>
            <a:ext cx="3300984" cy="1579118"/>
          </a:xfrm>
          <a:prstGeom prst="rect">
            <a:avLst/>
          </a:prstGeom>
          <a:noFill/>
          <a:ln/>
        </p:spPr>
        <p:txBody>
          <a:bodyPr wrap="square" lIns="0" tIns="0" rIns="0" bIns="0" rtlCol="0" anchor="t"/>
          <a:lstStyle/>
          <a:p>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Έτοιμη: </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θα μπορούσε να τρέξει, απλώς δεν είναι η σειρά της. </a:t>
            </a:r>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Μπλοκαρισμένη: </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δεν μπορεί να τρέξει μέχρι να έρθει κάτι (δεδομένα από δίσκο, πλήκτρο, δίκτυο).</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10  </a:t>
            </a:r>
            <a:pPr indent="0" marL="0">
              <a:buNone/>
            </a:pPr>
            <a:r>
              <a:rPr lang="en-US" sz="1000" spc="140" kern="0" dirty="0">
                <a:solidFill>
                  <a:srgbClr val="8A91A3"/>
                </a:solidFill>
                <a:latin typeface="Consolas" pitchFamily="34" charset="0"/>
                <a:ea typeface="Consolas" pitchFamily="34" charset="-122"/>
                <a:cs typeface="Consolas" pitchFamily="34" charset="-120"/>
              </a:rPr>
              <a:t>ΛΕΙΤΟΥΡΓΙΕΣ ΔΙΕΡΓΑΣΙΩΝ</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Τι μπορεί να κάνει το ΛΣ σε μια διεργασία</a:t>
            </a:r>
            <a:endParaRPr lang="en-US" sz="3000" dirty="0"/>
          </a:p>
        </p:txBody>
      </p:sp>
      <p:sp>
        <p:nvSpPr>
          <p:cNvPr id="8" name="Shape 5"/>
          <p:cNvSpPr/>
          <p:nvPr/>
        </p:nvSpPr>
        <p:spPr>
          <a:xfrm>
            <a:off x="566928" y="1463040"/>
            <a:ext cx="5349240" cy="2103120"/>
          </a:xfrm>
          <a:prstGeom prst="roundRect">
            <a:avLst>
              <a:gd name="adj" fmla="val 2609"/>
            </a:avLst>
          </a:prstGeom>
          <a:solidFill>
            <a:srgbClr val="FBFCFE"/>
          </a:solidFill>
          <a:ln w="9525">
            <a:solidFill>
              <a:srgbClr val="D3D9E4"/>
            </a:solidFill>
            <a:prstDash val="solid"/>
          </a:ln>
        </p:spPr>
      </p:sp>
      <p:sp>
        <p:nvSpPr>
          <p:cNvPr id="9" name="Text 6"/>
          <p:cNvSpPr txBox="1"/>
          <p:nvPr/>
        </p:nvSpPr>
        <p:spPr>
          <a:xfrm>
            <a:off x="731520" y="1591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01</a:t>
            </a:r>
            <a:endParaRPr lang="en-US" sz="900" dirty="0"/>
          </a:p>
        </p:txBody>
      </p:sp>
      <p:sp>
        <p:nvSpPr>
          <p:cNvPr id="10" name="Text 7"/>
          <p:cNvSpPr txBox="1"/>
          <p:nvPr/>
        </p:nvSpPr>
        <p:spPr>
          <a:xfrm>
            <a:off x="731520" y="1847088"/>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Αλλαγή προτεραιότητας</a:t>
            </a:r>
            <a:endParaRPr lang="en-US" sz="1500" dirty="0"/>
          </a:p>
        </p:txBody>
      </p:sp>
      <p:sp>
        <p:nvSpPr>
          <p:cNvPr id="11" name="Text 8"/>
          <p:cNvSpPr txBox="1"/>
          <p:nvPr/>
        </p:nvSpPr>
        <p:spPr>
          <a:xfrm>
            <a:off x="731520" y="2213229"/>
            <a:ext cx="5020056" cy="1261491"/>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Μια διεργασία με υψηλότερη προτεραιότητα παίρνει τον επεξεργαστή πιο συχνά.</a:t>
            </a:r>
            <a:pPr indent="0" marL="0">
              <a:lnSpc>
                <a:spcPct val="112000"/>
              </a:lnSpc>
              <a:buNone/>
            </a:pPr>
            <a:endParaRPr lang="en-US" sz="1200" dirty="0"/>
          </a:p>
          <a:p>
            <a:pPr indent="0" marL="0">
              <a:lnSpc>
                <a:spcPct val="112000"/>
              </a:lnSpc>
              <a:buNone/>
            </a:pPr>
            <a:endParaRPr lang="en-US" sz="1200" dirty="0"/>
          </a:p>
          <a:p>
            <a:pPr indent="0" marL="0">
              <a:lnSpc>
                <a:spcPct val="112000"/>
              </a:lnSpc>
              <a:buNone/>
            </a:pPr>
            <a:r>
              <a:rPr lang="en-US" sz="1050" dirty="0">
                <a:solidFill>
                  <a:srgbClr val="2F4BD8"/>
                </a:solidFill>
                <a:latin typeface="Consolas" pitchFamily="34" charset="0"/>
                <a:ea typeface="Consolas" pitchFamily="34" charset="-122"/>
                <a:cs typeface="Consolas" pitchFamily="34" charset="-120"/>
              </a:rPr>
              <a:t>Στα Windows: Διαχείριση εργασιών → Λεπτομέρειες → δεξί κλικ → Ορισμός προτεραιότητας</a:t>
            </a:r>
            <a:endParaRPr lang="en-US" sz="1200" dirty="0"/>
          </a:p>
        </p:txBody>
      </p:sp>
      <p:sp>
        <p:nvSpPr>
          <p:cNvPr id="12" name="Shape 9"/>
          <p:cNvSpPr/>
          <p:nvPr/>
        </p:nvSpPr>
        <p:spPr>
          <a:xfrm>
            <a:off x="6099048" y="1463040"/>
            <a:ext cx="5349240" cy="2103120"/>
          </a:xfrm>
          <a:prstGeom prst="roundRect">
            <a:avLst>
              <a:gd name="adj" fmla="val 2609"/>
            </a:avLst>
          </a:prstGeom>
          <a:solidFill>
            <a:srgbClr val="E4E8FB"/>
          </a:solidFill>
          <a:ln w="12700">
            <a:solidFill>
              <a:srgbClr val="E4E8FB"/>
            </a:solidFill>
            <a:prstDash val="solid"/>
          </a:ln>
        </p:spPr>
      </p:sp>
      <p:sp>
        <p:nvSpPr>
          <p:cNvPr id="13" name="Text 10"/>
          <p:cNvSpPr txBox="1"/>
          <p:nvPr/>
        </p:nvSpPr>
        <p:spPr>
          <a:xfrm>
            <a:off x="6263640" y="1591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02</a:t>
            </a:r>
            <a:endParaRPr lang="en-US" sz="900" dirty="0"/>
          </a:p>
        </p:txBody>
      </p:sp>
      <p:sp>
        <p:nvSpPr>
          <p:cNvPr id="14" name="Text 11"/>
          <p:cNvSpPr txBox="1"/>
          <p:nvPr/>
        </p:nvSpPr>
        <p:spPr>
          <a:xfrm>
            <a:off x="6263640" y="1847088"/>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Μπλοκάρισμα / ξεμπλοκάρισμα</a:t>
            </a:r>
            <a:endParaRPr lang="en-US" sz="1500" dirty="0"/>
          </a:p>
        </p:txBody>
      </p:sp>
      <p:sp>
        <p:nvSpPr>
          <p:cNvPr id="15" name="Text 12"/>
          <p:cNvSpPr txBox="1"/>
          <p:nvPr/>
        </p:nvSpPr>
        <p:spPr>
          <a:xfrm>
            <a:off x="6263640" y="2213229"/>
            <a:ext cx="5020056" cy="1261491"/>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Η διεργασία περιμένει ένα γεγονός (π.χ. δεδομένα) και συνεχίζει όταν αυτό έρθει.</a:t>
            </a:r>
            <a:pPr indent="0" marL="0">
              <a:lnSpc>
                <a:spcPct val="112000"/>
              </a:lnSpc>
              <a:buNone/>
            </a:pPr>
            <a:endParaRPr lang="en-US" sz="1200" dirty="0"/>
          </a:p>
          <a:p>
            <a:pPr indent="0" marL="0">
              <a:lnSpc>
                <a:spcPct val="112000"/>
              </a:lnSpc>
              <a:buNone/>
            </a:pPr>
            <a:endParaRPr lang="en-US" sz="1200" dirty="0"/>
          </a:p>
          <a:p>
            <a:pPr indent="0" marL="0">
              <a:lnSpc>
                <a:spcPct val="112000"/>
              </a:lnSpc>
              <a:buNone/>
            </a:pPr>
            <a:r>
              <a:rPr lang="en-US" sz="1050" dirty="0">
                <a:solidFill>
                  <a:srgbClr val="2F4BD8"/>
                </a:solidFill>
                <a:latin typeface="Consolas" pitchFamily="34" charset="0"/>
                <a:ea typeface="Consolas" pitchFamily="34" charset="-122"/>
                <a:cs typeface="Consolas" pitchFamily="34" charset="-120"/>
              </a:rPr>
              <a:t>Στα Windows: Γίνεται αυτόματα από το ΛΣ, π.χ. όσο φορτώνει ένα αρχείο.</a:t>
            </a:r>
            <a:endParaRPr lang="en-US" sz="1200" dirty="0"/>
          </a:p>
        </p:txBody>
      </p:sp>
      <p:sp>
        <p:nvSpPr>
          <p:cNvPr id="16" name="Shape 13"/>
          <p:cNvSpPr/>
          <p:nvPr/>
        </p:nvSpPr>
        <p:spPr>
          <a:xfrm>
            <a:off x="566928" y="3749040"/>
            <a:ext cx="5349240" cy="2103120"/>
          </a:xfrm>
          <a:prstGeom prst="roundRect">
            <a:avLst>
              <a:gd name="adj" fmla="val 2609"/>
            </a:avLst>
          </a:prstGeom>
          <a:solidFill>
            <a:srgbClr val="E4E8FB"/>
          </a:solidFill>
          <a:ln w="12700">
            <a:solidFill>
              <a:srgbClr val="E4E8FB"/>
            </a:solidFill>
            <a:prstDash val="solid"/>
          </a:ln>
        </p:spPr>
      </p:sp>
      <p:sp>
        <p:nvSpPr>
          <p:cNvPr id="17" name="Text 14"/>
          <p:cNvSpPr txBox="1"/>
          <p:nvPr/>
        </p:nvSpPr>
        <p:spPr>
          <a:xfrm>
            <a:off x="731520" y="3877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03</a:t>
            </a:r>
            <a:endParaRPr lang="en-US" sz="900" dirty="0"/>
          </a:p>
        </p:txBody>
      </p:sp>
      <p:sp>
        <p:nvSpPr>
          <p:cNvPr id="18" name="Text 15"/>
          <p:cNvSpPr txBox="1"/>
          <p:nvPr/>
        </p:nvSpPr>
        <p:spPr>
          <a:xfrm>
            <a:off x="731520" y="4133088"/>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Νάρκωση / αφύπνιση</a:t>
            </a:r>
            <a:endParaRPr lang="en-US" sz="1500" dirty="0"/>
          </a:p>
        </p:txBody>
      </p:sp>
      <p:sp>
        <p:nvSpPr>
          <p:cNvPr id="19" name="Text 16"/>
          <p:cNvSpPr txBox="1"/>
          <p:nvPr/>
        </p:nvSpPr>
        <p:spPr>
          <a:xfrm>
            <a:off x="731520" y="4499229"/>
            <a:ext cx="5020056" cy="1261491"/>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Η διεργασία «παγώνει» προσωρινά χωρίς να κλείσει και μετά συνεχίζει κανονικά.</a:t>
            </a:r>
            <a:pPr indent="0" marL="0">
              <a:lnSpc>
                <a:spcPct val="112000"/>
              </a:lnSpc>
              <a:buNone/>
            </a:pPr>
            <a:endParaRPr lang="en-US" sz="1200" dirty="0"/>
          </a:p>
          <a:p>
            <a:pPr indent="0" marL="0">
              <a:lnSpc>
                <a:spcPct val="112000"/>
              </a:lnSpc>
              <a:buNone/>
            </a:pPr>
            <a:endParaRPr lang="en-US" sz="1200" dirty="0"/>
          </a:p>
          <a:p>
            <a:pPr indent="0" marL="0">
              <a:lnSpc>
                <a:spcPct val="112000"/>
              </a:lnSpc>
              <a:buNone/>
            </a:pPr>
            <a:r>
              <a:rPr lang="en-US" sz="1050" dirty="0">
                <a:solidFill>
                  <a:srgbClr val="2F4BD8"/>
                </a:solidFill>
                <a:latin typeface="Consolas" pitchFamily="34" charset="0"/>
                <a:ea typeface="Consolas" pitchFamily="34" charset="-122"/>
                <a:cs typeface="Consolas" pitchFamily="34" charset="-120"/>
              </a:rPr>
              <a:t>Στα Windows: Παρακολούθηση πόρων → CPU → δεξί κλικ → Αναστολή / Συνέχιση διεργασίας</a:t>
            </a:r>
            <a:endParaRPr lang="en-US" sz="1200" dirty="0"/>
          </a:p>
        </p:txBody>
      </p:sp>
      <p:sp>
        <p:nvSpPr>
          <p:cNvPr id="20" name="Shape 17"/>
          <p:cNvSpPr/>
          <p:nvPr/>
        </p:nvSpPr>
        <p:spPr>
          <a:xfrm>
            <a:off x="6099048" y="3749040"/>
            <a:ext cx="5349240" cy="2103120"/>
          </a:xfrm>
          <a:prstGeom prst="roundRect">
            <a:avLst>
              <a:gd name="adj" fmla="val 2609"/>
            </a:avLst>
          </a:prstGeom>
          <a:solidFill>
            <a:srgbClr val="FBFCFE"/>
          </a:solidFill>
          <a:ln w="9525">
            <a:solidFill>
              <a:srgbClr val="D3D9E4"/>
            </a:solidFill>
            <a:prstDash val="solid"/>
          </a:ln>
        </p:spPr>
      </p:sp>
      <p:sp>
        <p:nvSpPr>
          <p:cNvPr id="21" name="Text 18"/>
          <p:cNvSpPr txBox="1"/>
          <p:nvPr/>
        </p:nvSpPr>
        <p:spPr>
          <a:xfrm>
            <a:off x="6263640" y="3877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04</a:t>
            </a:r>
            <a:endParaRPr lang="en-US" sz="900" dirty="0"/>
          </a:p>
        </p:txBody>
      </p:sp>
      <p:sp>
        <p:nvSpPr>
          <p:cNvPr id="22" name="Text 19"/>
          <p:cNvSpPr txBox="1"/>
          <p:nvPr/>
        </p:nvSpPr>
        <p:spPr>
          <a:xfrm>
            <a:off x="6263640" y="4133088"/>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Τερματισμός</a:t>
            </a:r>
            <a:endParaRPr lang="en-US" sz="1500" dirty="0"/>
          </a:p>
        </p:txBody>
      </p:sp>
      <p:sp>
        <p:nvSpPr>
          <p:cNvPr id="23" name="Text 20"/>
          <p:cNvSpPr txBox="1"/>
          <p:nvPr/>
        </p:nvSpPr>
        <p:spPr>
          <a:xfrm>
            <a:off x="6263640" y="4499229"/>
            <a:ext cx="5020056" cy="1261491"/>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Η διεργασία σταματά οριστικά και το ΛΣ παίρνει πίσω τη μνήμη και τους πόρους της.</a:t>
            </a:r>
            <a:pPr indent="0" marL="0">
              <a:lnSpc>
                <a:spcPct val="112000"/>
              </a:lnSpc>
              <a:buNone/>
            </a:pPr>
            <a:endParaRPr lang="en-US" sz="1200" dirty="0"/>
          </a:p>
          <a:p>
            <a:pPr indent="0" marL="0">
              <a:lnSpc>
                <a:spcPct val="112000"/>
              </a:lnSpc>
              <a:buNone/>
            </a:pPr>
            <a:endParaRPr lang="en-US" sz="1200" dirty="0"/>
          </a:p>
          <a:p>
            <a:pPr indent="0" marL="0">
              <a:lnSpc>
                <a:spcPct val="112000"/>
              </a:lnSpc>
              <a:buNone/>
            </a:pPr>
            <a:r>
              <a:rPr lang="en-US" sz="1050" dirty="0">
                <a:solidFill>
                  <a:srgbClr val="2F4BD8"/>
                </a:solidFill>
                <a:latin typeface="Consolas" pitchFamily="34" charset="0"/>
                <a:ea typeface="Consolas" pitchFamily="34" charset="-122"/>
                <a:cs typeface="Consolas" pitchFamily="34" charset="-120"/>
              </a:rPr>
              <a:t>Στα Windows: Διαχείριση εργασιών → Τερματισμός εργασίας</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11  </a:t>
            </a:r>
            <a:pPr indent="0" marL="0">
              <a:buNone/>
            </a:pPr>
            <a:r>
              <a:rPr lang="en-US" sz="1000" spc="140" kern="0" dirty="0">
                <a:solidFill>
                  <a:srgbClr val="8A91A3"/>
                </a:solidFill>
                <a:latin typeface="Consolas" pitchFamily="34" charset="0"/>
                <a:ea typeface="Consolas" pitchFamily="34" charset="-122"/>
                <a:cs typeface="Consolas" pitchFamily="34" charset="-120"/>
              </a:rPr>
              <a:t>ΑΣΚΗΣΗ Β1 · ΜΕΤΡΙΑ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Ακολούθησε τη διεργασία</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9A6B0C"/>
                </a:solidFill>
                <a:latin typeface="Consolas" pitchFamily="34" charset="0"/>
                <a:ea typeface="Consolas" pitchFamily="34" charset="-122"/>
                <a:cs typeface="Consolas" pitchFamily="34" charset="-120"/>
              </a:rPr>
              <a:t>●●○  ΜΕΤΡΙΑ</a:t>
            </a:r>
            <a:endParaRPr lang="en-US" sz="1100" dirty="0"/>
          </a:p>
        </p:txBody>
      </p:sp>
      <p:sp>
        <p:nvSpPr>
          <p:cNvPr id="9" name="Shape 6"/>
          <p:cNvSpPr/>
          <p:nvPr/>
        </p:nvSpPr>
        <p:spPr>
          <a:xfrm>
            <a:off x="566928" y="1463040"/>
            <a:ext cx="10881360" cy="914400"/>
          </a:xfrm>
          <a:prstGeom prst="rect">
            <a:avLst/>
          </a:prstGeom>
          <a:solidFill>
            <a:srgbClr val="E4E8FB"/>
          </a:solidFill>
          <a:ln w="12700">
            <a:solidFill>
              <a:srgbClr val="E4E8FB"/>
            </a:solidFill>
            <a:prstDash val="solid"/>
          </a:ln>
        </p:spPr>
      </p:sp>
      <p:sp>
        <p:nvSpPr>
          <p:cNvPr id="10" name="Shape 7"/>
          <p:cNvSpPr/>
          <p:nvPr/>
        </p:nvSpPr>
        <p:spPr>
          <a:xfrm>
            <a:off x="566928" y="1463040"/>
            <a:ext cx="41148" cy="914400"/>
          </a:xfrm>
          <a:prstGeom prst="rect">
            <a:avLst/>
          </a:prstGeom>
          <a:solidFill>
            <a:srgbClr val="2F4BD8"/>
          </a:solidFill>
          <a:ln w="12700">
            <a:solidFill>
              <a:srgbClr val="2F4BD8"/>
            </a:solidFill>
            <a:prstDash val="solid"/>
          </a:ln>
        </p:spPr>
      </p:sp>
      <p:sp>
        <p:nvSpPr>
          <p:cNvPr id="11" name="Text 8"/>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ΕΚΦΩΝΗΣΗ</a:t>
            </a:r>
            <a:endParaRPr lang="en-US" sz="900" dirty="0"/>
          </a:p>
        </p:txBody>
      </p:sp>
      <p:sp>
        <p:nvSpPr>
          <p:cNvPr id="12" name="Text 9"/>
          <p:cNvSpPr txBox="1"/>
          <p:nvPr/>
        </p:nvSpPr>
        <p:spPr>
          <a:xfrm>
            <a:off x="731520" y="1773936"/>
            <a:ext cx="10552176" cy="53035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Ο υπολογιστής έχει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1 πυρήνα</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Ανοίγεις το Word, γράφεις, πατάς «Αποθήκευση» και μετά το κλείνεις. Σε ποια κατάσταση είναι η διεργασία του Word μετά από κάθε γεγονός;</a:t>
            </a:r>
            <a:endParaRPr lang="en-US" sz="1200" dirty="0"/>
          </a:p>
        </p:txBody>
      </p:sp>
      <p:sp>
        <p:nvSpPr>
          <p:cNvPr id="13" name="Text 10"/>
          <p:cNvSpPr txBox="1"/>
          <p:nvPr/>
        </p:nvSpPr>
        <p:spPr>
          <a:xfrm>
            <a:off x="566928" y="2560320"/>
            <a:ext cx="4572000" cy="201168"/>
          </a:xfrm>
          <a:prstGeom prst="rect">
            <a:avLst/>
          </a:prstGeom>
          <a:noFill/>
          <a:ln/>
        </p:spPr>
        <p:txBody>
          <a:bodyPr wrap="square" lIns="0" tIns="0" rIns="0" bIns="0" rtlCol="0" anchor="ctr"/>
          <a:lstStyle/>
          <a:p>
            <a:pPr indent="0" marL="0">
              <a:buNone/>
            </a:pPr>
            <a:r>
              <a:rPr lang="en-US" sz="900" b="1" spc="120" kern="0" dirty="0">
                <a:solidFill>
                  <a:srgbClr val="9A6B0C"/>
                </a:solidFill>
                <a:latin typeface="Consolas" pitchFamily="34" charset="0"/>
                <a:ea typeface="Consolas" pitchFamily="34" charset="-122"/>
                <a:cs typeface="Consolas" pitchFamily="34" charset="-120"/>
              </a:rPr>
              <a:t>ΛΥΣΗ</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834640"/>
          <a:ext cx="10881360" cy="914400"/>
        </p:xfrm>
        <a:graphic>
          <a:graphicData uri="http://schemas.openxmlformats.org/drawingml/2006/table">
            <a:tbl>
              <a:tblPr/>
              <a:tblGrid>
                <a:gridCol w="457200"/>
                <a:gridCol w="4206240"/>
                <a:gridCol w="2377440"/>
                <a:gridCol w="3840480"/>
              </a:tblGrid>
              <a:tr h="429768">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ΓΕΓΟΝΟΣ</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ΚΑΤΑΣΤΑΣΗ</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ΓΙΑΤΙ</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29768">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Διπλό κλικ στο εικονίδιο του Word</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Νέα → Έτοιμη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Δημιουργείται και μπαίνει στην ουρά</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29768">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2</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Ο scheduler τη διαλέγει</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Εκτελούμενη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Πήρε τον επεξεργαστή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29768">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Το Spotify παίρνει τη σειρά του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Έτοιμη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Έληξε το κβάντο της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29768">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4</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Πατάς «Αποθήκευση», γράφει στον δίσκο</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Μπλοκαρισμένη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Περιμένει τον δίσκο (Ε/Ε)</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29768">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5</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Ο δίσκος τελείωσε την εγγραφή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Έτοιμη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Όχι κατευθείαν Εκτελούμενη!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29768">
                <a:tc>
                  <a:txBody>
                    <a:bodyPr/>
                    <a:lstStyle/>
                    <a:p>
                      <a:pPr indent="0" marL="0">
                        <a:buNone/>
                      </a:pPr>
                      <a:r>
                        <a:rPr lang="en-US" sz="1200" b="1" dirty="0">
                          <a:solidFill>
                            <a:srgbClr val="2F4BD8"/>
                          </a:solidFill>
                          <a:latin typeface="Consolas" pitchFamily="34" charset="0"/>
                          <a:ea typeface="Consolas" pitchFamily="34" charset="-122"/>
                          <a:cs typeface="Consolas" pitchFamily="34" charset="-120"/>
                        </a:rPr>
                        <a:t>6</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Κλείνεις το Word</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Τερματισμένη</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Το ΛΣ παίρνει πίσω τους πόρους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12  </a:t>
            </a:r>
            <a:pPr indent="0" marL="0">
              <a:buNone/>
            </a:pPr>
            <a:r>
              <a:rPr lang="en-US" sz="1000" spc="140" kern="0" dirty="0">
                <a:solidFill>
                  <a:srgbClr val="8A91A3"/>
                </a:solidFill>
                <a:latin typeface="Consolas" pitchFamily="34" charset="0"/>
                <a:ea typeface="Consolas" pitchFamily="34" charset="-122"/>
                <a:cs typeface="Consolas" pitchFamily="34" charset="-120"/>
              </a:rPr>
              <a:t>ΕΡΓΑΣΤΗΡΙΟ · ΒΗΜΑ-ΒΗΜΑ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Κυνήγι διεργασιών στα Windows</a:t>
            </a:r>
            <a:endParaRPr lang="en-US" sz="3000" dirty="0"/>
          </a:p>
        </p:txBody>
      </p:sp>
      <p:sp>
        <p:nvSpPr>
          <p:cNvPr id="8" name="Shape 5"/>
          <p:cNvSpPr/>
          <p:nvPr/>
        </p:nvSpPr>
        <p:spPr>
          <a:xfrm>
            <a:off x="566928" y="1600200"/>
            <a:ext cx="457200" cy="457200"/>
          </a:xfrm>
          <a:prstGeom prst="ellipse">
            <a:avLst/>
          </a:prstGeom>
          <a:solidFill>
            <a:srgbClr val="2F4BD8"/>
          </a:solidFill>
          <a:ln w="12700">
            <a:solidFill>
              <a:srgbClr val="2F4BD8"/>
            </a:solidFill>
            <a:prstDash val="solid"/>
          </a:ln>
        </p:spPr>
      </p:sp>
      <p:sp>
        <p:nvSpPr>
          <p:cNvPr id="9" name="Text 6"/>
          <p:cNvSpPr txBox="1"/>
          <p:nvPr/>
        </p:nvSpPr>
        <p:spPr>
          <a:xfrm>
            <a:off x="566928"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0" name="Shape 7"/>
          <p:cNvSpPr/>
          <p:nvPr/>
        </p:nvSpPr>
        <p:spPr>
          <a:xfrm>
            <a:off x="1207008" y="1417320"/>
            <a:ext cx="10241280" cy="804672"/>
          </a:xfrm>
          <a:prstGeom prst="roundRect">
            <a:avLst>
              <a:gd name="adj" fmla="val 6818"/>
            </a:avLst>
          </a:prstGeom>
          <a:solidFill>
            <a:srgbClr val="FBFCFE"/>
          </a:solidFill>
          <a:ln w="9525">
            <a:solidFill>
              <a:srgbClr val="D3D9E4"/>
            </a:solidFill>
            <a:prstDash val="solid"/>
          </a:ln>
        </p:spPr>
      </p:sp>
      <p:sp>
        <p:nvSpPr>
          <p:cNvPr id="11" name="Text 8"/>
          <p:cNvSpPr txBox="1"/>
          <p:nvPr/>
        </p:nvSpPr>
        <p:spPr>
          <a:xfrm>
            <a:off x="1389888" y="1490472"/>
            <a:ext cx="356616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1 πρόγραμμα, 3 διεργασίες</a:t>
            </a:r>
            <a:endParaRPr lang="en-US" sz="1350" dirty="0"/>
          </a:p>
        </p:txBody>
      </p:sp>
      <p:sp>
        <p:nvSpPr>
          <p:cNvPr id="12" name="Text 9"/>
          <p:cNvSpPr txBox="1"/>
          <p:nvPr/>
        </p:nvSpPr>
        <p:spPr>
          <a:xfrm>
            <a:off x="1389888" y="1837944"/>
            <a:ext cx="374904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Win + R → notepad (× 3 φορές)</a:t>
            </a:r>
            <a:endParaRPr lang="en-US" sz="1050" dirty="0"/>
          </a:p>
        </p:txBody>
      </p:sp>
      <p:sp>
        <p:nvSpPr>
          <p:cNvPr id="13" name="Text 10"/>
          <p:cNvSpPr txBox="1"/>
          <p:nvPr/>
        </p:nvSpPr>
        <p:spPr>
          <a:xfrm>
            <a:off x="5303520" y="1417320"/>
            <a:ext cx="5943600" cy="804672"/>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Άνοιξε 3 Σημειωματάρια και γράψε σε καθένα κάτι διαφορετικό.</a:t>
            </a:r>
            <a:endParaRPr lang="en-US" sz="1200" dirty="0"/>
          </a:p>
        </p:txBody>
      </p:sp>
      <p:sp>
        <p:nvSpPr>
          <p:cNvPr id="14" name="Shape 11"/>
          <p:cNvSpPr/>
          <p:nvPr/>
        </p:nvSpPr>
        <p:spPr>
          <a:xfrm>
            <a:off x="566928" y="2496312"/>
            <a:ext cx="457200" cy="457200"/>
          </a:xfrm>
          <a:prstGeom prst="ellipse">
            <a:avLst/>
          </a:prstGeom>
          <a:solidFill>
            <a:srgbClr val="2F4BD8"/>
          </a:solidFill>
          <a:ln w="12700">
            <a:solidFill>
              <a:srgbClr val="2F4BD8"/>
            </a:solidFill>
            <a:prstDash val="solid"/>
          </a:ln>
        </p:spPr>
      </p:sp>
      <p:sp>
        <p:nvSpPr>
          <p:cNvPr id="15" name="Text 12"/>
          <p:cNvSpPr txBox="1"/>
          <p:nvPr/>
        </p:nvSpPr>
        <p:spPr>
          <a:xfrm>
            <a:off x="566928" y="24963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6" name="Shape 13"/>
          <p:cNvSpPr/>
          <p:nvPr/>
        </p:nvSpPr>
        <p:spPr>
          <a:xfrm>
            <a:off x="1207008" y="2313432"/>
            <a:ext cx="10241280" cy="804672"/>
          </a:xfrm>
          <a:prstGeom prst="roundRect">
            <a:avLst>
              <a:gd name="adj" fmla="val 6818"/>
            </a:avLst>
          </a:prstGeom>
          <a:solidFill>
            <a:srgbClr val="E4E8FB"/>
          </a:solidFill>
          <a:ln w="12700">
            <a:solidFill>
              <a:srgbClr val="E4E8FB"/>
            </a:solidFill>
            <a:prstDash val="solid"/>
          </a:ln>
        </p:spPr>
      </p:sp>
      <p:sp>
        <p:nvSpPr>
          <p:cNvPr id="17" name="Text 14"/>
          <p:cNvSpPr txBox="1"/>
          <p:nvPr/>
        </p:nvSpPr>
        <p:spPr>
          <a:xfrm>
            <a:off x="1389888" y="2386584"/>
            <a:ext cx="356616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Βρες τα PID</a:t>
            </a:r>
            <a:endParaRPr lang="en-US" sz="1350" dirty="0"/>
          </a:p>
        </p:txBody>
      </p:sp>
      <p:sp>
        <p:nvSpPr>
          <p:cNvPr id="18" name="Text 15"/>
          <p:cNvSpPr txBox="1"/>
          <p:nvPr/>
        </p:nvSpPr>
        <p:spPr>
          <a:xfrm>
            <a:off x="1389888" y="2734056"/>
            <a:ext cx="374904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Ctrl + Shift + Esc → Λεπτομέρειες</a:t>
            </a:r>
            <a:endParaRPr lang="en-US" sz="1050" dirty="0"/>
          </a:p>
        </p:txBody>
      </p:sp>
      <p:sp>
        <p:nvSpPr>
          <p:cNvPr id="19" name="Text 16"/>
          <p:cNvSpPr txBox="1"/>
          <p:nvPr/>
        </p:nvSpPr>
        <p:spPr>
          <a:xfrm>
            <a:off x="5303520" y="2313432"/>
            <a:ext cx="5943600" cy="804672"/>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Ταξινόμησε κατά όνομα. Τρία Notepad.exe, τρία διαφορετικά PID.</a:t>
            </a:r>
            <a:endParaRPr lang="en-US" sz="1200" dirty="0"/>
          </a:p>
        </p:txBody>
      </p:sp>
      <p:sp>
        <p:nvSpPr>
          <p:cNvPr id="20" name="Shape 17"/>
          <p:cNvSpPr/>
          <p:nvPr/>
        </p:nvSpPr>
        <p:spPr>
          <a:xfrm>
            <a:off x="566928" y="3392424"/>
            <a:ext cx="457200" cy="457200"/>
          </a:xfrm>
          <a:prstGeom prst="ellipse">
            <a:avLst/>
          </a:prstGeom>
          <a:solidFill>
            <a:srgbClr val="2F4BD8"/>
          </a:solidFill>
          <a:ln w="12700">
            <a:solidFill>
              <a:srgbClr val="2F4BD8"/>
            </a:solidFill>
            <a:prstDash val="solid"/>
          </a:ln>
        </p:spPr>
      </p:sp>
      <p:sp>
        <p:nvSpPr>
          <p:cNvPr id="21" name="Text 18"/>
          <p:cNvSpPr txBox="1"/>
          <p:nvPr/>
        </p:nvSpPr>
        <p:spPr>
          <a:xfrm>
            <a:off x="566928" y="3392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2" name="Shape 19"/>
          <p:cNvSpPr/>
          <p:nvPr/>
        </p:nvSpPr>
        <p:spPr>
          <a:xfrm>
            <a:off x="1207008" y="3209544"/>
            <a:ext cx="10241280" cy="804672"/>
          </a:xfrm>
          <a:prstGeom prst="roundRect">
            <a:avLst>
              <a:gd name="adj" fmla="val 6818"/>
            </a:avLst>
          </a:prstGeom>
          <a:solidFill>
            <a:srgbClr val="FBFCFE"/>
          </a:solidFill>
          <a:ln w="9525">
            <a:solidFill>
              <a:srgbClr val="D3D9E4"/>
            </a:solidFill>
            <a:prstDash val="solid"/>
          </a:ln>
        </p:spPr>
      </p:sp>
      <p:sp>
        <p:nvSpPr>
          <p:cNvPr id="23" name="Text 20"/>
          <p:cNvSpPr txBox="1"/>
          <p:nvPr/>
        </p:nvSpPr>
        <p:spPr>
          <a:xfrm>
            <a:off x="1389888" y="3282696"/>
            <a:ext cx="356616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Άλλαξε προτεραιότητα</a:t>
            </a:r>
            <a:endParaRPr lang="en-US" sz="1350" dirty="0"/>
          </a:p>
        </p:txBody>
      </p:sp>
      <p:sp>
        <p:nvSpPr>
          <p:cNvPr id="24" name="Text 21"/>
          <p:cNvSpPr txBox="1"/>
          <p:nvPr/>
        </p:nvSpPr>
        <p:spPr>
          <a:xfrm>
            <a:off x="1389888" y="3630168"/>
            <a:ext cx="374904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δεξί κλικ → Ορισμός προτεραιότητας</a:t>
            </a:r>
            <a:endParaRPr lang="en-US" sz="1050" dirty="0"/>
          </a:p>
        </p:txBody>
      </p:sp>
      <p:sp>
        <p:nvSpPr>
          <p:cNvPr id="25" name="Text 22"/>
          <p:cNvSpPr txBox="1"/>
          <p:nvPr/>
        </p:nvSpPr>
        <p:spPr>
          <a:xfrm>
            <a:off x="5303520" y="3209544"/>
            <a:ext cx="5943600" cy="804672"/>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Βάλε στο ένα Notepad «Χαμηλή» και στο άλλο «Πάνω από κανονική».</a:t>
            </a:r>
            <a:endParaRPr lang="en-US" sz="1200" dirty="0"/>
          </a:p>
        </p:txBody>
      </p:sp>
      <p:sp>
        <p:nvSpPr>
          <p:cNvPr id="26" name="Shape 23"/>
          <p:cNvSpPr/>
          <p:nvPr/>
        </p:nvSpPr>
        <p:spPr>
          <a:xfrm>
            <a:off x="566928" y="4288536"/>
            <a:ext cx="457200" cy="457200"/>
          </a:xfrm>
          <a:prstGeom prst="ellipse">
            <a:avLst/>
          </a:prstGeom>
          <a:solidFill>
            <a:srgbClr val="2F4BD8"/>
          </a:solidFill>
          <a:ln w="12700">
            <a:solidFill>
              <a:srgbClr val="2F4BD8"/>
            </a:solidFill>
            <a:prstDash val="solid"/>
          </a:ln>
        </p:spPr>
      </p:sp>
      <p:sp>
        <p:nvSpPr>
          <p:cNvPr id="27" name="Text 24"/>
          <p:cNvSpPr txBox="1"/>
          <p:nvPr/>
        </p:nvSpPr>
        <p:spPr>
          <a:xfrm>
            <a:off x="566928" y="42885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28" name="Shape 25"/>
          <p:cNvSpPr/>
          <p:nvPr/>
        </p:nvSpPr>
        <p:spPr>
          <a:xfrm>
            <a:off x="1207008" y="4105656"/>
            <a:ext cx="10241280" cy="804672"/>
          </a:xfrm>
          <a:prstGeom prst="roundRect">
            <a:avLst>
              <a:gd name="adj" fmla="val 6818"/>
            </a:avLst>
          </a:prstGeom>
          <a:solidFill>
            <a:srgbClr val="E4E8FB"/>
          </a:solidFill>
          <a:ln w="12700">
            <a:solidFill>
              <a:srgbClr val="E4E8FB"/>
            </a:solidFill>
            <a:prstDash val="solid"/>
          </a:ln>
        </p:spPr>
      </p:sp>
      <p:sp>
        <p:nvSpPr>
          <p:cNvPr id="29" name="Text 26"/>
          <p:cNvSpPr txBox="1"/>
          <p:nvPr/>
        </p:nvSpPr>
        <p:spPr>
          <a:xfrm>
            <a:off x="1389888" y="4178808"/>
            <a:ext cx="356616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Νάρκωσε και ξύπνησε</a:t>
            </a:r>
            <a:endParaRPr lang="en-US" sz="1350" dirty="0"/>
          </a:p>
        </p:txBody>
      </p:sp>
      <p:sp>
        <p:nvSpPr>
          <p:cNvPr id="30" name="Text 27"/>
          <p:cNvSpPr txBox="1"/>
          <p:nvPr/>
        </p:nvSpPr>
        <p:spPr>
          <a:xfrm>
            <a:off x="1389888" y="4526280"/>
            <a:ext cx="374904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Win + R → resmon → CPU</a:t>
            </a:r>
            <a:endParaRPr lang="en-US" sz="1050" dirty="0"/>
          </a:p>
        </p:txBody>
      </p:sp>
      <p:sp>
        <p:nvSpPr>
          <p:cNvPr id="31" name="Text 28"/>
          <p:cNvSpPr txBox="1"/>
          <p:nvPr/>
        </p:nvSpPr>
        <p:spPr>
          <a:xfrm>
            <a:off x="5303520" y="4105656"/>
            <a:ext cx="5943600" cy="804672"/>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Δεξί κλικ σε ένα Notepad → Αναστολή διεργασίας. Δοκίμασε να γράψεις. Μετά: Συνέχιση.</a:t>
            </a:r>
            <a:endParaRPr lang="en-US" sz="1200" dirty="0"/>
          </a:p>
        </p:txBody>
      </p:sp>
      <p:sp>
        <p:nvSpPr>
          <p:cNvPr id="32" name="Shape 29"/>
          <p:cNvSpPr/>
          <p:nvPr/>
        </p:nvSpPr>
        <p:spPr>
          <a:xfrm>
            <a:off x="566928" y="5184648"/>
            <a:ext cx="457200" cy="457200"/>
          </a:xfrm>
          <a:prstGeom prst="ellipse">
            <a:avLst/>
          </a:prstGeom>
          <a:solidFill>
            <a:srgbClr val="2F4BD8"/>
          </a:solidFill>
          <a:ln w="12700">
            <a:solidFill>
              <a:srgbClr val="2F4BD8"/>
            </a:solidFill>
            <a:prstDash val="solid"/>
          </a:ln>
        </p:spPr>
      </p:sp>
      <p:sp>
        <p:nvSpPr>
          <p:cNvPr id="33" name="Text 30"/>
          <p:cNvSpPr txBox="1"/>
          <p:nvPr/>
        </p:nvSpPr>
        <p:spPr>
          <a:xfrm>
            <a:off x="566928" y="51846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5</a:t>
            </a:r>
            <a:endParaRPr lang="en-US" sz="1500" dirty="0"/>
          </a:p>
        </p:txBody>
      </p:sp>
      <p:sp>
        <p:nvSpPr>
          <p:cNvPr id="34" name="Shape 31"/>
          <p:cNvSpPr/>
          <p:nvPr/>
        </p:nvSpPr>
        <p:spPr>
          <a:xfrm>
            <a:off x="1207008" y="5001768"/>
            <a:ext cx="10241280" cy="804672"/>
          </a:xfrm>
          <a:prstGeom prst="roundRect">
            <a:avLst>
              <a:gd name="adj" fmla="val 6818"/>
            </a:avLst>
          </a:prstGeom>
          <a:solidFill>
            <a:srgbClr val="FBFCFE"/>
          </a:solidFill>
          <a:ln w="9525">
            <a:solidFill>
              <a:srgbClr val="D3D9E4"/>
            </a:solidFill>
            <a:prstDash val="solid"/>
          </a:ln>
        </p:spPr>
      </p:sp>
      <p:sp>
        <p:nvSpPr>
          <p:cNvPr id="35" name="Text 32"/>
          <p:cNvSpPr txBox="1"/>
          <p:nvPr/>
        </p:nvSpPr>
        <p:spPr>
          <a:xfrm>
            <a:off x="1389888" y="5074920"/>
            <a:ext cx="356616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Τερμάτισε</a:t>
            </a:r>
            <a:endParaRPr lang="en-US" sz="1350" dirty="0"/>
          </a:p>
        </p:txBody>
      </p:sp>
      <p:sp>
        <p:nvSpPr>
          <p:cNvPr id="36" name="Text 33"/>
          <p:cNvSpPr txBox="1"/>
          <p:nvPr/>
        </p:nvSpPr>
        <p:spPr>
          <a:xfrm>
            <a:off x="1389888" y="5422392"/>
            <a:ext cx="374904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Λεπτομέρειες → Τερματισμός εργασίας</a:t>
            </a:r>
            <a:endParaRPr lang="en-US" sz="1050" dirty="0"/>
          </a:p>
        </p:txBody>
      </p:sp>
      <p:sp>
        <p:nvSpPr>
          <p:cNvPr id="37" name="Text 34"/>
          <p:cNvSpPr txBox="1"/>
          <p:nvPr/>
        </p:nvSpPr>
        <p:spPr>
          <a:xfrm>
            <a:off x="5303520" y="5001768"/>
            <a:ext cx="5943600" cy="804672"/>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Κλείσε το τρίτο Notepad από τη Διαχείριση εργασιών. Τι έγινε με όσα έγραψες;</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13  </a:t>
            </a:r>
            <a:pPr indent="0" marL="0">
              <a:buNone/>
            </a:pPr>
            <a:r>
              <a:rPr lang="en-US" sz="1000" spc="140" kern="0" dirty="0">
                <a:solidFill>
                  <a:srgbClr val="8A91A3"/>
                </a:solidFill>
                <a:latin typeface="Consolas" pitchFamily="34" charset="0"/>
                <a:ea typeface="Consolas" pitchFamily="34" charset="-122"/>
                <a:cs typeface="Consolas" pitchFamily="34" charset="-120"/>
              </a:rPr>
              <a:t>ΕΡΓΑΣΤΗΡΙΟ · ΠΑΡΑΔΟΤΕΟ</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Φύλλο εργασίας: οι διεργασίες μου</a:t>
            </a:r>
            <a:endParaRPr lang="en-US" sz="3000" dirty="0"/>
          </a:p>
        </p:txBody>
      </p:sp>
      <p:sp>
        <p:nvSpPr>
          <p:cNvPr id="8" name="Shape 5"/>
          <p:cNvSpPr/>
          <p:nvPr/>
        </p:nvSpPr>
        <p:spPr>
          <a:xfrm>
            <a:off x="566928" y="1463040"/>
            <a:ext cx="10881360" cy="914400"/>
          </a:xfrm>
          <a:prstGeom prst="rect">
            <a:avLst/>
          </a:prstGeom>
          <a:solidFill>
            <a:srgbClr val="E4E8FB"/>
          </a:solidFill>
          <a:ln w="12700">
            <a:solidFill>
              <a:srgbClr val="E4E8FB"/>
            </a:solidFill>
            <a:prstDash val="solid"/>
          </a:ln>
        </p:spPr>
      </p:sp>
      <p:sp>
        <p:nvSpPr>
          <p:cNvPr id="9" name="Shape 6"/>
          <p:cNvSpPr/>
          <p:nvPr/>
        </p:nvSpPr>
        <p:spPr>
          <a:xfrm>
            <a:off x="566928" y="1463040"/>
            <a:ext cx="41148" cy="914400"/>
          </a:xfrm>
          <a:prstGeom prst="rect">
            <a:avLst/>
          </a:prstGeom>
          <a:solidFill>
            <a:srgbClr val="2F4BD8"/>
          </a:solidFill>
          <a:ln w="12700">
            <a:solidFill>
              <a:srgbClr val="2F4BD8"/>
            </a:solidFill>
            <a:prstDash val="solid"/>
          </a:ln>
        </p:spPr>
      </p:sp>
      <p:sp>
        <p:nvSpPr>
          <p:cNvPr id="10" name="Text 7"/>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ΕΚΦΩΝΗΣΗ</a:t>
            </a:r>
            <a:endParaRPr lang="en-US" sz="900" dirty="0"/>
          </a:p>
        </p:txBody>
      </p:sp>
      <p:sp>
        <p:nvSpPr>
          <p:cNvPr id="11" name="Text 8"/>
          <p:cNvSpPr txBox="1"/>
          <p:nvPr/>
        </p:nvSpPr>
        <p:spPr>
          <a:xfrm>
            <a:off x="731520" y="1773936"/>
            <a:ext cx="10552176" cy="53035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Απάντησε στο φύλλο εργασίας και αποθήκευσέ το ως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Diergasies_Eponymo.docx</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στον φάκελό σου. Βάλε από ένα στιγμιότυπο οθόνης (Win + Shift + S) στα βήματα 2 και 4.</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560320"/>
          <a:ext cx="10881360" cy="914400"/>
        </p:xfrm>
        <a:graphic>
          <a:graphicData uri="http://schemas.openxmlformats.org/drawingml/2006/table">
            <a:tbl>
              <a:tblPr/>
              <a:tblGrid>
                <a:gridCol w="457200"/>
                <a:gridCol w="6309360"/>
                <a:gridCol w="4114800"/>
              </a:tblGrid>
              <a:tr h="457200">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ΕΡΩΤΗΣΗ</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Η ΑΠΑΝΤΗΣΗ ΜΟΥ</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Πόσες διεργασίες τρέχουν συνολικά; (Επιδόσεις → CPU)</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2</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Ποια είναι τα PID των τριών Notepad;</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Γιατί 1 πρόγραμμα έδωσε 3 διεργασίες;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4</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Τι κατάσταση έγραφε το resmon για το Notepad σε αναστολή;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5</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Τι έγινε όταν έγραψες σε Notepad σε αναστολή;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6</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Σε ποια κατάσταση της διαφάνειας 09 αντιστοιχεί ο τερματισμός;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14  </a:t>
            </a:r>
            <a:pPr indent="0" marL="0">
              <a:buNone/>
            </a:pPr>
            <a:r>
              <a:rPr lang="en-US" sz="1000" spc="140" kern="0" dirty="0">
                <a:solidFill>
                  <a:srgbClr val="8A91A3"/>
                </a:solidFill>
                <a:latin typeface="Consolas" pitchFamily="34" charset="0"/>
                <a:ea typeface="Consolas" pitchFamily="34" charset="-122"/>
                <a:cs typeface="Consolas" pitchFamily="34" charset="-120"/>
              </a:rPr>
              <a:t>ΑΣΚΗΣΗ Γ1 · ΔΥΣΚΟΛΗ</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Ποιες μεταβάσεις είναι αδύνατες;</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B0362A"/>
                </a:solidFill>
                <a:latin typeface="Consolas" pitchFamily="34" charset="0"/>
                <a:ea typeface="Consolas" pitchFamily="34" charset="-122"/>
                <a:cs typeface="Consolas" pitchFamily="34" charset="-120"/>
              </a:rPr>
              <a:t>●●●  ΔΥΣΚΟΛΗ</a:t>
            </a:r>
            <a:endParaRPr lang="en-US" sz="1100" dirty="0"/>
          </a:p>
        </p:txBody>
      </p:sp>
      <p:sp>
        <p:nvSpPr>
          <p:cNvPr id="9" name="Shape 6"/>
          <p:cNvSpPr/>
          <p:nvPr/>
        </p:nvSpPr>
        <p:spPr>
          <a:xfrm>
            <a:off x="566928" y="1463040"/>
            <a:ext cx="10881360" cy="1097280"/>
          </a:xfrm>
          <a:prstGeom prst="rect">
            <a:avLst/>
          </a:prstGeom>
          <a:solidFill>
            <a:srgbClr val="E4E8FB"/>
          </a:solidFill>
          <a:ln w="12700">
            <a:solidFill>
              <a:srgbClr val="E4E8FB"/>
            </a:solidFill>
            <a:prstDash val="solid"/>
          </a:ln>
        </p:spPr>
      </p:sp>
      <p:sp>
        <p:nvSpPr>
          <p:cNvPr id="10" name="Shape 7"/>
          <p:cNvSpPr/>
          <p:nvPr/>
        </p:nvSpPr>
        <p:spPr>
          <a:xfrm>
            <a:off x="566928" y="1463040"/>
            <a:ext cx="41148" cy="1097280"/>
          </a:xfrm>
          <a:prstGeom prst="rect">
            <a:avLst/>
          </a:prstGeom>
          <a:solidFill>
            <a:srgbClr val="2F4BD8"/>
          </a:solidFill>
          <a:ln w="12700">
            <a:solidFill>
              <a:srgbClr val="2F4BD8"/>
            </a:solidFill>
            <a:prstDash val="solid"/>
          </a:ln>
        </p:spPr>
      </p:sp>
      <p:sp>
        <p:nvSpPr>
          <p:cNvPr id="11" name="Text 8"/>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ΕΚΦΩΝΗΣΗ</a:t>
            </a:r>
            <a:endParaRPr lang="en-US" sz="900" dirty="0"/>
          </a:p>
        </p:txBody>
      </p:sp>
      <p:sp>
        <p:nvSpPr>
          <p:cNvPr id="12" name="Text 9"/>
          <p:cNvSpPr txBox="1"/>
          <p:nvPr/>
        </p:nvSpPr>
        <p:spPr>
          <a:xfrm>
            <a:off x="731520" y="1773936"/>
            <a:ext cx="10552176" cy="71323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Με βάση το διάγραμμα καταστάσεων, εξήγησε γιατί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δεν</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μπορούν να γίνουν οι τρεις παρακάτω μεταβάσεις. Μετά απάντησε: σε επεξεργαστή με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4 πυρήνες</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πόσες διεργασίες μπορούν να είναι Εκτελούμενες την ίδια στιγμή;</a:t>
            </a:r>
            <a:endParaRPr lang="en-US" sz="1200" dirty="0"/>
          </a:p>
        </p:txBody>
      </p:sp>
      <p:sp>
        <p:nvSpPr>
          <p:cNvPr id="13" name="Text 10"/>
          <p:cNvSpPr txBox="1"/>
          <p:nvPr/>
        </p:nvSpPr>
        <p:spPr>
          <a:xfrm>
            <a:off x="566928" y="2743200"/>
            <a:ext cx="4572000" cy="201168"/>
          </a:xfrm>
          <a:prstGeom prst="rect">
            <a:avLst/>
          </a:prstGeom>
          <a:noFill/>
          <a:ln/>
        </p:spPr>
        <p:txBody>
          <a:bodyPr wrap="square" lIns="0" tIns="0" rIns="0" bIns="0" rtlCol="0" anchor="ctr"/>
          <a:lstStyle/>
          <a:p>
            <a:pPr indent="0" marL="0">
              <a:buNone/>
            </a:pPr>
            <a:r>
              <a:rPr lang="en-US" sz="900" b="1" spc="120" kern="0" dirty="0">
                <a:solidFill>
                  <a:srgbClr val="9A6B0C"/>
                </a:solidFill>
                <a:latin typeface="Consolas" pitchFamily="34" charset="0"/>
                <a:ea typeface="Consolas" pitchFamily="34" charset="-122"/>
                <a:cs typeface="Consolas" pitchFamily="34" charset="-120"/>
              </a:rPr>
              <a:t>ΛΥΣΗ</a:t>
            </a:r>
            <a:endParaRPr lang="en-US" sz="900" dirty="0"/>
          </a:p>
        </p:txBody>
      </p:sp>
      <p:sp>
        <p:nvSpPr>
          <p:cNvPr id="14" name="Shape 11"/>
          <p:cNvSpPr/>
          <p:nvPr/>
        </p:nvSpPr>
        <p:spPr>
          <a:xfrm>
            <a:off x="566928" y="3017520"/>
            <a:ext cx="3502152" cy="1828800"/>
          </a:xfrm>
          <a:prstGeom prst="roundRect">
            <a:avLst>
              <a:gd name="adj" fmla="val 3000"/>
            </a:avLst>
          </a:prstGeom>
          <a:solidFill>
            <a:srgbClr val="FBFCFE"/>
          </a:solidFill>
          <a:ln w="9525">
            <a:solidFill>
              <a:srgbClr val="D3D9E4"/>
            </a:solidFill>
            <a:prstDash val="solid"/>
          </a:ln>
        </p:spPr>
      </p:sp>
      <p:sp>
        <p:nvSpPr>
          <p:cNvPr id="15" name="Text 12"/>
          <p:cNvSpPr txBox="1"/>
          <p:nvPr/>
        </p:nvSpPr>
        <p:spPr>
          <a:xfrm>
            <a:off x="731520" y="3145536"/>
            <a:ext cx="3172968"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Μπλοκαρισμένη → Εκτελούμενη</a:t>
            </a:r>
            <a:endParaRPr lang="en-US" sz="1300" dirty="0"/>
          </a:p>
        </p:txBody>
      </p:sp>
      <p:sp>
        <p:nvSpPr>
          <p:cNvPr id="16" name="Text 13"/>
          <p:cNvSpPr txBox="1"/>
          <p:nvPr/>
        </p:nvSpPr>
        <p:spPr>
          <a:xfrm>
            <a:off x="731520" y="3479927"/>
            <a:ext cx="3172968"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Όταν έρθει η Ε/Ε, η διεργασία πάει πρώτα στις Έτοιμες. Τον επεξεργαστή τον δίνει μόνο ο scheduler.</a:t>
            </a:r>
            <a:endParaRPr lang="en-US" sz="1150" dirty="0"/>
          </a:p>
        </p:txBody>
      </p:sp>
      <p:sp>
        <p:nvSpPr>
          <p:cNvPr id="17" name="Shape 14"/>
          <p:cNvSpPr/>
          <p:nvPr/>
        </p:nvSpPr>
        <p:spPr>
          <a:xfrm>
            <a:off x="4251960" y="3017520"/>
            <a:ext cx="3502152" cy="1828800"/>
          </a:xfrm>
          <a:prstGeom prst="roundRect">
            <a:avLst>
              <a:gd name="adj" fmla="val 3000"/>
            </a:avLst>
          </a:prstGeom>
          <a:solidFill>
            <a:srgbClr val="E4E8FB"/>
          </a:solidFill>
          <a:ln w="12700">
            <a:solidFill>
              <a:srgbClr val="E4E8FB"/>
            </a:solidFill>
            <a:prstDash val="solid"/>
          </a:ln>
        </p:spPr>
      </p:sp>
      <p:sp>
        <p:nvSpPr>
          <p:cNvPr id="18" name="Text 15"/>
          <p:cNvSpPr txBox="1"/>
          <p:nvPr/>
        </p:nvSpPr>
        <p:spPr>
          <a:xfrm>
            <a:off x="4416552" y="3145536"/>
            <a:ext cx="3172968"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Έτοιμη → Μπλοκαρισμένη</a:t>
            </a:r>
            <a:endParaRPr lang="en-US" sz="1300" dirty="0"/>
          </a:p>
        </p:txBody>
      </p:sp>
      <p:sp>
        <p:nvSpPr>
          <p:cNvPr id="19" name="Text 16"/>
          <p:cNvSpPr txBox="1"/>
          <p:nvPr/>
        </p:nvSpPr>
        <p:spPr>
          <a:xfrm>
            <a:off x="4416552" y="3479927"/>
            <a:ext cx="3172968"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Για να μπλοκαριστεί πρέπει να ζητήσει Ε/Ε, κι αυτό γίνεται μόνο όταν εκτελείται.</a:t>
            </a:r>
            <a:endParaRPr lang="en-US" sz="1150" dirty="0"/>
          </a:p>
        </p:txBody>
      </p:sp>
      <p:sp>
        <p:nvSpPr>
          <p:cNvPr id="20" name="Shape 17"/>
          <p:cNvSpPr/>
          <p:nvPr/>
        </p:nvSpPr>
        <p:spPr>
          <a:xfrm>
            <a:off x="7946136" y="3017520"/>
            <a:ext cx="3502152" cy="1828800"/>
          </a:xfrm>
          <a:prstGeom prst="roundRect">
            <a:avLst>
              <a:gd name="adj" fmla="val 3000"/>
            </a:avLst>
          </a:prstGeom>
          <a:solidFill>
            <a:srgbClr val="FBFCFE"/>
          </a:solidFill>
          <a:ln w="9525">
            <a:solidFill>
              <a:srgbClr val="D3D9E4"/>
            </a:solidFill>
            <a:prstDash val="solid"/>
          </a:ln>
        </p:spPr>
      </p:sp>
      <p:sp>
        <p:nvSpPr>
          <p:cNvPr id="21" name="Text 18"/>
          <p:cNvSpPr txBox="1"/>
          <p:nvPr/>
        </p:nvSpPr>
        <p:spPr>
          <a:xfrm>
            <a:off x="8110728" y="3145536"/>
            <a:ext cx="3172968"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Νέα → Εκτελούμενη</a:t>
            </a:r>
            <a:endParaRPr lang="en-US" sz="1300" dirty="0"/>
          </a:p>
        </p:txBody>
      </p:sp>
      <p:sp>
        <p:nvSpPr>
          <p:cNvPr id="22" name="Text 19"/>
          <p:cNvSpPr txBox="1"/>
          <p:nvPr/>
        </p:nvSpPr>
        <p:spPr>
          <a:xfrm>
            <a:off x="8110728" y="3479927"/>
            <a:ext cx="3172968"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Κάθε νέα διεργασία μπαίνει πρώτα στην ουρά των Έτοιμων. Δεν «πηδάει» την ουρά.</a:t>
            </a:r>
            <a:endParaRPr lang="en-US" sz="1150" dirty="0"/>
          </a:p>
        </p:txBody>
      </p:sp>
      <p:sp>
        <p:nvSpPr>
          <p:cNvPr id="23" name="Shape 20"/>
          <p:cNvSpPr/>
          <p:nvPr/>
        </p:nvSpPr>
        <p:spPr>
          <a:xfrm>
            <a:off x="566928" y="5029200"/>
            <a:ext cx="10881360" cy="914400"/>
          </a:xfrm>
          <a:prstGeom prst="roundRect">
            <a:avLst>
              <a:gd name="adj" fmla="val 6000"/>
            </a:avLst>
          </a:prstGeom>
          <a:solidFill>
            <a:srgbClr val="F6EDD6"/>
          </a:solidFill>
          <a:ln w="12700">
            <a:solidFill>
              <a:srgbClr val="F6EDD6"/>
            </a:solidFill>
            <a:prstDash val="solid"/>
          </a:ln>
        </p:spPr>
      </p:sp>
      <p:sp>
        <p:nvSpPr>
          <p:cNvPr id="24" name="Text 21"/>
          <p:cNvSpPr txBox="1"/>
          <p:nvPr/>
        </p:nvSpPr>
        <p:spPr>
          <a:xfrm>
            <a:off x="731520" y="5157216"/>
            <a:ext cx="10552176" cy="694944"/>
          </a:xfrm>
          <a:prstGeom prst="rect">
            <a:avLst/>
          </a:prstGeom>
          <a:noFill/>
          <a:ln/>
        </p:spPr>
        <p:txBody>
          <a:bodyPr wrap="square" lIns="0" tIns="0" rIns="0" bIns="0" rtlCol="0" anchor="t"/>
          <a:lstStyle/>
          <a:p>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4 πυρήνες → το πολύ 4 Εκτελούμενες </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(μία ανά πυρήνα). Όλες οι υπόλοιπες, ακόμη κι αν είναι 200, είναι Έτοιμες ή Μπλοκαρισμένες.</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os2/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15  </a:t>
            </a:r>
            <a:pPr indent="0" marL="0">
              <a:buNone/>
            </a:pPr>
            <a:r>
              <a:rPr lang="en-US" sz="1000" spc="140" kern="0" dirty="0">
                <a:solidFill>
                  <a:srgbClr val="8A91A3"/>
                </a:solidFill>
                <a:latin typeface="Consolas" pitchFamily="34" charset="0"/>
                <a:ea typeface="Consolas" pitchFamily="34" charset="-122"/>
                <a:cs typeface="Consolas" pitchFamily="34" charset="-120"/>
              </a:rPr>
              <a:t>ΣΥΝΟΨΗ</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Τι κρατάμε από σήμερα</a:t>
            </a:r>
            <a:endParaRPr lang="en-US" sz="3000" dirty="0"/>
          </a:p>
        </p:txBody>
      </p:sp>
      <p:sp>
        <p:nvSpPr>
          <p:cNvPr id="8" name="Shape 5"/>
          <p:cNvSpPr/>
          <p:nvPr/>
        </p:nvSpPr>
        <p:spPr>
          <a:xfrm>
            <a:off x="566928" y="1463040"/>
            <a:ext cx="5349240" cy="1097280"/>
          </a:xfrm>
          <a:prstGeom prst="roundRect">
            <a:avLst>
              <a:gd name="adj" fmla="val 5000"/>
            </a:avLst>
          </a:prstGeom>
          <a:solidFill>
            <a:srgbClr val="FBFCFE"/>
          </a:solidFill>
          <a:ln w="9525">
            <a:solidFill>
              <a:srgbClr val="D3D9E4"/>
            </a:solidFill>
            <a:prstDash val="solid"/>
          </a:ln>
        </p:spPr>
      </p:sp>
      <p:sp>
        <p:nvSpPr>
          <p:cNvPr id="9" name="Text 6"/>
          <p:cNvSpPr txBox="1"/>
          <p:nvPr/>
        </p:nvSpPr>
        <p:spPr>
          <a:xfrm>
            <a:off x="731520" y="15910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5 κατηγορίες ΛΣ</a:t>
            </a:r>
            <a:endParaRPr lang="en-US" sz="1400" dirty="0"/>
          </a:p>
        </p:txBody>
      </p:sp>
      <p:sp>
        <p:nvSpPr>
          <p:cNvPr id="10" name="Text 7"/>
          <p:cNvSpPr txBox="1"/>
          <p:nvPr/>
        </p:nvSpPr>
        <p:spPr>
          <a:xfrm>
            <a:off x="731520" y="1941322"/>
            <a:ext cx="5020056" cy="52755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Ομαδικής επεξεργασίας, καταμερισμού χρόνου, πραγματικού χρόνου, κατανεμημένα, ενσωματωμένα.</a:t>
            </a:r>
            <a:endParaRPr lang="en-US" sz="1250" dirty="0"/>
          </a:p>
        </p:txBody>
      </p:sp>
      <p:sp>
        <p:nvSpPr>
          <p:cNvPr id="11" name="Shape 8"/>
          <p:cNvSpPr/>
          <p:nvPr/>
        </p:nvSpPr>
        <p:spPr>
          <a:xfrm>
            <a:off x="6099048" y="1463040"/>
            <a:ext cx="5349240" cy="1097280"/>
          </a:xfrm>
          <a:prstGeom prst="roundRect">
            <a:avLst>
              <a:gd name="adj" fmla="val 5000"/>
            </a:avLst>
          </a:prstGeom>
          <a:solidFill>
            <a:srgbClr val="E4E8FB"/>
          </a:solidFill>
          <a:ln w="12700">
            <a:solidFill>
              <a:srgbClr val="E4E8FB"/>
            </a:solidFill>
            <a:prstDash val="solid"/>
          </a:ln>
        </p:spPr>
      </p:sp>
      <p:sp>
        <p:nvSpPr>
          <p:cNvPr id="12" name="Text 9"/>
          <p:cNvSpPr txBox="1"/>
          <p:nvPr/>
        </p:nvSpPr>
        <p:spPr>
          <a:xfrm>
            <a:off x="6263640" y="159105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Πρόγραμμα ≠ διεργασία</a:t>
            </a:r>
            <a:endParaRPr lang="en-US" sz="1400" dirty="0"/>
          </a:p>
        </p:txBody>
      </p:sp>
      <p:sp>
        <p:nvSpPr>
          <p:cNvPr id="13" name="Text 10"/>
          <p:cNvSpPr txBox="1"/>
          <p:nvPr/>
        </p:nvSpPr>
        <p:spPr>
          <a:xfrm>
            <a:off x="6263640" y="1941322"/>
            <a:ext cx="5020056" cy="52755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Το πρόγραμμα είναι αρχείο. Η διεργασία είναι πρόγραμμα σε εκτέλεση, με δικό της PID.</a:t>
            </a:r>
            <a:endParaRPr lang="en-US" sz="1250" dirty="0"/>
          </a:p>
        </p:txBody>
      </p:sp>
      <p:sp>
        <p:nvSpPr>
          <p:cNvPr id="14" name="Shape 11"/>
          <p:cNvSpPr/>
          <p:nvPr/>
        </p:nvSpPr>
        <p:spPr>
          <a:xfrm>
            <a:off x="566928" y="2743200"/>
            <a:ext cx="5349240" cy="1097280"/>
          </a:xfrm>
          <a:prstGeom prst="roundRect">
            <a:avLst>
              <a:gd name="adj" fmla="val 5000"/>
            </a:avLst>
          </a:prstGeom>
          <a:solidFill>
            <a:srgbClr val="E4E8FB"/>
          </a:solidFill>
          <a:ln w="12700">
            <a:solidFill>
              <a:srgbClr val="E4E8FB"/>
            </a:solidFill>
            <a:prstDash val="solid"/>
          </a:ln>
        </p:spPr>
      </p:sp>
      <p:sp>
        <p:nvSpPr>
          <p:cNvPr id="15" name="Text 12"/>
          <p:cNvSpPr txBox="1"/>
          <p:nvPr/>
        </p:nvSpPr>
        <p:spPr>
          <a:xfrm>
            <a:off x="731520" y="287121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5 καταστάσεις</a:t>
            </a:r>
            <a:endParaRPr lang="en-US" sz="1400" dirty="0"/>
          </a:p>
        </p:txBody>
      </p:sp>
      <p:sp>
        <p:nvSpPr>
          <p:cNvPr id="16" name="Text 13"/>
          <p:cNvSpPr txBox="1"/>
          <p:nvPr/>
        </p:nvSpPr>
        <p:spPr>
          <a:xfrm>
            <a:off x="731520" y="3221482"/>
            <a:ext cx="5020056" cy="52755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Νέα, Έτοιμη, Εκτελούμενη, Μπλοκαρισμένη, Τερματισμένη.</a:t>
            </a:r>
            <a:endParaRPr lang="en-US" sz="1250" dirty="0"/>
          </a:p>
        </p:txBody>
      </p:sp>
      <p:sp>
        <p:nvSpPr>
          <p:cNvPr id="17" name="Shape 14"/>
          <p:cNvSpPr/>
          <p:nvPr/>
        </p:nvSpPr>
        <p:spPr>
          <a:xfrm>
            <a:off x="6099048" y="2743200"/>
            <a:ext cx="5349240" cy="1097280"/>
          </a:xfrm>
          <a:prstGeom prst="roundRect">
            <a:avLst>
              <a:gd name="adj" fmla="val 5000"/>
            </a:avLst>
          </a:prstGeom>
          <a:solidFill>
            <a:srgbClr val="FBFCFE"/>
          </a:solidFill>
          <a:ln w="9525">
            <a:solidFill>
              <a:srgbClr val="D3D9E4"/>
            </a:solidFill>
            <a:prstDash val="solid"/>
          </a:ln>
        </p:spPr>
      </p:sp>
      <p:sp>
        <p:nvSpPr>
          <p:cNvPr id="18" name="Text 15"/>
          <p:cNvSpPr txBox="1"/>
          <p:nvPr/>
        </p:nvSpPr>
        <p:spPr>
          <a:xfrm>
            <a:off x="6263640" y="287121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Το «ταυτόχρονα» είναι εναλλαγή</a:t>
            </a:r>
            <a:endParaRPr lang="en-US" sz="1400" dirty="0"/>
          </a:p>
        </p:txBody>
      </p:sp>
      <p:sp>
        <p:nvSpPr>
          <p:cNvPr id="19" name="Text 16"/>
          <p:cNvSpPr txBox="1"/>
          <p:nvPr/>
        </p:nvSpPr>
        <p:spPr>
          <a:xfrm>
            <a:off x="6263640" y="3221482"/>
            <a:ext cx="5020056" cy="52755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Κάθε πυρήνας εκτελεί μία διεργασία τη φορά, αλλά αλλάζει πολύ γρήγορα.</a:t>
            </a:r>
            <a:endParaRPr lang="en-US" sz="1250" dirty="0"/>
          </a:p>
        </p:txBody>
      </p:sp>
      <p:sp>
        <p:nvSpPr>
          <p:cNvPr id="20" name="Shape 17"/>
          <p:cNvSpPr/>
          <p:nvPr/>
        </p:nvSpPr>
        <p:spPr>
          <a:xfrm>
            <a:off x="566928" y="4114800"/>
            <a:ext cx="6949440" cy="1828800"/>
          </a:xfrm>
          <a:prstGeom prst="roundRect">
            <a:avLst>
              <a:gd name="adj" fmla="val 3000"/>
            </a:avLst>
          </a:prstGeom>
          <a:solidFill>
            <a:srgbClr val="F6EDD6"/>
          </a:solidFill>
          <a:ln w="12700">
            <a:solidFill>
              <a:srgbClr val="F6EDD6"/>
            </a:solidFill>
            <a:prstDash val="solid"/>
          </a:ln>
        </p:spPr>
      </p:sp>
      <p:sp>
        <p:nvSpPr>
          <p:cNvPr id="21" name="Text 18"/>
          <p:cNvSpPr txBox="1"/>
          <p:nvPr/>
        </p:nvSpPr>
        <p:spPr>
          <a:xfrm>
            <a:off x="731520" y="4242816"/>
            <a:ext cx="66202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Έλεγξε τον εαυτό σου</a:t>
            </a:r>
            <a:endParaRPr lang="en-US" sz="1400" dirty="0"/>
          </a:p>
        </p:txBody>
      </p:sp>
      <p:sp>
        <p:nvSpPr>
          <p:cNvPr id="22" name="Text 19"/>
          <p:cNvSpPr txBox="1"/>
          <p:nvPr/>
        </p:nvSpPr>
        <p:spPr>
          <a:xfrm>
            <a:off x="731520" y="4593082"/>
            <a:ext cx="6620256" cy="1259078"/>
          </a:xfrm>
          <a:prstGeom prst="rect">
            <a:avLst/>
          </a:prstGeom>
          <a:noFill/>
          <a:ln/>
        </p:spPr>
        <p:txBody>
          <a:bodyPr wrap="square" lIns="0" tIns="0" rIns="0" bIns="0" rtlCol="0" anchor="t"/>
          <a:lstStyle/>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Γιατί ένα σύστημα ABS πρέπει να είναι πραγματικού χρόνου;</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Ποια η διαφορά Έτοιμης και Μπλοκαρισμένης διεργασίας;</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Τι κάνει το ΛΣ σε μια εναλλαγή διεργασιών;</a:t>
            </a:r>
            <a:endParaRPr lang="en-US" sz="1250" dirty="0"/>
          </a:p>
        </p:txBody>
      </p:sp>
      <p:sp>
        <p:nvSpPr>
          <p:cNvPr id="23" name="Shape 20"/>
          <p:cNvSpPr/>
          <p:nvPr/>
        </p:nvSpPr>
        <p:spPr>
          <a:xfrm>
            <a:off x="7699248" y="4114800"/>
            <a:ext cx="3749040" cy="1828800"/>
          </a:xfrm>
          <a:prstGeom prst="roundRect">
            <a:avLst>
              <a:gd name="adj" fmla="val 3000"/>
            </a:avLst>
          </a:prstGeom>
          <a:solidFill>
            <a:srgbClr val="E4E8FB"/>
          </a:solidFill>
          <a:ln w="12700">
            <a:solidFill>
              <a:srgbClr val="E4E8FB"/>
            </a:solidFill>
            <a:prstDash val="solid"/>
          </a:ln>
        </p:spPr>
      </p:sp>
      <p:sp>
        <p:nvSpPr>
          <p:cNvPr id="24" name="Text 21"/>
          <p:cNvSpPr txBox="1"/>
          <p:nvPr/>
        </p:nvSpPr>
        <p:spPr>
          <a:xfrm>
            <a:off x="7863840" y="4242816"/>
            <a:ext cx="34198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20/10/2026</a:t>
            </a:r>
            <a:endParaRPr lang="en-US" sz="900" dirty="0"/>
          </a:p>
        </p:txBody>
      </p:sp>
      <p:sp>
        <p:nvSpPr>
          <p:cNvPr id="25" name="Text 22"/>
          <p:cNvSpPr txBox="1"/>
          <p:nvPr/>
        </p:nvSpPr>
        <p:spPr>
          <a:xfrm>
            <a:off x="7863840" y="4498848"/>
            <a:ext cx="34198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Επόμενο εργαστήριο</a:t>
            </a:r>
            <a:endParaRPr lang="en-US" sz="1400" dirty="0"/>
          </a:p>
        </p:txBody>
      </p:sp>
      <p:sp>
        <p:nvSpPr>
          <p:cNvPr id="26" name="Text 23"/>
          <p:cNvSpPr txBox="1"/>
          <p:nvPr/>
        </p:nvSpPr>
        <p:spPr>
          <a:xfrm>
            <a:off x="7863840" y="4849114"/>
            <a:ext cx="3419856" cy="100304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Τρίτη 20/10: ποια διεργασία παίρνει πρώτη τον επεξεργαστή; Αλγόριθμοι FCFS και SJF με διαγράμματα Gantt.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Εργαστήριο 2 — Κατηγορίες ΛΣ και διεργασίες</dc:title>
  <dc:subject>PptxGenJS Presentation</dc:subject>
  <dc:creator>Λαμπρόπουλος Χρήστος</dc:creator>
  <cp:lastModifiedBy>Λαμπρόπουλος Χρήστος</cp:lastModifiedBy>
  <cp:revision>1</cp:revision>
  <dcterms:created xsi:type="dcterms:W3CDTF">2026-10-05T20:50:17Z</dcterms:created>
  <dcterms:modified xsi:type="dcterms:W3CDTF">2026-10-05T20:50:17Z</dcterms:modified>
</cp:coreProperties>
</file>