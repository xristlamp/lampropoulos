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76" r:id="rId27"/>
    <p:sldId id="261" r:id="rId7"/>
    <p:sldId id="275" r:id="rId26"/>
    <p:sldId id="274" r:id="rId25"/>
    <p:sldId id="262" r:id="rId8"/>
    <p:sldId id="273" r:id="rId24"/>
    <p:sldId id="272" r:id="rId23"/>
    <p:sldId id="263" r:id="rId9"/>
    <p:sldId id="264" r:id="rId10"/>
    <p:sldId id="265" r:id="rId11"/>
    <p:sldId id="266" r:id="rId12"/>
    <p:sldId id="271" r:id="rId22"/>
    <p:sldId id="270" r:id="rId21"/>
    <p:sldId id="269" r:id="rId20"/>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Ώρα 1, λεπτά 0–3. Σήμερα δουλεύουμε κυρίως στον υπολογιστή: λίγη εξήγηση, πολλή πράξη. Ο στόχος της μέρας: κάθε εκπαιδευόμενος να βρει μόνος του τι κάνει το ΛΣ στον δικό του υπολογιστή.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Ώρα 1, λεπτά 3–8. Γρήγορη παρουσίαση. Η βαθμολόγηση θα ανακοινωθεί σύμφωνα με τον Κανονισμό Λειτουργίας της ΣΑΕΚ. Ζητήστε να φτιάξουν ήδη τον φάκελο LS_Eponymo στα Έγγραφα.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Ώρα 1, λεπτά 8–15. Η μόνη «θεωρία» πριν τις αποστολές. Τονίστε: οι εφαρμογές δεν αγγίζουν το υλικό απευθείας, περνούν πάντα από το ΛΣ. Τα υπόλοιπα θα τα ανακαλύψουν στις αποστολές.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Ώρα 1, λεπτά 15–40. Δείξτε τα 4 εργαλεία στον προβολέα (5΄) και μετά δουλεύουν μόνοι τους συμπληρώνοντας την κάρτα της επόμενης διαφάνειας.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Συνέχεια της αποστολής 1. Όποιος τελειώσει, βοηθά τον διπλανό.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Ώρα 2, λεπτά 0–20. Την τρίτη στήλη τη γράφουν με δικά τους στοιχεία, τα παραδείγματα είναι για καθοδήγηση. Στο devmgmt.msc μόνο κοιτάμε, δεν αλλάζουμε τίποτα. Στο τέλος ρωτήστε: ποια δουλειά του ΛΣ σάς έκανε εντύπωση;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Ώρα 2, λεπτά 20–35. Πρώτη επαφή με cmd: πληκτρολογούν αργά, γράμμα-γράμμα. Αν κάποιος έχει τον φάκελο αλλού, προσαρμόζει το cd. Θα επανέλθουμε στο cmd αναλυτικά στο εργαστήριο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Ώρα 2, λεπτά 35–45. Η αλυσίδα εκκίνησης εξηγεί γιατί χωρίς ΛΣ ο υπολογιστής σταματά στο UEFI. Δεν απενεργοποιούμε προγράμματα εκκίνησης στους υπολογιστές του εργαστηρίου. Διάλειμμα μετά.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Ώρα 3, λεπτά 0–5. Δεν απομνημονεύουμε χρονολογίες, κρατάμε τι άλλαξε σε κάθε γενιά.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Ώρα 3, λεπτά 5–20. Στην ενεργοποίηση μόνο κοιτάμε. Καλά παραδείγματα για σύγκριση: Chrome (δωρεάν αλλά όχι ανοιχτού κώδικα) και Firefox (ανοιχτού κώδικα). «Δωρεάν» δεν σημαίνει πάντα «ελεύθερο».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Ώρα 3, λεπτά 20–35. Αν το site είναι μπλοκαρισμένο στο δίκτυο της ΣΑΕΚ, κάντε το ως επίδειξη από τον υπολογιστή του εκπαιδευτή. Σε δύο μήνες θα εγκαταστήσουμε κανονικό Ubuntu σε εικονική μηχανή.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Ώρα 3, λεπτά 35–40. Προφορικά, δείχνοντας πρώτα μόνο τους τίτλους. Δεχόμαστε κάθε απάντηση με λογική αιτιολόγηση.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Ώρα 3, λεπτά 40–45. Έλεγχος του φακέλου από θέση σε θέση. Όποιος δεν τελείωσε, ολοκληρώνει την αρχή του επόμενου εργαστηρίου.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CFE"/>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F4BD8"/>
          </a:solidFill>
          <a:ln w="12700">
            <a:solidFill>
              <a:srgbClr val="2F4BD8"/>
            </a:solidFill>
            <a:prstDash val="solid"/>
          </a:ln>
        </p:spPr>
        <p:txBody>
          <a:bodyPr/>
          <a:p/>
        </p:txBody>
      </p:sp>
      <p:pic>
        <p:nvPicPr>
          <p:cNvPr id="3" name="Image 0" descr="/tmp/claude-0/-home-claude/8f07f1d1-9bfe-540b-b195-992cdc902b9e/scratchpad/prak/logo_os.png">    </p:cNvPr>
          <p:cNvPicPr>
            <a:picLocks noChangeAspect="1"/>
          </p:cNvPicPr>
          <p:nvPr/>
        </p:nvPicPr>
        <p:blipFill>
          <a:blip r:embed="rId1"/>
          <a:stretch>
            <a:fillRect/>
          </a:stretch>
        </p:blipFill>
        <p:spPr>
          <a:xfrm>
            <a:off x="9189720" y="274320"/>
            <a:ext cx="310896" cy="310896"/>
          </a:xfrm>
          <a:prstGeom prst="rect">
            <a:avLst/>
          </a:prstGeom>
        </p:spPr>
      </p:pic>
      <p:sp>
        <p:nvSpPr>
          <p:cNvPr id="4" name="Text 1"/>
          <p:cNvSpPr txBox="1"/>
          <p:nvPr/>
        </p:nvSpPr>
        <p:spPr>
          <a:xfrm>
            <a:off x="9573768" y="246888"/>
            <a:ext cx="2468880" cy="365760"/>
          </a:xfrm>
          <a:prstGeom prst="rect">
            <a:avLst/>
          </a:prstGeom>
          <a:noFill/>
          <a:ln/>
        </p:spPr>
        <p:txBody>
          <a:bodyPr wrap="square" lIns="0" tIns="0" rIns="0" bIns="0" rtlCol="0" anchor="ctr"/>
          <a:lstStyle/>
          <a:p>
            <a:pPr indent="0" marL="0">
              <a:buNone/>
            </a:pPr>
            <a:r>
              <a:rPr lang="en-US" sz="950" b="1" dirty="0">
                <a:solidFill>
                  <a:srgbClr val="4A5265"/>
                </a:solidFill>
                <a:latin typeface="Segoe UI" pitchFamily="34" charset="0"/>
                <a:ea typeface="Segoe UI" pitchFamily="34" charset="-122"/>
                <a:cs typeface="Segoe UI" pitchFamily="34" charset="-120"/>
              </a:rPr>
              <a:t>ΣΑΕΚ Μαρκοπούλου</a:t>
            </a:r>
            <a:endParaRPr lang="en-US" sz="950" dirty="0"/>
          </a:p>
          <a:p>
            <a:pPr indent="0" marL="0">
              <a:buNone/>
            </a:pPr>
            <a:r>
              <a:rPr lang="en-US" sz="950" b="1" dirty="0">
                <a:solidFill>
                  <a:srgbClr val="4A5265"/>
                </a:solidFill>
                <a:latin typeface="Segoe UI" pitchFamily="34" charset="0"/>
                <a:ea typeface="Segoe UI" pitchFamily="34" charset="-122"/>
                <a:cs typeface="Segoe UI" pitchFamily="34" charset="-120"/>
              </a:rPr>
              <a:t>Σύγχρονα Λειτουργικά Συστήματα</a:t>
            </a:r>
            <a:endParaRPr lang="en-US" sz="950" dirty="0"/>
          </a:p>
        </p:txBody>
      </p:sp>
      <p:sp>
        <p:nvSpPr>
          <p:cNvPr id="5" name="Text 2"/>
          <p:cNvSpPr txBox="1"/>
          <p:nvPr/>
        </p:nvSpPr>
        <p:spPr>
          <a:xfrm>
            <a:off x="8503920" y="6419088"/>
            <a:ext cx="3154680" cy="237744"/>
          </a:xfrm>
          <a:prstGeom prst="rect">
            <a:avLst/>
          </a:prstGeom>
          <a:noFill/>
          <a:ln/>
        </p:spPr>
        <p:txBody>
          <a:bodyPr wrap="square" rtlCol="0" anchor="ctr"/>
          <a:lstStyle/>
          <a:p>
            <a:pPr algn="r" indent="0" marL="0">
              <a:buNone/>
            </a:pPr>
            <a:r>
              <a:rPr lang="en-US" sz="900" dirty="0">
                <a:solidFill>
                  <a:srgbClr val="8A91A3"/>
                </a:solidFill>
                <a:latin typeface="Consolas" pitchFamily="34" charset="0"/>
                <a:ea typeface="Consolas" pitchFamily="34" charset="-122"/>
                <a:cs typeface="Consolas" pitchFamily="34" charset="-120"/>
              </a:rPr>
              <a:t>Λαμπρόπουλος Χρήστος</a:t>
            </a:r>
            <a:endParaRPr lang="en-US" sz="900" dirty="0"/>
          </a:p>
        </p:txBody>
      </p:sp>
      <p:sp>
        <p:nvSpPr>
          <p:cNvPr id="6" name="Text 3"/>
          <p:cNvSpPr txBox="1"/>
          <p:nvPr/>
        </p:nvSpPr>
        <p:spPr>
          <a:xfrm>
            <a:off x="566928" y="2148840"/>
            <a:ext cx="9144000" cy="274320"/>
          </a:xfrm>
          <a:prstGeom prst="rect">
            <a:avLst/>
          </a:prstGeom>
          <a:noFill/>
          <a:ln/>
        </p:spPr>
        <p:txBody>
          <a:bodyPr wrap="square" lIns="0" tIns="0" rIns="0" bIns="0" rtlCol="0" anchor="ctr"/>
          <a:lstStyle/>
          <a:p>
            <a:pPr indent="0" marL="0">
              <a:buNone/>
            </a:pPr>
            <a:r>
              <a:rPr lang="en-US" sz="1200" spc="240" kern="0" dirty="0">
                <a:solidFill>
                  <a:srgbClr val="2F4BD8"/>
                </a:solidFill>
                <a:latin typeface="Consolas" pitchFamily="34" charset="0"/>
                <a:ea typeface="Consolas" pitchFamily="34" charset="-122"/>
                <a:cs typeface="Consolas" pitchFamily="34" charset="-120"/>
              </a:rPr>
              <a:t>ΕΡΓΑΣΤΗΡΙΟ 1 · ΕΝΟΤΗΤΑ 2.1.Β.1 · ΤΡΙΤΗ 06/10/2026</a:t>
            </a:r>
            <a:endParaRPr lang="en-US" sz="1200" dirty="0"/>
          </a:p>
        </p:txBody>
      </p:sp>
      <p:sp>
        <p:nvSpPr>
          <p:cNvPr id="7" name="Text 4"/>
          <p:cNvSpPr txBox="1"/>
          <p:nvPr/>
        </p:nvSpPr>
        <p:spPr>
          <a:xfrm>
            <a:off x="512064" y="2487168"/>
            <a:ext cx="10058400" cy="1691640"/>
          </a:xfrm>
          <a:prstGeom prst="rect">
            <a:avLst/>
          </a:prstGeom>
          <a:noFill/>
          <a:ln/>
        </p:spPr>
        <p:txBody>
          <a:bodyPr wrap="square" lIns="0" tIns="0" rIns="0" bIns="0" rtlCol="0" anchor="ctr"/>
          <a:lstStyle/>
          <a:p>
            <a:pPr indent="0" marL="0">
              <a:lnSpc>
                <a:spcPct val="92000"/>
              </a:lnSpc>
              <a:buNone/>
            </a:pPr>
            <a:r>
              <a:rPr lang="en-US" sz="5000" b="1" dirty="0">
                <a:solidFill>
                  <a:srgbClr val="171B26"/>
                </a:solidFill>
                <a:latin typeface="Segoe UI" pitchFamily="34" charset="0"/>
                <a:ea typeface="Segoe UI" pitchFamily="34" charset="-122"/>
                <a:cs typeface="Segoe UI" pitchFamily="34" charset="-120"/>
              </a:rPr>
              <a:t>Τι είναι το</a:t>
            </a:r>
            <a:endParaRPr lang="en-US" sz="5000" dirty="0"/>
          </a:p>
          <a:p>
            <a:pPr indent="0" marL="0">
              <a:lnSpc>
                <a:spcPct val="92000"/>
              </a:lnSpc>
              <a:buNone/>
            </a:pPr>
            <a:r>
              <a:rPr lang="en-US" sz="5000" b="1" dirty="0">
                <a:solidFill>
                  <a:srgbClr val="171B26"/>
                </a:solidFill>
                <a:latin typeface="Segoe UI" pitchFamily="34" charset="0"/>
                <a:ea typeface="Segoe UI" pitchFamily="34" charset="-122"/>
                <a:cs typeface="Segoe UI" pitchFamily="34" charset="-120"/>
              </a:rPr>
              <a:t>Λειτουργικό Σύστημα</a:t>
            </a:r>
            <a:endParaRPr lang="en-US" sz="5000" dirty="0"/>
          </a:p>
        </p:txBody>
      </p:sp>
      <p:sp>
        <p:nvSpPr>
          <p:cNvPr id="8" name="Text 5"/>
          <p:cNvSpPr txBox="1"/>
          <p:nvPr/>
        </p:nvSpPr>
        <p:spPr>
          <a:xfrm>
            <a:off x="566928" y="4224528"/>
            <a:ext cx="10058400" cy="365760"/>
          </a:xfrm>
          <a:prstGeom prst="rect">
            <a:avLst/>
          </a:prstGeom>
          <a:noFill/>
          <a:ln/>
        </p:spPr>
        <p:txBody>
          <a:bodyPr wrap="square" lIns="0" tIns="0" rIns="0" bIns="0" rtlCol="0" anchor="ctr"/>
          <a:lstStyle/>
          <a:p>
            <a:pPr indent="0" marL="0">
              <a:buNone/>
            </a:pPr>
            <a:r>
              <a:rPr lang="en-US" sz="1800" dirty="0">
                <a:solidFill>
                  <a:srgbClr val="4A5265"/>
                </a:solidFill>
                <a:latin typeface="Segoe UI" pitchFamily="34" charset="0"/>
                <a:ea typeface="Segoe UI" pitchFamily="34" charset="-122"/>
                <a:cs typeface="Segoe UI" pitchFamily="34" charset="-120"/>
              </a:rPr>
              <a:t>Το ανακαλύπτουμε μέσα από τον ίδιο μας τον υπολογιστή</a:t>
            </a:r>
            <a:endParaRPr lang="en-US" sz="1800" dirty="0"/>
          </a:p>
        </p:txBody>
      </p:sp>
      <p:sp>
        <p:nvSpPr>
          <p:cNvPr id="9" name="Text 6"/>
          <p:cNvSpPr txBox="1"/>
          <p:nvPr/>
        </p:nvSpPr>
        <p:spPr>
          <a:xfrm>
            <a:off x="566928" y="4800600"/>
            <a:ext cx="10515600" cy="274320"/>
          </a:xfrm>
          <a:prstGeom prst="rect">
            <a:avLst/>
          </a:prstGeom>
          <a:noFill/>
          <a:ln/>
        </p:spPr>
        <p:txBody>
          <a:bodyPr wrap="square" lIns="0" tIns="0" rIns="0" bIns="0" rtlCol="0" anchor="ctr"/>
          <a:lstStyle/>
          <a:p>
            <a:pPr indent="0" marL="0">
              <a:buNone/>
            </a:pPr>
            <a:r>
              <a:rPr lang="en-US" sz="1200" dirty="0">
                <a:solidFill>
                  <a:srgbClr val="4A5265"/>
                </a:solidFill>
                <a:latin typeface="Segoe UI" pitchFamily="34" charset="0"/>
                <a:ea typeface="Segoe UI" pitchFamily="34" charset="-122"/>
                <a:cs typeface="Segoe UI" pitchFamily="34" charset="-120"/>
              </a:rPr>
              <a:t>6 αποστολές στο PC · κάρτα συστήματος · cmd · BIOS/UEFI · άδειες χρήσης · πρώτη γνωριμία με Linux</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CFE"/>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F4BD8"/>
          </a:solidFill>
          <a:ln w="12700">
            <a:solidFill>
              <a:srgbClr val="2F4BD8"/>
            </a:solidFill>
            <a:prstDash val="solid"/>
          </a:ln>
        </p:spPr>
        <p:txBody>
          <a:bodyPr/>
          <a:p/>
        </p:txBody>
      </p:sp>
      <p:pic>
        <p:nvPicPr>
          <p:cNvPr id="3" name="Image 0" descr="/tmp/claude-0/-home-claude/8f07f1d1-9bfe-540b-b195-992cdc902b9e/scratchpad/prak/logo_os.png">    </p:cNvPr>
          <p:cNvPicPr>
            <a:picLocks noChangeAspect="1"/>
          </p:cNvPicPr>
          <p:nvPr/>
        </p:nvPicPr>
        <p:blipFill>
          <a:blip r:embed="rId1"/>
          <a:stretch>
            <a:fillRect/>
          </a:stretch>
        </p:blipFill>
        <p:spPr>
          <a:xfrm>
            <a:off x="9189720" y="274320"/>
            <a:ext cx="310896" cy="310896"/>
          </a:xfrm>
          <a:prstGeom prst="rect">
            <a:avLst/>
          </a:prstGeom>
        </p:spPr>
      </p:pic>
      <p:sp>
        <p:nvSpPr>
          <p:cNvPr id="4" name="Text 1"/>
          <p:cNvSpPr txBox="1"/>
          <p:nvPr/>
        </p:nvSpPr>
        <p:spPr>
          <a:xfrm>
            <a:off x="9573768" y="246888"/>
            <a:ext cx="2468880" cy="365760"/>
          </a:xfrm>
          <a:prstGeom prst="rect">
            <a:avLst/>
          </a:prstGeom>
          <a:noFill/>
          <a:ln/>
        </p:spPr>
        <p:txBody>
          <a:bodyPr wrap="square" lIns="0" tIns="0" rIns="0" bIns="0" rtlCol="0" anchor="ctr"/>
          <a:lstStyle/>
          <a:p>
            <a:pPr indent="0" marL="0">
              <a:buNone/>
            </a:pPr>
            <a:r>
              <a:rPr lang="en-US" sz="950" b="1" dirty="0">
                <a:solidFill>
                  <a:srgbClr val="4A5265"/>
                </a:solidFill>
                <a:latin typeface="Segoe UI" pitchFamily="34" charset="0"/>
                <a:ea typeface="Segoe UI" pitchFamily="34" charset="-122"/>
                <a:cs typeface="Segoe UI" pitchFamily="34" charset="-120"/>
              </a:rPr>
              <a:t>ΣΑΕΚ Μαρκοπούλου</a:t>
            </a:r>
            <a:endParaRPr lang="en-US" sz="950" dirty="0"/>
          </a:p>
          <a:p>
            <a:pPr indent="0" marL="0">
              <a:buNone/>
            </a:pPr>
            <a:r>
              <a:rPr lang="en-US" sz="950" b="1" dirty="0">
                <a:solidFill>
                  <a:srgbClr val="4A5265"/>
                </a:solidFill>
                <a:latin typeface="Segoe UI" pitchFamily="34" charset="0"/>
                <a:ea typeface="Segoe UI" pitchFamily="34" charset="-122"/>
                <a:cs typeface="Segoe UI" pitchFamily="34" charset="-120"/>
              </a:rPr>
              <a:t>Σύγχρονα Λειτουργικά Συστήματα</a:t>
            </a:r>
            <a:endParaRPr lang="en-US" sz="950" dirty="0"/>
          </a:p>
        </p:txBody>
      </p:sp>
      <p:sp>
        <p:nvSpPr>
          <p:cNvPr id="5" name="Text 2"/>
          <p:cNvSpPr txBox="1"/>
          <p:nvPr/>
        </p:nvSpPr>
        <p:spPr>
          <a:xfrm>
            <a:off x="8503920" y="6419088"/>
            <a:ext cx="3154680" cy="237744"/>
          </a:xfrm>
          <a:prstGeom prst="rect">
            <a:avLst/>
          </a:prstGeom>
          <a:noFill/>
          <a:ln/>
        </p:spPr>
        <p:txBody>
          <a:bodyPr wrap="square" rtlCol="0" anchor="ctr"/>
          <a:lstStyle/>
          <a:p>
            <a:pPr algn="r" indent="0" marL="0">
              <a:buNone/>
            </a:pPr>
            <a:r>
              <a:rPr lang="en-US" sz="900" dirty="0">
                <a:solidFill>
                  <a:srgbClr val="8A91A3"/>
                </a:solidFill>
                <a:latin typeface="Consolas" pitchFamily="34" charset="0"/>
                <a:ea typeface="Consolas" pitchFamily="34" charset="-122"/>
                <a:cs typeface="Consolas" pitchFamily="34" charset="-120"/>
              </a:rPr>
              <a:t>Λαμπρόπουλος Χρήστος</a:t>
            </a:r>
            <a:endParaRPr lang="en-US" sz="900" dirty="0"/>
          </a:p>
        </p:txBody>
      </p:sp>
      <p:sp>
        <p:nvSpPr>
          <p:cNvPr id="6" name="Text 3"/>
          <p:cNvSpPr txBox="1"/>
          <p:nvPr/>
        </p:nvSpPr>
        <p:spPr>
          <a:xfrm>
            <a:off x="566928" y="384048"/>
            <a:ext cx="8412480" cy="237744"/>
          </a:xfrm>
          <a:prstGeom prst="rect">
            <a:avLst/>
          </a:prstGeom>
          <a:noFill/>
          <a:ln/>
        </p:spPr>
        <p:txBody>
          <a:bodyPr wrap="square" lIns="0" tIns="0" rIns="0" bIns="0" rtlCol="0" anchor="ctr"/>
          <a:lstStyle/>
          <a:p>
            <a:pPr indent="0" marL="0">
              <a:buNone/>
            </a:pPr>
            <a:r>
              <a:rPr lang="en-US" sz="1000" spc="140" kern="0" dirty="0">
                <a:solidFill>
                  <a:srgbClr val="2F4BD8"/>
                </a:solidFill>
                <a:latin typeface="Consolas" pitchFamily="34" charset="0"/>
                <a:ea typeface="Consolas" pitchFamily="34" charset="-122"/>
                <a:cs typeface="Consolas" pitchFamily="34" charset="-120"/>
              </a:rPr>
              <a:t>01  </a:t>
            </a:r>
            <a:pPr indent="0" marL="0">
              <a:buNone/>
            </a:pPr>
            <a:r>
              <a:rPr lang="en-US" sz="1000" spc="140" kern="0" dirty="0">
                <a:solidFill>
                  <a:srgbClr val="8A91A3"/>
                </a:solidFill>
                <a:latin typeface="Consolas" pitchFamily="34" charset="0"/>
                <a:ea typeface="Consolas" pitchFamily="34" charset="-122"/>
                <a:cs typeface="Consolas" pitchFamily="34" charset="-120"/>
              </a:rPr>
              <a:t>ΓΝΩΡΙΜΙΑ ΜΕ ΤΟ ΜΑΘΗΜΑ</a:t>
            </a:r>
            <a:endParaRPr lang="en-US" sz="1000" dirty="0"/>
          </a:p>
        </p:txBody>
      </p:sp>
      <p:sp>
        <p:nvSpPr>
          <p:cNvPr id="7" name="Text 4"/>
          <p:cNvSpPr txBox="1"/>
          <p:nvPr/>
        </p:nvSpPr>
        <p:spPr>
          <a:xfrm>
            <a:off x="530352" y="658368"/>
            <a:ext cx="8595360" cy="566928"/>
          </a:xfrm>
          <a:prstGeom prst="rect">
            <a:avLst/>
          </a:prstGeom>
          <a:noFill/>
          <a:ln/>
        </p:spPr>
        <p:txBody>
          <a:bodyPr wrap="square" lIns="0" tIns="0" rIns="0" bIns="0" rtlCol="0" anchor="t"/>
          <a:lstStyle/>
          <a:p>
            <a:pPr indent="0" marL="0">
              <a:buNone/>
            </a:pPr>
            <a:r>
              <a:rPr lang="en-US" sz="3000" b="1" dirty="0">
                <a:solidFill>
                  <a:srgbClr val="171B26"/>
                </a:solidFill>
                <a:latin typeface="Segoe UI" pitchFamily="34" charset="0"/>
                <a:ea typeface="Segoe UI" pitchFamily="34" charset="-122"/>
                <a:cs typeface="Segoe UI" pitchFamily="34" charset="-120"/>
              </a:rPr>
              <a:t>Πώς δουλεύουμε κάθε Τρίτη</a:t>
            </a:r>
            <a:endParaRPr lang="en-US" sz="3000" dirty="0"/>
          </a:p>
        </p:txBody>
      </p:sp>
      <p:sp>
        <p:nvSpPr>
          <p:cNvPr id="8" name="Shape 5"/>
          <p:cNvSpPr/>
          <p:nvPr/>
        </p:nvSpPr>
        <p:spPr>
          <a:xfrm>
            <a:off x="566928" y="1463040"/>
            <a:ext cx="3502152" cy="2011680"/>
          </a:xfrm>
          <a:prstGeom prst="roundRect">
            <a:avLst>
              <a:gd name="adj" fmla="val 2727"/>
            </a:avLst>
          </a:prstGeom>
          <a:solidFill>
            <a:srgbClr val="FBFCFE"/>
          </a:solidFill>
          <a:ln w="9525">
            <a:solidFill>
              <a:srgbClr val="D3D9E4"/>
            </a:solidFill>
            <a:prstDash val="solid"/>
          </a:ln>
        </p:spPr>
        <p:txBody>
          <a:bodyPr/>
          <a:p/>
        </p:txBody>
      </p:sp>
      <p:sp>
        <p:nvSpPr>
          <p:cNvPr id="9" name="Text 6"/>
          <p:cNvSpPr txBox="1"/>
          <p:nvPr/>
        </p:nvSpPr>
        <p:spPr>
          <a:xfrm>
            <a:off x="731520" y="1591056"/>
            <a:ext cx="3172968" cy="201168"/>
          </a:xfrm>
          <a:prstGeom prst="rect">
            <a:avLst/>
          </a:prstGeom>
          <a:noFill/>
          <a:ln/>
        </p:spPr>
        <p:txBody>
          <a:bodyPr wrap="square" lIns="0" tIns="0" rIns="0" bIns="0" rtlCol="0" anchor="ctr"/>
          <a:lstStyle/>
          <a:p>
            <a:pPr indent="0" marL="0">
              <a:buNone/>
            </a:pPr>
            <a:r>
              <a:rPr lang="en-US" sz="900" b="1" spc="120" kern="0" dirty="0">
                <a:solidFill>
                  <a:srgbClr val="2F4BD8"/>
                </a:solidFill>
                <a:latin typeface="Consolas" pitchFamily="34" charset="0"/>
                <a:ea typeface="Consolas" pitchFamily="34" charset="-122"/>
                <a:cs typeface="Consolas" pitchFamily="34" charset="-120"/>
              </a:rPr>
              <a:t>15΄</a:t>
            </a:r>
            <a:endParaRPr lang="en-US" sz="900" dirty="0"/>
          </a:p>
        </p:txBody>
      </p:sp>
      <p:sp>
        <p:nvSpPr>
          <p:cNvPr id="10" name="Text 7"/>
          <p:cNvSpPr txBox="1"/>
          <p:nvPr/>
        </p:nvSpPr>
        <p:spPr>
          <a:xfrm>
            <a:off x="731520" y="1847088"/>
            <a:ext cx="3172968" cy="290576"/>
          </a:xfrm>
          <a:prstGeom prst="rect">
            <a:avLst/>
          </a:prstGeom>
          <a:noFill/>
          <a:ln/>
        </p:spPr>
        <p:txBody>
          <a:bodyPr wrap="square" lIns="0" tIns="0" rIns="0" bIns="0" rtlCol="0" anchor="t"/>
          <a:lstStyle/>
          <a:p>
            <a:pPr indent="0" marL="0">
              <a:buNone/>
            </a:pPr>
            <a:r>
              <a:rPr lang="en-US" sz="1600" b="1" dirty="0">
                <a:solidFill>
                  <a:srgbClr val="171B26"/>
                </a:solidFill>
                <a:latin typeface="Segoe UI" pitchFamily="34" charset="0"/>
                <a:ea typeface="Segoe UI" pitchFamily="34" charset="-122"/>
                <a:cs typeface="Segoe UI" pitchFamily="34" charset="-120"/>
              </a:rPr>
              <a:t>Σύντομη εξήγηση</a:t>
            </a:r>
            <a:endParaRPr lang="en-US" sz="1600" dirty="0"/>
          </a:p>
        </p:txBody>
      </p:sp>
      <p:sp>
        <p:nvSpPr>
          <p:cNvPr id="11" name="Text 8"/>
          <p:cNvSpPr txBox="1"/>
          <p:nvPr/>
        </p:nvSpPr>
        <p:spPr>
          <a:xfrm>
            <a:off x="731520" y="2229104"/>
            <a:ext cx="3172968" cy="1154176"/>
          </a:xfrm>
          <a:prstGeom prst="rect">
            <a:avLst/>
          </a:prstGeom>
          <a:noFill/>
          <a:ln/>
        </p:spPr>
        <p:txBody>
          <a:bodyPr wrap="square" lIns="0" tIns="0" rIns="0" bIns="0" rtlCol="0" anchor="t"/>
          <a:lstStyle/>
          <a:p>
            <a:pPr indent="0" marL="0">
              <a:lnSpc>
                <a:spcPct val="112000"/>
              </a:lnSpc>
              <a:buNone/>
            </a:pPr>
            <a:r>
              <a:rPr lang="en-US" sz="1250" dirty="0">
                <a:solidFill>
                  <a:srgbClr val="4A5265"/>
                </a:solidFill>
                <a:latin typeface="Segoe UI" pitchFamily="34" charset="0"/>
                <a:ea typeface="Segoe UI" pitchFamily="34" charset="-122"/>
                <a:cs typeface="Segoe UI" pitchFamily="34" charset="-120"/>
              </a:rPr>
              <a:t>Μόνο όσα χρειάζονται για να καταλάβεις τι θα κάνεις.</a:t>
            </a:r>
            <a:endParaRPr lang="en-US" sz="1250" dirty="0"/>
          </a:p>
        </p:txBody>
      </p:sp>
      <p:sp>
        <p:nvSpPr>
          <p:cNvPr id="12" name="Shape 9"/>
          <p:cNvSpPr/>
          <p:nvPr/>
        </p:nvSpPr>
        <p:spPr>
          <a:xfrm>
            <a:off x="4251960" y="1463040"/>
            <a:ext cx="3502152" cy="2011680"/>
          </a:xfrm>
          <a:prstGeom prst="roundRect">
            <a:avLst>
              <a:gd name="adj" fmla="val 2727"/>
            </a:avLst>
          </a:prstGeom>
          <a:solidFill>
            <a:srgbClr val="E4E8FB"/>
          </a:solidFill>
          <a:ln w="12700">
            <a:solidFill>
              <a:srgbClr val="E4E8FB"/>
            </a:solidFill>
            <a:prstDash val="solid"/>
          </a:ln>
        </p:spPr>
        <p:txBody>
          <a:bodyPr/>
          <a:p/>
        </p:txBody>
      </p:sp>
      <p:sp>
        <p:nvSpPr>
          <p:cNvPr id="13" name="Text 10"/>
          <p:cNvSpPr txBox="1"/>
          <p:nvPr/>
        </p:nvSpPr>
        <p:spPr>
          <a:xfrm>
            <a:off x="4416552" y="1591056"/>
            <a:ext cx="3172968" cy="201168"/>
          </a:xfrm>
          <a:prstGeom prst="rect">
            <a:avLst/>
          </a:prstGeom>
          <a:noFill/>
          <a:ln/>
        </p:spPr>
        <p:txBody>
          <a:bodyPr wrap="square" lIns="0" tIns="0" rIns="0" bIns="0" rtlCol="0" anchor="ctr"/>
          <a:lstStyle/>
          <a:p>
            <a:pPr indent="0" marL="0">
              <a:buNone/>
            </a:pPr>
            <a:r>
              <a:rPr lang="en-US" sz="900" b="1" spc="120" kern="0" dirty="0">
                <a:solidFill>
                  <a:srgbClr val="2F4BD8"/>
                </a:solidFill>
                <a:latin typeface="Consolas" pitchFamily="34" charset="0"/>
                <a:ea typeface="Consolas" pitchFamily="34" charset="-122"/>
                <a:cs typeface="Consolas" pitchFamily="34" charset="-120"/>
              </a:rPr>
              <a:t>≈ 2 ώρες</a:t>
            </a:r>
            <a:endParaRPr lang="en-US" sz="900" dirty="0"/>
          </a:p>
        </p:txBody>
      </p:sp>
      <p:sp>
        <p:nvSpPr>
          <p:cNvPr id="14" name="Text 11"/>
          <p:cNvSpPr txBox="1"/>
          <p:nvPr/>
        </p:nvSpPr>
        <p:spPr>
          <a:xfrm>
            <a:off x="4416552" y="1847088"/>
            <a:ext cx="3172968" cy="290576"/>
          </a:xfrm>
          <a:prstGeom prst="rect">
            <a:avLst/>
          </a:prstGeom>
          <a:noFill/>
          <a:ln/>
        </p:spPr>
        <p:txBody>
          <a:bodyPr wrap="square" lIns="0" tIns="0" rIns="0" bIns="0" rtlCol="0" anchor="t"/>
          <a:lstStyle/>
          <a:p>
            <a:pPr indent="0" marL="0">
              <a:buNone/>
            </a:pPr>
            <a:r>
              <a:rPr lang="en-US" sz="1600" b="1" dirty="0">
                <a:solidFill>
                  <a:srgbClr val="171B26"/>
                </a:solidFill>
                <a:latin typeface="Segoe UI" pitchFamily="34" charset="0"/>
                <a:ea typeface="Segoe UI" pitchFamily="34" charset="-122"/>
                <a:cs typeface="Segoe UI" pitchFamily="34" charset="-120"/>
              </a:rPr>
              <a:t>Αποστολές στο PC</a:t>
            </a:r>
            <a:endParaRPr lang="en-US" sz="1600" dirty="0"/>
          </a:p>
        </p:txBody>
      </p:sp>
      <p:sp>
        <p:nvSpPr>
          <p:cNvPr id="15" name="Text 12"/>
          <p:cNvSpPr txBox="1"/>
          <p:nvPr/>
        </p:nvSpPr>
        <p:spPr>
          <a:xfrm>
            <a:off x="4416552" y="2229104"/>
            <a:ext cx="3172968" cy="1154176"/>
          </a:xfrm>
          <a:prstGeom prst="rect">
            <a:avLst/>
          </a:prstGeom>
          <a:noFill/>
          <a:ln/>
        </p:spPr>
        <p:txBody>
          <a:bodyPr wrap="square" lIns="0" tIns="0" rIns="0" bIns="0" rtlCol="0" anchor="t"/>
          <a:lstStyle/>
          <a:p>
            <a:pPr indent="0" marL="0">
              <a:lnSpc>
                <a:spcPct val="112000"/>
              </a:lnSpc>
              <a:buNone/>
            </a:pPr>
            <a:r>
              <a:rPr lang="en-US" sz="1250" dirty="0">
                <a:solidFill>
                  <a:srgbClr val="4A5265"/>
                </a:solidFill>
                <a:latin typeface="Segoe UI" pitchFamily="34" charset="0"/>
                <a:ea typeface="Segoe UI" pitchFamily="34" charset="-122"/>
                <a:cs typeface="Segoe UI" pitchFamily="34" charset="-120"/>
              </a:rPr>
              <a:t>Βήμα-βήμα στον δικό σου υπολογιστή, με αυξανόμενη δυσκολία.</a:t>
            </a:r>
            <a:endParaRPr lang="en-US" sz="1250" dirty="0"/>
          </a:p>
        </p:txBody>
      </p:sp>
      <p:sp>
        <p:nvSpPr>
          <p:cNvPr id="16" name="Shape 13"/>
          <p:cNvSpPr/>
          <p:nvPr/>
        </p:nvSpPr>
        <p:spPr>
          <a:xfrm>
            <a:off x="7936992" y="1463040"/>
            <a:ext cx="3502152" cy="2011680"/>
          </a:xfrm>
          <a:prstGeom prst="roundRect">
            <a:avLst>
              <a:gd name="adj" fmla="val 2727"/>
            </a:avLst>
          </a:prstGeom>
          <a:solidFill>
            <a:srgbClr val="FBFCFE"/>
          </a:solidFill>
          <a:ln w="9525">
            <a:solidFill>
              <a:srgbClr val="D3D9E4"/>
            </a:solidFill>
            <a:prstDash val="solid"/>
          </a:ln>
        </p:spPr>
        <p:txBody>
          <a:bodyPr/>
          <a:p/>
        </p:txBody>
      </p:sp>
      <p:sp>
        <p:nvSpPr>
          <p:cNvPr id="17" name="Text 14"/>
          <p:cNvSpPr txBox="1"/>
          <p:nvPr/>
        </p:nvSpPr>
        <p:spPr>
          <a:xfrm>
            <a:off x="8101584" y="1591056"/>
            <a:ext cx="3172968" cy="201168"/>
          </a:xfrm>
          <a:prstGeom prst="rect">
            <a:avLst/>
          </a:prstGeom>
          <a:noFill/>
          <a:ln/>
        </p:spPr>
        <p:txBody>
          <a:bodyPr wrap="square" lIns="0" tIns="0" rIns="0" bIns="0" rtlCol="0" anchor="ctr"/>
          <a:lstStyle/>
          <a:p>
            <a:pPr indent="0" marL="0">
              <a:buNone/>
            </a:pPr>
            <a:r>
              <a:rPr lang="en-US" sz="900" b="1" spc="120" kern="0" dirty="0">
                <a:solidFill>
                  <a:srgbClr val="2F4BD8"/>
                </a:solidFill>
                <a:latin typeface="Consolas" pitchFamily="34" charset="0"/>
                <a:ea typeface="Consolas" pitchFamily="34" charset="-122"/>
                <a:cs typeface="Consolas" pitchFamily="34" charset="-120"/>
              </a:rPr>
              <a:t>10΄</a:t>
            </a:r>
            <a:endParaRPr lang="en-US" sz="900" dirty="0"/>
          </a:p>
        </p:txBody>
      </p:sp>
      <p:sp>
        <p:nvSpPr>
          <p:cNvPr id="18" name="Text 15"/>
          <p:cNvSpPr txBox="1"/>
          <p:nvPr/>
        </p:nvSpPr>
        <p:spPr>
          <a:xfrm>
            <a:off x="8101584" y="1847088"/>
            <a:ext cx="3172968" cy="290576"/>
          </a:xfrm>
          <a:prstGeom prst="rect">
            <a:avLst/>
          </a:prstGeom>
          <a:noFill/>
          <a:ln/>
        </p:spPr>
        <p:txBody>
          <a:bodyPr wrap="square" lIns="0" tIns="0" rIns="0" bIns="0" rtlCol="0" anchor="t"/>
          <a:lstStyle/>
          <a:p>
            <a:pPr indent="0" marL="0">
              <a:buNone/>
            </a:pPr>
            <a:r>
              <a:rPr lang="en-US" sz="1600" b="1" dirty="0">
                <a:solidFill>
                  <a:srgbClr val="171B26"/>
                </a:solidFill>
                <a:latin typeface="Segoe UI" pitchFamily="34" charset="0"/>
                <a:ea typeface="Segoe UI" pitchFamily="34" charset="-122"/>
                <a:cs typeface="Segoe UI" pitchFamily="34" charset="-120"/>
              </a:rPr>
              <a:t>Παραδοτέο</a:t>
            </a:r>
            <a:endParaRPr lang="en-US" sz="1600" dirty="0"/>
          </a:p>
        </p:txBody>
      </p:sp>
      <p:sp>
        <p:nvSpPr>
          <p:cNvPr id="19" name="Text 16"/>
          <p:cNvSpPr txBox="1"/>
          <p:nvPr/>
        </p:nvSpPr>
        <p:spPr>
          <a:xfrm>
            <a:off x="8101584" y="2229104"/>
            <a:ext cx="3172968" cy="1154176"/>
          </a:xfrm>
          <a:prstGeom prst="rect">
            <a:avLst/>
          </a:prstGeom>
          <a:noFill/>
          <a:ln/>
        </p:spPr>
        <p:txBody>
          <a:bodyPr wrap="square" lIns="0" tIns="0" rIns="0" bIns="0" rtlCol="0" anchor="t"/>
          <a:lstStyle/>
          <a:p>
            <a:pPr indent="0" marL="0">
              <a:lnSpc>
                <a:spcPct val="112000"/>
              </a:lnSpc>
              <a:buNone/>
            </a:pPr>
            <a:r>
              <a:rPr lang="en-US" sz="1250" dirty="0">
                <a:solidFill>
                  <a:srgbClr val="4A5265"/>
                </a:solidFill>
                <a:latin typeface="Segoe UI" pitchFamily="34" charset="0"/>
                <a:ea typeface="Segoe UI" pitchFamily="34" charset="-122"/>
                <a:cs typeface="Segoe UI" pitchFamily="34" charset="-120"/>
              </a:rPr>
              <a:t>Κάθε εργαστήριο κλείνει με κάτι που αποθηκεύεις στον φάκελό σου.</a:t>
            </a:r>
            <a:endParaRPr lang="en-US" sz="1250" dirty="0"/>
          </a:p>
        </p:txBody>
      </p:sp>
      <p:sp>
        <p:nvSpPr>
          <p:cNvPr id="20" name="Shape 17"/>
          <p:cNvSpPr/>
          <p:nvPr/>
        </p:nvSpPr>
        <p:spPr>
          <a:xfrm>
            <a:off x="566928" y="3703320"/>
            <a:ext cx="5349240" cy="2240280"/>
          </a:xfrm>
          <a:prstGeom prst="roundRect">
            <a:avLst>
              <a:gd name="adj" fmla="val 2449"/>
            </a:avLst>
          </a:prstGeom>
          <a:solidFill>
            <a:srgbClr val="FBFCFE"/>
          </a:solidFill>
          <a:ln w="9525">
            <a:solidFill>
              <a:srgbClr val="D3D9E4"/>
            </a:solidFill>
            <a:prstDash val="solid"/>
          </a:ln>
        </p:spPr>
        <p:txBody>
          <a:bodyPr/>
          <a:p/>
        </p:txBody>
      </p:sp>
      <p:sp>
        <p:nvSpPr>
          <p:cNvPr id="21" name="Text 18"/>
          <p:cNvSpPr txBox="1"/>
          <p:nvPr/>
        </p:nvSpPr>
        <p:spPr>
          <a:xfrm>
            <a:off x="731520" y="3831336"/>
            <a:ext cx="5020056" cy="258826"/>
          </a:xfrm>
          <a:prstGeom prst="rect">
            <a:avLst/>
          </a:prstGeom>
          <a:noFill/>
          <a:ln/>
        </p:spPr>
        <p:txBody>
          <a:bodyPr wrap="square" lIns="0" tIns="0" rIns="0" bIns="0" rtlCol="0" anchor="t"/>
          <a:lstStyle/>
          <a:p>
            <a:pPr indent="0" marL="0">
              <a:buNone/>
            </a:pPr>
            <a:r>
              <a:rPr lang="en-US" sz="1400" b="1" dirty="0">
                <a:solidFill>
                  <a:srgbClr val="171B26"/>
                </a:solidFill>
                <a:latin typeface="Segoe UI" pitchFamily="34" charset="0"/>
                <a:ea typeface="Segoe UI" pitchFamily="34" charset="-122"/>
                <a:cs typeface="Segoe UI" pitchFamily="34" charset="-120"/>
              </a:rPr>
              <a:t>Τι θα κάνουμε στο εξάμηνο</a:t>
            </a:r>
            <a:endParaRPr lang="en-US" sz="1400" dirty="0"/>
          </a:p>
        </p:txBody>
      </p:sp>
      <p:sp>
        <p:nvSpPr>
          <p:cNvPr id="22" name="Text 19"/>
          <p:cNvSpPr txBox="1"/>
          <p:nvPr/>
        </p:nvSpPr>
        <p:spPr>
          <a:xfrm>
            <a:off x="731520" y="4181602"/>
            <a:ext cx="5020056" cy="1670558"/>
          </a:xfrm>
          <a:prstGeom prst="rect">
            <a:avLst/>
          </a:prstGeom>
          <a:noFill/>
          <a:ln/>
        </p:spPr>
        <p:txBody>
          <a:bodyPr wrap="square" lIns="0" tIns="0" rIns="0" bIns="0" rtlCol="0" anchor="t"/>
          <a:lstStyle/>
          <a:p>
            <a:pPr marL="177800" indent="-177800">
              <a:lnSpc>
                <a:spcPct val="112000"/>
              </a:lnSpc>
              <a:spcAft>
                <a:spcPts val="400"/>
              </a:spcAft>
              <a:buSzPct val="100000"/>
              <a:buChar char="•"/>
            </a:pPr>
            <a:r>
              <a:rPr lang="en-US" sz="1250" dirty="0">
                <a:solidFill>
                  <a:srgbClr val="4A5265"/>
                </a:solidFill>
                <a:latin typeface="Segoe UI" pitchFamily="34" charset="0"/>
                <a:ea typeface="Segoe UI" pitchFamily="34" charset="-122"/>
                <a:cs typeface="Segoe UI" pitchFamily="34" charset="-120"/>
              </a:rPr>
              <a:t>Πώς δουλεύει ένα ΛΣ και πώς μοιράζει τον επεξεργαστή</a:t>
            </a:r>
            <a:endParaRPr lang="en-US" sz="1250" dirty="0"/>
          </a:p>
          <a:p>
            <a:pPr marL="177800" indent="-177800">
              <a:lnSpc>
                <a:spcPct val="112000"/>
              </a:lnSpc>
              <a:spcAft>
                <a:spcPts val="400"/>
              </a:spcAft>
              <a:buSzPct val="100000"/>
              <a:buChar char="•"/>
            </a:pPr>
            <a:r>
              <a:rPr lang="en-US" sz="1250" dirty="0">
                <a:solidFill>
                  <a:srgbClr val="4A5265"/>
                </a:solidFill>
                <a:latin typeface="Segoe UI" pitchFamily="34" charset="0"/>
                <a:ea typeface="Segoe UI" pitchFamily="34" charset="-122"/>
                <a:cs typeface="Segoe UI" pitchFamily="34" charset="-120"/>
              </a:rPr>
              <a:t>Windows: γραμμή εντολών, ρυθμίσεις, βλάβες</a:t>
            </a:r>
            <a:endParaRPr lang="en-US" sz="1250" dirty="0"/>
          </a:p>
          <a:p>
            <a:pPr marL="177800" indent="-177800">
              <a:lnSpc>
                <a:spcPct val="112000"/>
              </a:lnSpc>
              <a:spcAft>
                <a:spcPts val="400"/>
              </a:spcAft>
              <a:buSzPct val="100000"/>
              <a:buChar char="•"/>
            </a:pPr>
            <a:r>
              <a:rPr lang="en-US" sz="1250" dirty="0">
                <a:solidFill>
                  <a:srgbClr val="4A5265"/>
                </a:solidFill>
                <a:latin typeface="Segoe UI" pitchFamily="34" charset="0"/>
                <a:ea typeface="Segoe UI" pitchFamily="34" charset="-122"/>
                <a:cs typeface="Segoe UI" pitchFamily="34" charset="-120"/>
              </a:rPr>
              <a:t>Linux σε εικονική μηχανή: τερματικό, δικαιώματα</a:t>
            </a:r>
            <a:endParaRPr lang="en-US" sz="1250" dirty="0"/>
          </a:p>
          <a:p>
            <a:pPr marL="177800" indent="-177800">
              <a:lnSpc>
                <a:spcPct val="112000"/>
              </a:lnSpc>
              <a:spcAft>
                <a:spcPts val="400"/>
              </a:spcAft>
              <a:buSzPct val="100000"/>
              <a:buChar char="•"/>
            </a:pPr>
            <a:r>
              <a:rPr lang="en-US" sz="1250" dirty="0">
                <a:solidFill>
                  <a:srgbClr val="4A5265"/>
                </a:solidFill>
                <a:latin typeface="Segoe UI" pitchFamily="34" charset="0"/>
                <a:ea typeface="Segoe UI" pitchFamily="34" charset="-122"/>
                <a:cs typeface="Segoe UI" pitchFamily="34" charset="-120"/>
              </a:rPr>
              <a:t>VirtualBox, Docker, macOS, Android, iOS</a:t>
            </a:r>
            <a:endParaRPr lang="en-US" sz="1250" dirty="0"/>
          </a:p>
        </p:txBody>
      </p:sp>
      <p:sp>
        <p:nvSpPr>
          <p:cNvPr id="23" name="Shape 20"/>
          <p:cNvSpPr/>
          <p:nvPr/>
        </p:nvSpPr>
        <p:spPr>
          <a:xfrm>
            <a:off x="6099048" y="3703320"/>
            <a:ext cx="5349240" cy="2240280"/>
          </a:xfrm>
          <a:prstGeom prst="roundRect">
            <a:avLst>
              <a:gd name="adj" fmla="val 2449"/>
            </a:avLst>
          </a:prstGeom>
          <a:solidFill>
            <a:srgbClr val="F6EDD6"/>
          </a:solidFill>
          <a:ln w="12700">
            <a:solidFill>
              <a:srgbClr val="F6EDD6"/>
            </a:solidFill>
            <a:prstDash val="solid"/>
          </a:ln>
        </p:spPr>
        <p:txBody>
          <a:bodyPr/>
          <a:p/>
        </p:txBody>
      </p:sp>
      <p:sp>
        <p:nvSpPr>
          <p:cNvPr id="24" name="Text 21"/>
          <p:cNvSpPr txBox="1"/>
          <p:nvPr/>
        </p:nvSpPr>
        <p:spPr>
          <a:xfrm>
            <a:off x="6263640" y="3831336"/>
            <a:ext cx="5020056" cy="258826"/>
          </a:xfrm>
          <a:prstGeom prst="rect">
            <a:avLst/>
          </a:prstGeom>
          <a:noFill/>
          <a:ln/>
        </p:spPr>
        <p:txBody>
          <a:bodyPr wrap="square" lIns="0" tIns="0" rIns="0" bIns="0" rtlCol="0" anchor="t"/>
          <a:lstStyle/>
          <a:p>
            <a:pPr indent="0" marL="0">
              <a:buNone/>
            </a:pPr>
            <a:r>
              <a:rPr lang="en-US" sz="1400" b="1" dirty="0">
                <a:solidFill>
                  <a:srgbClr val="171B26"/>
                </a:solidFill>
                <a:latin typeface="Segoe UI" pitchFamily="34" charset="0"/>
                <a:ea typeface="Segoe UI" pitchFamily="34" charset="-122"/>
                <a:cs typeface="Segoe UI" pitchFamily="34" charset="-120"/>
              </a:rPr>
              <a:t>Κανόνες εργαστηρίου</a:t>
            </a:r>
            <a:endParaRPr lang="en-US" sz="1400" dirty="0"/>
          </a:p>
        </p:txBody>
      </p:sp>
      <p:sp>
        <p:nvSpPr>
          <p:cNvPr id="25" name="Text 22"/>
          <p:cNvSpPr txBox="1"/>
          <p:nvPr/>
        </p:nvSpPr>
        <p:spPr>
          <a:xfrm>
            <a:off x="6263640" y="4181602"/>
            <a:ext cx="5020056" cy="1670558"/>
          </a:xfrm>
          <a:prstGeom prst="rect">
            <a:avLst/>
          </a:prstGeom>
          <a:noFill/>
          <a:ln/>
        </p:spPr>
        <p:txBody>
          <a:bodyPr wrap="square" lIns="0" tIns="0" rIns="0" bIns="0" rtlCol="0" anchor="t"/>
          <a:lstStyle/>
          <a:p>
            <a:pPr marL="177800" indent="-177800">
              <a:lnSpc>
                <a:spcPct val="112000"/>
              </a:lnSpc>
              <a:spcAft>
                <a:spcPts val="400"/>
              </a:spcAft>
              <a:buSzPct val="100000"/>
              <a:buChar char="•"/>
            </a:pPr>
            <a:r>
              <a:rPr lang="en-US" sz="1250" dirty="0">
                <a:solidFill>
                  <a:srgbClr val="4A5265"/>
                </a:solidFill>
                <a:latin typeface="Segoe UI" pitchFamily="34" charset="0"/>
                <a:ea typeface="Segoe UI" pitchFamily="34" charset="-122"/>
                <a:cs typeface="Segoe UI" pitchFamily="34" charset="-120"/>
              </a:rPr>
              <a:t>Φτιάχνεις σήμερα τον φάκελο LS_Eponymo στα Έγγραφα. Εκεί μπαίνουν όλα.</a:t>
            </a:r>
            <a:endParaRPr lang="en-US" sz="1250" dirty="0"/>
          </a:p>
          <a:p>
            <a:pPr marL="177800" indent="-177800">
              <a:lnSpc>
                <a:spcPct val="112000"/>
              </a:lnSpc>
              <a:spcAft>
                <a:spcPts val="400"/>
              </a:spcAft>
              <a:buSzPct val="100000"/>
              <a:buChar char="•"/>
            </a:pPr>
            <a:r>
              <a:rPr lang="en-US" sz="1250" dirty="0">
                <a:solidFill>
                  <a:srgbClr val="4A5265"/>
                </a:solidFill>
                <a:latin typeface="Segoe UI" pitchFamily="34" charset="0"/>
                <a:ea typeface="Segoe UI" pitchFamily="34" charset="-122"/>
                <a:cs typeface="Segoe UI" pitchFamily="34" charset="-120"/>
              </a:rPr>
              <a:t>Δεν αλλάζεις ρυθμίσεις χωρίς οδηγία.</a:t>
            </a:r>
            <a:endParaRPr lang="en-US" sz="1250" dirty="0"/>
          </a:p>
          <a:p>
            <a:pPr marL="177800" indent="-177800">
              <a:lnSpc>
                <a:spcPct val="112000"/>
              </a:lnSpc>
              <a:spcAft>
                <a:spcPts val="400"/>
              </a:spcAft>
              <a:buSzPct val="100000"/>
              <a:buChar char="•"/>
            </a:pPr>
            <a:r>
              <a:rPr lang="en-US" sz="1250" dirty="0">
                <a:solidFill>
                  <a:srgbClr val="4A5265"/>
                </a:solidFill>
                <a:latin typeface="Segoe UI" pitchFamily="34" charset="0"/>
                <a:ea typeface="Segoe UI" pitchFamily="34" charset="-122"/>
                <a:cs typeface="Segoe UI" pitchFamily="34" charset="-120"/>
              </a:rPr>
              <a:t>Κολλάς; Ρωτάς πρώτα τον διπλανό, μετά εμένα.</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CFE"/>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F4BD8"/>
          </a:solidFill>
          <a:ln w="12700">
            <a:solidFill>
              <a:srgbClr val="2F4BD8"/>
            </a:solidFill>
            <a:prstDash val="solid"/>
          </a:ln>
        </p:spPr>
        <p:txBody>
          <a:bodyPr/>
          <a:p/>
        </p:txBody>
      </p:sp>
      <p:pic>
        <p:nvPicPr>
          <p:cNvPr id="3" name="Image 0" descr="/tmp/claude-0/-home-claude/8f07f1d1-9bfe-540b-b195-992cdc902b9e/scratchpad/prak/logo_os.png">    </p:cNvPr>
          <p:cNvPicPr>
            <a:picLocks noChangeAspect="1"/>
          </p:cNvPicPr>
          <p:nvPr/>
        </p:nvPicPr>
        <p:blipFill>
          <a:blip r:embed="rId1"/>
          <a:stretch>
            <a:fillRect/>
          </a:stretch>
        </p:blipFill>
        <p:spPr>
          <a:xfrm>
            <a:off x="9189720" y="274320"/>
            <a:ext cx="310896" cy="310896"/>
          </a:xfrm>
          <a:prstGeom prst="rect">
            <a:avLst/>
          </a:prstGeom>
        </p:spPr>
      </p:pic>
      <p:sp>
        <p:nvSpPr>
          <p:cNvPr id="4" name="Text 1"/>
          <p:cNvSpPr txBox="1"/>
          <p:nvPr/>
        </p:nvSpPr>
        <p:spPr>
          <a:xfrm>
            <a:off x="9573768" y="246888"/>
            <a:ext cx="2468880" cy="365760"/>
          </a:xfrm>
          <a:prstGeom prst="rect">
            <a:avLst/>
          </a:prstGeom>
          <a:noFill/>
          <a:ln/>
        </p:spPr>
        <p:txBody>
          <a:bodyPr wrap="square" lIns="0" tIns="0" rIns="0" bIns="0" rtlCol="0" anchor="ctr"/>
          <a:lstStyle/>
          <a:p>
            <a:pPr indent="0" marL="0">
              <a:buNone/>
            </a:pPr>
            <a:r>
              <a:rPr lang="en-US" sz="950" b="1" dirty="0">
                <a:solidFill>
                  <a:srgbClr val="4A5265"/>
                </a:solidFill>
                <a:latin typeface="Segoe UI" pitchFamily="34" charset="0"/>
                <a:ea typeface="Segoe UI" pitchFamily="34" charset="-122"/>
                <a:cs typeface="Segoe UI" pitchFamily="34" charset="-120"/>
              </a:rPr>
              <a:t>ΣΑΕΚ Μαρκοπούλου</a:t>
            </a:r>
            <a:endParaRPr lang="en-US" sz="950" dirty="0"/>
          </a:p>
          <a:p>
            <a:pPr indent="0" marL="0">
              <a:buNone/>
            </a:pPr>
            <a:r>
              <a:rPr lang="en-US" sz="950" b="1" dirty="0">
                <a:solidFill>
                  <a:srgbClr val="4A5265"/>
                </a:solidFill>
                <a:latin typeface="Segoe UI" pitchFamily="34" charset="0"/>
                <a:ea typeface="Segoe UI" pitchFamily="34" charset="-122"/>
                <a:cs typeface="Segoe UI" pitchFamily="34" charset="-120"/>
              </a:rPr>
              <a:t>Σύγχρονα Λειτουργικά Συστήματα</a:t>
            </a:r>
            <a:endParaRPr lang="en-US" sz="950" dirty="0"/>
          </a:p>
        </p:txBody>
      </p:sp>
      <p:sp>
        <p:nvSpPr>
          <p:cNvPr id="5" name="Text 2"/>
          <p:cNvSpPr txBox="1"/>
          <p:nvPr/>
        </p:nvSpPr>
        <p:spPr>
          <a:xfrm>
            <a:off x="8503920" y="6419088"/>
            <a:ext cx="3154680" cy="237744"/>
          </a:xfrm>
          <a:prstGeom prst="rect">
            <a:avLst/>
          </a:prstGeom>
          <a:noFill/>
          <a:ln/>
        </p:spPr>
        <p:txBody>
          <a:bodyPr wrap="square" rtlCol="0" anchor="ctr"/>
          <a:lstStyle/>
          <a:p>
            <a:pPr algn="r" indent="0" marL="0">
              <a:buNone/>
            </a:pPr>
            <a:r>
              <a:rPr lang="en-US" sz="900" dirty="0">
                <a:solidFill>
                  <a:srgbClr val="8A91A3"/>
                </a:solidFill>
                <a:latin typeface="Consolas" pitchFamily="34" charset="0"/>
                <a:ea typeface="Consolas" pitchFamily="34" charset="-122"/>
                <a:cs typeface="Consolas" pitchFamily="34" charset="-120"/>
              </a:rPr>
              <a:t>Λαμπρόπουλος Χρήστος</a:t>
            </a:r>
            <a:endParaRPr lang="en-US" sz="900" dirty="0"/>
          </a:p>
        </p:txBody>
      </p:sp>
      <p:sp>
        <p:nvSpPr>
          <p:cNvPr id="6" name="Text 3"/>
          <p:cNvSpPr txBox="1"/>
          <p:nvPr/>
        </p:nvSpPr>
        <p:spPr>
          <a:xfrm>
            <a:off x="566928" y="384048"/>
            <a:ext cx="8412480" cy="237744"/>
          </a:xfrm>
          <a:prstGeom prst="rect">
            <a:avLst/>
          </a:prstGeom>
          <a:noFill/>
          <a:ln/>
        </p:spPr>
        <p:txBody>
          <a:bodyPr wrap="square" lIns="0" tIns="0" rIns="0" bIns="0" rtlCol="0" anchor="ctr"/>
          <a:lstStyle/>
          <a:p>
            <a:pPr indent="0" marL="0">
              <a:buNone/>
            </a:pPr>
            <a:r>
              <a:rPr lang="en-US" sz="1000" spc="140" kern="0" dirty="0">
                <a:solidFill>
                  <a:srgbClr val="2F4BD8"/>
                </a:solidFill>
                <a:latin typeface="Consolas" pitchFamily="34" charset="0"/>
                <a:ea typeface="Consolas" pitchFamily="34" charset="-122"/>
                <a:cs typeface="Consolas" pitchFamily="34" charset="-120"/>
              </a:rPr>
              <a:t>02  </a:t>
            </a:r>
            <a:pPr indent="0" marL="0">
              <a:buNone/>
            </a:pPr>
            <a:r>
              <a:rPr lang="en-US" sz="1000" spc="140" kern="0" dirty="0">
                <a:solidFill>
                  <a:srgbClr val="8A91A3"/>
                </a:solidFill>
                <a:latin typeface="Consolas" pitchFamily="34" charset="0"/>
                <a:ea typeface="Consolas" pitchFamily="34" charset="-122"/>
                <a:cs typeface="Consolas" pitchFamily="34" charset="-120"/>
              </a:rPr>
              <a:t>ΕΝΝΟΙΕΣ · 10 ΛΕΠΤΑ</a:t>
            </a:r>
            <a:endParaRPr lang="en-US" sz="1000" dirty="0"/>
          </a:p>
        </p:txBody>
      </p:sp>
      <p:sp>
        <p:nvSpPr>
          <p:cNvPr id="7" name="Text 4"/>
          <p:cNvSpPr txBox="1"/>
          <p:nvPr/>
        </p:nvSpPr>
        <p:spPr>
          <a:xfrm>
            <a:off x="530352" y="658368"/>
            <a:ext cx="8595360" cy="566928"/>
          </a:xfrm>
          <a:prstGeom prst="rect">
            <a:avLst/>
          </a:prstGeom>
          <a:noFill/>
          <a:ln/>
        </p:spPr>
        <p:txBody>
          <a:bodyPr wrap="square" lIns="0" tIns="0" rIns="0" bIns="0" rtlCol="0" anchor="t"/>
          <a:lstStyle/>
          <a:p>
            <a:pPr indent="0" marL="0">
              <a:buNone/>
            </a:pPr>
            <a:r>
              <a:rPr lang="en-US" sz="3000" b="1" dirty="0">
                <a:solidFill>
                  <a:srgbClr val="171B26"/>
                </a:solidFill>
                <a:latin typeface="Segoe UI" pitchFamily="34" charset="0"/>
                <a:ea typeface="Segoe UI" pitchFamily="34" charset="-122"/>
                <a:cs typeface="Segoe UI" pitchFamily="34" charset="-120"/>
              </a:rPr>
              <a:t>Το ΛΣ είναι ο «μεσάζων»</a:t>
            </a:r>
            <a:endParaRPr lang="en-US" sz="3000" dirty="0"/>
          </a:p>
        </p:txBody>
      </p:sp>
      <p:sp>
        <p:nvSpPr>
          <p:cNvPr id="8" name="Shape 5"/>
          <p:cNvSpPr/>
          <p:nvPr/>
        </p:nvSpPr>
        <p:spPr>
          <a:xfrm>
            <a:off x="566928" y="1508760"/>
            <a:ext cx="5120640" cy="841248"/>
          </a:xfrm>
          <a:prstGeom prst="roundRect">
            <a:avLst>
              <a:gd name="adj" fmla="val 6522"/>
            </a:avLst>
          </a:prstGeom>
          <a:solidFill>
            <a:srgbClr val="FBFCFE"/>
          </a:solidFill>
          <a:ln w="9525">
            <a:solidFill>
              <a:srgbClr val="D3D9E4"/>
            </a:solidFill>
            <a:prstDash val="solid"/>
          </a:ln>
        </p:spPr>
        <p:txBody>
          <a:bodyPr/>
          <a:p/>
        </p:txBody>
      </p:sp>
      <p:sp>
        <p:nvSpPr>
          <p:cNvPr id="9" name="Text 6"/>
          <p:cNvSpPr txBox="1"/>
          <p:nvPr/>
        </p:nvSpPr>
        <p:spPr>
          <a:xfrm>
            <a:off x="777240" y="1508760"/>
            <a:ext cx="4754880" cy="841248"/>
          </a:xfrm>
          <a:prstGeom prst="rect">
            <a:avLst/>
          </a:prstGeom>
          <a:noFill/>
          <a:ln/>
        </p:spPr>
        <p:txBody>
          <a:bodyPr wrap="square" lIns="0" tIns="0" rIns="0" bIns="0" rtlCol="0" anchor="ctr"/>
          <a:lstStyle/>
          <a:p>
            <a:pPr indent="0" marL="0">
              <a:buNone/>
            </a:pPr>
            <a:r>
              <a:rPr lang="en-US" sz="1500" b="1" dirty="0">
                <a:solidFill>
                  <a:srgbClr val="171B26"/>
                </a:solidFill>
                <a:latin typeface="Segoe UI" pitchFamily="34" charset="0"/>
                <a:ea typeface="Segoe UI" pitchFamily="34" charset="-122"/>
                <a:cs typeface="Segoe UI" pitchFamily="34" charset="-120"/>
              </a:rPr>
              <a:t>Χρήστης</a:t>
            </a:r>
            <a:endParaRPr lang="en-US" sz="1500" dirty="0"/>
          </a:p>
          <a:p>
            <a:pPr indent="0" marL="0">
              <a:buNone/>
            </a:pPr>
            <a:r>
              <a:rPr lang="en-US" sz="1100" dirty="0">
                <a:solidFill>
                  <a:srgbClr val="171B26"/>
                </a:solidFill>
                <a:latin typeface="Segoe UI" pitchFamily="34" charset="0"/>
                <a:ea typeface="Segoe UI" pitchFamily="34" charset="-122"/>
                <a:cs typeface="Segoe UI" pitchFamily="34" charset="-120"/>
              </a:rPr>
              <a:t>εσύ</a:t>
            </a:r>
            <a:endParaRPr lang="en-US" sz="1500" dirty="0"/>
          </a:p>
        </p:txBody>
      </p:sp>
      <p:sp>
        <p:nvSpPr>
          <p:cNvPr id="10" name="Shape 7"/>
          <p:cNvSpPr/>
          <p:nvPr/>
        </p:nvSpPr>
        <p:spPr>
          <a:xfrm>
            <a:off x="566928" y="2532888"/>
            <a:ext cx="5120640" cy="841248"/>
          </a:xfrm>
          <a:prstGeom prst="roundRect">
            <a:avLst>
              <a:gd name="adj" fmla="val 6522"/>
            </a:avLst>
          </a:prstGeom>
          <a:solidFill>
            <a:srgbClr val="FBFCFE"/>
          </a:solidFill>
          <a:ln w="9525">
            <a:solidFill>
              <a:srgbClr val="D3D9E4"/>
            </a:solidFill>
            <a:prstDash val="solid"/>
          </a:ln>
        </p:spPr>
        <p:txBody>
          <a:bodyPr/>
          <a:p/>
        </p:txBody>
      </p:sp>
      <p:sp>
        <p:nvSpPr>
          <p:cNvPr id="11" name="Text 8"/>
          <p:cNvSpPr txBox="1"/>
          <p:nvPr/>
        </p:nvSpPr>
        <p:spPr>
          <a:xfrm>
            <a:off x="777240" y="2532888"/>
            <a:ext cx="4754880" cy="841248"/>
          </a:xfrm>
          <a:prstGeom prst="rect">
            <a:avLst/>
          </a:prstGeom>
          <a:noFill/>
          <a:ln/>
        </p:spPr>
        <p:txBody>
          <a:bodyPr wrap="square" lIns="0" tIns="0" rIns="0" bIns="0" rtlCol="0" anchor="ctr"/>
          <a:lstStyle/>
          <a:p>
            <a:pPr indent="0" marL="0">
              <a:buNone/>
            </a:pPr>
            <a:r>
              <a:rPr lang="en-US" sz="1500" b="1" dirty="0">
                <a:solidFill>
                  <a:srgbClr val="171B26"/>
                </a:solidFill>
                <a:latin typeface="Segoe UI" pitchFamily="34" charset="0"/>
                <a:ea typeface="Segoe UI" pitchFamily="34" charset="-122"/>
                <a:cs typeface="Segoe UI" pitchFamily="34" charset="-120"/>
              </a:rPr>
              <a:t>Εφαρμογές</a:t>
            </a:r>
            <a:endParaRPr lang="en-US" sz="1500" dirty="0"/>
          </a:p>
          <a:p>
            <a:pPr indent="0" marL="0">
              <a:buNone/>
            </a:pPr>
            <a:r>
              <a:rPr lang="en-US" sz="1100" dirty="0">
                <a:solidFill>
                  <a:srgbClr val="171B26"/>
                </a:solidFill>
                <a:latin typeface="Segoe UI" pitchFamily="34" charset="0"/>
                <a:ea typeface="Segoe UI" pitchFamily="34" charset="-122"/>
                <a:cs typeface="Segoe UI" pitchFamily="34" charset="-120"/>
              </a:rPr>
              <a:t>Chrome, Word, Steam, VS Code</a:t>
            </a:r>
            <a:endParaRPr lang="en-US" sz="1500" dirty="0"/>
          </a:p>
        </p:txBody>
      </p:sp>
      <p:sp>
        <p:nvSpPr>
          <p:cNvPr id="12" name="Shape 9"/>
          <p:cNvSpPr/>
          <p:nvPr/>
        </p:nvSpPr>
        <p:spPr>
          <a:xfrm>
            <a:off x="566928" y="3557016"/>
            <a:ext cx="5120640" cy="841248"/>
          </a:xfrm>
          <a:prstGeom prst="roundRect">
            <a:avLst>
              <a:gd name="adj" fmla="val 6522"/>
            </a:avLst>
          </a:prstGeom>
          <a:solidFill>
            <a:srgbClr val="2F4BD8"/>
          </a:solidFill>
          <a:ln w="12700">
            <a:solidFill>
              <a:srgbClr val="2F4BD8"/>
            </a:solidFill>
            <a:prstDash val="solid"/>
          </a:ln>
        </p:spPr>
        <p:txBody>
          <a:bodyPr/>
          <a:p/>
        </p:txBody>
      </p:sp>
      <p:sp>
        <p:nvSpPr>
          <p:cNvPr id="13" name="Text 10"/>
          <p:cNvSpPr txBox="1"/>
          <p:nvPr/>
        </p:nvSpPr>
        <p:spPr>
          <a:xfrm>
            <a:off x="777240" y="3557016"/>
            <a:ext cx="4754880" cy="841248"/>
          </a:xfrm>
          <a:prstGeom prst="rect">
            <a:avLst/>
          </a:prstGeom>
          <a:noFill/>
          <a:ln/>
        </p:spPr>
        <p:txBody>
          <a:bodyPr wrap="square" lIns="0" tIns="0" rIns="0" bIns="0" rtlCol="0" anchor="ctr"/>
          <a:lstStyle/>
          <a:p>
            <a:pPr indent="0" marL="0">
              <a:buNone/>
            </a:pPr>
            <a:r>
              <a:rPr lang="en-US" sz="1500" b="1" dirty="0">
                <a:solidFill>
                  <a:srgbClr val="FFFFFF"/>
                </a:solidFill>
                <a:latin typeface="Segoe UI" pitchFamily="34" charset="0"/>
                <a:ea typeface="Segoe UI" pitchFamily="34" charset="-122"/>
                <a:cs typeface="Segoe UI" pitchFamily="34" charset="-120"/>
              </a:rPr>
              <a:t>Λειτουργικό Σύστημα</a:t>
            </a:r>
            <a:endParaRPr lang="en-US" sz="1500" dirty="0"/>
          </a:p>
          <a:p>
            <a:pPr indent="0" marL="0">
              <a:buNone/>
            </a:pPr>
            <a:r>
              <a:rPr lang="en-US" sz="1100" dirty="0">
                <a:solidFill>
                  <a:srgbClr val="FFFFFF"/>
                </a:solidFill>
                <a:latin typeface="Segoe UI" pitchFamily="34" charset="0"/>
                <a:ea typeface="Segoe UI" pitchFamily="34" charset="-122"/>
                <a:cs typeface="Segoe UI" pitchFamily="34" charset="-120"/>
              </a:rPr>
              <a:t>Windows, Linux, macOS, Android</a:t>
            </a:r>
            <a:endParaRPr lang="en-US" sz="1500" dirty="0"/>
          </a:p>
        </p:txBody>
      </p:sp>
      <p:sp>
        <p:nvSpPr>
          <p:cNvPr id="14" name="Shape 11"/>
          <p:cNvSpPr/>
          <p:nvPr/>
        </p:nvSpPr>
        <p:spPr>
          <a:xfrm>
            <a:off x="566928" y="4581144"/>
            <a:ext cx="5120640" cy="841248"/>
          </a:xfrm>
          <a:prstGeom prst="roundRect">
            <a:avLst>
              <a:gd name="adj" fmla="val 6522"/>
            </a:avLst>
          </a:prstGeom>
          <a:solidFill>
            <a:srgbClr val="E4E8FB"/>
          </a:solidFill>
          <a:ln w="12700">
            <a:solidFill>
              <a:srgbClr val="E4E8FB"/>
            </a:solidFill>
            <a:prstDash val="solid"/>
          </a:ln>
        </p:spPr>
        <p:txBody>
          <a:bodyPr/>
          <a:p/>
        </p:txBody>
      </p:sp>
      <p:sp>
        <p:nvSpPr>
          <p:cNvPr id="15" name="Text 12"/>
          <p:cNvSpPr txBox="1"/>
          <p:nvPr/>
        </p:nvSpPr>
        <p:spPr>
          <a:xfrm>
            <a:off x="777240" y="4581144"/>
            <a:ext cx="4754880" cy="841248"/>
          </a:xfrm>
          <a:prstGeom prst="rect">
            <a:avLst/>
          </a:prstGeom>
          <a:noFill/>
          <a:ln/>
        </p:spPr>
        <p:txBody>
          <a:bodyPr wrap="square" lIns="0" tIns="0" rIns="0" bIns="0" rtlCol="0" anchor="ctr"/>
          <a:lstStyle/>
          <a:p>
            <a:pPr indent="0" marL="0">
              <a:buNone/>
            </a:pPr>
            <a:r>
              <a:rPr lang="en-US" sz="1500" b="1" dirty="0">
                <a:solidFill>
                  <a:srgbClr val="171B26"/>
                </a:solidFill>
                <a:latin typeface="Segoe UI" pitchFamily="34" charset="0"/>
                <a:ea typeface="Segoe UI" pitchFamily="34" charset="-122"/>
                <a:cs typeface="Segoe UI" pitchFamily="34" charset="-120"/>
              </a:rPr>
              <a:t>Υλικό (hardware)</a:t>
            </a:r>
            <a:endParaRPr lang="en-US" sz="1500" dirty="0"/>
          </a:p>
          <a:p>
            <a:pPr indent="0" marL="0">
              <a:buNone/>
            </a:pPr>
            <a:r>
              <a:rPr lang="en-US" sz="1100" dirty="0">
                <a:solidFill>
                  <a:srgbClr val="171B26"/>
                </a:solidFill>
                <a:latin typeface="Segoe UI" pitchFamily="34" charset="0"/>
                <a:ea typeface="Segoe UI" pitchFamily="34" charset="-122"/>
                <a:cs typeface="Segoe UI" pitchFamily="34" charset="-120"/>
              </a:rPr>
              <a:t>CPU, RAM, δίσκος, οθόνη, δίκτυο</a:t>
            </a:r>
            <a:endParaRPr lang="en-US" sz="1500" dirty="0"/>
          </a:p>
        </p:txBody>
      </p:sp>
      <p:sp>
        <p:nvSpPr>
          <p:cNvPr id="16" name="Shape 13"/>
          <p:cNvSpPr/>
          <p:nvPr/>
        </p:nvSpPr>
        <p:spPr>
          <a:xfrm>
            <a:off x="6263640" y="1508760"/>
            <a:ext cx="5184648" cy="1325880"/>
          </a:xfrm>
          <a:prstGeom prst="rect">
            <a:avLst/>
          </a:prstGeom>
          <a:solidFill>
            <a:srgbClr val="E4E8FB"/>
          </a:solidFill>
          <a:ln w="12700">
            <a:solidFill>
              <a:srgbClr val="E4E8FB"/>
            </a:solidFill>
            <a:prstDash val="solid"/>
          </a:ln>
        </p:spPr>
        <p:txBody>
          <a:bodyPr/>
          <a:p/>
        </p:txBody>
      </p:sp>
      <p:sp>
        <p:nvSpPr>
          <p:cNvPr id="17" name="Shape 14"/>
          <p:cNvSpPr/>
          <p:nvPr/>
        </p:nvSpPr>
        <p:spPr>
          <a:xfrm>
            <a:off x="6263640" y="1508760"/>
            <a:ext cx="41148" cy="1325880"/>
          </a:xfrm>
          <a:prstGeom prst="rect">
            <a:avLst/>
          </a:prstGeom>
          <a:solidFill>
            <a:srgbClr val="2F4BD8"/>
          </a:solidFill>
          <a:ln w="12700">
            <a:solidFill>
              <a:srgbClr val="2F4BD8"/>
            </a:solidFill>
            <a:prstDash val="solid"/>
          </a:ln>
        </p:spPr>
        <p:txBody>
          <a:bodyPr/>
          <a:p/>
        </p:txBody>
      </p:sp>
      <p:sp>
        <p:nvSpPr>
          <p:cNvPr id="18" name="Text 15"/>
          <p:cNvSpPr txBox="1"/>
          <p:nvPr/>
        </p:nvSpPr>
        <p:spPr>
          <a:xfrm>
            <a:off x="6428232" y="1600200"/>
            <a:ext cx="4572000" cy="201168"/>
          </a:xfrm>
          <a:prstGeom prst="rect">
            <a:avLst/>
          </a:prstGeom>
          <a:noFill/>
          <a:ln/>
        </p:spPr>
        <p:txBody>
          <a:bodyPr wrap="square" lIns="0" tIns="0" rIns="0" bIns="0" rtlCol="0" anchor="ctr"/>
          <a:lstStyle/>
          <a:p>
            <a:pPr indent="0" marL="0">
              <a:buNone/>
            </a:pPr>
            <a:r>
              <a:rPr lang="en-US" sz="900" b="1" spc="120" kern="0" dirty="0">
                <a:solidFill>
                  <a:srgbClr val="2F4BD8"/>
                </a:solidFill>
                <a:latin typeface="Consolas" pitchFamily="34" charset="0"/>
                <a:ea typeface="Consolas" pitchFamily="34" charset="-122"/>
                <a:cs typeface="Consolas" pitchFamily="34" charset="-120"/>
              </a:rPr>
              <a:t>ΟΡΙΣΜΟΣ</a:t>
            </a:r>
            <a:endParaRPr lang="en-US" sz="900" dirty="0"/>
          </a:p>
        </p:txBody>
      </p:sp>
      <p:sp>
        <p:nvSpPr>
          <p:cNvPr id="19" name="Text 16"/>
          <p:cNvSpPr txBox="1"/>
          <p:nvPr/>
        </p:nvSpPr>
        <p:spPr>
          <a:xfrm>
            <a:off x="6428232" y="1819656"/>
            <a:ext cx="4855464" cy="941832"/>
          </a:xfrm>
          <a:prstGeom prst="rect">
            <a:avLst/>
          </a:prstGeom>
          <a:noFill/>
          <a:ln/>
        </p:spPr>
        <p:txBody>
          <a:bodyPr wrap="square" lIns="0" tIns="0" rIns="0" bIns="0" rtlCol="0" anchor="t"/>
          <a:lstStyle/>
          <a:p>
            <a:pPr indent="0" marL="0">
              <a:lnSpc>
                <a:spcPct val="112000"/>
              </a:lnSpc>
              <a:buNone/>
            </a:pPr>
            <a:r>
              <a:rPr lang="en-US" sz="1200" dirty="0">
                <a:solidFill>
                  <a:srgbClr val="171B26"/>
                </a:solidFill>
                <a:latin typeface="Segoe UI" pitchFamily="34" charset="0"/>
                <a:ea typeface="Segoe UI" pitchFamily="34" charset="-122"/>
                <a:cs typeface="Segoe UI" pitchFamily="34" charset="-120"/>
              </a:rPr>
              <a:t>Λειτουργικό σύστημα είναι το </a:t>
            </a:r>
            <a:pPr indent="0" marL="0">
              <a:lnSpc>
                <a:spcPct val="112000"/>
              </a:lnSpc>
              <a:buNone/>
            </a:pPr>
            <a:r>
              <a:rPr lang="en-US" sz="1200" b="1" dirty="0">
                <a:solidFill>
                  <a:srgbClr val="171B26"/>
                </a:solidFill>
                <a:latin typeface="Segoe UI" pitchFamily="34" charset="0"/>
                <a:ea typeface="Segoe UI" pitchFamily="34" charset="-122"/>
                <a:cs typeface="Segoe UI" pitchFamily="34" charset="-120"/>
              </a:rPr>
              <a:t>βασικό λογισμικό</a:t>
            </a:r>
            <a:pPr indent="0" marL="0">
              <a:lnSpc>
                <a:spcPct val="112000"/>
              </a:lnSpc>
              <a:buNone/>
            </a:pPr>
            <a:r>
              <a:rPr lang="en-US" sz="1200" dirty="0">
                <a:solidFill>
                  <a:srgbClr val="171B26"/>
                </a:solidFill>
                <a:latin typeface="Segoe UI" pitchFamily="34" charset="0"/>
                <a:ea typeface="Segoe UI" pitchFamily="34" charset="-122"/>
                <a:cs typeface="Segoe UI" pitchFamily="34" charset="-120"/>
              </a:rPr>
              <a:t> που </a:t>
            </a:r>
            <a:pPr indent="0" marL="0">
              <a:lnSpc>
                <a:spcPct val="112000"/>
              </a:lnSpc>
              <a:buNone/>
            </a:pPr>
            <a:r>
              <a:rPr lang="en-US" sz="1200" b="1" dirty="0">
                <a:solidFill>
                  <a:srgbClr val="171B26"/>
                </a:solidFill>
                <a:latin typeface="Segoe UI" pitchFamily="34" charset="0"/>
                <a:ea typeface="Segoe UI" pitchFamily="34" charset="-122"/>
                <a:cs typeface="Segoe UI" pitchFamily="34" charset="-120"/>
              </a:rPr>
              <a:t>διαχειρίζεται το υλικό</a:t>
            </a:r>
            <a:pPr indent="0" marL="0">
              <a:lnSpc>
                <a:spcPct val="112000"/>
              </a:lnSpc>
              <a:buNone/>
            </a:pPr>
            <a:r>
              <a:rPr lang="en-US" sz="1200" dirty="0">
                <a:solidFill>
                  <a:srgbClr val="171B26"/>
                </a:solidFill>
                <a:latin typeface="Segoe UI" pitchFamily="34" charset="0"/>
                <a:ea typeface="Segoe UI" pitchFamily="34" charset="-122"/>
                <a:cs typeface="Segoe UI" pitchFamily="34" charset="-120"/>
              </a:rPr>
              <a:t> του υπολογιστή και </a:t>
            </a:r>
            <a:pPr indent="0" marL="0">
              <a:lnSpc>
                <a:spcPct val="112000"/>
              </a:lnSpc>
              <a:buNone/>
            </a:pPr>
            <a:r>
              <a:rPr lang="en-US" sz="1200" b="1" dirty="0">
                <a:solidFill>
                  <a:srgbClr val="171B26"/>
                </a:solidFill>
                <a:latin typeface="Segoe UI" pitchFamily="34" charset="0"/>
                <a:ea typeface="Segoe UI" pitchFamily="34" charset="-122"/>
                <a:cs typeface="Segoe UI" pitchFamily="34" charset="-120"/>
              </a:rPr>
              <a:t>παρέχει υπηρεσίες</a:t>
            </a:r>
            <a:pPr indent="0" marL="0">
              <a:lnSpc>
                <a:spcPct val="112000"/>
              </a:lnSpc>
              <a:buNone/>
            </a:pPr>
            <a:r>
              <a:rPr lang="en-US" sz="1200" dirty="0">
                <a:solidFill>
                  <a:srgbClr val="171B26"/>
                </a:solidFill>
                <a:latin typeface="Segoe UI" pitchFamily="34" charset="0"/>
                <a:ea typeface="Segoe UI" pitchFamily="34" charset="-122"/>
                <a:cs typeface="Segoe UI" pitchFamily="34" charset="-120"/>
              </a:rPr>
              <a:t> στις εφαρμογές και στον χρήστη.</a:t>
            </a:r>
            <a:endParaRPr lang="en-US" sz="1200" dirty="0"/>
          </a:p>
        </p:txBody>
      </p:sp>
      <p:sp>
        <p:nvSpPr>
          <p:cNvPr id="20" name="Shape 17"/>
          <p:cNvSpPr/>
          <p:nvPr/>
        </p:nvSpPr>
        <p:spPr>
          <a:xfrm>
            <a:off x="6263640" y="3017520"/>
            <a:ext cx="5184648" cy="1325880"/>
          </a:xfrm>
          <a:prstGeom prst="roundRect">
            <a:avLst>
              <a:gd name="adj" fmla="val 4138"/>
            </a:avLst>
          </a:prstGeom>
          <a:solidFill>
            <a:srgbClr val="FBFCFE"/>
          </a:solidFill>
          <a:ln w="9525">
            <a:solidFill>
              <a:srgbClr val="D3D9E4"/>
            </a:solidFill>
            <a:prstDash val="solid"/>
          </a:ln>
        </p:spPr>
        <p:txBody>
          <a:bodyPr/>
          <a:p/>
        </p:txBody>
      </p:sp>
      <p:sp>
        <p:nvSpPr>
          <p:cNvPr id="21" name="Text 18"/>
          <p:cNvSpPr txBox="1"/>
          <p:nvPr/>
        </p:nvSpPr>
        <p:spPr>
          <a:xfrm>
            <a:off x="6428232" y="3145536"/>
            <a:ext cx="4855464" cy="258826"/>
          </a:xfrm>
          <a:prstGeom prst="rect">
            <a:avLst/>
          </a:prstGeom>
          <a:noFill/>
          <a:ln/>
        </p:spPr>
        <p:txBody>
          <a:bodyPr wrap="square" lIns="0" tIns="0" rIns="0" bIns="0" rtlCol="0" anchor="t"/>
          <a:lstStyle/>
          <a:p>
            <a:pPr indent="0" marL="0">
              <a:buNone/>
            </a:pPr>
            <a:r>
              <a:rPr lang="en-US" sz="1400" b="1" dirty="0">
                <a:solidFill>
                  <a:srgbClr val="171B26"/>
                </a:solidFill>
                <a:latin typeface="Segoe UI" pitchFamily="34" charset="0"/>
                <a:ea typeface="Segoe UI" pitchFamily="34" charset="-122"/>
                <a:cs typeface="Segoe UI" pitchFamily="34" charset="-120"/>
              </a:rPr>
              <a:t>Πυρήνας (kernel)</a:t>
            </a:r>
            <a:endParaRPr lang="en-US" sz="1400" dirty="0"/>
          </a:p>
        </p:txBody>
      </p:sp>
      <p:sp>
        <p:nvSpPr>
          <p:cNvPr id="22" name="Text 19"/>
          <p:cNvSpPr txBox="1"/>
          <p:nvPr/>
        </p:nvSpPr>
        <p:spPr>
          <a:xfrm>
            <a:off x="6428232" y="3495802"/>
            <a:ext cx="4855464" cy="756158"/>
          </a:xfrm>
          <a:prstGeom prst="rect">
            <a:avLst/>
          </a:prstGeom>
          <a:noFill/>
          <a:ln/>
        </p:spPr>
        <p:txBody>
          <a:bodyPr wrap="square" lIns="0" tIns="0" rIns="0" bIns="0" rtlCol="0" anchor="t"/>
          <a:lstStyle/>
          <a:p>
            <a:pPr indent="0" marL="0">
              <a:lnSpc>
                <a:spcPct val="112000"/>
              </a:lnSpc>
              <a:buNone/>
            </a:pPr>
            <a:r>
              <a:rPr lang="en-US" sz="1200" dirty="0">
                <a:solidFill>
                  <a:srgbClr val="4A5265"/>
                </a:solidFill>
                <a:latin typeface="Segoe UI" pitchFamily="34" charset="0"/>
                <a:ea typeface="Segoe UI" pitchFamily="34" charset="-122"/>
                <a:cs typeface="Segoe UI" pitchFamily="34" charset="-120"/>
              </a:rPr>
              <a:t>Η καρδιά του ΛΣ: μιλά απευθείας με το υλικό.</a:t>
            </a:r>
            <a:endParaRPr lang="en-US" sz="1200" dirty="0"/>
          </a:p>
        </p:txBody>
      </p:sp>
      <p:sp>
        <p:nvSpPr>
          <p:cNvPr id="23" name="Shape 20"/>
          <p:cNvSpPr/>
          <p:nvPr/>
        </p:nvSpPr>
        <p:spPr>
          <a:xfrm>
            <a:off x="6263640" y="4526280"/>
            <a:ext cx="5184648" cy="1417320"/>
          </a:xfrm>
          <a:prstGeom prst="roundRect">
            <a:avLst>
              <a:gd name="adj" fmla="val 3871"/>
            </a:avLst>
          </a:prstGeom>
          <a:solidFill>
            <a:srgbClr val="F6EDD6"/>
          </a:solidFill>
          <a:ln w="12700">
            <a:solidFill>
              <a:srgbClr val="F6EDD6"/>
            </a:solidFill>
            <a:prstDash val="solid"/>
          </a:ln>
        </p:spPr>
        <p:txBody>
          <a:bodyPr/>
          <a:p/>
        </p:txBody>
      </p:sp>
      <p:sp>
        <p:nvSpPr>
          <p:cNvPr id="24" name="Text 21"/>
          <p:cNvSpPr txBox="1"/>
          <p:nvPr/>
        </p:nvSpPr>
        <p:spPr>
          <a:xfrm>
            <a:off x="6428232" y="4654296"/>
            <a:ext cx="4855464" cy="258826"/>
          </a:xfrm>
          <a:prstGeom prst="rect">
            <a:avLst/>
          </a:prstGeom>
          <a:noFill/>
          <a:ln/>
        </p:spPr>
        <p:txBody>
          <a:bodyPr wrap="square" lIns="0" tIns="0" rIns="0" bIns="0" rtlCol="0" anchor="t"/>
          <a:lstStyle/>
          <a:p>
            <a:pPr indent="0" marL="0">
              <a:buNone/>
            </a:pPr>
            <a:r>
              <a:rPr lang="en-US" sz="1400" b="1" dirty="0">
                <a:solidFill>
                  <a:srgbClr val="171B26"/>
                </a:solidFill>
                <a:latin typeface="Segoe UI" pitchFamily="34" charset="0"/>
                <a:ea typeface="Segoe UI" pitchFamily="34" charset="-122"/>
                <a:cs typeface="Segoe UI" pitchFamily="34" charset="-120"/>
              </a:rPr>
              <a:t>Κέλυφος (shell)</a:t>
            </a:r>
            <a:endParaRPr lang="en-US" sz="1400" dirty="0"/>
          </a:p>
        </p:txBody>
      </p:sp>
      <p:sp>
        <p:nvSpPr>
          <p:cNvPr id="25" name="Text 22"/>
          <p:cNvSpPr txBox="1"/>
          <p:nvPr/>
        </p:nvSpPr>
        <p:spPr>
          <a:xfrm>
            <a:off x="6428232" y="5004562"/>
            <a:ext cx="4855464" cy="847598"/>
          </a:xfrm>
          <a:prstGeom prst="rect">
            <a:avLst/>
          </a:prstGeom>
          <a:noFill/>
          <a:ln/>
        </p:spPr>
        <p:txBody>
          <a:bodyPr wrap="square" lIns="0" tIns="0" rIns="0" bIns="0" rtlCol="0" anchor="t"/>
          <a:lstStyle/>
          <a:p>
            <a:pPr indent="0" marL="0">
              <a:lnSpc>
                <a:spcPct val="112000"/>
              </a:lnSpc>
              <a:buNone/>
            </a:pPr>
            <a:r>
              <a:rPr lang="en-US" sz="1200" dirty="0">
                <a:solidFill>
                  <a:srgbClr val="4A5265"/>
                </a:solidFill>
                <a:latin typeface="Segoe UI" pitchFamily="34" charset="0"/>
                <a:ea typeface="Segoe UI" pitchFamily="34" charset="-122"/>
                <a:cs typeface="Segoe UI" pitchFamily="34" charset="-120"/>
              </a:rPr>
              <a:t>Αυτό που βλέπεις: γραφικό περιβάλλον (GUI) ή γραμμή εντολών (CLI).</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CFE"/>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F4BD8"/>
          </a:solidFill>
          <a:ln w="12700">
            <a:solidFill>
              <a:srgbClr val="2F4BD8"/>
            </a:solidFill>
            <a:prstDash val="solid"/>
          </a:ln>
        </p:spPr>
        <p:txBody>
          <a:bodyPr/>
          <a:p/>
        </p:txBody>
      </p:sp>
      <p:pic>
        <p:nvPicPr>
          <p:cNvPr id="3" name="Image 0" descr="/tmp/claude-0/-home-claude/8f07f1d1-9bfe-540b-b195-992cdc902b9e/scratchpad/prak/logo_os.png">    </p:cNvPr>
          <p:cNvPicPr>
            <a:picLocks noChangeAspect="1"/>
          </p:cNvPicPr>
          <p:nvPr/>
        </p:nvPicPr>
        <p:blipFill>
          <a:blip r:embed="rId1"/>
          <a:stretch>
            <a:fillRect/>
          </a:stretch>
        </p:blipFill>
        <p:spPr>
          <a:xfrm>
            <a:off x="9189720" y="274320"/>
            <a:ext cx="310896" cy="310896"/>
          </a:xfrm>
          <a:prstGeom prst="rect">
            <a:avLst/>
          </a:prstGeom>
        </p:spPr>
      </p:pic>
      <p:sp>
        <p:nvSpPr>
          <p:cNvPr id="4" name="Text 1"/>
          <p:cNvSpPr txBox="1"/>
          <p:nvPr/>
        </p:nvSpPr>
        <p:spPr>
          <a:xfrm>
            <a:off x="9573768" y="246888"/>
            <a:ext cx="2468880" cy="365760"/>
          </a:xfrm>
          <a:prstGeom prst="rect">
            <a:avLst/>
          </a:prstGeom>
          <a:noFill/>
          <a:ln/>
        </p:spPr>
        <p:txBody>
          <a:bodyPr wrap="square" lIns="0" tIns="0" rIns="0" bIns="0" rtlCol="0" anchor="ctr"/>
          <a:lstStyle/>
          <a:p>
            <a:pPr indent="0" marL="0">
              <a:buNone/>
            </a:pPr>
            <a:r>
              <a:rPr lang="en-US" sz="950" b="1" dirty="0">
                <a:solidFill>
                  <a:srgbClr val="4A5265"/>
                </a:solidFill>
                <a:latin typeface="Segoe UI" pitchFamily="34" charset="0"/>
                <a:ea typeface="Segoe UI" pitchFamily="34" charset="-122"/>
                <a:cs typeface="Segoe UI" pitchFamily="34" charset="-120"/>
              </a:rPr>
              <a:t>ΣΑΕΚ Μαρκοπούλου</a:t>
            </a:r>
            <a:endParaRPr lang="en-US" sz="950" dirty="0"/>
          </a:p>
          <a:p>
            <a:pPr indent="0" marL="0">
              <a:buNone/>
            </a:pPr>
            <a:r>
              <a:rPr lang="en-US" sz="950" b="1" dirty="0">
                <a:solidFill>
                  <a:srgbClr val="4A5265"/>
                </a:solidFill>
                <a:latin typeface="Segoe UI" pitchFamily="34" charset="0"/>
                <a:ea typeface="Segoe UI" pitchFamily="34" charset="-122"/>
                <a:cs typeface="Segoe UI" pitchFamily="34" charset="-120"/>
              </a:rPr>
              <a:t>Σύγχρονα Λειτουργικά Συστήματα</a:t>
            </a:r>
            <a:endParaRPr lang="en-US" sz="950" dirty="0"/>
          </a:p>
        </p:txBody>
      </p:sp>
      <p:sp>
        <p:nvSpPr>
          <p:cNvPr id="5" name="Text 2"/>
          <p:cNvSpPr txBox="1"/>
          <p:nvPr/>
        </p:nvSpPr>
        <p:spPr>
          <a:xfrm>
            <a:off x="8503920" y="6419088"/>
            <a:ext cx="3154680" cy="237744"/>
          </a:xfrm>
          <a:prstGeom prst="rect">
            <a:avLst/>
          </a:prstGeom>
          <a:noFill/>
          <a:ln/>
        </p:spPr>
        <p:txBody>
          <a:bodyPr wrap="square" rtlCol="0" anchor="ctr"/>
          <a:lstStyle/>
          <a:p>
            <a:pPr algn="r" indent="0" marL="0">
              <a:buNone/>
            </a:pPr>
            <a:r>
              <a:rPr lang="en-US" sz="900" dirty="0">
                <a:solidFill>
                  <a:srgbClr val="8A91A3"/>
                </a:solidFill>
                <a:latin typeface="Consolas" pitchFamily="34" charset="0"/>
                <a:ea typeface="Consolas" pitchFamily="34" charset="-122"/>
                <a:cs typeface="Consolas" pitchFamily="34" charset="-120"/>
              </a:rPr>
              <a:t>Λαμπρόπουλος Χρήστος</a:t>
            </a:r>
            <a:endParaRPr lang="en-US" sz="900" dirty="0"/>
          </a:p>
        </p:txBody>
      </p:sp>
      <p:sp>
        <p:nvSpPr>
          <p:cNvPr id="6" name="Text 3"/>
          <p:cNvSpPr txBox="1"/>
          <p:nvPr/>
        </p:nvSpPr>
        <p:spPr>
          <a:xfrm>
            <a:off x="566928" y="384048"/>
            <a:ext cx="8412480" cy="237744"/>
          </a:xfrm>
          <a:prstGeom prst="rect">
            <a:avLst/>
          </a:prstGeom>
          <a:noFill/>
          <a:ln/>
        </p:spPr>
        <p:txBody>
          <a:bodyPr wrap="square" lIns="0" tIns="0" rIns="0" bIns="0" rtlCol="0" anchor="ctr"/>
          <a:lstStyle/>
          <a:p>
            <a:pPr indent="0" marL="0">
              <a:buNone/>
            </a:pPr>
            <a:r>
              <a:rPr lang="en-US" sz="1000" spc="140" kern="0" dirty="0">
                <a:solidFill>
                  <a:srgbClr val="2F4BD8"/>
                </a:solidFill>
                <a:latin typeface="Consolas" pitchFamily="34" charset="0"/>
                <a:ea typeface="Consolas" pitchFamily="34" charset="-122"/>
                <a:cs typeface="Consolas" pitchFamily="34" charset="-120"/>
              </a:rPr>
              <a:t>03  </a:t>
            </a:r>
            <a:pPr indent="0" marL="0">
              <a:buNone/>
            </a:pPr>
            <a:r>
              <a:rPr lang="en-US" sz="1000" spc="140" kern="0" dirty="0">
                <a:solidFill>
                  <a:srgbClr val="8A91A3"/>
                </a:solidFill>
                <a:latin typeface="Consolas" pitchFamily="34" charset="0"/>
                <a:ea typeface="Consolas" pitchFamily="34" charset="-122"/>
                <a:cs typeface="Consolas" pitchFamily="34" charset="-120"/>
              </a:rPr>
              <a:t>ΑΠΟΣΤΟΛΗ 1 · ΣΤΟ PC</a:t>
            </a:r>
            <a:endParaRPr lang="en-US" sz="1000" dirty="0"/>
          </a:p>
        </p:txBody>
      </p:sp>
      <p:sp>
        <p:nvSpPr>
          <p:cNvPr id="7" name="Text 4"/>
          <p:cNvSpPr txBox="1"/>
          <p:nvPr/>
        </p:nvSpPr>
        <p:spPr>
          <a:xfrm>
            <a:off x="530352" y="658368"/>
            <a:ext cx="8595360" cy="566928"/>
          </a:xfrm>
          <a:prstGeom prst="rect">
            <a:avLst/>
          </a:prstGeom>
          <a:noFill/>
          <a:ln/>
        </p:spPr>
        <p:txBody>
          <a:bodyPr wrap="square" lIns="0" tIns="0" rIns="0" bIns="0" rtlCol="0" anchor="t"/>
          <a:lstStyle/>
          <a:p>
            <a:pPr indent="0" marL="0">
              <a:buNone/>
            </a:pPr>
            <a:r>
              <a:rPr lang="en-US" sz="3000" b="1" dirty="0">
                <a:solidFill>
                  <a:srgbClr val="171B26"/>
                </a:solidFill>
                <a:latin typeface="Segoe UI" pitchFamily="34" charset="0"/>
                <a:ea typeface="Segoe UI" pitchFamily="34" charset="-122"/>
                <a:cs typeface="Segoe UI" pitchFamily="34" charset="-120"/>
              </a:rPr>
              <a:t>Γνώρισε τον υπολογιστή σου</a:t>
            </a:r>
            <a:endParaRPr lang="en-US" sz="3000" dirty="0"/>
          </a:p>
        </p:txBody>
      </p:sp>
      <p:sp>
        <p:nvSpPr>
          <p:cNvPr id="8" name="Text 5"/>
          <p:cNvSpPr txBox="1"/>
          <p:nvPr/>
        </p:nvSpPr>
        <p:spPr>
          <a:xfrm>
            <a:off x="8138160" y="749808"/>
            <a:ext cx="2743200" cy="274320"/>
          </a:xfrm>
          <a:prstGeom prst="rect">
            <a:avLst/>
          </a:prstGeom>
          <a:noFill/>
          <a:ln/>
        </p:spPr>
        <p:txBody>
          <a:bodyPr wrap="square" rtlCol="0" anchor="ctr"/>
          <a:lstStyle/>
          <a:p>
            <a:pPr algn="r" indent="0" marL="0">
              <a:buNone/>
            </a:pPr>
            <a:r>
              <a:rPr lang="en-US" sz="1100" b="1" spc="100" kern="0" dirty="0">
                <a:solidFill>
                  <a:srgbClr val="1B6B52"/>
                </a:solidFill>
                <a:latin typeface="Consolas" pitchFamily="34" charset="0"/>
                <a:ea typeface="Consolas" pitchFamily="34" charset="-122"/>
                <a:cs typeface="Consolas" pitchFamily="34" charset="-120"/>
              </a:rPr>
              <a:t>▶ 25΄ ΣΤΟ PC</a:t>
            </a:r>
            <a:endParaRPr lang="en-US" sz="1100" dirty="0"/>
          </a:p>
        </p:txBody>
      </p:sp>
      <p:sp>
        <p:nvSpPr>
          <p:cNvPr id="9" name="Shape 6"/>
          <p:cNvSpPr/>
          <p:nvPr/>
        </p:nvSpPr>
        <p:spPr>
          <a:xfrm>
            <a:off x="566928" y="1709928"/>
            <a:ext cx="457200" cy="457200"/>
          </a:xfrm>
          <a:prstGeom prst="ellipse">
            <a:avLst/>
          </a:prstGeom>
          <a:solidFill>
            <a:srgbClr val="2F4BD8"/>
          </a:solidFill>
          <a:ln w="12700">
            <a:solidFill>
              <a:srgbClr val="2F4BD8"/>
            </a:solidFill>
            <a:prstDash val="solid"/>
          </a:ln>
        </p:spPr>
        <p:txBody>
          <a:bodyPr/>
          <a:p/>
        </p:txBody>
      </p:sp>
      <p:sp>
        <p:nvSpPr>
          <p:cNvPr id="10" name="Text 7"/>
          <p:cNvSpPr txBox="1"/>
          <p:nvPr/>
        </p:nvSpPr>
        <p:spPr>
          <a:xfrm>
            <a:off x="566928" y="17099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pitchFamily="34" charset="0"/>
                <a:ea typeface="Segoe UI" pitchFamily="34" charset="-122"/>
                <a:cs typeface="Segoe UI" pitchFamily="34" charset="-120"/>
              </a:rPr>
              <a:t>1</a:t>
            </a:r>
            <a:endParaRPr lang="en-US" sz="1500" dirty="0"/>
          </a:p>
        </p:txBody>
      </p:sp>
      <p:sp>
        <p:nvSpPr>
          <p:cNvPr id="11" name="Shape 8"/>
          <p:cNvSpPr/>
          <p:nvPr/>
        </p:nvSpPr>
        <p:spPr>
          <a:xfrm>
            <a:off x="1207008" y="1463040"/>
            <a:ext cx="10241280" cy="950976"/>
          </a:xfrm>
          <a:prstGeom prst="roundRect">
            <a:avLst>
              <a:gd name="adj" fmla="val 5769"/>
            </a:avLst>
          </a:prstGeom>
          <a:solidFill>
            <a:srgbClr val="FBFCFE"/>
          </a:solidFill>
          <a:ln w="9525">
            <a:solidFill>
              <a:srgbClr val="D3D9E4"/>
            </a:solidFill>
            <a:prstDash val="solid"/>
          </a:ln>
        </p:spPr>
        <p:txBody>
          <a:bodyPr/>
          <a:p/>
        </p:txBody>
      </p:sp>
      <p:sp>
        <p:nvSpPr>
          <p:cNvPr id="12" name="Text 9"/>
          <p:cNvSpPr txBox="1"/>
          <p:nvPr/>
        </p:nvSpPr>
        <p:spPr>
          <a:xfrm>
            <a:off x="1389888" y="1536192"/>
            <a:ext cx="3657600" cy="310896"/>
          </a:xfrm>
          <a:prstGeom prst="rect">
            <a:avLst/>
          </a:prstGeom>
          <a:noFill/>
          <a:ln/>
        </p:spPr>
        <p:txBody>
          <a:bodyPr wrap="square" lIns="0" tIns="0" rIns="0" bIns="0" rtlCol="0" anchor="ctr"/>
          <a:lstStyle/>
          <a:p>
            <a:pPr indent="0" marL="0">
              <a:buNone/>
            </a:pPr>
            <a:r>
              <a:rPr lang="en-US" sz="1350" b="1" dirty="0">
                <a:solidFill>
                  <a:srgbClr val="171B26"/>
                </a:solidFill>
                <a:latin typeface="Segoe UI" pitchFamily="34" charset="0"/>
                <a:ea typeface="Segoe UI" pitchFamily="34" charset="-122"/>
                <a:cs typeface="Segoe UI" pitchFamily="34" charset="-120"/>
              </a:rPr>
              <a:t>Ρυθμίσεις</a:t>
            </a:r>
            <a:endParaRPr lang="en-US" sz="1350" dirty="0"/>
          </a:p>
        </p:txBody>
      </p:sp>
      <p:sp>
        <p:nvSpPr>
          <p:cNvPr id="13" name="Text 10"/>
          <p:cNvSpPr txBox="1"/>
          <p:nvPr/>
        </p:nvSpPr>
        <p:spPr>
          <a:xfrm>
            <a:off x="1389888" y="2029968"/>
            <a:ext cx="3840480" cy="292608"/>
          </a:xfrm>
          <a:prstGeom prst="rect">
            <a:avLst/>
          </a:prstGeom>
          <a:noFill/>
          <a:ln/>
        </p:spPr>
        <p:txBody>
          <a:bodyPr wrap="square" lIns="0" tIns="0" rIns="0" bIns="0" rtlCol="0" anchor="ctr"/>
          <a:lstStyle/>
          <a:p>
            <a:pPr indent="0" marL="0">
              <a:buNone/>
            </a:pPr>
            <a:r>
              <a:rPr lang="en-US" sz="1050" dirty="0">
                <a:solidFill>
                  <a:srgbClr val="2F4BD8"/>
                </a:solidFill>
                <a:latin typeface="Consolas" pitchFamily="34" charset="0"/>
                <a:ea typeface="Consolas" pitchFamily="34" charset="-122"/>
                <a:cs typeface="Consolas" pitchFamily="34" charset="-120"/>
              </a:rPr>
              <a:t>Win + I → Σύστημα → Πληροφορίες</a:t>
            </a:r>
            <a:endParaRPr lang="en-US" sz="1050" dirty="0"/>
          </a:p>
        </p:txBody>
      </p:sp>
      <p:sp>
        <p:nvSpPr>
          <p:cNvPr id="14" name="Text 11"/>
          <p:cNvSpPr txBox="1"/>
          <p:nvPr/>
        </p:nvSpPr>
        <p:spPr>
          <a:xfrm>
            <a:off x="5394960" y="1463040"/>
            <a:ext cx="5897880" cy="950976"/>
          </a:xfrm>
          <a:prstGeom prst="rect">
            <a:avLst/>
          </a:prstGeom>
          <a:noFill/>
          <a:ln/>
        </p:spPr>
        <p:txBody>
          <a:bodyPr wrap="square" lIns="0" tIns="0" rIns="0" bIns="0" rtlCol="0" anchor="ctr"/>
          <a:lstStyle/>
          <a:p>
            <a:pPr indent="0" marL="0">
              <a:buNone/>
            </a:pPr>
            <a:r>
              <a:rPr lang="en-US" sz="1200" dirty="0">
                <a:solidFill>
                  <a:srgbClr val="4A5265"/>
                </a:solidFill>
                <a:latin typeface="Segoe UI" pitchFamily="34" charset="0"/>
                <a:ea typeface="Segoe UI" pitchFamily="34" charset="-122"/>
                <a:cs typeface="Segoe UI" pitchFamily="34" charset="-120"/>
              </a:rPr>
              <a:t>Όνομα συσκευής, επεξεργαστής, RAM, τύπος συστήματος (64-bit), έκδοση Windows.</a:t>
            </a:r>
            <a:endParaRPr lang="en-US" sz="1200" dirty="0"/>
          </a:p>
        </p:txBody>
      </p:sp>
      <p:sp>
        <p:nvSpPr>
          <p:cNvPr id="15" name="Shape 12"/>
          <p:cNvSpPr/>
          <p:nvPr/>
        </p:nvSpPr>
        <p:spPr>
          <a:xfrm>
            <a:off x="566928" y="2825496"/>
            <a:ext cx="457200" cy="457200"/>
          </a:xfrm>
          <a:prstGeom prst="ellipse">
            <a:avLst/>
          </a:prstGeom>
          <a:solidFill>
            <a:srgbClr val="2F4BD8"/>
          </a:solidFill>
          <a:ln w="12700">
            <a:solidFill>
              <a:srgbClr val="2F4BD8"/>
            </a:solidFill>
            <a:prstDash val="solid"/>
          </a:ln>
        </p:spPr>
        <p:txBody>
          <a:bodyPr/>
          <a:p/>
        </p:txBody>
      </p:sp>
      <p:sp>
        <p:nvSpPr>
          <p:cNvPr id="16" name="Text 13"/>
          <p:cNvSpPr txBox="1"/>
          <p:nvPr/>
        </p:nvSpPr>
        <p:spPr>
          <a:xfrm>
            <a:off x="566928" y="282549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pitchFamily="34" charset="0"/>
                <a:ea typeface="Segoe UI" pitchFamily="34" charset="-122"/>
                <a:cs typeface="Segoe UI" pitchFamily="34" charset="-120"/>
              </a:rPr>
              <a:t>2</a:t>
            </a:r>
            <a:endParaRPr lang="en-US" sz="1500" dirty="0"/>
          </a:p>
        </p:txBody>
      </p:sp>
      <p:sp>
        <p:nvSpPr>
          <p:cNvPr id="17" name="Shape 14"/>
          <p:cNvSpPr/>
          <p:nvPr/>
        </p:nvSpPr>
        <p:spPr>
          <a:xfrm>
            <a:off x="1207008" y="2578608"/>
            <a:ext cx="10241280" cy="950976"/>
          </a:xfrm>
          <a:prstGeom prst="roundRect">
            <a:avLst>
              <a:gd name="adj" fmla="val 5769"/>
            </a:avLst>
          </a:prstGeom>
          <a:solidFill>
            <a:srgbClr val="E4E8FB"/>
          </a:solidFill>
          <a:ln w="12700">
            <a:solidFill>
              <a:srgbClr val="E4E8FB"/>
            </a:solidFill>
            <a:prstDash val="solid"/>
          </a:ln>
        </p:spPr>
        <p:txBody>
          <a:bodyPr/>
          <a:p/>
        </p:txBody>
      </p:sp>
      <p:sp>
        <p:nvSpPr>
          <p:cNvPr id="18" name="Text 15"/>
          <p:cNvSpPr txBox="1"/>
          <p:nvPr/>
        </p:nvSpPr>
        <p:spPr>
          <a:xfrm>
            <a:off x="1389888" y="2651760"/>
            <a:ext cx="3657600" cy="310896"/>
          </a:xfrm>
          <a:prstGeom prst="rect">
            <a:avLst/>
          </a:prstGeom>
          <a:noFill/>
          <a:ln/>
        </p:spPr>
        <p:txBody>
          <a:bodyPr wrap="square" lIns="0" tIns="0" rIns="0" bIns="0" rtlCol="0" anchor="ctr"/>
          <a:lstStyle/>
          <a:p>
            <a:pPr indent="0" marL="0">
              <a:buNone/>
            </a:pPr>
            <a:r>
              <a:rPr lang="en-US" sz="1350" b="1" dirty="0">
                <a:solidFill>
                  <a:srgbClr val="171B26"/>
                </a:solidFill>
                <a:latin typeface="Segoe UI" pitchFamily="34" charset="0"/>
                <a:ea typeface="Segoe UI" pitchFamily="34" charset="-122"/>
                <a:cs typeface="Segoe UI" pitchFamily="34" charset="-120"/>
              </a:rPr>
              <a:t>winver</a:t>
            </a:r>
            <a:endParaRPr lang="en-US" sz="1350" dirty="0"/>
          </a:p>
        </p:txBody>
      </p:sp>
      <p:sp>
        <p:nvSpPr>
          <p:cNvPr id="19" name="Text 16"/>
          <p:cNvSpPr txBox="1"/>
          <p:nvPr/>
        </p:nvSpPr>
        <p:spPr>
          <a:xfrm>
            <a:off x="1389888" y="3145536"/>
            <a:ext cx="3840480" cy="292608"/>
          </a:xfrm>
          <a:prstGeom prst="rect">
            <a:avLst/>
          </a:prstGeom>
          <a:noFill/>
          <a:ln/>
        </p:spPr>
        <p:txBody>
          <a:bodyPr wrap="square" lIns="0" tIns="0" rIns="0" bIns="0" rtlCol="0" anchor="ctr"/>
          <a:lstStyle/>
          <a:p>
            <a:pPr indent="0" marL="0">
              <a:buNone/>
            </a:pPr>
            <a:r>
              <a:rPr lang="en-US" sz="1050" dirty="0">
                <a:solidFill>
                  <a:srgbClr val="2F4BD8"/>
                </a:solidFill>
                <a:latin typeface="Consolas" pitchFamily="34" charset="0"/>
                <a:ea typeface="Consolas" pitchFamily="34" charset="-122"/>
                <a:cs typeface="Consolas" pitchFamily="34" charset="-120"/>
              </a:rPr>
              <a:t>Win + R → winver → Enter</a:t>
            </a:r>
            <a:endParaRPr lang="en-US" sz="1050" dirty="0"/>
          </a:p>
        </p:txBody>
      </p:sp>
      <p:sp>
        <p:nvSpPr>
          <p:cNvPr id="20" name="Text 17"/>
          <p:cNvSpPr txBox="1"/>
          <p:nvPr/>
        </p:nvSpPr>
        <p:spPr>
          <a:xfrm>
            <a:off x="5394960" y="2578608"/>
            <a:ext cx="5897880" cy="950976"/>
          </a:xfrm>
          <a:prstGeom prst="rect">
            <a:avLst/>
          </a:prstGeom>
          <a:noFill/>
          <a:ln/>
        </p:spPr>
        <p:txBody>
          <a:bodyPr wrap="square" lIns="0" tIns="0" rIns="0" bIns="0" rtlCol="0" anchor="ctr"/>
          <a:lstStyle/>
          <a:p>
            <a:pPr indent="0" marL="0">
              <a:buNone/>
            </a:pPr>
            <a:r>
              <a:rPr lang="en-US" sz="1200" dirty="0">
                <a:solidFill>
                  <a:srgbClr val="4A5265"/>
                </a:solidFill>
                <a:latin typeface="Segoe UI" pitchFamily="34" charset="0"/>
                <a:ea typeface="Segoe UI" pitchFamily="34" charset="-122"/>
                <a:cs typeface="Segoe UI" pitchFamily="34" charset="-120"/>
              </a:rPr>
              <a:t>Η ακριβής έκδοση και το build του ΛΣ.</a:t>
            </a:r>
            <a:endParaRPr lang="en-US" sz="1200" dirty="0"/>
          </a:p>
        </p:txBody>
      </p:sp>
      <p:sp>
        <p:nvSpPr>
          <p:cNvPr id="21" name="Shape 18"/>
          <p:cNvSpPr/>
          <p:nvPr/>
        </p:nvSpPr>
        <p:spPr>
          <a:xfrm>
            <a:off x="566928" y="3941064"/>
            <a:ext cx="457200" cy="457200"/>
          </a:xfrm>
          <a:prstGeom prst="ellipse">
            <a:avLst/>
          </a:prstGeom>
          <a:solidFill>
            <a:srgbClr val="2F4BD8"/>
          </a:solidFill>
          <a:ln w="12700">
            <a:solidFill>
              <a:srgbClr val="2F4BD8"/>
            </a:solidFill>
            <a:prstDash val="solid"/>
          </a:ln>
        </p:spPr>
        <p:txBody>
          <a:bodyPr/>
          <a:p/>
        </p:txBody>
      </p:sp>
      <p:sp>
        <p:nvSpPr>
          <p:cNvPr id="22" name="Text 19"/>
          <p:cNvSpPr txBox="1"/>
          <p:nvPr/>
        </p:nvSpPr>
        <p:spPr>
          <a:xfrm>
            <a:off x="566928" y="394106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pitchFamily="34" charset="0"/>
                <a:ea typeface="Segoe UI" pitchFamily="34" charset="-122"/>
                <a:cs typeface="Segoe UI" pitchFamily="34" charset="-120"/>
              </a:rPr>
              <a:t>3</a:t>
            </a:r>
            <a:endParaRPr lang="en-US" sz="1500" dirty="0"/>
          </a:p>
        </p:txBody>
      </p:sp>
      <p:sp>
        <p:nvSpPr>
          <p:cNvPr id="23" name="Shape 20"/>
          <p:cNvSpPr/>
          <p:nvPr/>
        </p:nvSpPr>
        <p:spPr>
          <a:xfrm>
            <a:off x="1207008" y="3694176"/>
            <a:ext cx="10241280" cy="950976"/>
          </a:xfrm>
          <a:prstGeom prst="roundRect">
            <a:avLst>
              <a:gd name="adj" fmla="val 5769"/>
            </a:avLst>
          </a:prstGeom>
          <a:solidFill>
            <a:srgbClr val="FBFCFE"/>
          </a:solidFill>
          <a:ln w="9525">
            <a:solidFill>
              <a:srgbClr val="D3D9E4"/>
            </a:solidFill>
            <a:prstDash val="solid"/>
          </a:ln>
        </p:spPr>
        <p:txBody>
          <a:bodyPr/>
          <a:p/>
        </p:txBody>
      </p:sp>
      <p:sp>
        <p:nvSpPr>
          <p:cNvPr id="24" name="Text 21"/>
          <p:cNvSpPr txBox="1"/>
          <p:nvPr/>
        </p:nvSpPr>
        <p:spPr>
          <a:xfrm>
            <a:off x="1389888" y="3767328"/>
            <a:ext cx="3657600" cy="310896"/>
          </a:xfrm>
          <a:prstGeom prst="rect">
            <a:avLst/>
          </a:prstGeom>
          <a:noFill/>
          <a:ln/>
        </p:spPr>
        <p:txBody>
          <a:bodyPr wrap="square" lIns="0" tIns="0" rIns="0" bIns="0" rtlCol="0" anchor="ctr"/>
          <a:lstStyle/>
          <a:p>
            <a:pPr indent="0" marL="0">
              <a:buNone/>
            </a:pPr>
            <a:r>
              <a:rPr lang="en-US" sz="1350" b="1" dirty="0">
                <a:solidFill>
                  <a:srgbClr val="171B26"/>
                </a:solidFill>
                <a:latin typeface="Segoe UI" pitchFamily="34" charset="0"/>
                <a:ea typeface="Segoe UI" pitchFamily="34" charset="-122"/>
                <a:cs typeface="Segoe UI" pitchFamily="34" charset="-120"/>
              </a:rPr>
              <a:t>Πληροφορίες συστήματος</a:t>
            </a:r>
            <a:endParaRPr lang="en-US" sz="1350" dirty="0"/>
          </a:p>
        </p:txBody>
      </p:sp>
      <p:sp>
        <p:nvSpPr>
          <p:cNvPr id="25" name="Text 22"/>
          <p:cNvSpPr txBox="1"/>
          <p:nvPr/>
        </p:nvSpPr>
        <p:spPr>
          <a:xfrm>
            <a:off x="1389888" y="4261104"/>
            <a:ext cx="3840480" cy="292608"/>
          </a:xfrm>
          <a:prstGeom prst="rect">
            <a:avLst/>
          </a:prstGeom>
          <a:noFill/>
          <a:ln/>
        </p:spPr>
        <p:txBody>
          <a:bodyPr wrap="square" lIns="0" tIns="0" rIns="0" bIns="0" rtlCol="0" anchor="ctr"/>
          <a:lstStyle/>
          <a:p>
            <a:pPr indent="0" marL="0">
              <a:buNone/>
            </a:pPr>
            <a:r>
              <a:rPr lang="en-US" sz="1050" dirty="0">
                <a:solidFill>
                  <a:srgbClr val="2F4BD8"/>
                </a:solidFill>
                <a:latin typeface="Consolas" pitchFamily="34" charset="0"/>
                <a:ea typeface="Consolas" pitchFamily="34" charset="-122"/>
                <a:cs typeface="Consolas" pitchFamily="34" charset="-120"/>
              </a:rPr>
              <a:t>Win + R → msinfo32 → Enter</a:t>
            </a:r>
            <a:endParaRPr lang="en-US" sz="1050" dirty="0"/>
          </a:p>
        </p:txBody>
      </p:sp>
      <p:sp>
        <p:nvSpPr>
          <p:cNvPr id="26" name="Text 23"/>
          <p:cNvSpPr txBox="1"/>
          <p:nvPr/>
        </p:nvSpPr>
        <p:spPr>
          <a:xfrm>
            <a:off x="5394960" y="3694176"/>
            <a:ext cx="5897880" cy="950976"/>
          </a:xfrm>
          <a:prstGeom prst="rect">
            <a:avLst/>
          </a:prstGeom>
          <a:noFill/>
          <a:ln/>
        </p:spPr>
        <p:txBody>
          <a:bodyPr wrap="square" lIns="0" tIns="0" rIns="0" bIns="0" rtlCol="0" anchor="ctr"/>
          <a:lstStyle/>
          <a:p>
            <a:pPr indent="0" marL="0">
              <a:buNone/>
            </a:pPr>
            <a:r>
              <a:rPr lang="en-US" sz="1200" dirty="0">
                <a:solidFill>
                  <a:srgbClr val="4A5265"/>
                </a:solidFill>
                <a:latin typeface="Segoe UI" pitchFamily="34" charset="0"/>
                <a:ea typeface="Segoe UI" pitchFamily="34" charset="-122"/>
                <a:cs typeface="Segoe UI" pitchFamily="34" charset="-120"/>
              </a:rPr>
              <a:t>Κατασκευαστής, μοντέλο, όλα τα στοιχεία σε μία λίστα.</a:t>
            </a:r>
            <a:endParaRPr lang="en-US" sz="1200" dirty="0"/>
          </a:p>
        </p:txBody>
      </p:sp>
      <p:sp>
        <p:nvSpPr>
          <p:cNvPr id="27" name="Shape 24"/>
          <p:cNvSpPr/>
          <p:nvPr/>
        </p:nvSpPr>
        <p:spPr>
          <a:xfrm>
            <a:off x="566928" y="5056632"/>
            <a:ext cx="457200" cy="457200"/>
          </a:xfrm>
          <a:prstGeom prst="ellipse">
            <a:avLst/>
          </a:prstGeom>
          <a:solidFill>
            <a:srgbClr val="2F4BD8"/>
          </a:solidFill>
          <a:ln w="12700">
            <a:solidFill>
              <a:srgbClr val="2F4BD8"/>
            </a:solidFill>
            <a:prstDash val="solid"/>
          </a:ln>
        </p:spPr>
        <p:txBody>
          <a:bodyPr/>
          <a:p/>
        </p:txBody>
      </p:sp>
      <p:sp>
        <p:nvSpPr>
          <p:cNvPr id="28" name="Text 25"/>
          <p:cNvSpPr txBox="1"/>
          <p:nvPr/>
        </p:nvSpPr>
        <p:spPr>
          <a:xfrm>
            <a:off x="566928" y="505663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pitchFamily="34" charset="0"/>
                <a:ea typeface="Segoe UI" pitchFamily="34" charset="-122"/>
                <a:cs typeface="Segoe UI" pitchFamily="34" charset="-120"/>
              </a:rPr>
              <a:t>4</a:t>
            </a:r>
            <a:endParaRPr lang="en-US" sz="1500" dirty="0"/>
          </a:p>
        </p:txBody>
      </p:sp>
      <p:sp>
        <p:nvSpPr>
          <p:cNvPr id="29" name="Shape 26"/>
          <p:cNvSpPr/>
          <p:nvPr/>
        </p:nvSpPr>
        <p:spPr>
          <a:xfrm>
            <a:off x="1207008" y="4809744"/>
            <a:ext cx="10241280" cy="950976"/>
          </a:xfrm>
          <a:prstGeom prst="roundRect">
            <a:avLst>
              <a:gd name="adj" fmla="val 5769"/>
            </a:avLst>
          </a:prstGeom>
          <a:solidFill>
            <a:srgbClr val="E4E8FB"/>
          </a:solidFill>
          <a:ln w="12700">
            <a:solidFill>
              <a:srgbClr val="E4E8FB"/>
            </a:solidFill>
            <a:prstDash val="solid"/>
          </a:ln>
        </p:spPr>
        <p:txBody>
          <a:bodyPr/>
          <a:p/>
        </p:txBody>
      </p:sp>
      <p:sp>
        <p:nvSpPr>
          <p:cNvPr id="30" name="Text 27"/>
          <p:cNvSpPr txBox="1"/>
          <p:nvPr/>
        </p:nvSpPr>
        <p:spPr>
          <a:xfrm>
            <a:off x="1389888" y="4882896"/>
            <a:ext cx="3657600" cy="310896"/>
          </a:xfrm>
          <a:prstGeom prst="rect">
            <a:avLst/>
          </a:prstGeom>
          <a:noFill/>
          <a:ln/>
        </p:spPr>
        <p:txBody>
          <a:bodyPr wrap="square" lIns="0" tIns="0" rIns="0" bIns="0" rtlCol="0" anchor="ctr"/>
          <a:lstStyle/>
          <a:p>
            <a:pPr indent="0" marL="0">
              <a:buNone/>
            </a:pPr>
            <a:r>
              <a:rPr lang="en-US" sz="1350" b="1" dirty="0">
                <a:solidFill>
                  <a:srgbClr val="171B26"/>
                </a:solidFill>
                <a:latin typeface="Segoe UI" pitchFamily="34" charset="0"/>
                <a:ea typeface="Segoe UI" pitchFamily="34" charset="-122"/>
                <a:cs typeface="Segoe UI" pitchFamily="34" charset="-120"/>
              </a:rPr>
              <a:t>Διαχείριση εργασιών</a:t>
            </a:r>
            <a:endParaRPr lang="en-US" sz="1350" dirty="0"/>
          </a:p>
        </p:txBody>
      </p:sp>
      <p:sp>
        <p:nvSpPr>
          <p:cNvPr id="31" name="Text 28"/>
          <p:cNvSpPr txBox="1"/>
          <p:nvPr/>
        </p:nvSpPr>
        <p:spPr>
          <a:xfrm>
            <a:off x="1389888" y="5376672"/>
            <a:ext cx="3840480" cy="292608"/>
          </a:xfrm>
          <a:prstGeom prst="rect">
            <a:avLst/>
          </a:prstGeom>
          <a:noFill/>
          <a:ln/>
        </p:spPr>
        <p:txBody>
          <a:bodyPr wrap="square" lIns="0" tIns="0" rIns="0" bIns="0" rtlCol="0" anchor="ctr"/>
          <a:lstStyle/>
          <a:p>
            <a:pPr indent="0" marL="0">
              <a:buNone/>
            </a:pPr>
            <a:r>
              <a:rPr lang="en-US" sz="1050" dirty="0">
                <a:solidFill>
                  <a:srgbClr val="2F4BD8"/>
                </a:solidFill>
                <a:latin typeface="Consolas" pitchFamily="34" charset="0"/>
                <a:ea typeface="Consolas" pitchFamily="34" charset="-122"/>
                <a:cs typeface="Consolas" pitchFamily="34" charset="-120"/>
              </a:rPr>
              <a:t>Ctrl + Shift + Esc → Επιδόσεις</a:t>
            </a:r>
            <a:endParaRPr lang="en-US" sz="1050" dirty="0"/>
          </a:p>
        </p:txBody>
      </p:sp>
      <p:sp>
        <p:nvSpPr>
          <p:cNvPr id="32" name="Text 29"/>
          <p:cNvSpPr txBox="1"/>
          <p:nvPr/>
        </p:nvSpPr>
        <p:spPr>
          <a:xfrm>
            <a:off x="5394960" y="4809744"/>
            <a:ext cx="5897880" cy="950976"/>
          </a:xfrm>
          <a:prstGeom prst="rect">
            <a:avLst/>
          </a:prstGeom>
          <a:noFill/>
          <a:ln/>
        </p:spPr>
        <p:txBody>
          <a:bodyPr wrap="square" lIns="0" tIns="0" rIns="0" bIns="0" rtlCol="0" anchor="ctr"/>
          <a:lstStyle/>
          <a:p>
            <a:pPr indent="0" marL="0">
              <a:buNone/>
            </a:pPr>
            <a:r>
              <a:rPr lang="en-US" sz="1200" dirty="0">
                <a:solidFill>
                  <a:srgbClr val="4A5265"/>
                </a:solidFill>
                <a:latin typeface="Segoe UI" pitchFamily="34" charset="0"/>
                <a:ea typeface="Segoe UI" pitchFamily="34" charset="-122"/>
                <a:cs typeface="Segoe UI" pitchFamily="34" charset="-120"/>
              </a:rPr>
              <a:t>Πυρήνες, λογικοί επεξεργαστές, τύπος δίσκου (HDD/SSD).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CFE"/>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F4BD8"/>
          </a:solidFill>
          <a:ln w="12700">
            <a:solidFill>
              <a:srgbClr val="2F4BD8"/>
            </a:solidFill>
            <a:prstDash val="solid"/>
          </a:ln>
        </p:spPr>
        <p:txBody>
          <a:bodyPr/>
          <a:p/>
        </p:txBody>
      </p:sp>
      <p:pic>
        <p:nvPicPr>
          <p:cNvPr id="3" name="Image 0" descr="/tmp/claude-0/-home-claude/8f07f1d1-9bfe-540b-b195-992cdc902b9e/scratchpad/prak/logo_os.png">    </p:cNvPr>
          <p:cNvPicPr>
            <a:picLocks noChangeAspect="1"/>
          </p:cNvPicPr>
          <p:nvPr/>
        </p:nvPicPr>
        <p:blipFill>
          <a:blip r:embed="rId1"/>
          <a:stretch>
            <a:fillRect/>
          </a:stretch>
        </p:blipFill>
        <p:spPr>
          <a:xfrm>
            <a:off x="9189720" y="274320"/>
            <a:ext cx="310896" cy="310896"/>
          </a:xfrm>
          <a:prstGeom prst="rect">
            <a:avLst/>
          </a:prstGeom>
        </p:spPr>
      </p:pic>
      <p:sp>
        <p:nvSpPr>
          <p:cNvPr id="4" name="Text 1"/>
          <p:cNvSpPr txBox="1"/>
          <p:nvPr/>
        </p:nvSpPr>
        <p:spPr>
          <a:xfrm>
            <a:off x="9573768" y="246888"/>
            <a:ext cx="2468880" cy="365760"/>
          </a:xfrm>
          <a:prstGeom prst="rect">
            <a:avLst/>
          </a:prstGeom>
          <a:noFill/>
          <a:ln/>
        </p:spPr>
        <p:txBody>
          <a:bodyPr wrap="square" lIns="0" tIns="0" rIns="0" bIns="0" rtlCol="0" anchor="ctr"/>
          <a:lstStyle/>
          <a:p>
            <a:pPr indent="0" marL="0">
              <a:buNone/>
            </a:pPr>
            <a:r>
              <a:rPr lang="en-US" sz="950" b="1" dirty="0">
                <a:solidFill>
                  <a:srgbClr val="4A5265"/>
                </a:solidFill>
                <a:latin typeface="Segoe UI" pitchFamily="34" charset="0"/>
                <a:ea typeface="Segoe UI" pitchFamily="34" charset="-122"/>
                <a:cs typeface="Segoe UI" pitchFamily="34" charset="-120"/>
              </a:rPr>
              <a:t>ΣΑΕΚ Μαρκοπούλου</a:t>
            </a:r>
            <a:endParaRPr lang="en-US" sz="950" dirty="0"/>
          </a:p>
          <a:p>
            <a:pPr indent="0" marL="0">
              <a:buNone/>
            </a:pPr>
            <a:r>
              <a:rPr lang="en-US" sz="950" b="1" dirty="0">
                <a:solidFill>
                  <a:srgbClr val="4A5265"/>
                </a:solidFill>
                <a:latin typeface="Segoe UI" pitchFamily="34" charset="0"/>
                <a:ea typeface="Segoe UI" pitchFamily="34" charset="-122"/>
                <a:cs typeface="Segoe UI" pitchFamily="34" charset="-120"/>
              </a:rPr>
              <a:t>Σύγχρονα Λειτουργικά Συστήματα</a:t>
            </a:r>
            <a:endParaRPr lang="en-US" sz="950" dirty="0"/>
          </a:p>
        </p:txBody>
      </p:sp>
      <p:sp>
        <p:nvSpPr>
          <p:cNvPr id="5" name="Text 2"/>
          <p:cNvSpPr txBox="1"/>
          <p:nvPr/>
        </p:nvSpPr>
        <p:spPr>
          <a:xfrm>
            <a:off x="8503920" y="6419088"/>
            <a:ext cx="3154680" cy="237744"/>
          </a:xfrm>
          <a:prstGeom prst="rect">
            <a:avLst/>
          </a:prstGeom>
          <a:noFill/>
          <a:ln/>
        </p:spPr>
        <p:txBody>
          <a:bodyPr wrap="square" rtlCol="0" anchor="ctr"/>
          <a:lstStyle/>
          <a:p>
            <a:pPr algn="r" indent="0" marL="0">
              <a:buNone/>
            </a:pPr>
            <a:r>
              <a:rPr lang="en-US" sz="900" dirty="0">
                <a:solidFill>
                  <a:srgbClr val="8A91A3"/>
                </a:solidFill>
                <a:latin typeface="Consolas" pitchFamily="34" charset="0"/>
                <a:ea typeface="Consolas" pitchFamily="34" charset="-122"/>
                <a:cs typeface="Consolas" pitchFamily="34" charset="-120"/>
              </a:rPr>
              <a:t>Λαμπρόπουλος Χρήστος</a:t>
            </a:r>
            <a:endParaRPr lang="en-US" sz="900" dirty="0"/>
          </a:p>
        </p:txBody>
      </p:sp>
      <p:sp>
        <p:nvSpPr>
          <p:cNvPr id="6" name="Text 3"/>
          <p:cNvSpPr txBox="1"/>
          <p:nvPr/>
        </p:nvSpPr>
        <p:spPr>
          <a:xfrm>
            <a:off x="566928" y="384048"/>
            <a:ext cx="8412480" cy="237744"/>
          </a:xfrm>
          <a:prstGeom prst="rect">
            <a:avLst/>
          </a:prstGeom>
          <a:noFill/>
          <a:ln/>
        </p:spPr>
        <p:txBody>
          <a:bodyPr wrap="square" lIns="0" tIns="0" rIns="0" bIns="0" rtlCol="0" anchor="ctr"/>
          <a:lstStyle/>
          <a:p>
            <a:pPr indent="0" marL="0">
              <a:buNone/>
            </a:pPr>
            <a:r>
              <a:rPr lang="en-US" sz="1000" spc="140" kern="0" dirty="0">
                <a:solidFill>
                  <a:srgbClr val="2F4BD8"/>
                </a:solidFill>
                <a:latin typeface="Consolas" pitchFamily="34" charset="0"/>
                <a:ea typeface="Consolas" pitchFamily="34" charset="-122"/>
                <a:cs typeface="Consolas" pitchFamily="34" charset="-120"/>
              </a:rPr>
              <a:t>04  </a:t>
            </a:r>
            <a:pPr indent="0" marL="0">
              <a:buNone/>
            </a:pPr>
            <a:r>
              <a:rPr lang="en-US" sz="1000" spc="140" kern="0" dirty="0">
                <a:solidFill>
                  <a:srgbClr val="8A91A3"/>
                </a:solidFill>
                <a:latin typeface="Consolas" pitchFamily="34" charset="0"/>
                <a:ea typeface="Consolas" pitchFamily="34" charset="-122"/>
                <a:cs typeface="Consolas" pitchFamily="34" charset="-120"/>
              </a:rPr>
              <a:t>ΑΠΟΣΤΟΛΗ 1 · ΣΤΟ PC</a:t>
            </a:r>
            <a:endParaRPr lang="en-US" sz="1000" dirty="0"/>
          </a:p>
        </p:txBody>
      </p:sp>
      <p:sp>
        <p:nvSpPr>
          <p:cNvPr id="7" name="Text 4"/>
          <p:cNvSpPr txBox="1"/>
          <p:nvPr/>
        </p:nvSpPr>
        <p:spPr>
          <a:xfrm>
            <a:off x="530352" y="658368"/>
            <a:ext cx="8595360" cy="566928"/>
          </a:xfrm>
          <a:prstGeom prst="rect">
            <a:avLst/>
          </a:prstGeom>
          <a:noFill/>
          <a:ln/>
        </p:spPr>
        <p:txBody>
          <a:bodyPr wrap="square" lIns="0" tIns="0" rIns="0" bIns="0" rtlCol="0" anchor="t"/>
          <a:lstStyle/>
          <a:p>
            <a:pPr indent="0" marL="0">
              <a:buNone/>
            </a:pPr>
            <a:r>
              <a:rPr lang="en-US" sz="3000" b="1" dirty="0">
                <a:solidFill>
                  <a:srgbClr val="171B26"/>
                </a:solidFill>
                <a:latin typeface="Segoe UI" pitchFamily="34" charset="0"/>
                <a:ea typeface="Segoe UI" pitchFamily="34" charset="-122"/>
                <a:cs typeface="Segoe UI" pitchFamily="34" charset="-120"/>
              </a:rPr>
              <a:t>Η κάρτα συστήματος</a:t>
            </a:r>
            <a:endParaRPr lang="en-US" sz="3000" dirty="0"/>
          </a:p>
        </p:txBody>
      </p:sp>
      <p:sp>
        <p:nvSpPr>
          <p:cNvPr id="8" name="Text 5"/>
          <p:cNvSpPr txBox="1"/>
          <p:nvPr/>
        </p:nvSpPr>
        <p:spPr>
          <a:xfrm>
            <a:off x="8138160" y="749808"/>
            <a:ext cx="2743200" cy="274320"/>
          </a:xfrm>
          <a:prstGeom prst="rect">
            <a:avLst/>
          </a:prstGeom>
          <a:noFill/>
          <a:ln/>
        </p:spPr>
        <p:txBody>
          <a:bodyPr wrap="square" rtlCol="0" anchor="ctr"/>
          <a:lstStyle/>
          <a:p>
            <a:pPr algn="r" indent="0" marL="0">
              <a:buNone/>
            </a:pPr>
            <a:r>
              <a:rPr lang="en-US" sz="1100" b="1" spc="100" kern="0" dirty="0">
                <a:solidFill>
                  <a:srgbClr val="1B6B52"/>
                </a:solidFill>
                <a:latin typeface="Consolas" pitchFamily="34" charset="0"/>
                <a:ea typeface="Consolas" pitchFamily="34" charset="-122"/>
                <a:cs typeface="Consolas" pitchFamily="34" charset="-120"/>
              </a:rPr>
              <a:t>▶ 25΄ ΣΤΟ PC</a:t>
            </a:r>
            <a:endParaRPr lang="en-US" sz="1100" dirty="0"/>
          </a:p>
        </p:txBody>
      </p:sp>
      <p:sp>
        <p:nvSpPr>
          <p:cNvPr id="9" name="Shape 6"/>
          <p:cNvSpPr/>
          <p:nvPr/>
        </p:nvSpPr>
        <p:spPr>
          <a:xfrm>
            <a:off x="566928" y="1463040"/>
            <a:ext cx="10881360" cy="914400"/>
          </a:xfrm>
          <a:prstGeom prst="rect">
            <a:avLst/>
          </a:prstGeom>
          <a:solidFill>
            <a:srgbClr val="E4E8FB"/>
          </a:solidFill>
          <a:ln w="12700">
            <a:solidFill>
              <a:srgbClr val="E4E8FB"/>
            </a:solidFill>
            <a:prstDash val="solid"/>
          </a:ln>
        </p:spPr>
        <p:txBody>
          <a:bodyPr/>
          <a:p/>
        </p:txBody>
      </p:sp>
      <p:sp>
        <p:nvSpPr>
          <p:cNvPr id="10" name="Shape 7"/>
          <p:cNvSpPr/>
          <p:nvPr/>
        </p:nvSpPr>
        <p:spPr>
          <a:xfrm>
            <a:off x="566928" y="1463040"/>
            <a:ext cx="41148" cy="914400"/>
          </a:xfrm>
          <a:prstGeom prst="rect">
            <a:avLst/>
          </a:prstGeom>
          <a:solidFill>
            <a:srgbClr val="2F4BD8"/>
          </a:solidFill>
          <a:ln w="12700">
            <a:solidFill>
              <a:srgbClr val="2F4BD8"/>
            </a:solidFill>
            <a:prstDash val="solid"/>
          </a:ln>
        </p:spPr>
        <p:txBody>
          <a:bodyPr/>
          <a:p/>
        </p:txBody>
      </p:sp>
      <p:sp>
        <p:nvSpPr>
          <p:cNvPr id="11" name="Text 8"/>
          <p:cNvSpPr txBox="1"/>
          <p:nvPr/>
        </p:nvSpPr>
        <p:spPr>
          <a:xfrm>
            <a:off x="731520" y="1554480"/>
            <a:ext cx="4572000" cy="201168"/>
          </a:xfrm>
          <a:prstGeom prst="rect">
            <a:avLst/>
          </a:prstGeom>
          <a:noFill/>
          <a:ln/>
        </p:spPr>
        <p:txBody>
          <a:bodyPr wrap="square" lIns="0" tIns="0" rIns="0" bIns="0" rtlCol="0" anchor="ctr"/>
          <a:lstStyle/>
          <a:p>
            <a:pPr indent="0" marL="0">
              <a:buNone/>
            </a:pPr>
            <a:r>
              <a:rPr lang="en-US" sz="900" b="1" spc="120" kern="0" dirty="0">
                <a:solidFill>
                  <a:srgbClr val="2F4BD8"/>
                </a:solidFill>
                <a:latin typeface="Consolas" pitchFamily="34" charset="0"/>
                <a:ea typeface="Consolas" pitchFamily="34" charset="-122"/>
                <a:cs typeface="Consolas" pitchFamily="34" charset="-120"/>
              </a:rPr>
              <a:t>ΤΙ ΚΑΝΕΙΣ</a:t>
            </a:r>
            <a:endParaRPr lang="en-US" sz="900" dirty="0"/>
          </a:p>
        </p:txBody>
      </p:sp>
      <p:sp>
        <p:nvSpPr>
          <p:cNvPr id="12" name="Text 9"/>
          <p:cNvSpPr txBox="1"/>
          <p:nvPr/>
        </p:nvSpPr>
        <p:spPr>
          <a:xfrm>
            <a:off x="731520" y="1773936"/>
            <a:ext cx="10552176" cy="530352"/>
          </a:xfrm>
          <a:prstGeom prst="rect">
            <a:avLst/>
          </a:prstGeom>
          <a:noFill/>
          <a:ln/>
        </p:spPr>
        <p:txBody>
          <a:bodyPr wrap="square" lIns="0" tIns="0" rIns="0" bIns="0" rtlCol="0" anchor="t"/>
          <a:lstStyle/>
          <a:p>
            <a:pPr indent="0" marL="0">
              <a:lnSpc>
                <a:spcPct val="112000"/>
              </a:lnSpc>
              <a:buNone/>
            </a:pPr>
            <a:r>
              <a:rPr lang="en-US" sz="1200" dirty="0">
                <a:solidFill>
                  <a:srgbClr val="171B26"/>
                </a:solidFill>
                <a:latin typeface="Segoe UI" pitchFamily="34" charset="0"/>
                <a:ea typeface="Segoe UI" pitchFamily="34" charset="-122"/>
                <a:cs typeface="Segoe UI" pitchFamily="34" charset="-120"/>
              </a:rPr>
              <a:t>Συμπλήρωσε την κάρτα σε Word και αποθήκευσέ τη ως </a:t>
            </a:r>
            <a:pPr indent="0" marL="0">
              <a:lnSpc>
                <a:spcPct val="112000"/>
              </a:lnSpc>
              <a:buNone/>
            </a:pPr>
            <a:r>
              <a:rPr lang="en-US" sz="1200" b="1" dirty="0">
                <a:solidFill>
                  <a:srgbClr val="171B26"/>
                </a:solidFill>
                <a:latin typeface="Segoe UI" pitchFamily="34" charset="0"/>
                <a:ea typeface="Segoe UI" pitchFamily="34" charset="-122"/>
                <a:cs typeface="Segoe UI" pitchFamily="34" charset="-120"/>
              </a:rPr>
              <a:t>Karta_Systimatos.docx</a:t>
            </a:r>
            <a:pPr indent="0" marL="0">
              <a:lnSpc>
                <a:spcPct val="112000"/>
              </a:lnSpc>
              <a:buNone/>
            </a:pPr>
            <a:r>
              <a:rPr lang="en-US" sz="1200" dirty="0">
                <a:solidFill>
                  <a:srgbClr val="171B26"/>
                </a:solidFill>
                <a:latin typeface="Segoe UI" pitchFamily="34" charset="0"/>
                <a:ea typeface="Segoe UI" pitchFamily="34" charset="-122"/>
                <a:cs typeface="Segoe UI" pitchFamily="34" charset="-120"/>
              </a:rPr>
              <a:t> στον φάκελο LS_Eponymo. Βάλε και ένα στιγμιότυπο από το msinfo32 (Win + Shift + S).</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2560320"/>
          <a:ext cx="10881360" cy="914400"/>
        </p:xfrm>
        <a:graphic>
          <a:graphicData uri="http://schemas.openxmlformats.org/drawingml/2006/table">
            <a:tbl>
              <a:tblPr/>
              <a:tblGrid>
                <a:gridCol w="4023360"/>
                <a:gridCol w="3931920"/>
                <a:gridCol w="2926080"/>
              </a:tblGrid>
              <a:tr h="457200">
                <a:tc>
                  <a:txBody>
                    <a:bodyPr/>
                    <a:lstStyle/>
                    <a:p>
                      <a:pPr indent="0" marL="0">
                        <a:buNone/>
                      </a:pPr>
                      <a:r>
                        <a:rPr lang="en-US" sz="900" b="1" dirty="0">
                          <a:solidFill>
                            <a:srgbClr val="8A91A3"/>
                          </a:solidFill>
                          <a:latin typeface="Consolas" pitchFamily="34" charset="0"/>
                          <a:ea typeface="Consolas" pitchFamily="34" charset="-122"/>
                          <a:cs typeface="Consolas" pitchFamily="34" charset="-120"/>
                        </a:rPr>
                        <a:t>ΣΤΟΙΧΕΙΟ</a:t>
                      </a:r>
                      <a:endParaRPr lang="en-US" sz="90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900" b="1" dirty="0">
                          <a:solidFill>
                            <a:srgbClr val="8A91A3"/>
                          </a:solidFill>
                          <a:latin typeface="Consolas" pitchFamily="34" charset="0"/>
                          <a:ea typeface="Consolas" pitchFamily="34" charset="-122"/>
                          <a:cs typeface="Consolas" pitchFamily="34" charset="-120"/>
                        </a:rPr>
                        <a:t>ΠΟΥ ΤΟ ΒΡΙΣΚΩ</a:t>
                      </a:r>
                      <a:endParaRPr lang="en-US" sz="90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900" b="1" dirty="0">
                          <a:solidFill>
                            <a:srgbClr val="8A91A3"/>
                          </a:solidFill>
                          <a:latin typeface="Consolas" pitchFamily="34" charset="0"/>
                          <a:ea typeface="Consolas" pitchFamily="34" charset="-122"/>
                          <a:cs typeface="Consolas" pitchFamily="34" charset="-120"/>
                        </a:rPr>
                        <a:t>Η ΤΙΜΗ ΣΤΟ ΔΙΚΟ ΜΟΥ PC</a:t>
                      </a:r>
                      <a:endParaRPr lang="en-US" sz="90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457200">
                <a:tc>
                  <a:txBody>
                    <a:bodyPr/>
                    <a:lstStyle/>
                    <a:p>
                      <a:pPr indent="0" marL="0">
                        <a:buNone/>
                      </a:pPr>
                      <a:r>
                        <a:rPr lang="en-US" sz="1200" b="1" dirty="0">
                          <a:solidFill>
                            <a:srgbClr val="171B26"/>
                          </a:solidFill>
                          <a:latin typeface="Segoe UI" pitchFamily="34" charset="0"/>
                          <a:ea typeface="Segoe UI" pitchFamily="34" charset="-122"/>
                          <a:cs typeface="Segoe UI" pitchFamily="34" charset="-120"/>
                        </a:rPr>
                        <a:t>Όνομα υπολογιστή</a:t>
                      </a:r>
                      <a:endParaRPr lang="en-US" sz="120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1200" dirty="0">
                          <a:solidFill>
                            <a:srgbClr val="2F4BD8"/>
                          </a:solidFill>
                          <a:latin typeface="Consolas" pitchFamily="34" charset="0"/>
                          <a:ea typeface="Consolas" pitchFamily="34" charset="-122"/>
                          <a:cs typeface="Consolas" pitchFamily="34" charset="-120"/>
                        </a:rPr>
                        <a:t>Ρυθμίσεις → Πληροφορίες</a:t>
                      </a:r>
                      <a:endParaRPr lang="en-US" sz="120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endParaRPr lang="en-US" sz="120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457200">
                <a:tc>
                  <a:txBody>
                    <a:bodyPr/>
                    <a:lstStyle/>
                    <a:p>
                      <a:pPr indent="0" marL="0">
                        <a:buNone/>
                      </a:pPr>
                      <a:r>
                        <a:rPr lang="en-US" sz="1200" b="1" dirty="0">
                          <a:solidFill>
                            <a:srgbClr val="171B26"/>
                          </a:solidFill>
                          <a:latin typeface="Segoe UI" pitchFamily="34" charset="0"/>
                          <a:ea typeface="Segoe UI" pitchFamily="34" charset="-122"/>
                          <a:cs typeface="Segoe UI" pitchFamily="34" charset="-120"/>
                        </a:rPr>
                        <a:t>ΛΣ, έκδοση και build</a:t>
                      </a:r>
                      <a:endParaRPr lang="en-US" sz="120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1200" dirty="0">
                          <a:solidFill>
                            <a:srgbClr val="2F4BD8"/>
                          </a:solidFill>
                          <a:latin typeface="Consolas" pitchFamily="34" charset="0"/>
                          <a:ea typeface="Consolas" pitchFamily="34" charset="-122"/>
                          <a:cs typeface="Consolas" pitchFamily="34" charset="-120"/>
                        </a:rPr>
                        <a:t>winver</a:t>
                      </a:r>
                      <a:endParaRPr lang="en-US" sz="120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endParaRPr lang="en-US" sz="120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457200">
                <a:tc>
                  <a:txBody>
                    <a:bodyPr/>
                    <a:lstStyle/>
                    <a:p>
                      <a:pPr indent="0" marL="0">
                        <a:buNone/>
                      </a:pPr>
                      <a:r>
                        <a:rPr lang="en-US" sz="1200" b="1" dirty="0">
                          <a:solidFill>
                            <a:srgbClr val="171B26"/>
                          </a:solidFill>
                          <a:latin typeface="Segoe UI" pitchFamily="34" charset="0"/>
                          <a:ea typeface="Segoe UI" pitchFamily="34" charset="-122"/>
                          <a:cs typeface="Segoe UI" pitchFamily="34" charset="-120"/>
                        </a:rPr>
                        <a:t>Τύπος συστήματος (32/64-bit)</a:t>
                      </a:r>
                      <a:endParaRPr lang="en-US" sz="120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1200" dirty="0">
                          <a:solidFill>
                            <a:srgbClr val="2F4BD8"/>
                          </a:solidFill>
                          <a:latin typeface="Consolas" pitchFamily="34" charset="0"/>
                          <a:ea typeface="Consolas" pitchFamily="34" charset="-122"/>
                          <a:cs typeface="Consolas" pitchFamily="34" charset="-120"/>
                        </a:rPr>
                        <a:t>Ρυθμίσεις → Πληροφορίες</a:t>
                      </a:r>
                      <a:endParaRPr lang="en-US" sz="120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endParaRPr lang="en-US" sz="120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457200">
                <a:tc>
                  <a:txBody>
                    <a:bodyPr/>
                    <a:lstStyle/>
                    <a:p>
                      <a:pPr indent="0" marL="0">
                        <a:buNone/>
                      </a:pPr>
                      <a:r>
                        <a:rPr lang="en-US" sz="1200" b="1" dirty="0">
                          <a:solidFill>
                            <a:srgbClr val="171B26"/>
                          </a:solidFill>
                          <a:latin typeface="Segoe UI" pitchFamily="34" charset="0"/>
                          <a:ea typeface="Segoe UI" pitchFamily="34" charset="-122"/>
                          <a:cs typeface="Segoe UI" pitchFamily="34" charset="-120"/>
                        </a:rPr>
                        <a:t>Επεξεργαστής, πυρήνες, λογικοί επεξεργαστές</a:t>
                      </a:r>
                      <a:endParaRPr lang="en-US" sz="120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1200" dirty="0">
                          <a:solidFill>
                            <a:srgbClr val="2F4BD8"/>
                          </a:solidFill>
                          <a:latin typeface="Consolas" pitchFamily="34" charset="0"/>
                          <a:ea typeface="Consolas" pitchFamily="34" charset="-122"/>
                          <a:cs typeface="Consolas" pitchFamily="34" charset="-120"/>
                        </a:rPr>
                        <a:t>Διαχείριση εργασιών → Επιδόσεις → CPU</a:t>
                      </a:r>
                      <a:endParaRPr lang="en-US" sz="120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endParaRPr lang="en-US" sz="120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457200">
                <a:tc>
                  <a:txBody>
                    <a:bodyPr/>
                    <a:lstStyle/>
                    <a:p>
                      <a:pPr indent="0" marL="0">
                        <a:buNone/>
                      </a:pPr>
                      <a:r>
                        <a:rPr lang="en-US" sz="1200" b="1" dirty="0">
                          <a:solidFill>
                            <a:srgbClr val="171B26"/>
                          </a:solidFill>
                          <a:latin typeface="Segoe UI" pitchFamily="34" charset="0"/>
                          <a:ea typeface="Segoe UI" pitchFamily="34" charset="-122"/>
                          <a:cs typeface="Segoe UI" pitchFamily="34" charset="-120"/>
                        </a:rPr>
                        <a:t>Εγκατεστημένη RAM</a:t>
                      </a:r>
                      <a:endParaRPr lang="en-US" sz="120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1200" dirty="0">
                          <a:solidFill>
                            <a:srgbClr val="2F4BD8"/>
                          </a:solidFill>
                          <a:latin typeface="Consolas" pitchFamily="34" charset="0"/>
                          <a:ea typeface="Consolas" pitchFamily="34" charset="-122"/>
                          <a:cs typeface="Consolas" pitchFamily="34" charset="-120"/>
                        </a:rPr>
                        <a:t>msinfo32</a:t>
                      </a:r>
                      <a:endParaRPr lang="en-US" sz="120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endParaRPr lang="en-US" sz="120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457200">
                <a:tc>
                  <a:txBody>
                    <a:bodyPr/>
                    <a:lstStyle/>
                    <a:p>
                      <a:pPr indent="0" marL="0">
                        <a:buNone/>
                      </a:pPr>
                      <a:r>
                        <a:rPr lang="en-US" sz="1200" b="1" dirty="0">
                          <a:solidFill>
                            <a:srgbClr val="171B26"/>
                          </a:solidFill>
                          <a:latin typeface="Segoe UI" pitchFamily="34" charset="0"/>
                          <a:ea typeface="Segoe UI" pitchFamily="34" charset="-122"/>
                          <a:cs typeface="Segoe UI" pitchFamily="34" charset="-120"/>
                        </a:rPr>
                        <a:t>Χωρητικότητα και τύπος δίσκου (HDD/SSD)</a:t>
                      </a:r>
                      <a:endParaRPr lang="en-US" sz="120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1200" dirty="0">
                          <a:solidFill>
                            <a:srgbClr val="2F4BD8"/>
                          </a:solidFill>
                          <a:latin typeface="Consolas" pitchFamily="34" charset="0"/>
                          <a:ea typeface="Consolas" pitchFamily="34" charset="-122"/>
                          <a:cs typeface="Consolas" pitchFamily="34" charset="-120"/>
                        </a:rPr>
                        <a:t>Διαχείριση εργασιών → Επιδόσεις → Δίσκος</a:t>
                      </a:r>
                      <a:endParaRPr lang="en-US" sz="120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endParaRPr lang="en-US" sz="120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CFE"/>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F4BD8"/>
          </a:solidFill>
          <a:ln w="12700">
            <a:solidFill>
              <a:srgbClr val="2F4BD8"/>
            </a:solidFill>
            <a:prstDash val="solid"/>
          </a:ln>
        </p:spPr>
        <p:txBody>
          <a:bodyPr/>
          <a:p/>
        </p:txBody>
      </p:sp>
      <p:pic>
        <p:nvPicPr>
          <p:cNvPr id="3" name="Image 0" descr="/tmp/claude-0/-home-claude/8f07f1d1-9bfe-540b-b195-992cdc902b9e/scratchpad/prak/logo_os.png">    </p:cNvPr>
          <p:cNvPicPr>
            <a:picLocks noChangeAspect="1"/>
          </p:cNvPicPr>
          <p:nvPr/>
        </p:nvPicPr>
        <p:blipFill>
          <a:blip r:embed="rId1"/>
          <a:stretch>
            <a:fillRect/>
          </a:stretch>
        </p:blipFill>
        <p:spPr>
          <a:xfrm>
            <a:off x="9189720" y="274320"/>
            <a:ext cx="310896" cy="310896"/>
          </a:xfrm>
          <a:prstGeom prst="rect">
            <a:avLst/>
          </a:prstGeom>
        </p:spPr>
      </p:pic>
      <p:sp>
        <p:nvSpPr>
          <p:cNvPr id="4" name="Text 1"/>
          <p:cNvSpPr txBox="1"/>
          <p:nvPr/>
        </p:nvSpPr>
        <p:spPr>
          <a:xfrm>
            <a:off x="9573768" y="246888"/>
            <a:ext cx="2468880" cy="365760"/>
          </a:xfrm>
          <a:prstGeom prst="rect">
            <a:avLst/>
          </a:prstGeom>
          <a:noFill/>
          <a:ln/>
        </p:spPr>
        <p:txBody>
          <a:bodyPr wrap="square" lIns="0" tIns="0" rIns="0" bIns="0" rtlCol="0" anchor="ctr"/>
          <a:lstStyle/>
          <a:p>
            <a:pPr indent="0" marL="0">
              <a:buNone/>
            </a:pPr>
            <a:r>
              <a:rPr lang="en-US" sz="950" b="1" dirty="0">
                <a:solidFill>
                  <a:srgbClr val="4A5265"/>
                </a:solidFill>
                <a:latin typeface="Segoe UI" pitchFamily="34" charset="0"/>
                <a:ea typeface="Segoe UI" pitchFamily="34" charset="-122"/>
                <a:cs typeface="Segoe UI" pitchFamily="34" charset="-120"/>
              </a:rPr>
              <a:t>ΣΑΕΚ Μαρκοπούλου</a:t>
            </a:r>
            <a:endParaRPr lang="en-US" sz="950" dirty="0"/>
          </a:p>
          <a:p>
            <a:pPr indent="0" marL="0">
              <a:buNone/>
            </a:pPr>
            <a:r>
              <a:rPr lang="en-US" sz="950" b="1" dirty="0">
                <a:solidFill>
                  <a:srgbClr val="4A5265"/>
                </a:solidFill>
                <a:latin typeface="Segoe UI" pitchFamily="34" charset="0"/>
                <a:ea typeface="Segoe UI" pitchFamily="34" charset="-122"/>
                <a:cs typeface="Segoe UI" pitchFamily="34" charset="-120"/>
              </a:rPr>
              <a:t>Σύγχρονα Λειτουργικά Συστήματα</a:t>
            </a:r>
            <a:endParaRPr lang="en-US" sz="950" dirty="0"/>
          </a:p>
        </p:txBody>
      </p:sp>
      <p:sp>
        <p:nvSpPr>
          <p:cNvPr id="5" name="Text 2"/>
          <p:cNvSpPr txBox="1"/>
          <p:nvPr/>
        </p:nvSpPr>
        <p:spPr>
          <a:xfrm>
            <a:off x="8503920" y="6419088"/>
            <a:ext cx="3154680" cy="237744"/>
          </a:xfrm>
          <a:prstGeom prst="rect">
            <a:avLst/>
          </a:prstGeom>
          <a:noFill/>
          <a:ln/>
        </p:spPr>
        <p:txBody>
          <a:bodyPr wrap="square" rtlCol="0" anchor="ctr"/>
          <a:lstStyle/>
          <a:p>
            <a:pPr algn="r" indent="0" marL="0">
              <a:buNone/>
            </a:pPr>
            <a:r>
              <a:rPr lang="en-US" sz="900" dirty="0">
                <a:solidFill>
                  <a:srgbClr val="8A91A3"/>
                </a:solidFill>
                <a:latin typeface="Consolas" pitchFamily="34" charset="0"/>
                <a:ea typeface="Consolas" pitchFamily="34" charset="-122"/>
                <a:cs typeface="Consolas" pitchFamily="34" charset="-120"/>
              </a:rPr>
              <a:t>Λαμπρόπουλος Χρήστος</a:t>
            </a:r>
            <a:endParaRPr lang="en-US" sz="900" dirty="0"/>
          </a:p>
        </p:txBody>
      </p:sp>
      <p:sp>
        <p:nvSpPr>
          <p:cNvPr id="6" name="Text 3"/>
          <p:cNvSpPr txBox="1"/>
          <p:nvPr/>
        </p:nvSpPr>
        <p:spPr>
          <a:xfrm>
            <a:off x="566928" y="384048"/>
            <a:ext cx="8412480" cy="237744"/>
          </a:xfrm>
          <a:prstGeom prst="rect">
            <a:avLst/>
          </a:prstGeom>
          <a:noFill/>
          <a:ln/>
        </p:spPr>
        <p:txBody>
          <a:bodyPr wrap="square" lIns="0" tIns="0" rIns="0" bIns="0" rtlCol="0" anchor="ctr"/>
          <a:lstStyle/>
          <a:p>
            <a:pPr indent="0" marL="0">
              <a:buNone/>
            </a:pPr>
            <a:r>
              <a:rPr lang="en-US" sz="1000" spc="140" kern="0" dirty="0">
                <a:solidFill>
                  <a:srgbClr val="2F4BD8"/>
                </a:solidFill>
                <a:latin typeface="Consolas" pitchFamily="34" charset="0"/>
                <a:ea typeface="Consolas" pitchFamily="34" charset="-122"/>
                <a:cs typeface="Consolas" pitchFamily="34" charset="-120"/>
              </a:rPr>
              <a:t>06  </a:t>
            </a:r>
            <a:pPr indent="0" marL="0">
              <a:buNone/>
            </a:pPr>
            <a:r>
              <a:rPr lang="en-US" sz="1000" spc="140" kern="0" dirty="0">
                <a:solidFill>
                  <a:srgbClr val="8A91A3"/>
                </a:solidFill>
                <a:latin typeface="Consolas" pitchFamily="34" charset="0"/>
                <a:ea typeface="Consolas" pitchFamily="34" charset="-122"/>
                <a:cs typeface="Consolas" pitchFamily="34" charset="-120"/>
              </a:rPr>
              <a:t>ΑΠΟΣΤΟΛΗ 2 · ΣΤΟ PC</a:t>
            </a:r>
            <a:endParaRPr lang="en-US" sz="1000" dirty="0"/>
          </a:p>
        </p:txBody>
      </p:sp>
      <p:sp>
        <p:nvSpPr>
          <p:cNvPr id="7" name="Text 4"/>
          <p:cNvSpPr txBox="1"/>
          <p:nvPr/>
        </p:nvSpPr>
        <p:spPr>
          <a:xfrm>
            <a:off x="530352" y="658368"/>
            <a:ext cx="8595360" cy="566928"/>
          </a:xfrm>
          <a:prstGeom prst="rect">
            <a:avLst/>
          </a:prstGeom>
          <a:noFill/>
          <a:ln/>
        </p:spPr>
        <p:txBody>
          <a:bodyPr wrap="square" lIns="0" tIns="0" rIns="0" bIns="0" rtlCol="0" anchor="t"/>
          <a:lstStyle/>
          <a:p>
            <a:pPr indent="0" marL="0">
              <a:buNone/>
            </a:pPr>
            <a:r>
              <a:rPr lang="en-US" sz="3000" b="1" dirty="0">
                <a:solidFill>
                  <a:srgbClr val="171B26"/>
                </a:solidFill>
                <a:latin typeface="Segoe UI" pitchFamily="34" charset="0"/>
                <a:ea typeface="Segoe UI" pitchFamily="34" charset="-122"/>
                <a:cs typeface="Segoe UI" pitchFamily="34" charset="-120"/>
              </a:rPr>
              <a:t>Βρες τις 6 δουλειές του ΛΣ</a:t>
            </a:r>
            <a:endParaRPr lang="en-US" sz="3000" dirty="0"/>
          </a:p>
        </p:txBody>
      </p:sp>
      <p:sp>
        <p:nvSpPr>
          <p:cNvPr id="8" name="Text 5"/>
          <p:cNvSpPr txBox="1"/>
          <p:nvPr/>
        </p:nvSpPr>
        <p:spPr>
          <a:xfrm>
            <a:off x="8138160" y="749808"/>
            <a:ext cx="2743200" cy="274320"/>
          </a:xfrm>
          <a:prstGeom prst="rect">
            <a:avLst/>
          </a:prstGeom>
          <a:noFill/>
          <a:ln/>
        </p:spPr>
        <p:txBody>
          <a:bodyPr wrap="square" rtlCol="0" anchor="ctr"/>
          <a:lstStyle/>
          <a:p>
            <a:pPr algn="r" indent="0" marL="0">
              <a:buNone/>
            </a:pPr>
            <a:r>
              <a:rPr lang="en-US" sz="1100" b="1" spc="100" kern="0" dirty="0">
                <a:solidFill>
                  <a:srgbClr val="1B6B52"/>
                </a:solidFill>
                <a:latin typeface="Consolas" pitchFamily="34" charset="0"/>
                <a:ea typeface="Consolas" pitchFamily="34" charset="-122"/>
                <a:cs typeface="Consolas" pitchFamily="34" charset="-120"/>
              </a:rPr>
              <a:t>▶ 20΄ ΣΤΟ PC</a:t>
            </a:r>
            <a:endParaRPr lang="en-US" sz="1100" dirty="0"/>
          </a:p>
        </p:txBody>
      </p:sp>
      <p:sp>
        <p:nvSpPr>
          <p:cNvPr id="9" name="Shape 6"/>
          <p:cNvSpPr/>
          <p:nvPr/>
        </p:nvSpPr>
        <p:spPr>
          <a:xfrm>
            <a:off x="566928" y="1463040"/>
            <a:ext cx="10881360" cy="914400"/>
          </a:xfrm>
          <a:prstGeom prst="rect">
            <a:avLst/>
          </a:prstGeom>
          <a:solidFill>
            <a:srgbClr val="E4E8FB"/>
          </a:solidFill>
          <a:ln w="12700">
            <a:solidFill>
              <a:srgbClr val="E4E8FB"/>
            </a:solidFill>
            <a:prstDash val="solid"/>
          </a:ln>
        </p:spPr>
        <p:txBody>
          <a:bodyPr/>
          <a:p/>
        </p:txBody>
      </p:sp>
      <p:sp>
        <p:nvSpPr>
          <p:cNvPr id="10" name="Shape 7"/>
          <p:cNvSpPr/>
          <p:nvPr/>
        </p:nvSpPr>
        <p:spPr>
          <a:xfrm>
            <a:off x="566928" y="1463040"/>
            <a:ext cx="41148" cy="914400"/>
          </a:xfrm>
          <a:prstGeom prst="rect">
            <a:avLst/>
          </a:prstGeom>
          <a:solidFill>
            <a:srgbClr val="2F4BD8"/>
          </a:solidFill>
          <a:ln w="12700">
            <a:solidFill>
              <a:srgbClr val="2F4BD8"/>
            </a:solidFill>
            <a:prstDash val="solid"/>
          </a:ln>
        </p:spPr>
        <p:txBody>
          <a:bodyPr/>
          <a:p/>
        </p:txBody>
      </p:sp>
      <p:sp>
        <p:nvSpPr>
          <p:cNvPr id="11" name="Text 8"/>
          <p:cNvSpPr txBox="1"/>
          <p:nvPr/>
        </p:nvSpPr>
        <p:spPr>
          <a:xfrm>
            <a:off x="731520" y="1554480"/>
            <a:ext cx="4572000" cy="201168"/>
          </a:xfrm>
          <a:prstGeom prst="rect">
            <a:avLst/>
          </a:prstGeom>
          <a:noFill/>
          <a:ln/>
        </p:spPr>
        <p:txBody>
          <a:bodyPr wrap="square" lIns="0" tIns="0" rIns="0" bIns="0" rtlCol="0" anchor="ctr"/>
          <a:lstStyle/>
          <a:p>
            <a:pPr indent="0" marL="0">
              <a:buNone/>
            </a:pPr>
            <a:r>
              <a:rPr lang="en-US" sz="900" b="1" spc="120" kern="0" dirty="0">
                <a:solidFill>
                  <a:srgbClr val="2F4BD8"/>
                </a:solidFill>
                <a:latin typeface="Consolas" pitchFamily="34" charset="0"/>
                <a:ea typeface="Consolas" pitchFamily="34" charset="-122"/>
                <a:cs typeface="Consolas" pitchFamily="34" charset="-120"/>
              </a:rPr>
              <a:t>ΤΙ ΚΑΝΕΙΣ</a:t>
            </a:r>
            <a:endParaRPr lang="en-US" sz="900" dirty="0"/>
          </a:p>
        </p:txBody>
      </p:sp>
      <p:sp>
        <p:nvSpPr>
          <p:cNvPr id="12" name="Text 9"/>
          <p:cNvSpPr txBox="1"/>
          <p:nvPr/>
        </p:nvSpPr>
        <p:spPr>
          <a:xfrm>
            <a:off x="731520" y="1773936"/>
            <a:ext cx="10552176" cy="530352"/>
          </a:xfrm>
          <a:prstGeom prst="rect">
            <a:avLst/>
          </a:prstGeom>
          <a:noFill/>
          <a:ln/>
        </p:spPr>
        <p:txBody>
          <a:bodyPr wrap="square" lIns="0" tIns="0" rIns="0" bIns="0" rtlCol="0" anchor="t"/>
          <a:lstStyle/>
          <a:p>
            <a:pPr indent="0" marL="0">
              <a:lnSpc>
                <a:spcPct val="112000"/>
              </a:lnSpc>
              <a:buNone/>
            </a:pPr>
            <a:r>
              <a:rPr lang="en-US" sz="1200" dirty="0">
                <a:solidFill>
                  <a:srgbClr val="171B26"/>
                </a:solidFill>
                <a:latin typeface="Segoe UI" pitchFamily="34" charset="0"/>
                <a:ea typeface="Segoe UI" pitchFamily="34" charset="-122"/>
                <a:cs typeface="Segoe UI" pitchFamily="34" charset="-120"/>
              </a:rPr>
              <a:t>Το ΛΣ έχει 6 βασικές δουλειές. Για καθεμία, άνοιξε το εργαλείο των Windows όπου «φαίνεται» και γράψε </a:t>
            </a:r>
            <a:pPr indent="0" marL="0">
              <a:lnSpc>
                <a:spcPct val="112000"/>
              </a:lnSpc>
              <a:buNone/>
            </a:pPr>
            <a:r>
              <a:rPr lang="en-US" sz="1200" b="1" dirty="0">
                <a:solidFill>
                  <a:srgbClr val="171B26"/>
                </a:solidFill>
                <a:latin typeface="Segoe UI" pitchFamily="34" charset="0"/>
                <a:ea typeface="Segoe UI" pitchFamily="34" charset="-122"/>
                <a:cs typeface="Segoe UI" pitchFamily="34" charset="-120"/>
              </a:rPr>
              <a:t>ένα στοιχείο που βρήκες</a:t>
            </a:r>
            <a:pPr indent="0" marL="0">
              <a:lnSpc>
                <a:spcPct val="112000"/>
              </a:lnSpc>
              <a:buNone/>
            </a:pPr>
            <a:r>
              <a:rPr lang="en-US" sz="1200" dirty="0">
                <a:solidFill>
                  <a:srgbClr val="171B26"/>
                </a:solidFill>
                <a:latin typeface="Segoe UI" pitchFamily="34" charset="0"/>
                <a:ea typeface="Segoe UI" pitchFamily="34" charset="-122"/>
                <a:cs typeface="Segoe UI" pitchFamily="34" charset="-120"/>
              </a:rPr>
              <a:t> (αριθμό, όνομα, ρύθμιση).</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2560320"/>
          <a:ext cx="10881360" cy="914400"/>
        </p:xfrm>
        <a:graphic>
          <a:graphicData uri="http://schemas.openxmlformats.org/drawingml/2006/table">
            <a:tbl>
              <a:tblPr/>
              <a:tblGrid>
                <a:gridCol w="2834640"/>
                <a:gridCol w="4480560"/>
                <a:gridCol w="3566160"/>
              </a:tblGrid>
              <a:tr h="475488">
                <a:tc>
                  <a:txBody>
                    <a:bodyPr/>
                    <a:lstStyle/>
                    <a:p>
                      <a:pPr indent="0" marL="0">
                        <a:buNone/>
                      </a:pPr>
                      <a:r>
                        <a:rPr lang="en-US" sz="900" b="1" dirty="0">
                          <a:solidFill>
                            <a:srgbClr val="8A91A3"/>
                          </a:solidFill>
                          <a:latin typeface="Consolas" pitchFamily="34" charset="0"/>
                          <a:ea typeface="Consolas" pitchFamily="34" charset="-122"/>
                          <a:cs typeface="Consolas" pitchFamily="34" charset="-120"/>
                        </a:rPr>
                        <a:t>ΔΟΥΛΕΙΑ ΤΟΥ ΛΣ</a:t>
                      </a:r>
                      <a:endParaRPr lang="en-US" sz="90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900" b="1" dirty="0">
                          <a:solidFill>
                            <a:srgbClr val="8A91A3"/>
                          </a:solidFill>
                          <a:latin typeface="Consolas" pitchFamily="34" charset="0"/>
                          <a:ea typeface="Consolas" pitchFamily="34" charset="-122"/>
                          <a:cs typeface="Consolas" pitchFamily="34" charset="-120"/>
                        </a:rPr>
                        <a:t>ΠΟΥ ΤΗ ΒΛΕΠΩ ΣΤΑ WINDOWS</a:t>
                      </a:r>
                      <a:endParaRPr lang="en-US" sz="90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900" b="1" dirty="0">
                          <a:solidFill>
                            <a:srgbClr val="8A91A3"/>
                          </a:solidFill>
                          <a:latin typeface="Consolas" pitchFamily="34" charset="0"/>
                          <a:ea typeface="Consolas" pitchFamily="34" charset="-122"/>
                          <a:cs typeface="Consolas" pitchFamily="34" charset="-120"/>
                        </a:rPr>
                        <a:t>ΤΙ ΒΡΗΚΑ (ΠΑΡΑΔΕΙΓΜΑ)</a:t>
                      </a:r>
                      <a:endParaRPr lang="en-US" sz="90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475488">
                <a:tc>
                  <a:txBody>
                    <a:bodyPr/>
                    <a:lstStyle/>
                    <a:p>
                      <a:pPr indent="0" marL="0">
                        <a:buNone/>
                      </a:pPr>
                      <a:r>
                        <a:rPr lang="en-US" sz="1150" b="1" dirty="0">
                          <a:solidFill>
                            <a:srgbClr val="171B26"/>
                          </a:solidFill>
                          <a:latin typeface="Segoe UI" pitchFamily="34" charset="0"/>
                          <a:ea typeface="Segoe UI" pitchFamily="34" charset="-122"/>
                          <a:cs typeface="Segoe UI" pitchFamily="34" charset="-120"/>
                        </a:rPr>
                        <a:t>Διεργασίες &amp; επεξεργαστής</a:t>
                      </a:r>
                      <a:endParaRPr lang="en-US" sz="115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1150" dirty="0">
                          <a:solidFill>
                            <a:srgbClr val="2F4BD8"/>
                          </a:solidFill>
                          <a:latin typeface="Consolas" pitchFamily="34" charset="0"/>
                          <a:ea typeface="Consolas" pitchFamily="34" charset="-122"/>
                          <a:cs typeface="Consolas" pitchFamily="34" charset="-120"/>
                        </a:rPr>
                        <a:t>Διαχείριση εργασιών → Διεργασίες</a:t>
                      </a:r>
                      <a:endParaRPr lang="en-US" sz="115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1150" dirty="0">
                          <a:solidFill>
                            <a:srgbClr val="171B26"/>
                          </a:solidFill>
                          <a:latin typeface="Segoe UI" pitchFamily="34" charset="0"/>
                          <a:ea typeface="Segoe UI" pitchFamily="34" charset="-122"/>
                          <a:cs typeface="Segoe UI" pitchFamily="34" charset="-120"/>
                        </a:rPr>
                        <a:t>Ποια εφαρμογή τρώει την περισσότερη CPU;</a:t>
                      </a:r>
                      <a:endParaRPr lang="en-US" sz="115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475488">
                <a:tc>
                  <a:txBody>
                    <a:bodyPr/>
                    <a:lstStyle/>
                    <a:p>
                      <a:pPr indent="0" marL="0">
                        <a:buNone/>
                      </a:pPr>
                      <a:r>
                        <a:rPr lang="en-US" sz="1150" b="1" dirty="0">
                          <a:solidFill>
                            <a:srgbClr val="171B26"/>
                          </a:solidFill>
                          <a:latin typeface="Segoe UI" pitchFamily="34" charset="0"/>
                          <a:ea typeface="Segoe UI" pitchFamily="34" charset="-122"/>
                          <a:cs typeface="Segoe UI" pitchFamily="34" charset="-120"/>
                        </a:rPr>
                        <a:t>Κύρια μνήμη (RAM)</a:t>
                      </a:r>
                      <a:endParaRPr lang="en-US" sz="115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1150" dirty="0">
                          <a:solidFill>
                            <a:srgbClr val="2F4BD8"/>
                          </a:solidFill>
                          <a:latin typeface="Consolas" pitchFamily="34" charset="0"/>
                          <a:ea typeface="Consolas" pitchFamily="34" charset="-122"/>
                          <a:cs typeface="Consolas" pitchFamily="34" charset="-120"/>
                        </a:rPr>
                        <a:t>Διαχείριση εργασιών → Επιδόσεις → Μνήμη</a:t>
                      </a:r>
                      <a:endParaRPr lang="en-US" sz="115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1150" dirty="0">
                          <a:solidFill>
                            <a:srgbClr val="171B26"/>
                          </a:solidFill>
                          <a:latin typeface="Segoe UI" pitchFamily="34" charset="0"/>
                          <a:ea typeface="Segoe UI" pitchFamily="34" charset="-122"/>
                          <a:cs typeface="Segoe UI" pitchFamily="34" charset="-120"/>
                        </a:rPr>
                        <a:t>Πόση RAM είναι σε χρήση τώρα;</a:t>
                      </a:r>
                      <a:endParaRPr lang="en-US" sz="115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475488">
                <a:tc>
                  <a:txBody>
                    <a:bodyPr/>
                    <a:lstStyle/>
                    <a:p>
                      <a:pPr indent="0" marL="0">
                        <a:buNone/>
                      </a:pPr>
                      <a:r>
                        <a:rPr lang="en-US" sz="1150" b="1" dirty="0">
                          <a:solidFill>
                            <a:srgbClr val="171B26"/>
                          </a:solidFill>
                          <a:latin typeface="Segoe UI" pitchFamily="34" charset="0"/>
                          <a:ea typeface="Segoe UI" pitchFamily="34" charset="-122"/>
                          <a:cs typeface="Segoe UI" pitchFamily="34" charset="-120"/>
                        </a:rPr>
                        <a:t>Αρχεία &amp; δίσκος</a:t>
                      </a:r>
                      <a:endParaRPr lang="en-US" sz="115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1150" dirty="0">
                          <a:solidFill>
                            <a:srgbClr val="2F4BD8"/>
                          </a:solidFill>
                          <a:latin typeface="Consolas" pitchFamily="34" charset="0"/>
                          <a:ea typeface="Consolas" pitchFamily="34" charset="-122"/>
                          <a:cs typeface="Consolas" pitchFamily="34" charset="-120"/>
                        </a:rPr>
                        <a:t>Αυτός ο υπολογιστής → δεξί κλικ στο C: → Ιδιότητες</a:t>
                      </a:r>
                      <a:endParaRPr lang="en-US" sz="115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1150" dirty="0">
                          <a:solidFill>
                            <a:srgbClr val="171B26"/>
                          </a:solidFill>
                          <a:latin typeface="Segoe UI" pitchFamily="34" charset="0"/>
                          <a:ea typeface="Segoe UI" pitchFamily="34" charset="-122"/>
                          <a:cs typeface="Segoe UI" pitchFamily="34" charset="-120"/>
                        </a:rPr>
                        <a:t>Σύστημα αρχείων: NTFS</a:t>
                      </a:r>
                      <a:endParaRPr lang="en-US" sz="115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475488">
                <a:tc>
                  <a:txBody>
                    <a:bodyPr/>
                    <a:lstStyle/>
                    <a:p>
                      <a:pPr indent="0" marL="0">
                        <a:buNone/>
                      </a:pPr>
                      <a:r>
                        <a:rPr lang="en-US" sz="1150" b="1" dirty="0">
                          <a:solidFill>
                            <a:srgbClr val="171B26"/>
                          </a:solidFill>
                          <a:latin typeface="Segoe UI" pitchFamily="34" charset="0"/>
                          <a:ea typeface="Segoe UI" pitchFamily="34" charset="-122"/>
                          <a:cs typeface="Segoe UI" pitchFamily="34" charset="-120"/>
                        </a:rPr>
                        <a:t>Συσκευές Ε/Ε</a:t>
                      </a:r>
                      <a:endParaRPr lang="en-US" sz="115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1150" dirty="0">
                          <a:solidFill>
                            <a:srgbClr val="2F4BD8"/>
                          </a:solidFill>
                          <a:latin typeface="Consolas" pitchFamily="34" charset="0"/>
                          <a:ea typeface="Consolas" pitchFamily="34" charset="-122"/>
                          <a:cs typeface="Consolas" pitchFamily="34" charset="-120"/>
                        </a:rPr>
                        <a:t>Win + R → devmgmt.msc</a:t>
                      </a:r>
                      <a:endParaRPr lang="en-US" sz="115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1150" dirty="0">
                          <a:solidFill>
                            <a:srgbClr val="171B26"/>
                          </a:solidFill>
                          <a:latin typeface="Segoe UI" pitchFamily="34" charset="0"/>
                          <a:ea typeface="Segoe UI" pitchFamily="34" charset="-122"/>
                          <a:cs typeface="Segoe UI" pitchFamily="34" charset="-120"/>
                        </a:rPr>
                        <a:t>Όνομα κάρτας γραφικών / δικτύου</a:t>
                      </a:r>
                      <a:endParaRPr lang="en-US" sz="115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475488">
                <a:tc>
                  <a:txBody>
                    <a:bodyPr/>
                    <a:lstStyle/>
                    <a:p>
                      <a:pPr indent="0" marL="0">
                        <a:buNone/>
                      </a:pPr>
                      <a:r>
                        <a:rPr lang="en-US" sz="1150" b="1" dirty="0">
                          <a:solidFill>
                            <a:srgbClr val="171B26"/>
                          </a:solidFill>
                          <a:latin typeface="Segoe UI" pitchFamily="34" charset="0"/>
                          <a:ea typeface="Segoe UI" pitchFamily="34" charset="-122"/>
                          <a:cs typeface="Segoe UI" pitchFamily="34" charset="-120"/>
                        </a:rPr>
                        <a:t>Ασφάλεια &amp; χρήστες</a:t>
                      </a:r>
                      <a:endParaRPr lang="en-US" sz="115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1150" dirty="0">
                          <a:solidFill>
                            <a:srgbClr val="2F4BD8"/>
                          </a:solidFill>
                          <a:latin typeface="Consolas" pitchFamily="34" charset="0"/>
                          <a:ea typeface="Consolas" pitchFamily="34" charset="-122"/>
                          <a:cs typeface="Consolas" pitchFamily="34" charset="-120"/>
                        </a:rPr>
                        <a:t>Ρυθμίσεις → Λογαριασμοί · Ασφάλεια των Windows</a:t>
                      </a:r>
                      <a:endParaRPr lang="en-US" sz="115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1150" dirty="0">
                          <a:solidFill>
                            <a:srgbClr val="171B26"/>
                          </a:solidFill>
                          <a:latin typeface="Segoe UI" pitchFamily="34" charset="0"/>
                          <a:ea typeface="Segoe UI" pitchFamily="34" charset="-122"/>
                          <a:cs typeface="Segoe UI" pitchFamily="34" charset="-120"/>
                        </a:rPr>
                        <a:t>Είναι ενεργή η προστασία από ιούς;</a:t>
                      </a:r>
                      <a:endParaRPr lang="en-US" sz="115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475488">
                <a:tc>
                  <a:txBody>
                    <a:bodyPr/>
                    <a:lstStyle/>
                    <a:p>
                      <a:pPr indent="0" marL="0">
                        <a:buNone/>
                      </a:pPr>
                      <a:r>
                        <a:rPr lang="en-US" sz="1150" b="1" dirty="0">
                          <a:solidFill>
                            <a:srgbClr val="171B26"/>
                          </a:solidFill>
                          <a:latin typeface="Segoe UI" pitchFamily="34" charset="0"/>
                          <a:ea typeface="Segoe UI" pitchFamily="34" charset="-122"/>
                          <a:cs typeface="Segoe UI" pitchFamily="34" charset="-120"/>
                        </a:rPr>
                        <a:t>Διεπαφή με τον χρήστη</a:t>
                      </a:r>
                      <a:endParaRPr lang="en-US" sz="115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1150" dirty="0">
                          <a:solidFill>
                            <a:srgbClr val="2F4BD8"/>
                          </a:solidFill>
                          <a:latin typeface="Consolas" pitchFamily="34" charset="0"/>
                          <a:ea typeface="Consolas" pitchFamily="34" charset="-122"/>
                          <a:cs typeface="Consolas" pitchFamily="34" charset="-120"/>
                        </a:rPr>
                        <a:t>Επιφάνεια εργασίας (GUI) · Win + R → cmd (CLI)</a:t>
                      </a:r>
                      <a:endParaRPr lang="en-US" sz="115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1150" dirty="0">
                          <a:solidFill>
                            <a:srgbClr val="171B26"/>
                          </a:solidFill>
                          <a:latin typeface="Segoe UI" pitchFamily="34" charset="0"/>
                          <a:ea typeface="Segoe UI" pitchFamily="34" charset="-122"/>
                          <a:cs typeface="Segoe UI" pitchFamily="34" charset="-120"/>
                        </a:rPr>
                        <a:t>Δύο τρόποι να δώσω εντολές</a:t>
                      </a:r>
                      <a:endParaRPr lang="en-US" sz="115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CFE"/>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F4BD8"/>
          </a:solidFill>
          <a:ln w="12700">
            <a:solidFill>
              <a:srgbClr val="2F4BD8"/>
            </a:solidFill>
            <a:prstDash val="solid"/>
          </a:ln>
        </p:spPr>
        <p:txBody>
          <a:bodyPr/>
          <a:p/>
        </p:txBody>
      </p:sp>
      <p:pic>
        <p:nvPicPr>
          <p:cNvPr id="3" name="Image 0" descr="/tmp/claude-0/-home-claude/8f07f1d1-9bfe-540b-b195-992cdc902b9e/scratchpad/prak/logo_os.png">    </p:cNvPr>
          <p:cNvPicPr>
            <a:picLocks noChangeAspect="1"/>
          </p:cNvPicPr>
          <p:nvPr/>
        </p:nvPicPr>
        <p:blipFill>
          <a:blip r:embed="rId1"/>
          <a:stretch>
            <a:fillRect/>
          </a:stretch>
        </p:blipFill>
        <p:spPr>
          <a:xfrm>
            <a:off x="9189720" y="274320"/>
            <a:ext cx="310896" cy="310896"/>
          </a:xfrm>
          <a:prstGeom prst="rect">
            <a:avLst/>
          </a:prstGeom>
        </p:spPr>
      </p:pic>
      <p:sp>
        <p:nvSpPr>
          <p:cNvPr id="4" name="Text 1"/>
          <p:cNvSpPr txBox="1"/>
          <p:nvPr/>
        </p:nvSpPr>
        <p:spPr>
          <a:xfrm>
            <a:off x="9573768" y="246888"/>
            <a:ext cx="2468880" cy="365760"/>
          </a:xfrm>
          <a:prstGeom prst="rect">
            <a:avLst/>
          </a:prstGeom>
          <a:noFill/>
          <a:ln/>
        </p:spPr>
        <p:txBody>
          <a:bodyPr wrap="square" lIns="0" tIns="0" rIns="0" bIns="0" rtlCol="0" anchor="ctr"/>
          <a:lstStyle/>
          <a:p>
            <a:pPr indent="0" marL="0">
              <a:buNone/>
            </a:pPr>
            <a:r>
              <a:rPr lang="en-US" sz="950" b="1" dirty="0">
                <a:solidFill>
                  <a:srgbClr val="4A5265"/>
                </a:solidFill>
                <a:latin typeface="Segoe UI" pitchFamily="34" charset="0"/>
                <a:ea typeface="Segoe UI" pitchFamily="34" charset="-122"/>
                <a:cs typeface="Segoe UI" pitchFamily="34" charset="-120"/>
              </a:rPr>
              <a:t>ΣΑΕΚ Μαρκοπούλου</a:t>
            </a:r>
            <a:endParaRPr lang="en-US" sz="950" dirty="0"/>
          </a:p>
          <a:p>
            <a:pPr indent="0" marL="0">
              <a:buNone/>
            </a:pPr>
            <a:r>
              <a:rPr lang="en-US" sz="950" b="1" dirty="0">
                <a:solidFill>
                  <a:srgbClr val="4A5265"/>
                </a:solidFill>
                <a:latin typeface="Segoe UI" pitchFamily="34" charset="0"/>
                <a:ea typeface="Segoe UI" pitchFamily="34" charset="-122"/>
                <a:cs typeface="Segoe UI" pitchFamily="34" charset="-120"/>
              </a:rPr>
              <a:t>Σύγχρονα Λειτουργικά Συστήματα</a:t>
            </a:r>
            <a:endParaRPr lang="en-US" sz="950" dirty="0"/>
          </a:p>
        </p:txBody>
      </p:sp>
      <p:sp>
        <p:nvSpPr>
          <p:cNvPr id="5" name="Text 2"/>
          <p:cNvSpPr txBox="1"/>
          <p:nvPr/>
        </p:nvSpPr>
        <p:spPr>
          <a:xfrm>
            <a:off x="8503920" y="6419088"/>
            <a:ext cx="3154680" cy="237744"/>
          </a:xfrm>
          <a:prstGeom prst="rect">
            <a:avLst/>
          </a:prstGeom>
          <a:noFill/>
          <a:ln/>
        </p:spPr>
        <p:txBody>
          <a:bodyPr wrap="square" rtlCol="0" anchor="ctr"/>
          <a:lstStyle/>
          <a:p>
            <a:pPr algn="r" indent="0" marL="0">
              <a:buNone/>
            </a:pPr>
            <a:r>
              <a:rPr lang="en-US" sz="900" dirty="0">
                <a:solidFill>
                  <a:srgbClr val="8A91A3"/>
                </a:solidFill>
                <a:latin typeface="Consolas" pitchFamily="34" charset="0"/>
                <a:ea typeface="Consolas" pitchFamily="34" charset="-122"/>
                <a:cs typeface="Consolas" pitchFamily="34" charset="-120"/>
              </a:rPr>
              <a:t>Λαμπρόπουλος Χρήστος</a:t>
            </a:r>
            <a:endParaRPr lang="en-US" sz="900" dirty="0"/>
          </a:p>
        </p:txBody>
      </p:sp>
      <p:sp>
        <p:nvSpPr>
          <p:cNvPr id="6" name="Text 3"/>
          <p:cNvSpPr txBox="1"/>
          <p:nvPr/>
        </p:nvSpPr>
        <p:spPr>
          <a:xfrm>
            <a:off x="566928" y="384048"/>
            <a:ext cx="8412480" cy="237744"/>
          </a:xfrm>
          <a:prstGeom prst="rect">
            <a:avLst/>
          </a:prstGeom>
          <a:noFill/>
          <a:ln/>
        </p:spPr>
        <p:txBody>
          <a:bodyPr wrap="square" lIns="0" tIns="0" rIns="0" bIns="0" rtlCol="0" anchor="ctr"/>
          <a:lstStyle/>
          <a:p>
            <a:pPr indent="0" marL="0">
              <a:buNone/>
            </a:pPr>
            <a:r>
              <a:rPr lang="en-US" sz="1000" spc="140" kern="0" dirty="0">
                <a:solidFill>
                  <a:srgbClr val="2F4BD8"/>
                </a:solidFill>
                <a:latin typeface="Consolas" pitchFamily="34" charset="0"/>
                <a:ea typeface="Consolas" pitchFamily="34" charset="-122"/>
                <a:cs typeface="Consolas" pitchFamily="34" charset="-120"/>
              </a:rPr>
              <a:t>09  </a:t>
            </a:r>
            <a:pPr indent="0" marL="0">
              <a:buNone/>
            </a:pPr>
            <a:r>
              <a:rPr lang="en-US" sz="1000" spc="140" kern="0" dirty="0">
                <a:solidFill>
                  <a:srgbClr val="8A91A3"/>
                </a:solidFill>
                <a:latin typeface="Consolas" pitchFamily="34" charset="0"/>
                <a:ea typeface="Consolas" pitchFamily="34" charset="-122"/>
                <a:cs typeface="Consolas" pitchFamily="34" charset="-120"/>
              </a:rPr>
              <a:t>ΑΠΟΣΤΟΛΗ 3 · ΣΤΟ PC</a:t>
            </a:r>
            <a:endParaRPr lang="en-US" sz="1000" dirty="0"/>
          </a:p>
        </p:txBody>
      </p:sp>
      <p:sp>
        <p:nvSpPr>
          <p:cNvPr id="7" name="Text 4"/>
          <p:cNvSpPr txBox="1"/>
          <p:nvPr/>
        </p:nvSpPr>
        <p:spPr>
          <a:xfrm>
            <a:off x="530352" y="658368"/>
            <a:ext cx="8595360" cy="566928"/>
          </a:xfrm>
          <a:prstGeom prst="rect">
            <a:avLst/>
          </a:prstGeom>
          <a:noFill/>
          <a:ln/>
        </p:spPr>
        <p:txBody>
          <a:bodyPr wrap="square" lIns="0" tIns="0" rIns="0" bIns="0" rtlCol="0" anchor="t"/>
          <a:lstStyle/>
          <a:p>
            <a:pPr indent="0" marL="0">
              <a:buNone/>
            </a:pPr>
            <a:r>
              <a:rPr lang="en-US" sz="3000" b="1" dirty="0">
                <a:solidFill>
                  <a:srgbClr val="171B26"/>
                </a:solidFill>
                <a:latin typeface="Segoe UI" pitchFamily="34" charset="0"/>
                <a:ea typeface="Segoe UI" pitchFamily="34" charset="-122"/>
                <a:cs typeface="Segoe UI" pitchFamily="34" charset="-120"/>
              </a:rPr>
              <a:t>Ίδια δουλειά, δύο κελύφη</a:t>
            </a:r>
            <a:endParaRPr lang="en-US" sz="3000" dirty="0"/>
          </a:p>
        </p:txBody>
      </p:sp>
      <p:sp>
        <p:nvSpPr>
          <p:cNvPr id="8" name="Text 5"/>
          <p:cNvSpPr txBox="1"/>
          <p:nvPr/>
        </p:nvSpPr>
        <p:spPr>
          <a:xfrm>
            <a:off x="8138160" y="749808"/>
            <a:ext cx="2743200" cy="274320"/>
          </a:xfrm>
          <a:prstGeom prst="rect">
            <a:avLst/>
          </a:prstGeom>
          <a:noFill/>
          <a:ln/>
        </p:spPr>
        <p:txBody>
          <a:bodyPr wrap="square" rtlCol="0" anchor="ctr"/>
          <a:lstStyle/>
          <a:p>
            <a:pPr algn="r" indent="0" marL="0">
              <a:buNone/>
            </a:pPr>
            <a:r>
              <a:rPr lang="en-US" sz="1100" b="1" spc="100" kern="0" dirty="0">
                <a:solidFill>
                  <a:srgbClr val="1B6B52"/>
                </a:solidFill>
                <a:latin typeface="Consolas" pitchFamily="34" charset="0"/>
                <a:ea typeface="Consolas" pitchFamily="34" charset="-122"/>
                <a:cs typeface="Consolas" pitchFamily="34" charset="-120"/>
              </a:rPr>
              <a:t>▶ 15΄ ΣΤΟ PC</a:t>
            </a:r>
            <a:endParaRPr lang="en-US" sz="1100" dirty="0"/>
          </a:p>
        </p:txBody>
      </p:sp>
      <p:sp>
        <p:nvSpPr>
          <p:cNvPr id="9" name="Shape 6"/>
          <p:cNvSpPr/>
          <p:nvPr/>
        </p:nvSpPr>
        <p:spPr>
          <a:xfrm>
            <a:off x="566928" y="1463040"/>
            <a:ext cx="5349240" cy="3154680"/>
          </a:xfrm>
          <a:prstGeom prst="roundRect">
            <a:avLst>
              <a:gd name="adj" fmla="val 1739"/>
            </a:avLst>
          </a:prstGeom>
          <a:solidFill>
            <a:srgbClr val="FBFCFE"/>
          </a:solidFill>
          <a:ln w="9525">
            <a:solidFill>
              <a:srgbClr val="D3D9E4"/>
            </a:solidFill>
            <a:prstDash val="solid"/>
          </a:ln>
        </p:spPr>
        <p:txBody>
          <a:bodyPr/>
          <a:p/>
        </p:txBody>
      </p:sp>
      <p:sp>
        <p:nvSpPr>
          <p:cNvPr id="10" name="Text 7"/>
          <p:cNvSpPr txBox="1"/>
          <p:nvPr/>
        </p:nvSpPr>
        <p:spPr>
          <a:xfrm>
            <a:off x="731520" y="1591056"/>
            <a:ext cx="5020056" cy="274701"/>
          </a:xfrm>
          <a:prstGeom prst="rect">
            <a:avLst/>
          </a:prstGeom>
          <a:noFill/>
          <a:ln/>
        </p:spPr>
        <p:txBody>
          <a:bodyPr wrap="square" lIns="0" tIns="0" rIns="0" bIns="0" rtlCol="0" anchor="t"/>
          <a:lstStyle/>
          <a:p>
            <a:pPr indent="0" marL="0">
              <a:buNone/>
            </a:pPr>
            <a:r>
              <a:rPr lang="en-US" sz="1500" b="1" dirty="0">
                <a:solidFill>
                  <a:srgbClr val="171B26"/>
                </a:solidFill>
                <a:latin typeface="Segoe UI" pitchFamily="34" charset="0"/>
                <a:ea typeface="Segoe UI" pitchFamily="34" charset="-122"/>
                <a:cs typeface="Segoe UI" pitchFamily="34" charset="-120"/>
              </a:rPr>
              <a:t>Α · Με το γραφικό περιβάλλον (GUI)</a:t>
            </a:r>
            <a:endParaRPr lang="en-US" sz="1500" dirty="0"/>
          </a:p>
        </p:txBody>
      </p:sp>
      <p:sp>
        <p:nvSpPr>
          <p:cNvPr id="11" name="Text 8"/>
          <p:cNvSpPr txBox="1"/>
          <p:nvPr/>
        </p:nvSpPr>
        <p:spPr>
          <a:xfrm>
            <a:off x="731520" y="1957197"/>
            <a:ext cx="5020056" cy="2569083"/>
          </a:xfrm>
          <a:prstGeom prst="rect">
            <a:avLst/>
          </a:prstGeom>
          <a:noFill/>
          <a:ln/>
        </p:spPr>
        <p:txBody>
          <a:bodyPr wrap="square" lIns="0" tIns="0" rIns="0" bIns="0" rtlCol="0" anchor="t"/>
          <a:lstStyle/>
          <a:p>
            <a:pPr marL="177800" indent="-177800">
              <a:lnSpc>
                <a:spcPct val="112000"/>
              </a:lnSpc>
              <a:spcAft>
                <a:spcPts val="600"/>
              </a:spcAft>
              <a:buSzPct val="100000"/>
              <a:buChar char="•"/>
            </a:pPr>
            <a:r>
              <a:rPr lang="en-US" sz="1250" dirty="0">
                <a:solidFill>
                  <a:srgbClr val="4A5265"/>
                </a:solidFill>
                <a:latin typeface="Segoe UI" pitchFamily="34" charset="0"/>
                <a:ea typeface="Segoe UI" pitchFamily="34" charset="-122"/>
                <a:cs typeface="Segoe UI" pitchFamily="34" charset="-120"/>
              </a:rPr>
              <a:t>Άνοιξε τον φάκελο LS_Eponymo στα Έγγραφα</a:t>
            </a:r>
            <a:endParaRPr lang="en-US" sz="1250" dirty="0"/>
          </a:p>
          <a:p>
            <a:pPr marL="177800" indent="-177800">
              <a:lnSpc>
                <a:spcPct val="112000"/>
              </a:lnSpc>
              <a:spcAft>
                <a:spcPts val="600"/>
              </a:spcAft>
              <a:buSzPct val="100000"/>
              <a:buChar char="•"/>
            </a:pPr>
            <a:r>
              <a:rPr lang="en-US" sz="1250" dirty="0">
                <a:solidFill>
                  <a:srgbClr val="4A5265"/>
                </a:solidFill>
                <a:latin typeface="Segoe UI" pitchFamily="34" charset="0"/>
                <a:ea typeface="Segoe UI" pitchFamily="34" charset="-122"/>
                <a:cs typeface="Segoe UI" pitchFamily="34" charset="-120"/>
              </a:rPr>
              <a:t>Δεξί κλικ → Δημιουργία → Φάκελος: gui_test</a:t>
            </a:r>
            <a:endParaRPr lang="en-US" sz="1250" dirty="0"/>
          </a:p>
          <a:p>
            <a:pPr marL="177800" indent="-177800">
              <a:lnSpc>
                <a:spcPct val="112000"/>
              </a:lnSpc>
              <a:spcAft>
                <a:spcPts val="600"/>
              </a:spcAft>
              <a:buSzPct val="100000"/>
              <a:buChar char="•"/>
            </a:pPr>
            <a:r>
              <a:rPr lang="en-US" sz="1250" dirty="0">
                <a:solidFill>
                  <a:srgbClr val="4A5265"/>
                </a:solidFill>
                <a:latin typeface="Segoe UI" pitchFamily="34" charset="0"/>
                <a:ea typeface="Segoe UI" pitchFamily="34" charset="-122"/>
                <a:cs typeface="Segoe UI" pitchFamily="34" charset="-120"/>
              </a:rPr>
              <a:t>Μέσα: δεξί κλικ → Δημιουργία → Έγγραφο κειμένου: hello.txt</a:t>
            </a:r>
            <a:endParaRPr lang="en-US" sz="1250" dirty="0"/>
          </a:p>
          <a:p>
            <a:pPr marL="177800" indent="-177800">
              <a:lnSpc>
                <a:spcPct val="112000"/>
              </a:lnSpc>
              <a:spcAft>
                <a:spcPts val="600"/>
              </a:spcAft>
              <a:buSzPct val="100000"/>
              <a:buChar char="•"/>
            </a:pPr>
            <a:r>
              <a:rPr lang="en-US" sz="1250" dirty="0">
                <a:solidFill>
                  <a:srgbClr val="4A5265"/>
                </a:solidFill>
                <a:latin typeface="Segoe UI" pitchFamily="34" charset="0"/>
                <a:ea typeface="Segoe UI" pitchFamily="34" charset="-122"/>
                <a:cs typeface="Segoe UI" pitchFamily="34" charset="-120"/>
              </a:rPr>
              <a:t>Γράψε μέσα «hello» και αποθήκευσε</a:t>
            </a:r>
            <a:endParaRPr lang="en-US" sz="1250" dirty="0"/>
          </a:p>
        </p:txBody>
      </p:sp>
      <p:sp>
        <p:nvSpPr>
          <p:cNvPr id="12" name="Shape 9"/>
          <p:cNvSpPr/>
          <p:nvPr/>
        </p:nvSpPr>
        <p:spPr>
          <a:xfrm>
            <a:off x="6099048" y="1463040"/>
            <a:ext cx="5349240" cy="3154680"/>
          </a:xfrm>
          <a:prstGeom prst="roundRect">
            <a:avLst>
              <a:gd name="adj" fmla="val 1739"/>
            </a:avLst>
          </a:prstGeom>
          <a:solidFill>
            <a:srgbClr val="FBFCFE"/>
          </a:solidFill>
          <a:ln w="9525">
            <a:solidFill>
              <a:srgbClr val="D3D9E4"/>
            </a:solidFill>
            <a:prstDash val="solid"/>
          </a:ln>
        </p:spPr>
        <p:txBody>
          <a:bodyPr/>
          <a:p/>
        </p:txBody>
      </p:sp>
      <p:sp>
        <p:nvSpPr>
          <p:cNvPr id="13" name="Text 10"/>
          <p:cNvSpPr txBox="1"/>
          <p:nvPr/>
        </p:nvSpPr>
        <p:spPr>
          <a:xfrm>
            <a:off x="6263640" y="1591056"/>
            <a:ext cx="5020056" cy="201168"/>
          </a:xfrm>
          <a:prstGeom prst="rect">
            <a:avLst/>
          </a:prstGeom>
          <a:noFill/>
          <a:ln/>
        </p:spPr>
        <p:txBody>
          <a:bodyPr wrap="square" lIns="0" tIns="0" rIns="0" bIns="0" rtlCol="0" anchor="ctr"/>
          <a:lstStyle/>
          <a:p>
            <a:pPr indent="0" marL="0">
              <a:buNone/>
            </a:pPr>
            <a:r>
              <a:rPr lang="en-US" sz="900" b="1" spc="120" kern="0" dirty="0">
                <a:solidFill>
                  <a:srgbClr val="2F4BD8"/>
                </a:solidFill>
                <a:latin typeface="Consolas" pitchFamily="34" charset="0"/>
                <a:ea typeface="Consolas" pitchFamily="34" charset="-122"/>
                <a:cs typeface="Consolas" pitchFamily="34" charset="-120"/>
              </a:rPr>
              <a:t>Β · ΜΕ ΤΗ ΓΡΑΜΜΗ ΕΝΤΟΛΩΝ (WIN + R → CMD)</a:t>
            </a:r>
            <a:endParaRPr lang="en-US" sz="900" dirty="0"/>
          </a:p>
        </p:txBody>
      </p:sp>
      <p:sp>
        <p:nvSpPr>
          <p:cNvPr id="14" name="Text 11"/>
          <p:cNvSpPr txBox="1"/>
          <p:nvPr/>
        </p:nvSpPr>
        <p:spPr>
          <a:xfrm>
            <a:off x="6263640" y="1874520"/>
            <a:ext cx="5020056" cy="2651760"/>
          </a:xfrm>
          <a:prstGeom prst="rect">
            <a:avLst/>
          </a:prstGeom>
          <a:noFill/>
          <a:ln/>
        </p:spPr>
        <p:txBody>
          <a:bodyPr wrap="square" lIns="0" tIns="0" rIns="0" bIns="0" rtlCol="0" anchor="t"/>
          <a:lstStyle/>
          <a:p>
            <a:pPr indent="0" marL="0">
              <a:lnSpc>
                <a:spcPct val="125000"/>
              </a:lnSpc>
              <a:buNone/>
            </a:pPr>
            <a:r>
              <a:rPr lang="en-US" sz="1150" b="1" dirty="0">
                <a:solidFill>
                  <a:srgbClr val="171B26"/>
                </a:solidFill>
                <a:latin typeface="Consolas" pitchFamily="34" charset="0"/>
                <a:ea typeface="Consolas" pitchFamily="34" charset="-122"/>
                <a:cs typeface="Consolas" pitchFamily="34" charset="-120"/>
              </a:rPr>
              <a:t>cd %USERPROFILE%\Documents\LS_Eponymo</a:t>
            </a:r>
            <a:pPr indent="0" marL="0">
              <a:lnSpc>
                <a:spcPct val="125000"/>
              </a:lnSpc>
              <a:buNone/>
            </a:pPr>
            <a:r>
              <a:rPr lang="en-US" sz="1150" dirty="0">
                <a:solidFill>
                  <a:srgbClr val="8A91A3"/>
                </a:solidFill>
                <a:latin typeface="Consolas" pitchFamily="34" charset="0"/>
                <a:ea typeface="Consolas" pitchFamily="34" charset="-122"/>
                <a:cs typeface="Consolas" pitchFamily="34" charset="-120"/>
              </a:rPr>
              <a:t>   </a:t>
            </a:r>
            <a:endParaRPr lang="en-US" sz="1150" dirty="0"/>
          </a:p>
          <a:p>
            <a:pPr indent="0" marL="0">
              <a:lnSpc>
                <a:spcPct val="125000"/>
              </a:lnSpc>
              <a:buNone/>
            </a:pPr>
            <a:r>
              <a:rPr lang="en-US" sz="1150" b="1" dirty="0">
                <a:solidFill>
                  <a:srgbClr val="171B26"/>
                </a:solidFill>
                <a:latin typeface="Consolas" pitchFamily="34" charset="0"/>
                <a:ea typeface="Consolas" pitchFamily="34" charset="-122"/>
                <a:cs typeface="Consolas" pitchFamily="34" charset="-120"/>
              </a:rPr>
              <a:t>mkdir cli_test</a:t>
            </a:r>
            <a:pPr indent="0" marL="0">
              <a:lnSpc>
                <a:spcPct val="125000"/>
              </a:lnSpc>
              <a:buNone/>
            </a:pPr>
            <a:r>
              <a:rPr lang="en-US" sz="1150" dirty="0">
                <a:solidFill>
                  <a:srgbClr val="8A91A3"/>
                </a:solidFill>
                <a:latin typeface="Consolas" pitchFamily="34" charset="0"/>
                <a:ea typeface="Consolas" pitchFamily="34" charset="-122"/>
                <a:cs typeface="Consolas" pitchFamily="34" charset="-120"/>
              </a:rPr>
              <a:t>   φτιάξε φάκελο</a:t>
            </a:r>
            <a:endParaRPr lang="en-US" sz="1150" dirty="0"/>
          </a:p>
          <a:p>
            <a:pPr indent="0" marL="0">
              <a:lnSpc>
                <a:spcPct val="125000"/>
              </a:lnSpc>
              <a:buNone/>
            </a:pPr>
            <a:r>
              <a:rPr lang="en-US" sz="1150" b="1" dirty="0">
                <a:solidFill>
                  <a:srgbClr val="171B26"/>
                </a:solidFill>
                <a:latin typeface="Consolas" pitchFamily="34" charset="0"/>
                <a:ea typeface="Consolas" pitchFamily="34" charset="-122"/>
                <a:cs typeface="Consolas" pitchFamily="34" charset="-120"/>
              </a:rPr>
              <a:t>cd cli_test</a:t>
            </a:r>
            <a:pPr indent="0" marL="0">
              <a:lnSpc>
                <a:spcPct val="125000"/>
              </a:lnSpc>
              <a:buNone/>
            </a:pPr>
            <a:r>
              <a:rPr lang="en-US" sz="1150" dirty="0">
                <a:solidFill>
                  <a:srgbClr val="8A91A3"/>
                </a:solidFill>
                <a:latin typeface="Consolas" pitchFamily="34" charset="0"/>
                <a:ea typeface="Consolas" pitchFamily="34" charset="-122"/>
                <a:cs typeface="Consolas" pitchFamily="34" charset="-120"/>
              </a:rPr>
              <a:t>   μπες μέσα</a:t>
            </a:r>
            <a:endParaRPr lang="en-US" sz="1150" dirty="0"/>
          </a:p>
          <a:p>
            <a:pPr indent="0" marL="0">
              <a:lnSpc>
                <a:spcPct val="125000"/>
              </a:lnSpc>
              <a:buNone/>
            </a:pPr>
            <a:r>
              <a:rPr lang="en-US" sz="1150" b="1" dirty="0">
                <a:solidFill>
                  <a:srgbClr val="171B26"/>
                </a:solidFill>
                <a:latin typeface="Consolas" pitchFamily="34" charset="0"/>
                <a:ea typeface="Consolas" pitchFamily="34" charset="-122"/>
                <a:cs typeface="Consolas" pitchFamily="34" charset="-120"/>
              </a:rPr>
              <a:t>echo hello &gt; hello.txt</a:t>
            </a:r>
            <a:pPr indent="0" marL="0">
              <a:lnSpc>
                <a:spcPct val="125000"/>
              </a:lnSpc>
              <a:buNone/>
            </a:pPr>
            <a:r>
              <a:rPr lang="en-US" sz="1150" dirty="0">
                <a:solidFill>
                  <a:srgbClr val="8A91A3"/>
                </a:solidFill>
                <a:latin typeface="Consolas" pitchFamily="34" charset="0"/>
                <a:ea typeface="Consolas" pitchFamily="34" charset="-122"/>
                <a:cs typeface="Consolas" pitchFamily="34" charset="-120"/>
              </a:rPr>
              <a:t>   φτιάξε αρχείο</a:t>
            </a:r>
            <a:endParaRPr lang="en-US" sz="1150" dirty="0"/>
          </a:p>
          <a:p>
            <a:pPr indent="0" marL="0">
              <a:lnSpc>
                <a:spcPct val="125000"/>
              </a:lnSpc>
              <a:buNone/>
            </a:pPr>
            <a:r>
              <a:rPr lang="en-US" sz="1150" b="1" dirty="0">
                <a:solidFill>
                  <a:srgbClr val="171B26"/>
                </a:solidFill>
                <a:latin typeface="Consolas" pitchFamily="34" charset="0"/>
                <a:ea typeface="Consolas" pitchFamily="34" charset="-122"/>
                <a:cs typeface="Consolas" pitchFamily="34" charset="-120"/>
              </a:rPr>
              <a:t>dir</a:t>
            </a:r>
            <a:pPr indent="0" marL="0">
              <a:lnSpc>
                <a:spcPct val="125000"/>
              </a:lnSpc>
              <a:buNone/>
            </a:pPr>
            <a:r>
              <a:rPr lang="en-US" sz="1150" dirty="0">
                <a:solidFill>
                  <a:srgbClr val="8A91A3"/>
                </a:solidFill>
                <a:latin typeface="Consolas" pitchFamily="34" charset="0"/>
                <a:ea typeface="Consolas" pitchFamily="34" charset="-122"/>
                <a:cs typeface="Consolas" pitchFamily="34" charset="-120"/>
              </a:rPr>
              <a:t>   δες τι υπάρχει</a:t>
            </a:r>
            <a:endParaRPr lang="en-US" sz="1150" dirty="0"/>
          </a:p>
          <a:p>
            <a:pPr indent="0" marL="0">
              <a:lnSpc>
                <a:spcPct val="125000"/>
              </a:lnSpc>
              <a:buNone/>
            </a:pPr>
            <a:r>
              <a:rPr lang="en-US" sz="1150" b="1" dirty="0">
                <a:solidFill>
                  <a:srgbClr val="171B26"/>
                </a:solidFill>
                <a:latin typeface="Consolas" pitchFamily="34" charset="0"/>
                <a:ea typeface="Consolas" pitchFamily="34" charset="-122"/>
                <a:cs typeface="Consolas" pitchFamily="34" charset="-120"/>
              </a:rPr>
              <a:t>type hello.txt</a:t>
            </a:r>
            <a:pPr indent="0" marL="0">
              <a:lnSpc>
                <a:spcPct val="125000"/>
              </a:lnSpc>
              <a:buNone/>
            </a:pPr>
            <a:r>
              <a:rPr lang="en-US" sz="1150" dirty="0">
                <a:solidFill>
                  <a:srgbClr val="8A91A3"/>
                </a:solidFill>
                <a:latin typeface="Consolas" pitchFamily="34" charset="0"/>
                <a:ea typeface="Consolas" pitchFamily="34" charset="-122"/>
                <a:cs typeface="Consolas" pitchFamily="34" charset="-120"/>
              </a:rPr>
              <a:t>   δες το περιεχόμενο</a:t>
            </a:r>
            <a:endParaRPr lang="en-US" sz="1150" dirty="0"/>
          </a:p>
        </p:txBody>
      </p:sp>
      <p:sp>
        <p:nvSpPr>
          <p:cNvPr id="15" name="Shape 12"/>
          <p:cNvSpPr/>
          <p:nvPr/>
        </p:nvSpPr>
        <p:spPr>
          <a:xfrm>
            <a:off x="566928" y="4846320"/>
            <a:ext cx="10881360" cy="1097280"/>
          </a:xfrm>
          <a:prstGeom prst="roundRect">
            <a:avLst>
              <a:gd name="adj" fmla="val 5000"/>
            </a:avLst>
          </a:prstGeom>
          <a:solidFill>
            <a:srgbClr val="F6EDD6"/>
          </a:solidFill>
          <a:ln w="12700">
            <a:solidFill>
              <a:srgbClr val="F6EDD6"/>
            </a:solidFill>
            <a:prstDash val="solid"/>
          </a:ln>
        </p:spPr>
        <p:txBody>
          <a:bodyPr/>
          <a:p/>
        </p:txBody>
      </p:sp>
      <p:sp>
        <p:nvSpPr>
          <p:cNvPr id="16" name="Text 13"/>
          <p:cNvSpPr txBox="1"/>
          <p:nvPr/>
        </p:nvSpPr>
        <p:spPr>
          <a:xfrm>
            <a:off x="731520" y="4974336"/>
            <a:ext cx="10552176" cy="258826"/>
          </a:xfrm>
          <a:prstGeom prst="rect">
            <a:avLst/>
          </a:prstGeom>
          <a:noFill/>
          <a:ln/>
        </p:spPr>
        <p:txBody>
          <a:bodyPr wrap="square" lIns="0" tIns="0" rIns="0" bIns="0" rtlCol="0" anchor="t"/>
          <a:lstStyle/>
          <a:p>
            <a:pPr indent="0" marL="0">
              <a:buNone/>
            </a:pPr>
            <a:r>
              <a:rPr lang="en-US" sz="1400" b="1" dirty="0">
                <a:solidFill>
                  <a:srgbClr val="171B26"/>
                </a:solidFill>
                <a:latin typeface="Segoe UI" pitchFamily="34" charset="0"/>
                <a:ea typeface="Segoe UI" pitchFamily="34" charset="-122"/>
                <a:cs typeface="Segoe UI" pitchFamily="34" charset="-120"/>
              </a:rPr>
              <a:t>Τι κατάλαβες;</a:t>
            </a:r>
            <a:endParaRPr lang="en-US" sz="1400" dirty="0"/>
          </a:p>
        </p:txBody>
      </p:sp>
      <p:sp>
        <p:nvSpPr>
          <p:cNvPr id="17" name="Text 14"/>
          <p:cNvSpPr txBox="1"/>
          <p:nvPr/>
        </p:nvSpPr>
        <p:spPr>
          <a:xfrm>
            <a:off x="731520" y="5324602"/>
            <a:ext cx="10552176" cy="527558"/>
          </a:xfrm>
          <a:prstGeom prst="rect">
            <a:avLst/>
          </a:prstGeom>
          <a:noFill/>
          <a:ln/>
        </p:spPr>
        <p:txBody>
          <a:bodyPr wrap="square" lIns="0" tIns="0" rIns="0" bIns="0" rtlCol="0" anchor="t"/>
          <a:lstStyle/>
          <a:p>
            <a:pPr indent="0" marL="0">
              <a:lnSpc>
                <a:spcPct val="112000"/>
              </a:lnSpc>
              <a:buNone/>
            </a:pPr>
            <a:r>
              <a:rPr lang="en-US" sz="1250" dirty="0">
                <a:solidFill>
                  <a:srgbClr val="4A5265"/>
                </a:solidFill>
                <a:latin typeface="Segoe UI" pitchFamily="34" charset="0"/>
                <a:ea typeface="Segoe UI" pitchFamily="34" charset="-122"/>
                <a:cs typeface="Segoe UI" pitchFamily="34" charset="-120"/>
              </a:rPr>
              <a:t>Δύο διαφορετικά </a:t>
            </a:r>
            <a:pPr indent="0" marL="0">
              <a:lnSpc>
                <a:spcPct val="112000"/>
              </a:lnSpc>
              <a:buNone/>
            </a:pPr>
            <a:r>
              <a:rPr lang="en-US" sz="1250" b="1" dirty="0">
                <a:solidFill>
                  <a:srgbClr val="4A5265"/>
                </a:solidFill>
                <a:latin typeface="Segoe UI" pitchFamily="34" charset="0"/>
                <a:ea typeface="Segoe UI" pitchFamily="34" charset="-122"/>
                <a:cs typeface="Segoe UI" pitchFamily="34" charset="-120"/>
              </a:rPr>
              <a:t>κελύφη</a:t>
            </a:r>
            <a:pPr indent="0" marL="0">
              <a:lnSpc>
                <a:spcPct val="112000"/>
              </a:lnSpc>
              <a:buNone/>
            </a:pPr>
            <a:r>
              <a:rPr lang="en-US" sz="1250" dirty="0">
                <a:solidFill>
                  <a:srgbClr val="4A5265"/>
                </a:solidFill>
                <a:latin typeface="Segoe UI" pitchFamily="34" charset="0"/>
                <a:ea typeface="Segoe UI" pitchFamily="34" charset="-122"/>
                <a:cs typeface="Segoe UI" pitchFamily="34" charset="-120"/>
              </a:rPr>
              <a:t> (Εξερεύνηση αρχείων και cmd), ίδιο αποτέλεσμα στον δίσκο. Από κάτω δουλεύει ο ίδιος </a:t>
            </a:r>
            <a:pPr indent="0" marL="0">
              <a:lnSpc>
                <a:spcPct val="112000"/>
              </a:lnSpc>
              <a:buNone/>
            </a:pPr>
            <a:r>
              <a:rPr lang="en-US" sz="1250" b="1" dirty="0">
                <a:solidFill>
                  <a:srgbClr val="4A5265"/>
                </a:solidFill>
                <a:latin typeface="Segoe UI" pitchFamily="34" charset="0"/>
                <a:ea typeface="Segoe UI" pitchFamily="34" charset="-122"/>
                <a:cs typeface="Segoe UI" pitchFamily="34" charset="-120"/>
              </a:rPr>
              <a:t>πυρήνας</a:t>
            </a:r>
            <a:pPr indent="0" marL="0">
              <a:lnSpc>
                <a:spcPct val="112000"/>
              </a:lnSpc>
              <a:buNone/>
            </a:pPr>
            <a:r>
              <a:rPr lang="en-US" sz="1250" dirty="0">
                <a:solidFill>
                  <a:srgbClr val="4A5265"/>
                </a:solidFill>
                <a:latin typeface="Segoe UI" pitchFamily="34" charset="0"/>
                <a:ea typeface="Segoe UI" pitchFamily="34" charset="-122"/>
                <a:cs typeface="Segoe UI" pitchFamily="34" charset="-120"/>
              </a:rPr>
              <a:t>. Άνοιξε τον φάκελο cli_test από την Εξερεύνηση: το hello.txt είναι εκεί.</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CFE"/>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F4BD8"/>
          </a:solidFill>
          <a:ln w="12700">
            <a:solidFill>
              <a:srgbClr val="2F4BD8"/>
            </a:solidFill>
            <a:prstDash val="solid"/>
          </a:ln>
        </p:spPr>
        <p:txBody>
          <a:bodyPr/>
          <a:p/>
        </p:txBody>
      </p:sp>
      <p:pic>
        <p:nvPicPr>
          <p:cNvPr id="3" name="Image 0" descr="/tmp/claude-0/-home-claude/8f07f1d1-9bfe-540b-b195-992cdc902b9e/scratchpad/prak/logo_os.png">    </p:cNvPr>
          <p:cNvPicPr>
            <a:picLocks noChangeAspect="1"/>
          </p:cNvPicPr>
          <p:nvPr/>
        </p:nvPicPr>
        <p:blipFill>
          <a:blip r:embed="rId1"/>
          <a:stretch>
            <a:fillRect/>
          </a:stretch>
        </p:blipFill>
        <p:spPr>
          <a:xfrm>
            <a:off x="9189720" y="274320"/>
            <a:ext cx="310896" cy="310896"/>
          </a:xfrm>
          <a:prstGeom prst="rect">
            <a:avLst/>
          </a:prstGeom>
        </p:spPr>
      </p:pic>
      <p:sp>
        <p:nvSpPr>
          <p:cNvPr id="4" name="Text 1"/>
          <p:cNvSpPr txBox="1"/>
          <p:nvPr/>
        </p:nvSpPr>
        <p:spPr>
          <a:xfrm>
            <a:off x="9573768" y="246888"/>
            <a:ext cx="2468880" cy="365760"/>
          </a:xfrm>
          <a:prstGeom prst="rect">
            <a:avLst/>
          </a:prstGeom>
          <a:noFill/>
          <a:ln/>
        </p:spPr>
        <p:txBody>
          <a:bodyPr wrap="square" lIns="0" tIns="0" rIns="0" bIns="0" rtlCol="0" anchor="ctr"/>
          <a:lstStyle/>
          <a:p>
            <a:pPr indent="0" marL="0">
              <a:buNone/>
            </a:pPr>
            <a:r>
              <a:rPr lang="en-US" sz="950" b="1" dirty="0">
                <a:solidFill>
                  <a:srgbClr val="4A5265"/>
                </a:solidFill>
                <a:latin typeface="Segoe UI" pitchFamily="34" charset="0"/>
                <a:ea typeface="Segoe UI" pitchFamily="34" charset="-122"/>
                <a:cs typeface="Segoe UI" pitchFamily="34" charset="-120"/>
              </a:rPr>
              <a:t>ΣΑΕΚ Μαρκοπούλου</a:t>
            </a:r>
            <a:endParaRPr lang="en-US" sz="950" dirty="0"/>
          </a:p>
          <a:p>
            <a:pPr indent="0" marL="0">
              <a:buNone/>
            </a:pPr>
            <a:r>
              <a:rPr lang="en-US" sz="950" b="1" dirty="0">
                <a:solidFill>
                  <a:srgbClr val="4A5265"/>
                </a:solidFill>
                <a:latin typeface="Segoe UI" pitchFamily="34" charset="0"/>
                <a:ea typeface="Segoe UI" pitchFamily="34" charset="-122"/>
                <a:cs typeface="Segoe UI" pitchFamily="34" charset="-120"/>
              </a:rPr>
              <a:t>Σύγχρονα Λειτουργικά Συστήματα</a:t>
            </a:r>
            <a:endParaRPr lang="en-US" sz="950" dirty="0"/>
          </a:p>
        </p:txBody>
      </p:sp>
      <p:sp>
        <p:nvSpPr>
          <p:cNvPr id="5" name="Text 2"/>
          <p:cNvSpPr txBox="1"/>
          <p:nvPr/>
        </p:nvSpPr>
        <p:spPr>
          <a:xfrm>
            <a:off x="8503920" y="6419088"/>
            <a:ext cx="3154680" cy="237744"/>
          </a:xfrm>
          <a:prstGeom prst="rect">
            <a:avLst/>
          </a:prstGeom>
          <a:noFill/>
          <a:ln/>
        </p:spPr>
        <p:txBody>
          <a:bodyPr wrap="square" rtlCol="0" anchor="ctr"/>
          <a:lstStyle/>
          <a:p>
            <a:pPr algn="r" indent="0" marL="0">
              <a:buNone/>
            </a:pPr>
            <a:r>
              <a:rPr lang="en-US" sz="900" dirty="0">
                <a:solidFill>
                  <a:srgbClr val="8A91A3"/>
                </a:solidFill>
                <a:latin typeface="Consolas" pitchFamily="34" charset="0"/>
                <a:ea typeface="Consolas" pitchFamily="34" charset="-122"/>
                <a:cs typeface="Consolas" pitchFamily="34" charset="-120"/>
              </a:rPr>
              <a:t>Λαμπρόπουλος Χρήστος</a:t>
            </a:r>
            <a:endParaRPr lang="en-US" sz="900" dirty="0"/>
          </a:p>
        </p:txBody>
      </p:sp>
      <p:sp>
        <p:nvSpPr>
          <p:cNvPr id="6" name="Text 3"/>
          <p:cNvSpPr txBox="1"/>
          <p:nvPr/>
        </p:nvSpPr>
        <p:spPr>
          <a:xfrm>
            <a:off x="566928" y="384048"/>
            <a:ext cx="8412480" cy="237744"/>
          </a:xfrm>
          <a:prstGeom prst="rect">
            <a:avLst/>
          </a:prstGeom>
          <a:noFill/>
          <a:ln/>
        </p:spPr>
        <p:txBody>
          <a:bodyPr wrap="square" lIns="0" tIns="0" rIns="0" bIns="0" rtlCol="0" anchor="ctr"/>
          <a:lstStyle/>
          <a:p>
            <a:pPr indent="0" marL="0">
              <a:buNone/>
            </a:pPr>
            <a:r>
              <a:rPr lang="en-US" sz="1000" spc="140" kern="0" dirty="0">
                <a:solidFill>
                  <a:srgbClr val="2F4BD8"/>
                </a:solidFill>
                <a:latin typeface="Consolas" pitchFamily="34" charset="0"/>
                <a:ea typeface="Consolas" pitchFamily="34" charset="-122"/>
                <a:cs typeface="Consolas" pitchFamily="34" charset="-120"/>
              </a:rPr>
              <a:t>12  </a:t>
            </a:r>
            <a:pPr indent="0" marL="0">
              <a:buNone/>
            </a:pPr>
            <a:r>
              <a:rPr lang="en-US" sz="1000" spc="140" kern="0" dirty="0">
                <a:solidFill>
                  <a:srgbClr val="8A91A3"/>
                </a:solidFill>
                <a:latin typeface="Consolas" pitchFamily="34" charset="0"/>
                <a:ea typeface="Consolas" pitchFamily="34" charset="-122"/>
                <a:cs typeface="Consolas" pitchFamily="34" charset="-120"/>
              </a:rPr>
              <a:t>ΑΠΟΣΤΟΛΗ 4 · ΣΤΟ PC</a:t>
            </a:r>
            <a:endParaRPr lang="en-US" sz="1000" dirty="0"/>
          </a:p>
        </p:txBody>
      </p:sp>
      <p:sp>
        <p:nvSpPr>
          <p:cNvPr id="7" name="Text 4"/>
          <p:cNvSpPr txBox="1"/>
          <p:nvPr/>
        </p:nvSpPr>
        <p:spPr>
          <a:xfrm>
            <a:off x="530352" y="658368"/>
            <a:ext cx="8595360" cy="566928"/>
          </a:xfrm>
          <a:prstGeom prst="rect">
            <a:avLst/>
          </a:prstGeom>
          <a:noFill/>
          <a:ln/>
        </p:spPr>
        <p:txBody>
          <a:bodyPr wrap="square" lIns="0" tIns="0" rIns="0" bIns="0" rtlCol="0" anchor="t"/>
          <a:lstStyle/>
          <a:p>
            <a:pPr indent="0" marL="0">
              <a:buNone/>
            </a:pPr>
            <a:r>
              <a:rPr lang="en-US" sz="3000" b="1" dirty="0">
                <a:solidFill>
                  <a:srgbClr val="171B26"/>
                </a:solidFill>
                <a:latin typeface="Segoe UI" pitchFamily="34" charset="0"/>
                <a:ea typeface="Segoe UI" pitchFamily="34" charset="-122"/>
                <a:cs typeface="Segoe UI" pitchFamily="34" charset="-120"/>
              </a:rPr>
              <a:t>Πώς ξεκινά ο υπολογιστής</a:t>
            </a:r>
            <a:endParaRPr lang="en-US" sz="3000" dirty="0"/>
          </a:p>
        </p:txBody>
      </p:sp>
      <p:sp>
        <p:nvSpPr>
          <p:cNvPr id="8" name="Text 5"/>
          <p:cNvSpPr txBox="1"/>
          <p:nvPr/>
        </p:nvSpPr>
        <p:spPr>
          <a:xfrm>
            <a:off x="8138160" y="749808"/>
            <a:ext cx="2743200" cy="274320"/>
          </a:xfrm>
          <a:prstGeom prst="rect">
            <a:avLst/>
          </a:prstGeom>
          <a:noFill/>
          <a:ln/>
        </p:spPr>
        <p:txBody>
          <a:bodyPr wrap="square" rtlCol="0" anchor="ctr"/>
          <a:lstStyle/>
          <a:p>
            <a:pPr algn="r" indent="0" marL="0">
              <a:buNone/>
            </a:pPr>
            <a:r>
              <a:rPr lang="en-US" sz="1100" b="1" spc="100" kern="0" dirty="0">
                <a:solidFill>
                  <a:srgbClr val="1B6B52"/>
                </a:solidFill>
                <a:latin typeface="Consolas" pitchFamily="34" charset="0"/>
                <a:ea typeface="Consolas" pitchFamily="34" charset="-122"/>
                <a:cs typeface="Consolas" pitchFamily="34" charset="-120"/>
              </a:rPr>
              <a:t>▶ 10΄ ΣΤΟ PC</a:t>
            </a:r>
            <a:endParaRPr lang="en-US" sz="1100" dirty="0"/>
          </a:p>
        </p:txBody>
      </p:sp>
      <p:sp>
        <p:nvSpPr>
          <p:cNvPr id="9" name="Shape 6"/>
          <p:cNvSpPr/>
          <p:nvPr/>
        </p:nvSpPr>
        <p:spPr>
          <a:xfrm>
            <a:off x="566928" y="1508760"/>
            <a:ext cx="2011680" cy="914400"/>
          </a:xfrm>
          <a:prstGeom prst="roundRect">
            <a:avLst>
              <a:gd name="adj" fmla="val 6000"/>
            </a:avLst>
          </a:prstGeom>
          <a:solidFill>
            <a:srgbClr val="FBFCFE"/>
          </a:solidFill>
          <a:ln w="9525">
            <a:solidFill>
              <a:srgbClr val="D3D9E4"/>
            </a:solidFill>
            <a:prstDash val="solid"/>
          </a:ln>
        </p:spPr>
        <p:txBody>
          <a:bodyPr/>
          <a:p/>
        </p:txBody>
      </p:sp>
      <p:sp>
        <p:nvSpPr>
          <p:cNvPr id="10" name="Text 7"/>
          <p:cNvSpPr txBox="1"/>
          <p:nvPr/>
        </p:nvSpPr>
        <p:spPr>
          <a:xfrm>
            <a:off x="676656" y="1508760"/>
            <a:ext cx="1792224" cy="914400"/>
          </a:xfrm>
          <a:prstGeom prst="rect">
            <a:avLst/>
          </a:prstGeom>
          <a:noFill/>
          <a:ln/>
        </p:spPr>
        <p:txBody>
          <a:bodyPr wrap="square" lIns="0" tIns="0" rIns="0" bIns="0" rtlCol="0" anchor="ctr"/>
          <a:lstStyle/>
          <a:p>
            <a:pPr algn="ctr" indent="0" marL="0">
              <a:buNone/>
            </a:pPr>
            <a:r>
              <a:rPr lang="en-US" sz="1200" b="1" dirty="0">
                <a:solidFill>
                  <a:srgbClr val="171B26"/>
                </a:solidFill>
                <a:latin typeface="Segoe UI" pitchFamily="34" charset="0"/>
                <a:ea typeface="Segoe UI" pitchFamily="34" charset="-122"/>
                <a:cs typeface="Segoe UI" pitchFamily="34" charset="-120"/>
              </a:rPr>
              <a:t>Κουμπί λειτουργίας</a:t>
            </a:r>
            <a:endParaRPr lang="en-US" sz="1200" dirty="0"/>
          </a:p>
        </p:txBody>
      </p:sp>
      <p:sp>
        <p:nvSpPr>
          <p:cNvPr id="11" name="Shape 8"/>
          <p:cNvSpPr/>
          <p:nvPr/>
        </p:nvSpPr>
        <p:spPr>
          <a:xfrm>
            <a:off x="2606040" y="1965960"/>
            <a:ext cx="150876" cy="914"/>
          </a:xfrm>
          <a:prstGeom prst="line">
            <a:avLst/>
          </a:prstGeom>
          <a:noFill/>
          <a:ln w="22225">
            <a:solidFill>
              <a:srgbClr val="2F4BD8"/>
            </a:solidFill>
            <a:prstDash val="solid"/>
            <a:tailEnd type="triangle"/>
          </a:ln>
        </p:spPr>
        <p:txBody>
          <a:bodyPr/>
          <a:p/>
        </p:txBody>
      </p:sp>
      <p:sp>
        <p:nvSpPr>
          <p:cNvPr id="12" name="Shape 9"/>
          <p:cNvSpPr/>
          <p:nvPr/>
        </p:nvSpPr>
        <p:spPr>
          <a:xfrm>
            <a:off x="2784348" y="1508760"/>
            <a:ext cx="2011680" cy="914400"/>
          </a:xfrm>
          <a:prstGeom prst="roundRect">
            <a:avLst>
              <a:gd name="adj" fmla="val 6000"/>
            </a:avLst>
          </a:prstGeom>
          <a:solidFill>
            <a:srgbClr val="E4E8FB"/>
          </a:solidFill>
          <a:ln w="12700">
            <a:solidFill>
              <a:srgbClr val="E4E8FB"/>
            </a:solidFill>
            <a:prstDash val="solid"/>
          </a:ln>
        </p:spPr>
        <p:txBody>
          <a:bodyPr/>
          <a:p/>
        </p:txBody>
      </p:sp>
      <p:sp>
        <p:nvSpPr>
          <p:cNvPr id="13" name="Text 10"/>
          <p:cNvSpPr txBox="1"/>
          <p:nvPr/>
        </p:nvSpPr>
        <p:spPr>
          <a:xfrm>
            <a:off x="2894076" y="1508760"/>
            <a:ext cx="1792224" cy="914400"/>
          </a:xfrm>
          <a:prstGeom prst="rect">
            <a:avLst/>
          </a:prstGeom>
          <a:noFill/>
          <a:ln/>
        </p:spPr>
        <p:txBody>
          <a:bodyPr wrap="square" lIns="0" tIns="0" rIns="0" bIns="0" rtlCol="0" anchor="ctr"/>
          <a:lstStyle/>
          <a:p>
            <a:pPr algn="ctr" indent="0" marL="0">
              <a:buNone/>
            </a:pPr>
            <a:r>
              <a:rPr lang="en-US" sz="1200" b="1" dirty="0">
                <a:solidFill>
                  <a:srgbClr val="171B26"/>
                </a:solidFill>
                <a:latin typeface="Segoe UI" pitchFamily="34" charset="0"/>
                <a:ea typeface="Segoe UI" pitchFamily="34" charset="-122"/>
                <a:cs typeface="Segoe UI" pitchFamily="34" charset="-120"/>
              </a:rPr>
              <a:t>UEFI / BIOS: έλεγχος υλικού</a:t>
            </a:r>
            <a:endParaRPr lang="en-US" sz="1200" dirty="0"/>
          </a:p>
        </p:txBody>
      </p:sp>
      <p:sp>
        <p:nvSpPr>
          <p:cNvPr id="14" name="Shape 11"/>
          <p:cNvSpPr/>
          <p:nvPr/>
        </p:nvSpPr>
        <p:spPr>
          <a:xfrm>
            <a:off x="4823460" y="1965960"/>
            <a:ext cx="150876" cy="914"/>
          </a:xfrm>
          <a:prstGeom prst="line">
            <a:avLst/>
          </a:prstGeom>
          <a:noFill/>
          <a:ln w="22225">
            <a:solidFill>
              <a:srgbClr val="2F4BD8"/>
            </a:solidFill>
            <a:prstDash val="solid"/>
            <a:tailEnd type="triangle"/>
          </a:ln>
        </p:spPr>
        <p:txBody>
          <a:bodyPr/>
          <a:p/>
        </p:txBody>
      </p:sp>
      <p:sp>
        <p:nvSpPr>
          <p:cNvPr id="15" name="Shape 12"/>
          <p:cNvSpPr/>
          <p:nvPr/>
        </p:nvSpPr>
        <p:spPr>
          <a:xfrm>
            <a:off x="5001768" y="1508760"/>
            <a:ext cx="2011680" cy="914400"/>
          </a:xfrm>
          <a:prstGeom prst="roundRect">
            <a:avLst>
              <a:gd name="adj" fmla="val 6000"/>
            </a:avLst>
          </a:prstGeom>
          <a:solidFill>
            <a:srgbClr val="FBFCFE"/>
          </a:solidFill>
          <a:ln w="9525">
            <a:solidFill>
              <a:srgbClr val="D3D9E4"/>
            </a:solidFill>
            <a:prstDash val="solid"/>
          </a:ln>
        </p:spPr>
        <p:txBody>
          <a:bodyPr/>
          <a:p/>
        </p:txBody>
      </p:sp>
      <p:sp>
        <p:nvSpPr>
          <p:cNvPr id="16" name="Text 13"/>
          <p:cNvSpPr txBox="1"/>
          <p:nvPr/>
        </p:nvSpPr>
        <p:spPr>
          <a:xfrm>
            <a:off x="5111496" y="1508760"/>
            <a:ext cx="1792224" cy="914400"/>
          </a:xfrm>
          <a:prstGeom prst="rect">
            <a:avLst/>
          </a:prstGeom>
          <a:noFill/>
          <a:ln/>
        </p:spPr>
        <p:txBody>
          <a:bodyPr wrap="square" lIns="0" tIns="0" rIns="0" bIns="0" rtlCol="0" anchor="ctr"/>
          <a:lstStyle/>
          <a:p>
            <a:pPr algn="ctr" indent="0" marL="0">
              <a:buNone/>
            </a:pPr>
            <a:r>
              <a:rPr lang="en-US" sz="1200" b="1" dirty="0">
                <a:solidFill>
                  <a:srgbClr val="171B26"/>
                </a:solidFill>
                <a:latin typeface="Segoe UI" pitchFamily="34" charset="0"/>
                <a:ea typeface="Segoe UI" pitchFamily="34" charset="-122"/>
                <a:cs typeface="Segoe UI" pitchFamily="34" charset="-120"/>
              </a:rPr>
              <a:t>Φορτωτής εκκίνησης (boot manager)</a:t>
            </a:r>
            <a:endParaRPr lang="en-US" sz="1200" dirty="0"/>
          </a:p>
        </p:txBody>
      </p:sp>
      <p:sp>
        <p:nvSpPr>
          <p:cNvPr id="17" name="Shape 14"/>
          <p:cNvSpPr/>
          <p:nvPr/>
        </p:nvSpPr>
        <p:spPr>
          <a:xfrm>
            <a:off x="7040880" y="1965960"/>
            <a:ext cx="150876" cy="914"/>
          </a:xfrm>
          <a:prstGeom prst="line">
            <a:avLst/>
          </a:prstGeom>
          <a:noFill/>
          <a:ln w="22225">
            <a:solidFill>
              <a:srgbClr val="2F4BD8"/>
            </a:solidFill>
            <a:prstDash val="solid"/>
            <a:tailEnd type="triangle"/>
          </a:ln>
        </p:spPr>
        <p:txBody>
          <a:bodyPr/>
          <a:p/>
        </p:txBody>
      </p:sp>
      <p:sp>
        <p:nvSpPr>
          <p:cNvPr id="18" name="Shape 15"/>
          <p:cNvSpPr/>
          <p:nvPr/>
        </p:nvSpPr>
        <p:spPr>
          <a:xfrm>
            <a:off x="7219188" y="1508760"/>
            <a:ext cx="2011680" cy="914400"/>
          </a:xfrm>
          <a:prstGeom prst="roundRect">
            <a:avLst>
              <a:gd name="adj" fmla="val 6000"/>
            </a:avLst>
          </a:prstGeom>
          <a:solidFill>
            <a:srgbClr val="2F4BD8"/>
          </a:solidFill>
          <a:ln w="12700">
            <a:solidFill>
              <a:srgbClr val="2F4BD8"/>
            </a:solidFill>
            <a:prstDash val="solid"/>
          </a:ln>
        </p:spPr>
        <p:txBody>
          <a:bodyPr/>
          <a:p/>
        </p:txBody>
      </p:sp>
      <p:sp>
        <p:nvSpPr>
          <p:cNvPr id="19" name="Text 16"/>
          <p:cNvSpPr txBox="1"/>
          <p:nvPr/>
        </p:nvSpPr>
        <p:spPr>
          <a:xfrm>
            <a:off x="7328916" y="1508760"/>
            <a:ext cx="1792224"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Φορτώνεται ο πυρήνας</a:t>
            </a:r>
            <a:endParaRPr lang="en-US" sz="1200" dirty="0"/>
          </a:p>
        </p:txBody>
      </p:sp>
      <p:sp>
        <p:nvSpPr>
          <p:cNvPr id="20" name="Shape 17"/>
          <p:cNvSpPr/>
          <p:nvPr/>
        </p:nvSpPr>
        <p:spPr>
          <a:xfrm>
            <a:off x="9258300" y="1965960"/>
            <a:ext cx="150876" cy="914"/>
          </a:xfrm>
          <a:prstGeom prst="line">
            <a:avLst/>
          </a:prstGeom>
          <a:noFill/>
          <a:ln w="22225">
            <a:solidFill>
              <a:srgbClr val="2F4BD8"/>
            </a:solidFill>
            <a:prstDash val="solid"/>
            <a:tailEnd type="triangle"/>
          </a:ln>
        </p:spPr>
        <p:txBody>
          <a:bodyPr/>
          <a:p/>
        </p:txBody>
      </p:sp>
      <p:sp>
        <p:nvSpPr>
          <p:cNvPr id="21" name="Shape 18"/>
          <p:cNvSpPr/>
          <p:nvPr/>
        </p:nvSpPr>
        <p:spPr>
          <a:xfrm>
            <a:off x="9436608" y="1508760"/>
            <a:ext cx="2011680" cy="914400"/>
          </a:xfrm>
          <a:prstGeom prst="roundRect">
            <a:avLst>
              <a:gd name="adj" fmla="val 6000"/>
            </a:avLst>
          </a:prstGeom>
          <a:solidFill>
            <a:srgbClr val="FBFCFE"/>
          </a:solidFill>
          <a:ln w="9525">
            <a:solidFill>
              <a:srgbClr val="D3D9E4"/>
            </a:solidFill>
            <a:prstDash val="solid"/>
          </a:ln>
        </p:spPr>
        <p:txBody>
          <a:bodyPr/>
          <a:p/>
        </p:txBody>
      </p:sp>
      <p:sp>
        <p:nvSpPr>
          <p:cNvPr id="22" name="Text 19"/>
          <p:cNvSpPr txBox="1"/>
          <p:nvPr/>
        </p:nvSpPr>
        <p:spPr>
          <a:xfrm>
            <a:off x="9546336" y="1508760"/>
            <a:ext cx="1792224" cy="914400"/>
          </a:xfrm>
          <a:prstGeom prst="rect">
            <a:avLst/>
          </a:prstGeom>
          <a:noFill/>
          <a:ln/>
        </p:spPr>
        <p:txBody>
          <a:bodyPr wrap="square" lIns="0" tIns="0" rIns="0" bIns="0" rtlCol="0" anchor="ctr"/>
          <a:lstStyle/>
          <a:p>
            <a:pPr algn="ctr" indent="0" marL="0">
              <a:buNone/>
            </a:pPr>
            <a:r>
              <a:rPr lang="en-US" sz="1200" b="1" dirty="0">
                <a:solidFill>
                  <a:srgbClr val="171B26"/>
                </a:solidFill>
                <a:latin typeface="Segoe UI" pitchFamily="34" charset="0"/>
                <a:ea typeface="Segoe UI" pitchFamily="34" charset="-122"/>
                <a:cs typeface="Segoe UI" pitchFamily="34" charset="-120"/>
              </a:rPr>
              <a:t>Οθόνη σύνδεσης</a:t>
            </a:r>
            <a:endParaRPr lang="en-US" sz="1200" dirty="0"/>
          </a:p>
        </p:txBody>
      </p:sp>
      <p:sp>
        <p:nvSpPr>
          <p:cNvPr id="23" name="Shape 20"/>
          <p:cNvSpPr/>
          <p:nvPr/>
        </p:nvSpPr>
        <p:spPr>
          <a:xfrm>
            <a:off x="566928" y="2971800"/>
            <a:ext cx="457200" cy="457200"/>
          </a:xfrm>
          <a:prstGeom prst="ellipse">
            <a:avLst/>
          </a:prstGeom>
          <a:solidFill>
            <a:srgbClr val="2F4BD8"/>
          </a:solidFill>
          <a:ln w="12700">
            <a:solidFill>
              <a:srgbClr val="2F4BD8"/>
            </a:solidFill>
            <a:prstDash val="solid"/>
          </a:ln>
        </p:spPr>
        <p:txBody>
          <a:bodyPr/>
          <a:p/>
        </p:txBody>
      </p:sp>
      <p:sp>
        <p:nvSpPr>
          <p:cNvPr id="24" name="Text 21"/>
          <p:cNvSpPr txBox="1"/>
          <p:nvPr/>
        </p:nvSpPr>
        <p:spPr>
          <a:xfrm>
            <a:off x="566928" y="2971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pitchFamily="34" charset="0"/>
                <a:ea typeface="Segoe UI" pitchFamily="34" charset="-122"/>
                <a:cs typeface="Segoe UI" pitchFamily="34" charset="-120"/>
              </a:rPr>
              <a:t>1</a:t>
            </a:r>
            <a:endParaRPr lang="en-US" sz="1500" dirty="0"/>
          </a:p>
        </p:txBody>
      </p:sp>
      <p:sp>
        <p:nvSpPr>
          <p:cNvPr id="25" name="Shape 22"/>
          <p:cNvSpPr/>
          <p:nvPr/>
        </p:nvSpPr>
        <p:spPr>
          <a:xfrm>
            <a:off x="1207008" y="2743200"/>
            <a:ext cx="10241280" cy="914400"/>
          </a:xfrm>
          <a:prstGeom prst="roundRect">
            <a:avLst>
              <a:gd name="adj" fmla="val 6000"/>
            </a:avLst>
          </a:prstGeom>
          <a:solidFill>
            <a:srgbClr val="FBFCFE"/>
          </a:solidFill>
          <a:ln w="9525">
            <a:solidFill>
              <a:srgbClr val="D3D9E4"/>
            </a:solidFill>
            <a:prstDash val="solid"/>
          </a:ln>
        </p:spPr>
        <p:txBody>
          <a:bodyPr/>
          <a:p/>
        </p:txBody>
      </p:sp>
      <p:sp>
        <p:nvSpPr>
          <p:cNvPr id="26" name="Text 23"/>
          <p:cNvSpPr txBox="1"/>
          <p:nvPr/>
        </p:nvSpPr>
        <p:spPr>
          <a:xfrm>
            <a:off x="1389888" y="2816352"/>
            <a:ext cx="3657600" cy="310896"/>
          </a:xfrm>
          <a:prstGeom prst="rect">
            <a:avLst/>
          </a:prstGeom>
          <a:noFill/>
          <a:ln/>
        </p:spPr>
        <p:txBody>
          <a:bodyPr wrap="square" lIns="0" tIns="0" rIns="0" bIns="0" rtlCol="0" anchor="ctr"/>
          <a:lstStyle/>
          <a:p>
            <a:pPr indent="0" marL="0">
              <a:buNone/>
            </a:pPr>
            <a:r>
              <a:rPr lang="en-US" sz="1350" b="1" dirty="0">
                <a:solidFill>
                  <a:srgbClr val="171B26"/>
                </a:solidFill>
                <a:latin typeface="Segoe UI" pitchFamily="34" charset="0"/>
                <a:ea typeface="Segoe UI" pitchFamily="34" charset="-122"/>
                <a:cs typeface="Segoe UI" pitchFamily="34" charset="-120"/>
              </a:rPr>
              <a:t>BIOS ή UEFI;</a:t>
            </a:r>
            <a:endParaRPr lang="en-US" sz="1350" dirty="0"/>
          </a:p>
        </p:txBody>
      </p:sp>
      <p:sp>
        <p:nvSpPr>
          <p:cNvPr id="27" name="Text 24"/>
          <p:cNvSpPr txBox="1"/>
          <p:nvPr/>
        </p:nvSpPr>
        <p:spPr>
          <a:xfrm>
            <a:off x="1389888" y="3273552"/>
            <a:ext cx="3840480" cy="292608"/>
          </a:xfrm>
          <a:prstGeom prst="rect">
            <a:avLst/>
          </a:prstGeom>
          <a:noFill/>
          <a:ln/>
        </p:spPr>
        <p:txBody>
          <a:bodyPr wrap="square" lIns="0" tIns="0" rIns="0" bIns="0" rtlCol="0" anchor="ctr"/>
          <a:lstStyle/>
          <a:p>
            <a:pPr indent="0" marL="0">
              <a:buNone/>
            </a:pPr>
            <a:r>
              <a:rPr lang="en-US" sz="1050" dirty="0">
                <a:solidFill>
                  <a:srgbClr val="2F4BD8"/>
                </a:solidFill>
                <a:latin typeface="Consolas" pitchFamily="34" charset="0"/>
                <a:ea typeface="Consolas" pitchFamily="34" charset="-122"/>
                <a:cs typeface="Consolas" pitchFamily="34" charset="-120"/>
              </a:rPr>
              <a:t>msinfo32 → Λειτουργία BIOS</a:t>
            </a:r>
            <a:endParaRPr lang="en-US" sz="1050" dirty="0"/>
          </a:p>
        </p:txBody>
      </p:sp>
      <p:sp>
        <p:nvSpPr>
          <p:cNvPr id="28" name="Text 25"/>
          <p:cNvSpPr txBox="1"/>
          <p:nvPr/>
        </p:nvSpPr>
        <p:spPr>
          <a:xfrm>
            <a:off x="5394960" y="2743200"/>
            <a:ext cx="5897880" cy="914400"/>
          </a:xfrm>
          <a:prstGeom prst="rect">
            <a:avLst/>
          </a:prstGeom>
          <a:noFill/>
          <a:ln/>
        </p:spPr>
        <p:txBody>
          <a:bodyPr wrap="square" lIns="0" tIns="0" rIns="0" bIns="0" rtlCol="0" anchor="ctr"/>
          <a:lstStyle/>
          <a:p>
            <a:pPr indent="0" marL="0">
              <a:buNone/>
            </a:pPr>
            <a:r>
              <a:rPr lang="en-US" sz="1200" dirty="0">
                <a:solidFill>
                  <a:srgbClr val="4A5265"/>
                </a:solidFill>
                <a:latin typeface="Segoe UI" pitchFamily="34" charset="0"/>
                <a:ea typeface="Segoe UI" pitchFamily="34" charset="-122"/>
                <a:cs typeface="Segoe UI" pitchFamily="34" charset="-120"/>
              </a:rPr>
              <a:t>Γράψε αν είναι UEFI ή Legacy (παλιό BIOS).</a:t>
            </a:r>
            <a:endParaRPr lang="en-US" sz="1200" dirty="0"/>
          </a:p>
        </p:txBody>
      </p:sp>
      <p:sp>
        <p:nvSpPr>
          <p:cNvPr id="29" name="Shape 26"/>
          <p:cNvSpPr/>
          <p:nvPr/>
        </p:nvSpPr>
        <p:spPr>
          <a:xfrm>
            <a:off x="566928" y="4023360"/>
            <a:ext cx="457200" cy="457200"/>
          </a:xfrm>
          <a:prstGeom prst="ellipse">
            <a:avLst/>
          </a:prstGeom>
          <a:solidFill>
            <a:srgbClr val="2F4BD8"/>
          </a:solidFill>
          <a:ln w="12700">
            <a:solidFill>
              <a:srgbClr val="2F4BD8"/>
            </a:solidFill>
            <a:prstDash val="solid"/>
          </a:ln>
        </p:spPr>
        <p:txBody>
          <a:bodyPr/>
          <a:p/>
        </p:txBody>
      </p:sp>
      <p:sp>
        <p:nvSpPr>
          <p:cNvPr id="30" name="Text 27"/>
          <p:cNvSpPr txBox="1"/>
          <p:nvPr/>
        </p:nvSpPr>
        <p:spPr>
          <a:xfrm>
            <a:off x="566928" y="40233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pitchFamily="34" charset="0"/>
                <a:ea typeface="Segoe UI" pitchFamily="34" charset="-122"/>
                <a:cs typeface="Segoe UI" pitchFamily="34" charset="-120"/>
              </a:rPr>
              <a:t>2</a:t>
            </a:r>
            <a:endParaRPr lang="en-US" sz="1500" dirty="0"/>
          </a:p>
        </p:txBody>
      </p:sp>
      <p:sp>
        <p:nvSpPr>
          <p:cNvPr id="31" name="Shape 28"/>
          <p:cNvSpPr/>
          <p:nvPr/>
        </p:nvSpPr>
        <p:spPr>
          <a:xfrm>
            <a:off x="1207008" y="3794760"/>
            <a:ext cx="10241280" cy="914400"/>
          </a:xfrm>
          <a:prstGeom prst="roundRect">
            <a:avLst>
              <a:gd name="adj" fmla="val 6000"/>
            </a:avLst>
          </a:prstGeom>
          <a:solidFill>
            <a:srgbClr val="E4E8FB"/>
          </a:solidFill>
          <a:ln w="12700">
            <a:solidFill>
              <a:srgbClr val="E4E8FB"/>
            </a:solidFill>
            <a:prstDash val="solid"/>
          </a:ln>
        </p:spPr>
        <p:txBody>
          <a:bodyPr/>
          <a:p/>
        </p:txBody>
      </p:sp>
      <p:sp>
        <p:nvSpPr>
          <p:cNvPr id="32" name="Text 29"/>
          <p:cNvSpPr txBox="1"/>
          <p:nvPr/>
        </p:nvSpPr>
        <p:spPr>
          <a:xfrm>
            <a:off x="1389888" y="3867912"/>
            <a:ext cx="3657600" cy="310896"/>
          </a:xfrm>
          <a:prstGeom prst="rect">
            <a:avLst/>
          </a:prstGeom>
          <a:noFill/>
          <a:ln/>
        </p:spPr>
        <p:txBody>
          <a:bodyPr wrap="square" lIns="0" tIns="0" rIns="0" bIns="0" rtlCol="0" anchor="ctr"/>
          <a:lstStyle/>
          <a:p>
            <a:pPr indent="0" marL="0">
              <a:buNone/>
            </a:pPr>
            <a:r>
              <a:rPr lang="en-US" sz="1350" b="1" dirty="0">
                <a:solidFill>
                  <a:srgbClr val="171B26"/>
                </a:solidFill>
                <a:latin typeface="Segoe UI" pitchFamily="34" charset="0"/>
                <a:ea typeface="Segoe UI" pitchFamily="34" charset="-122"/>
                <a:cs typeface="Segoe UI" pitchFamily="34" charset="-120"/>
              </a:rPr>
              <a:t>Ασφαλής εκκίνηση</a:t>
            </a:r>
            <a:endParaRPr lang="en-US" sz="1350" dirty="0"/>
          </a:p>
        </p:txBody>
      </p:sp>
      <p:sp>
        <p:nvSpPr>
          <p:cNvPr id="33" name="Text 30"/>
          <p:cNvSpPr txBox="1"/>
          <p:nvPr/>
        </p:nvSpPr>
        <p:spPr>
          <a:xfrm>
            <a:off x="1389888" y="4325112"/>
            <a:ext cx="3840480" cy="292608"/>
          </a:xfrm>
          <a:prstGeom prst="rect">
            <a:avLst/>
          </a:prstGeom>
          <a:noFill/>
          <a:ln/>
        </p:spPr>
        <p:txBody>
          <a:bodyPr wrap="square" lIns="0" tIns="0" rIns="0" bIns="0" rtlCol="0" anchor="ctr"/>
          <a:lstStyle/>
          <a:p>
            <a:pPr indent="0" marL="0">
              <a:buNone/>
            </a:pPr>
            <a:r>
              <a:rPr lang="en-US" sz="1050" dirty="0">
                <a:solidFill>
                  <a:srgbClr val="2F4BD8"/>
                </a:solidFill>
                <a:latin typeface="Consolas" pitchFamily="34" charset="0"/>
                <a:ea typeface="Consolas" pitchFamily="34" charset="-122"/>
                <a:cs typeface="Consolas" pitchFamily="34" charset="-120"/>
              </a:rPr>
              <a:t>msinfo32 → Κατάσταση ασφαλούς εκκίνησης</a:t>
            </a:r>
            <a:endParaRPr lang="en-US" sz="1050" dirty="0"/>
          </a:p>
        </p:txBody>
      </p:sp>
      <p:sp>
        <p:nvSpPr>
          <p:cNvPr id="34" name="Text 31"/>
          <p:cNvSpPr txBox="1"/>
          <p:nvPr/>
        </p:nvSpPr>
        <p:spPr>
          <a:xfrm>
            <a:off x="5394960" y="3794760"/>
            <a:ext cx="5897880" cy="914400"/>
          </a:xfrm>
          <a:prstGeom prst="rect">
            <a:avLst/>
          </a:prstGeom>
          <a:noFill/>
          <a:ln/>
        </p:spPr>
        <p:txBody>
          <a:bodyPr wrap="square" lIns="0" tIns="0" rIns="0" bIns="0" rtlCol="0" anchor="ctr"/>
          <a:lstStyle/>
          <a:p>
            <a:pPr indent="0" marL="0">
              <a:buNone/>
            </a:pPr>
            <a:r>
              <a:rPr lang="en-US" sz="1200" dirty="0">
                <a:solidFill>
                  <a:srgbClr val="4A5265"/>
                </a:solidFill>
                <a:latin typeface="Segoe UI" pitchFamily="34" charset="0"/>
                <a:ea typeface="Segoe UI" pitchFamily="34" charset="-122"/>
                <a:cs typeface="Segoe UI" pitchFamily="34" charset="-120"/>
              </a:rPr>
              <a:t>Ενεργή ή όχι; Εμποδίζει κακόβουλο λογισμικό να φορτωθεί πριν το ΛΣ.</a:t>
            </a:r>
            <a:endParaRPr lang="en-US" sz="1200" dirty="0"/>
          </a:p>
        </p:txBody>
      </p:sp>
      <p:sp>
        <p:nvSpPr>
          <p:cNvPr id="35" name="Shape 32"/>
          <p:cNvSpPr/>
          <p:nvPr/>
        </p:nvSpPr>
        <p:spPr>
          <a:xfrm>
            <a:off x="566928" y="5074920"/>
            <a:ext cx="457200" cy="457200"/>
          </a:xfrm>
          <a:prstGeom prst="ellipse">
            <a:avLst/>
          </a:prstGeom>
          <a:solidFill>
            <a:srgbClr val="2F4BD8"/>
          </a:solidFill>
          <a:ln w="12700">
            <a:solidFill>
              <a:srgbClr val="2F4BD8"/>
            </a:solidFill>
            <a:prstDash val="solid"/>
          </a:ln>
        </p:spPr>
        <p:txBody>
          <a:bodyPr/>
          <a:p/>
        </p:txBody>
      </p:sp>
      <p:sp>
        <p:nvSpPr>
          <p:cNvPr id="36" name="Text 33"/>
          <p:cNvSpPr txBox="1"/>
          <p:nvPr/>
        </p:nvSpPr>
        <p:spPr>
          <a:xfrm>
            <a:off x="566928" y="5074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pitchFamily="34" charset="0"/>
                <a:ea typeface="Segoe UI" pitchFamily="34" charset="-122"/>
                <a:cs typeface="Segoe UI" pitchFamily="34" charset="-120"/>
              </a:rPr>
              <a:t>3</a:t>
            </a:r>
            <a:endParaRPr lang="en-US" sz="1500" dirty="0"/>
          </a:p>
        </p:txBody>
      </p:sp>
      <p:sp>
        <p:nvSpPr>
          <p:cNvPr id="37" name="Shape 34"/>
          <p:cNvSpPr/>
          <p:nvPr/>
        </p:nvSpPr>
        <p:spPr>
          <a:xfrm>
            <a:off x="1207008" y="4846320"/>
            <a:ext cx="10241280" cy="914400"/>
          </a:xfrm>
          <a:prstGeom prst="roundRect">
            <a:avLst>
              <a:gd name="adj" fmla="val 6000"/>
            </a:avLst>
          </a:prstGeom>
          <a:solidFill>
            <a:srgbClr val="FBFCFE"/>
          </a:solidFill>
          <a:ln w="9525">
            <a:solidFill>
              <a:srgbClr val="D3D9E4"/>
            </a:solidFill>
            <a:prstDash val="solid"/>
          </a:ln>
        </p:spPr>
        <p:txBody>
          <a:bodyPr/>
          <a:p/>
        </p:txBody>
      </p:sp>
      <p:sp>
        <p:nvSpPr>
          <p:cNvPr id="38" name="Text 35"/>
          <p:cNvSpPr txBox="1"/>
          <p:nvPr/>
        </p:nvSpPr>
        <p:spPr>
          <a:xfrm>
            <a:off x="1389888" y="4919472"/>
            <a:ext cx="3657600" cy="310896"/>
          </a:xfrm>
          <a:prstGeom prst="rect">
            <a:avLst/>
          </a:prstGeom>
          <a:noFill/>
          <a:ln/>
        </p:spPr>
        <p:txBody>
          <a:bodyPr wrap="square" lIns="0" tIns="0" rIns="0" bIns="0" rtlCol="0" anchor="ctr"/>
          <a:lstStyle/>
          <a:p>
            <a:pPr indent="0" marL="0">
              <a:buNone/>
            </a:pPr>
            <a:r>
              <a:rPr lang="en-US" sz="1350" b="1" dirty="0">
                <a:solidFill>
                  <a:srgbClr val="171B26"/>
                </a:solidFill>
                <a:latin typeface="Segoe UI" pitchFamily="34" charset="0"/>
                <a:ea typeface="Segoe UI" pitchFamily="34" charset="-122"/>
                <a:cs typeface="Segoe UI" pitchFamily="34" charset="-120"/>
              </a:rPr>
              <a:t>Τι ξεκινά μαζί;</a:t>
            </a:r>
            <a:endParaRPr lang="en-US" sz="1350" dirty="0"/>
          </a:p>
        </p:txBody>
      </p:sp>
      <p:sp>
        <p:nvSpPr>
          <p:cNvPr id="39" name="Text 36"/>
          <p:cNvSpPr txBox="1"/>
          <p:nvPr/>
        </p:nvSpPr>
        <p:spPr>
          <a:xfrm>
            <a:off x="1389888" y="5376672"/>
            <a:ext cx="3840480" cy="292608"/>
          </a:xfrm>
          <a:prstGeom prst="rect">
            <a:avLst/>
          </a:prstGeom>
          <a:noFill/>
          <a:ln/>
        </p:spPr>
        <p:txBody>
          <a:bodyPr wrap="square" lIns="0" tIns="0" rIns="0" bIns="0" rtlCol="0" anchor="ctr"/>
          <a:lstStyle/>
          <a:p>
            <a:pPr indent="0" marL="0">
              <a:buNone/>
            </a:pPr>
            <a:r>
              <a:rPr lang="en-US" sz="1050" dirty="0">
                <a:solidFill>
                  <a:srgbClr val="2F4BD8"/>
                </a:solidFill>
                <a:latin typeface="Consolas" pitchFamily="34" charset="0"/>
                <a:ea typeface="Consolas" pitchFamily="34" charset="-122"/>
                <a:cs typeface="Consolas" pitchFamily="34" charset="-120"/>
              </a:rPr>
              <a:t>Διαχείριση εργασιών → Εφαρμογές εκκίνησης</a:t>
            </a:r>
            <a:endParaRPr lang="en-US" sz="1050" dirty="0"/>
          </a:p>
        </p:txBody>
      </p:sp>
      <p:sp>
        <p:nvSpPr>
          <p:cNvPr id="40" name="Text 37"/>
          <p:cNvSpPr txBox="1"/>
          <p:nvPr/>
        </p:nvSpPr>
        <p:spPr>
          <a:xfrm>
            <a:off x="5394960" y="4846320"/>
            <a:ext cx="5897880" cy="914400"/>
          </a:xfrm>
          <a:prstGeom prst="rect">
            <a:avLst/>
          </a:prstGeom>
          <a:noFill/>
          <a:ln/>
        </p:spPr>
        <p:txBody>
          <a:bodyPr wrap="square" lIns="0" tIns="0" rIns="0" bIns="0" rtlCol="0" anchor="ctr"/>
          <a:lstStyle/>
          <a:p>
            <a:pPr indent="0" marL="0">
              <a:buNone/>
            </a:pPr>
            <a:r>
              <a:rPr lang="en-US" sz="1200" dirty="0">
                <a:solidFill>
                  <a:srgbClr val="4A5265"/>
                </a:solidFill>
                <a:latin typeface="Segoe UI" pitchFamily="34" charset="0"/>
                <a:ea typeface="Segoe UI" pitchFamily="34" charset="-122"/>
                <a:cs typeface="Segoe UI" pitchFamily="34" charset="-120"/>
              </a:rPr>
              <a:t>Δες ποια προγράμματα ξεκινούν μαζί με τα Windows (μόνο κοιτάμε).</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CFE"/>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F4BD8"/>
          </a:solidFill>
          <a:ln w="12700">
            <a:solidFill>
              <a:srgbClr val="2F4BD8"/>
            </a:solidFill>
            <a:prstDash val="solid"/>
          </a:ln>
        </p:spPr>
        <p:txBody>
          <a:bodyPr/>
          <a:p/>
        </p:txBody>
      </p:sp>
      <p:pic>
        <p:nvPicPr>
          <p:cNvPr id="3" name="Image 0" descr="/tmp/claude-0/-home-claude/8f07f1d1-9bfe-540b-b195-992cdc902b9e/scratchpad/prak/logo_os.png">    </p:cNvPr>
          <p:cNvPicPr>
            <a:picLocks noChangeAspect="1"/>
          </p:cNvPicPr>
          <p:nvPr/>
        </p:nvPicPr>
        <p:blipFill>
          <a:blip r:embed="rId1"/>
          <a:stretch>
            <a:fillRect/>
          </a:stretch>
        </p:blipFill>
        <p:spPr>
          <a:xfrm>
            <a:off x="9189720" y="274320"/>
            <a:ext cx="310896" cy="310896"/>
          </a:xfrm>
          <a:prstGeom prst="rect">
            <a:avLst/>
          </a:prstGeom>
        </p:spPr>
      </p:pic>
      <p:sp>
        <p:nvSpPr>
          <p:cNvPr id="4" name="Text 1"/>
          <p:cNvSpPr txBox="1"/>
          <p:nvPr/>
        </p:nvSpPr>
        <p:spPr>
          <a:xfrm>
            <a:off x="9573768" y="246888"/>
            <a:ext cx="2468880" cy="365760"/>
          </a:xfrm>
          <a:prstGeom prst="rect">
            <a:avLst/>
          </a:prstGeom>
          <a:noFill/>
          <a:ln/>
        </p:spPr>
        <p:txBody>
          <a:bodyPr wrap="square" lIns="0" tIns="0" rIns="0" bIns="0" rtlCol="0" anchor="ctr"/>
          <a:lstStyle/>
          <a:p>
            <a:pPr indent="0" marL="0">
              <a:buNone/>
            </a:pPr>
            <a:r>
              <a:rPr lang="en-US" sz="950" b="1" dirty="0">
                <a:solidFill>
                  <a:srgbClr val="4A5265"/>
                </a:solidFill>
                <a:latin typeface="Segoe UI" pitchFamily="34" charset="0"/>
                <a:ea typeface="Segoe UI" pitchFamily="34" charset="-122"/>
                <a:cs typeface="Segoe UI" pitchFamily="34" charset="-120"/>
              </a:rPr>
              <a:t>ΣΑΕΚ Μαρκοπούλου</a:t>
            </a:r>
            <a:endParaRPr lang="en-US" sz="950" dirty="0"/>
          </a:p>
          <a:p>
            <a:pPr indent="0" marL="0">
              <a:buNone/>
            </a:pPr>
            <a:r>
              <a:rPr lang="en-US" sz="950" b="1" dirty="0">
                <a:solidFill>
                  <a:srgbClr val="4A5265"/>
                </a:solidFill>
                <a:latin typeface="Segoe UI" pitchFamily="34" charset="0"/>
                <a:ea typeface="Segoe UI" pitchFamily="34" charset="-122"/>
                <a:cs typeface="Segoe UI" pitchFamily="34" charset="-120"/>
              </a:rPr>
              <a:t>Σύγχρονα Λειτουργικά Συστήματα</a:t>
            </a:r>
            <a:endParaRPr lang="en-US" sz="950" dirty="0"/>
          </a:p>
        </p:txBody>
      </p:sp>
      <p:sp>
        <p:nvSpPr>
          <p:cNvPr id="5" name="Text 2"/>
          <p:cNvSpPr txBox="1"/>
          <p:nvPr/>
        </p:nvSpPr>
        <p:spPr>
          <a:xfrm>
            <a:off x="8503920" y="6419088"/>
            <a:ext cx="3154680" cy="237744"/>
          </a:xfrm>
          <a:prstGeom prst="rect">
            <a:avLst/>
          </a:prstGeom>
          <a:noFill/>
          <a:ln/>
        </p:spPr>
        <p:txBody>
          <a:bodyPr wrap="square" rtlCol="0" anchor="ctr"/>
          <a:lstStyle/>
          <a:p>
            <a:pPr algn="r" indent="0" marL="0">
              <a:buNone/>
            </a:pPr>
            <a:r>
              <a:rPr lang="en-US" sz="900" dirty="0">
                <a:solidFill>
                  <a:srgbClr val="8A91A3"/>
                </a:solidFill>
                <a:latin typeface="Consolas" pitchFamily="34" charset="0"/>
                <a:ea typeface="Consolas" pitchFamily="34" charset="-122"/>
                <a:cs typeface="Consolas" pitchFamily="34" charset="-120"/>
              </a:rPr>
              <a:t>Λαμπρόπουλος Χρήστος</a:t>
            </a:r>
            <a:endParaRPr lang="en-US" sz="900" dirty="0"/>
          </a:p>
        </p:txBody>
      </p:sp>
      <p:sp>
        <p:nvSpPr>
          <p:cNvPr id="6" name="Text 3"/>
          <p:cNvSpPr txBox="1"/>
          <p:nvPr/>
        </p:nvSpPr>
        <p:spPr>
          <a:xfrm>
            <a:off x="566928" y="384048"/>
            <a:ext cx="8412480" cy="237744"/>
          </a:xfrm>
          <a:prstGeom prst="rect">
            <a:avLst/>
          </a:prstGeom>
          <a:noFill/>
          <a:ln/>
        </p:spPr>
        <p:txBody>
          <a:bodyPr wrap="square" lIns="0" tIns="0" rIns="0" bIns="0" rtlCol="0" anchor="ctr"/>
          <a:lstStyle/>
          <a:p>
            <a:pPr indent="0" marL="0">
              <a:buNone/>
            </a:pPr>
            <a:r>
              <a:rPr lang="en-US" sz="1000" spc="140" kern="0" dirty="0">
                <a:solidFill>
                  <a:srgbClr val="2F4BD8"/>
                </a:solidFill>
                <a:latin typeface="Consolas" pitchFamily="34" charset="0"/>
                <a:ea typeface="Consolas" pitchFamily="34" charset="-122"/>
                <a:cs typeface="Consolas" pitchFamily="34" charset="-120"/>
              </a:rPr>
              <a:t>13  </a:t>
            </a:r>
            <a:pPr indent="0" marL="0">
              <a:buNone/>
            </a:pPr>
            <a:r>
              <a:rPr lang="en-US" sz="1000" spc="140" kern="0" dirty="0">
                <a:solidFill>
                  <a:srgbClr val="8A91A3"/>
                </a:solidFill>
                <a:latin typeface="Consolas" pitchFamily="34" charset="0"/>
                <a:ea typeface="Consolas" pitchFamily="34" charset="-122"/>
                <a:cs typeface="Consolas" pitchFamily="34" charset="-120"/>
              </a:rPr>
              <a:t>ΕΝΝΟΙΕΣ · 5 ΛΕΠΤΑ</a:t>
            </a:r>
            <a:endParaRPr lang="en-US" sz="1000" dirty="0"/>
          </a:p>
        </p:txBody>
      </p:sp>
      <p:sp>
        <p:nvSpPr>
          <p:cNvPr id="7" name="Text 4"/>
          <p:cNvSpPr txBox="1"/>
          <p:nvPr/>
        </p:nvSpPr>
        <p:spPr>
          <a:xfrm>
            <a:off x="530352" y="658368"/>
            <a:ext cx="8595360" cy="566928"/>
          </a:xfrm>
          <a:prstGeom prst="rect">
            <a:avLst/>
          </a:prstGeom>
          <a:noFill/>
          <a:ln/>
        </p:spPr>
        <p:txBody>
          <a:bodyPr wrap="square" lIns="0" tIns="0" rIns="0" bIns="0" rtlCol="0" anchor="t"/>
          <a:lstStyle/>
          <a:p>
            <a:pPr indent="0" marL="0">
              <a:buNone/>
            </a:pPr>
            <a:r>
              <a:rPr lang="en-US" sz="3000" b="1" dirty="0">
                <a:solidFill>
                  <a:srgbClr val="171B26"/>
                </a:solidFill>
                <a:latin typeface="Segoe UI" pitchFamily="34" charset="0"/>
                <a:ea typeface="Segoe UI" pitchFamily="34" charset="-122"/>
                <a:cs typeface="Segoe UI" pitchFamily="34" charset="-120"/>
              </a:rPr>
              <a:t>Πέντε γενιές σε 80 χρόνια</a:t>
            </a:r>
            <a:endParaRPr lang="en-US" sz="3000" dirty="0"/>
          </a:p>
        </p:txBody>
      </p:sp>
      <p:sp>
        <p:nvSpPr>
          <p:cNvPr id="8" name="Shape 5"/>
          <p:cNvSpPr/>
          <p:nvPr/>
        </p:nvSpPr>
        <p:spPr>
          <a:xfrm>
            <a:off x="1581912" y="1965960"/>
            <a:ext cx="8851392" cy="0"/>
          </a:xfrm>
          <a:prstGeom prst="line">
            <a:avLst/>
          </a:prstGeom>
          <a:noFill/>
          <a:ln w="25400">
            <a:solidFill>
              <a:srgbClr val="D3D9E4"/>
            </a:solidFill>
            <a:prstDash val="solid"/>
          </a:ln>
        </p:spPr>
        <p:txBody>
          <a:bodyPr/>
          <a:p/>
        </p:txBody>
      </p:sp>
      <p:sp>
        <p:nvSpPr>
          <p:cNvPr id="9" name="Shape 6"/>
          <p:cNvSpPr/>
          <p:nvPr/>
        </p:nvSpPr>
        <p:spPr>
          <a:xfrm>
            <a:off x="1325880" y="1709928"/>
            <a:ext cx="512064" cy="512064"/>
          </a:xfrm>
          <a:prstGeom prst="ellipse">
            <a:avLst/>
          </a:prstGeom>
          <a:solidFill>
            <a:srgbClr val="FBFCFE"/>
          </a:solidFill>
          <a:ln w="19050">
            <a:solidFill>
              <a:srgbClr val="2F4BD8"/>
            </a:solidFill>
            <a:prstDash val="solid"/>
          </a:ln>
        </p:spPr>
        <p:txBody>
          <a:bodyPr/>
          <a:p/>
        </p:txBody>
      </p:sp>
      <p:sp>
        <p:nvSpPr>
          <p:cNvPr id="10" name="Text 7"/>
          <p:cNvSpPr txBox="1"/>
          <p:nvPr/>
        </p:nvSpPr>
        <p:spPr>
          <a:xfrm>
            <a:off x="1325880" y="1709928"/>
            <a:ext cx="512064" cy="512064"/>
          </a:xfrm>
          <a:prstGeom prst="rect">
            <a:avLst/>
          </a:prstGeom>
          <a:noFill/>
          <a:ln/>
        </p:spPr>
        <p:txBody>
          <a:bodyPr wrap="square" lIns="0" tIns="0" rIns="0" bIns="0" rtlCol="0" anchor="ctr"/>
          <a:lstStyle/>
          <a:p>
            <a:pPr algn="ctr" indent="0" marL="0">
              <a:buNone/>
            </a:pPr>
            <a:r>
              <a:rPr lang="en-US" sz="1200" b="1" dirty="0">
                <a:solidFill>
                  <a:srgbClr val="2F4BD8"/>
                </a:solidFill>
                <a:latin typeface="Segoe UI" pitchFamily="34" charset="0"/>
                <a:ea typeface="Segoe UI" pitchFamily="34" charset="-122"/>
                <a:cs typeface="Segoe UI" pitchFamily="34" charset="-120"/>
              </a:rPr>
              <a:t>1η</a:t>
            </a:r>
            <a:endParaRPr lang="en-US" sz="1200" dirty="0"/>
          </a:p>
        </p:txBody>
      </p:sp>
      <p:sp>
        <p:nvSpPr>
          <p:cNvPr id="11" name="Text 8"/>
          <p:cNvSpPr txBox="1"/>
          <p:nvPr/>
        </p:nvSpPr>
        <p:spPr>
          <a:xfrm>
            <a:off x="566928" y="2331720"/>
            <a:ext cx="2029968" cy="274320"/>
          </a:xfrm>
          <a:prstGeom prst="rect">
            <a:avLst/>
          </a:prstGeom>
          <a:noFill/>
          <a:ln/>
        </p:spPr>
        <p:txBody>
          <a:bodyPr wrap="square" lIns="0" tIns="0" rIns="0" bIns="0" rtlCol="0" anchor="ctr"/>
          <a:lstStyle/>
          <a:p>
            <a:pPr algn="ctr" indent="0" marL="0">
              <a:buNone/>
            </a:pPr>
            <a:r>
              <a:rPr lang="en-US" sz="1100" b="1" dirty="0">
                <a:solidFill>
                  <a:srgbClr val="2F4BD8"/>
                </a:solidFill>
                <a:latin typeface="Consolas" pitchFamily="34" charset="0"/>
                <a:ea typeface="Consolas" pitchFamily="34" charset="-122"/>
                <a:cs typeface="Consolas" pitchFamily="34" charset="-120"/>
              </a:rPr>
              <a:t>1945–55</a:t>
            </a:r>
            <a:endParaRPr lang="en-US" sz="1100" dirty="0"/>
          </a:p>
        </p:txBody>
      </p:sp>
      <p:sp>
        <p:nvSpPr>
          <p:cNvPr id="12" name="Shape 9"/>
          <p:cNvSpPr/>
          <p:nvPr/>
        </p:nvSpPr>
        <p:spPr>
          <a:xfrm>
            <a:off x="566928" y="2697480"/>
            <a:ext cx="2029968" cy="1828800"/>
          </a:xfrm>
          <a:prstGeom prst="roundRect">
            <a:avLst>
              <a:gd name="adj" fmla="val 3000"/>
            </a:avLst>
          </a:prstGeom>
          <a:solidFill>
            <a:srgbClr val="FBFCFE"/>
          </a:solidFill>
          <a:ln w="9525">
            <a:solidFill>
              <a:srgbClr val="D3D9E4"/>
            </a:solidFill>
            <a:prstDash val="solid"/>
          </a:ln>
        </p:spPr>
        <p:txBody>
          <a:bodyPr/>
          <a:p/>
        </p:txBody>
      </p:sp>
      <p:sp>
        <p:nvSpPr>
          <p:cNvPr id="13" name="Text 10"/>
          <p:cNvSpPr txBox="1"/>
          <p:nvPr/>
        </p:nvSpPr>
        <p:spPr>
          <a:xfrm>
            <a:off x="731520" y="2825496"/>
            <a:ext cx="1700784" cy="242951"/>
          </a:xfrm>
          <a:prstGeom prst="rect">
            <a:avLst/>
          </a:prstGeom>
          <a:noFill/>
          <a:ln/>
        </p:spPr>
        <p:txBody>
          <a:bodyPr wrap="square" lIns="0" tIns="0" rIns="0" bIns="0" rtlCol="0" anchor="t"/>
          <a:lstStyle/>
          <a:p>
            <a:pPr indent="0" marL="0">
              <a:buNone/>
            </a:pPr>
            <a:r>
              <a:rPr lang="en-US" sz="1300" b="1" dirty="0">
                <a:solidFill>
                  <a:srgbClr val="171B26"/>
                </a:solidFill>
                <a:latin typeface="Segoe UI" pitchFamily="34" charset="0"/>
                <a:ea typeface="Segoe UI" pitchFamily="34" charset="-122"/>
                <a:cs typeface="Segoe UI" pitchFamily="34" charset="-120"/>
              </a:rPr>
              <a:t>Λυχνίες</a:t>
            </a:r>
            <a:endParaRPr lang="en-US" sz="1300" dirty="0"/>
          </a:p>
        </p:txBody>
      </p:sp>
      <p:sp>
        <p:nvSpPr>
          <p:cNvPr id="14" name="Text 11"/>
          <p:cNvSpPr txBox="1"/>
          <p:nvPr/>
        </p:nvSpPr>
        <p:spPr>
          <a:xfrm>
            <a:off x="731520" y="3159887"/>
            <a:ext cx="1700784" cy="1274953"/>
          </a:xfrm>
          <a:prstGeom prst="rect">
            <a:avLst/>
          </a:prstGeom>
          <a:noFill/>
          <a:ln/>
        </p:spPr>
        <p:txBody>
          <a:bodyPr wrap="square" lIns="0" tIns="0" rIns="0" bIns="0" rtlCol="0" anchor="t"/>
          <a:lstStyle/>
          <a:p>
            <a:pPr indent="0" marL="0">
              <a:lnSpc>
                <a:spcPct val="112000"/>
              </a:lnSpc>
              <a:buNone/>
            </a:pPr>
            <a:r>
              <a:rPr lang="en-US" sz="1150" dirty="0">
                <a:solidFill>
                  <a:srgbClr val="4A5265"/>
                </a:solidFill>
                <a:latin typeface="Segoe UI" pitchFamily="34" charset="0"/>
                <a:ea typeface="Segoe UI" pitchFamily="34" charset="-122"/>
                <a:cs typeface="Segoe UI" pitchFamily="34" charset="-120"/>
              </a:rPr>
              <a:t>Χωρίς ΛΣ. Διακόπτες και καλώδια.</a:t>
            </a:r>
            <a:endParaRPr lang="en-US" sz="1150" dirty="0"/>
          </a:p>
        </p:txBody>
      </p:sp>
      <p:sp>
        <p:nvSpPr>
          <p:cNvPr id="15" name="Shape 12"/>
          <p:cNvSpPr/>
          <p:nvPr/>
        </p:nvSpPr>
        <p:spPr>
          <a:xfrm>
            <a:off x="3538728" y="1709928"/>
            <a:ext cx="512064" cy="512064"/>
          </a:xfrm>
          <a:prstGeom prst="ellipse">
            <a:avLst/>
          </a:prstGeom>
          <a:solidFill>
            <a:srgbClr val="FBFCFE"/>
          </a:solidFill>
          <a:ln w="19050">
            <a:solidFill>
              <a:srgbClr val="2F4BD8"/>
            </a:solidFill>
            <a:prstDash val="solid"/>
          </a:ln>
        </p:spPr>
        <p:txBody>
          <a:bodyPr/>
          <a:p/>
        </p:txBody>
      </p:sp>
      <p:sp>
        <p:nvSpPr>
          <p:cNvPr id="16" name="Text 13"/>
          <p:cNvSpPr txBox="1"/>
          <p:nvPr/>
        </p:nvSpPr>
        <p:spPr>
          <a:xfrm>
            <a:off x="3538728" y="1709928"/>
            <a:ext cx="512064" cy="512064"/>
          </a:xfrm>
          <a:prstGeom prst="rect">
            <a:avLst/>
          </a:prstGeom>
          <a:noFill/>
          <a:ln/>
        </p:spPr>
        <p:txBody>
          <a:bodyPr wrap="square" lIns="0" tIns="0" rIns="0" bIns="0" rtlCol="0" anchor="ctr"/>
          <a:lstStyle/>
          <a:p>
            <a:pPr algn="ctr" indent="0" marL="0">
              <a:buNone/>
            </a:pPr>
            <a:r>
              <a:rPr lang="en-US" sz="1200" b="1" dirty="0">
                <a:solidFill>
                  <a:srgbClr val="2F4BD8"/>
                </a:solidFill>
                <a:latin typeface="Segoe UI" pitchFamily="34" charset="0"/>
                <a:ea typeface="Segoe UI" pitchFamily="34" charset="-122"/>
                <a:cs typeface="Segoe UI" pitchFamily="34" charset="-120"/>
              </a:rPr>
              <a:t>2η</a:t>
            </a:r>
            <a:endParaRPr lang="en-US" sz="1200" dirty="0"/>
          </a:p>
        </p:txBody>
      </p:sp>
      <p:sp>
        <p:nvSpPr>
          <p:cNvPr id="17" name="Text 14"/>
          <p:cNvSpPr txBox="1"/>
          <p:nvPr/>
        </p:nvSpPr>
        <p:spPr>
          <a:xfrm>
            <a:off x="2779776" y="2331720"/>
            <a:ext cx="2029968" cy="274320"/>
          </a:xfrm>
          <a:prstGeom prst="rect">
            <a:avLst/>
          </a:prstGeom>
          <a:noFill/>
          <a:ln/>
        </p:spPr>
        <p:txBody>
          <a:bodyPr wrap="square" lIns="0" tIns="0" rIns="0" bIns="0" rtlCol="0" anchor="ctr"/>
          <a:lstStyle/>
          <a:p>
            <a:pPr algn="ctr" indent="0" marL="0">
              <a:buNone/>
            </a:pPr>
            <a:r>
              <a:rPr lang="en-US" sz="1100" b="1" dirty="0">
                <a:solidFill>
                  <a:srgbClr val="2F4BD8"/>
                </a:solidFill>
                <a:latin typeface="Consolas" pitchFamily="34" charset="0"/>
                <a:ea typeface="Consolas" pitchFamily="34" charset="-122"/>
                <a:cs typeface="Consolas" pitchFamily="34" charset="-120"/>
              </a:rPr>
              <a:t>1955–65</a:t>
            </a:r>
            <a:endParaRPr lang="en-US" sz="1100" dirty="0"/>
          </a:p>
        </p:txBody>
      </p:sp>
      <p:sp>
        <p:nvSpPr>
          <p:cNvPr id="18" name="Shape 15"/>
          <p:cNvSpPr/>
          <p:nvPr/>
        </p:nvSpPr>
        <p:spPr>
          <a:xfrm>
            <a:off x="2779776" y="2697480"/>
            <a:ext cx="2029968" cy="1828800"/>
          </a:xfrm>
          <a:prstGeom prst="roundRect">
            <a:avLst>
              <a:gd name="adj" fmla="val 3000"/>
            </a:avLst>
          </a:prstGeom>
          <a:solidFill>
            <a:srgbClr val="E4E8FB"/>
          </a:solidFill>
          <a:ln w="12700">
            <a:solidFill>
              <a:srgbClr val="E4E8FB"/>
            </a:solidFill>
            <a:prstDash val="solid"/>
          </a:ln>
        </p:spPr>
        <p:txBody>
          <a:bodyPr/>
          <a:p/>
        </p:txBody>
      </p:sp>
      <p:sp>
        <p:nvSpPr>
          <p:cNvPr id="19" name="Text 16"/>
          <p:cNvSpPr txBox="1"/>
          <p:nvPr/>
        </p:nvSpPr>
        <p:spPr>
          <a:xfrm>
            <a:off x="2944368" y="2825496"/>
            <a:ext cx="1700784" cy="242951"/>
          </a:xfrm>
          <a:prstGeom prst="rect">
            <a:avLst/>
          </a:prstGeom>
          <a:noFill/>
          <a:ln/>
        </p:spPr>
        <p:txBody>
          <a:bodyPr wrap="square" lIns="0" tIns="0" rIns="0" bIns="0" rtlCol="0" anchor="t"/>
          <a:lstStyle/>
          <a:p>
            <a:pPr indent="0" marL="0">
              <a:buNone/>
            </a:pPr>
            <a:r>
              <a:rPr lang="en-US" sz="1300" b="1" dirty="0">
                <a:solidFill>
                  <a:srgbClr val="171B26"/>
                </a:solidFill>
                <a:latin typeface="Segoe UI" pitchFamily="34" charset="0"/>
                <a:ea typeface="Segoe UI" pitchFamily="34" charset="-122"/>
                <a:cs typeface="Segoe UI" pitchFamily="34" charset="-120"/>
              </a:rPr>
              <a:t>Τρανζίστορ</a:t>
            </a:r>
            <a:endParaRPr lang="en-US" sz="1300" dirty="0"/>
          </a:p>
        </p:txBody>
      </p:sp>
      <p:sp>
        <p:nvSpPr>
          <p:cNvPr id="20" name="Text 17"/>
          <p:cNvSpPr txBox="1"/>
          <p:nvPr/>
        </p:nvSpPr>
        <p:spPr>
          <a:xfrm>
            <a:off x="2944368" y="3159887"/>
            <a:ext cx="1700784" cy="1274953"/>
          </a:xfrm>
          <a:prstGeom prst="rect">
            <a:avLst/>
          </a:prstGeom>
          <a:noFill/>
          <a:ln/>
        </p:spPr>
        <p:txBody>
          <a:bodyPr wrap="square" lIns="0" tIns="0" rIns="0" bIns="0" rtlCol="0" anchor="t"/>
          <a:lstStyle/>
          <a:p>
            <a:pPr indent="0" marL="0">
              <a:lnSpc>
                <a:spcPct val="112000"/>
              </a:lnSpc>
              <a:buNone/>
            </a:pPr>
            <a:r>
              <a:rPr lang="en-US" sz="1150" dirty="0">
                <a:solidFill>
                  <a:srgbClr val="4A5265"/>
                </a:solidFill>
                <a:latin typeface="Segoe UI" pitchFamily="34" charset="0"/>
                <a:ea typeface="Segoe UI" pitchFamily="34" charset="-122"/>
                <a:cs typeface="Segoe UI" pitchFamily="34" charset="-120"/>
              </a:rPr>
              <a:t>Ομαδική επεξεργασία (batch).</a:t>
            </a:r>
            <a:endParaRPr lang="en-US" sz="1150" dirty="0"/>
          </a:p>
        </p:txBody>
      </p:sp>
      <p:sp>
        <p:nvSpPr>
          <p:cNvPr id="21" name="Shape 18"/>
          <p:cNvSpPr/>
          <p:nvPr/>
        </p:nvSpPr>
        <p:spPr>
          <a:xfrm>
            <a:off x="5751576" y="1709928"/>
            <a:ext cx="512064" cy="512064"/>
          </a:xfrm>
          <a:prstGeom prst="ellipse">
            <a:avLst/>
          </a:prstGeom>
          <a:solidFill>
            <a:srgbClr val="FBFCFE"/>
          </a:solidFill>
          <a:ln w="19050">
            <a:solidFill>
              <a:srgbClr val="2F4BD8"/>
            </a:solidFill>
            <a:prstDash val="solid"/>
          </a:ln>
        </p:spPr>
        <p:txBody>
          <a:bodyPr/>
          <a:p/>
        </p:txBody>
      </p:sp>
      <p:sp>
        <p:nvSpPr>
          <p:cNvPr id="22" name="Text 19"/>
          <p:cNvSpPr txBox="1"/>
          <p:nvPr/>
        </p:nvSpPr>
        <p:spPr>
          <a:xfrm>
            <a:off x="5751576" y="1709928"/>
            <a:ext cx="512064" cy="512064"/>
          </a:xfrm>
          <a:prstGeom prst="rect">
            <a:avLst/>
          </a:prstGeom>
          <a:noFill/>
          <a:ln/>
        </p:spPr>
        <p:txBody>
          <a:bodyPr wrap="square" lIns="0" tIns="0" rIns="0" bIns="0" rtlCol="0" anchor="ctr"/>
          <a:lstStyle/>
          <a:p>
            <a:pPr algn="ctr" indent="0" marL="0">
              <a:buNone/>
            </a:pPr>
            <a:r>
              <a:rPr lang="en-US" sz="1200" b="1" dirty="0">
                <a:solidFill>
                  <a:srgbClr val="2F4BD8"/>
                </a:solidFill>
                <a:latin typeface="Segoe UI" pitchFamily="34" charset="0"/>
                <a:ea typeface="Segoe UI" pitchFamily="34" charset="-122"/>
                <a:cs typeface="Segoe UI" pitchFamily="34" charset="-120"/>
              </a:rPr>
              <a:t>3η</a:t>
            </a:r>
            <a:endParaRPr lang="en-US" sz="1200" dirty="0"/>
          </a:p>
        </p:txBody>
      </p:sp>
      <p:sp>
        <p:nvSpPr>
          <p:cNvPr id="23" name="Text 20"/>
          <p:cNvSpPr txBox="1"/>
          <p:nvPr/>
        </p:nvSpPr>
        <p:spPr>
          <a:xfrm>
            <a:off x="4992624" y="2331720"/>
            <a:ext cx="2029968" cy="274320"/>
          </a:xfrm>
          <a:prstGeom prst="rect">
            <a:avLst/>
          </a:prstGeom>
          <a:noFill/>
          <a:ln/>
        </p:spPr>
        <p:txBody>
          <a:bodyPr wrap="square" lIns="0" tIns="0" rIns="0" bIns="0" rtlCol="0" anchor="ctr"/>
          <a:lstStyle/>
          <a:p>
            <a:pPr algn="ctr" indent="0" marL="0">
              <a:buNone/>
            </a:pPr>
            <a:r>
              <a:rPr lang="en-US" sz="1100" b="1" dirty="0">
                <a:solidFill>
                  <a:srgbClr val="2F4BD8"/>
                </a:solidFill>
                <a:latin typeface="Consolas" pitchFamily="34" charset="0"/>
                <a:ea typeface="Consolas" pitchFamily="34" charset="-122"/>
                <a:cs typeface="Consolas" pitchFamily="34" charset="-120"/>
              </a:rPr>
              <a:t>1965–80</a:t>
            </a:r>
            <a:endParaRPr lang="en-US" sz="1100" dirty="0"/>
          </a:p>
        </p:txBody>
      </p:sp>
      <p:sp>
        <p:nvSpPr>
          <p:cNvPr id="24" name="Shape 21"/>
          <p:cNvSpPr/>
          <p:nvPr/>
        </p:nvSpPr>
        <p:spPr>
          <a:xfrm>
            <a:off x="4992624" y="2697480"/>
            <a:ext cx="2029968" cy="1828800"/>
          </a:xfrm>
          <a:prstGeom prst="roundRect">
            <a:avLst>
              <a:gd name="adj" fmla="val 3000"/>
            </a:avLst>
          </a:prstGeom>
          <a:solidFill>
            <a:srgbClr val="FBFCFE"/>
          </a:solidFill>
          <a:ln w="9525">
            <a:solidFill>
              <a:srgbClr val="D3D9E4"/>
            </a:solidFill>
            <a:prstDash val="solid"/>
          </a:ln>
        </p:spPr>
        <p:txBody>
          <a:bodyPr/>
          <a:p/>
        </p:txBody>
      </p:sp>
      <p:sp>
        <p:nvSpPr>
          <p:cNvPr id="25" name="Text 22"/>
          <p:cNvSpPr txBox="1"/>
          <p:nvPr/>
        </p:nvSpPr>
        <p:spPr>
          <a:xfrm>
            <a:off x="5157216" y="2825496"/>
            <a:ext cx="1700784" cy="242951"/>
          </a:xfrm>
          <a:prstGeom prst="rect">
            <a:avLst/>
          </a:prstGeom>
          <a:noFill/>
          <a:ln/>
        </p:spPr>
        <p:txBody>
          <a:bodyPr wrap="square" lIns="0" tIns="0" rIns="0" bIns="0" rtlCol="0" anchor="t"/>
          <a:lstStyle/>
          <a:p>
            <a:pPr indent="0" marL="0">
              <a:buNone/>
            </a:pPr>
            <a:r>
              <a:rPr lang="en-US" sz="1300" b="1" dirty="0">
                <a:solidFill>
                  <a:srgbClr val="171B26"/>
                </a:solidFill>
                <a:latin typeface="Segoe UI" pitchFamily="34" charset="0"/>
                <a:ea typeface="Segoe UI" pitchFamily="34" charset="-122"/>
                <a:cs typeface="Segoe UI" pitchFamily="34" charset="-120"/>
              </a:rPr>
              <a:t>Ολοκληρωμένα</a:t>
            </a:r>
            <a:endParaRPr lang="en-US" sz="1300" dirty="0"/>
          </a:p>
        </p:txBody>
      </p:sp>
      <p:sp>
        <p:nvSpPr>
          <p:cNvPr id="26" name="Text 23"/>
          <p:cNvSpPr txBox="1"/>
          <p:nvPr/>
        </p:nvSpPr>
        <p:spPr>
          <a:xfrm>
            <a:off x="5157216" y="3159887"/>
            <a:ext cx="1700784" cy="1274953"/>
          </a:xfrm>
          <a:prstGeom prst="rect">
            <a:avLst/>
          </a:prstGeom>
          <a:noFill/>
          <a:ln/>
        </p:spPr>
        <p:txBody>
          <a:bodyPr wrap="square" lIns="0" tIns="0" rIns="0" bIns="0" rtlCol="0" anchor="t"/>
          <a:lstStyle/>
          <a:p>
            <a:pPr indent="0" marL="0">
              <a:lnSpc>
                <a:spcPct val="112000"/>
              </a:lnSpc>
              <a:buNone/>
            </a:pPr>
            <a:r>
              <a:rPr lang="en-US" sz="1150" dirty="0">
                <a:solidFill>
                  <a:srgbClr val="4A5265"/>
                </a:solidFill>
                <a:latin typeface="Segoe UI" pitchFamily="34" charset="0"/>
                <a:ea typeface="Segoe UI" pitchFamily="34" charset="-122"/>
                <a:cs typeface="Segoe UI" pitchFamily="34" charset="-120"/>
              </a:rPr>
              <a:t>Πολυπρογραμματισμός, UNIX (1969).</a:t>
            </a:r>
            <a:endParaRPr lang="en-US" sz="1150" dirty="0"/>
          </a:p>
        </p:txBody>
      </p:sp>
      <p:sp>
        <p:nvSpPr>
          <p:cNvPr id="27" name="Shape 24"/>
          <p:cNvSpPr/>
          <p:nvPr/>
        </p:nvSpPr>
        <p:spPr>
          <a:xfrm>
            <a:off x="7964424" y="1709928"/>
            <a:ext cx="512064" cy="512064"/>
          </a:xfrm>
          <a:prstGeom prst="ellipse">
            <a:avLst/>
          </a:prstGeom>
          <a:solidFill>
            <a:srgbClr val="FBFCFE"/>
          </a:solidFill>
          <a:ln w="19050">
            <a:solidFill>
              <a:srgbClr val="2F4BD8"/>
            </a:solidFill>
            <a:prstDash val="solid"/>
          </a:ln>
        </p:spPr>
        <p:txBody>
          <a:bodyPr/>
          <a:p/>
        </p:txBody>
      </p:sp>
      <p:sp>
        <p:nvSpPr>
          <p:cNvPr id="28" name="Text 25"/>
          <p:cNvSpPr txBox="1"/>
          <p:nvPr/>
        </p:nvSpPr>
        <p:spPr>
          <a:xfrm>
            <a:off x="7964424" y="1709928"/>
            <a:ext cx="512064" cy="512064"/>
          </a:xfrm>
          <a:prstGeom prst="rect">
            <a:avLst/>
          </a:prstGeom>
          <a:noFill/>
          <a:ln/>
        </p:spPr>
        <p:txBody>
          <a:bodyPr wrap="square" lIns="0" tIns="0" rIns="0" bIns="0" rtlCol="0" anchor="ctr"/>
          <a:lstStyle/>
          <a:p>
            <a:pPr algn="ctr" indent="0" marL="0">
              <a:buNone/>
            </a:pPr>
            <a:r>
              <a:rPr lang="en-US" sz="1200" b="1" dirty="0">
                <a:solidFill>
                  <a:srgbClr val="2F4BD8"/>
                </a:solidFill>
                <a:latin typeface="Segoe UI" pitchFamily="34" charset="0"/>
                <a:ea typeface="Segoe UI" pitchFamily="34" charset="-122"/>
                <a:cs typeface="Segoe UI" pitchFamily="34" charset="-120"/>
              </a:rPr>
              <a:t>4η</a:t>
            </a:r>
            <a:endParaRPr lang="en-US" sz="1200" dirty="0"/>
          </a:p>
        </p:txBody>
      </p:sp>
      <p:sp>
        <p:nvSpPr>
          <p:cNvPr id="29" name="Text 26"/>
          <p:cNvSpPr txBox="1"/>
          <p:nvPr/>
        </p:nvSpPr>
        <p:spPr>
          <a:xfrm>
            <a:off x="7205472" y="2331720"/>
            <a:ext cx="2029968" cy="274320"/>
          </a:xfrm>
          <a:prstGeom prst="rect">
            <a:avLst/>
          </a:prstGeom>
          <a:noFill/>
          <a:ln/>
        </p:spPr>
        <p:txBody>
          <a:bodyPr wrap="square" lIns="0" tIns="0" rIns="0" bIns="0" rtlCol="0" anchor="ctr"/>
          <a:lstStyle/>
          <a:p>
            <a:pPr algn="ctr" indent="0" marL="0">
              <a:buNone/>
            </a:pPr>
            <a:r>
              <a:rPr lang="en-US" sz="1100" b="1" dirty="0">
                <a:solidFill>
                  <a:srgbClr val="2F4BD8"/>
                </a:solidFill>
                <a:latin typeface="Consolas" pitchFamily="34" charset="0"/>
                <a:ea typeface="Consolas" pitchFamily="34" charset="-122"/>
                <a:cs typeface="Consolas" pitchFamily="34" charset="-120"/>
              </a:rPr>
              <a:t>1980–</a:t>
            </a:r>
            <a:endParaRPr lang="en-US" sz="1100" dirty="0"/>
          </a:p>
        </p:txBody>
      </p:sp>
      <p:sp>
        <p:nvSpPr>
          <p:cNvPr id="30" name="Shape 27"/>
          <p:cNvSpPr/>
          <p:nvPr/>
        </p:nvSpPr>
        <p:spPr>
          <a:xfrm>
            <a:off x="7205472" y="2697480"/>
            <a:ext cx="2029968" cy="1828800"/>
          </a:xfrm>
          <a:prstGeom prst="roundRect">
            <a:avLst>
              <a:gd name="adj" fmla="val 3000"/>
            </a:avLst>
          </a:prstGeom>
          <a:solidFill>
            <a:srgbClr val="E4E8FB"/>
          </a:solidFill>
          <a:ln w="12700">
            <a:solidFill>
              <a:srgbClr val="E4E8FB"/>
            </a:solidFill>
            <a:prstDash val="solid"/>
          </a:ln>
        </p:spPr>
        <p:txBody>
          <a:bodyPr/>
          <a:p/>
        </p:txBody>
      </p:sp>
      <p:sp>
        <p:nvSpPr>
          <p:cNvPr id="31" name="Text 28"/>
          <p:cNvSpPr txBox="1"/>
          <p:nvPr/>
        </p:nvSpPr>
        <p:spPr>
          <a:xfrm>
            <a:off x="7370064" y="2825496"/>
            <a:ext cx="1700784" cy="242951"/>
          </a:xfrm>
          <a:prstGeom prst="rect">
            <a:avLst/>
          </a:prstGeom>
          <a:noFill/>
          <a:ln/>
        </p:spPr>
        <p:txBody>
          <a:bodyPr wrap="square" lIns="0" tIns="0" rIns="0" bIns="0" rtlCol="0" anchor="t"/>
          <a:lstStyle/>
          <a:p>
            <a:pPr indent="0" marL="0">
              <a:buNone/>
            </a:pPr>
            <a:r>
              <a:rPr lang="en-US" sz="1300" b="1" dirty="0">
                <a:solidFill>
                  <a:srgbClr val="171B26"/>
                </a:solidFill>
                <a:latin typeface="Segoe UI" pitchFamily="34" charset="0"/>
                <a:ea typeface="Segoe UI" pitchFamily="34" charset="-122"/>
                <a:cs typeface="Segoe UI" pitchFamily="34" charset="-120"/>
              </a:rPr>
              <a:t>Προσωπικοί Η/Υ</a:t>
            </a:r>
            <a:endParaRPr lang="en-US" sz="1300" dirty="0"/>
          </a:p>
        </p:txBody>
      </p:sp>
      <p:sp>
        <p:nvSpPr>
          <p:cNvPr id="32" name="Text 29"/>
          <p:cNvSpPr txBox="1"/>
          <p:nvPr/>
        </p:nvSpPr>
        <p:spPr>
          <a:xfrm>
            <a:off x="7370064" y="3159887"/>
            <a:ext cx="1700784" cy="1274953"/>
          </a:xfrm>
          <a:prstGeom prst="rect">
            <a:avLst/>
          </a:prstGeom>
          <a:noFill/>
          <a:ln/>
        </p:spPr>
        <p:txBody>
          <a:bodyPr wrap="square" lIns="0" tIns="0" rIns="0" bIns="0" rtlCol="0" anchor="t"/>
          <a:lstStyle/>
          <a:p>
            <a:pPr indent="0" marL="0">
              <a:lnSpc>
                <a:spcPct val="112000"/>
              </a:lnSpc>
              <a:buNone/>
            </a:pPr>
            <a:r>
              <a:rPr lang="en-US" sz="1150" dirty="0">
                <a:solidFill>
                  <a:srgbClr val="4A5265"/>
                </a:solidFill>
                <a:latin typeface="Segoe UI" pitchFamily="34" charset="0"/>
                <a:ea typeface="Segoe UI" pitchFamily="34" charset="-122"/>
                <a:cs typeface="Segoe UI" pitchFamily="34" charset="-120"/>
              </a:rPr>
              <a:t>MS-DOS, Windows, Mac, Linux (1991).</a:t>
            </a:r>
            <a:endParaRPr lang="en-US" sz="1150" dirty="0"/>
          </a:p>
        </p:txBody>
      </p:sp>
      <p:sp>
        <p:nvSpPr>
          <p:cNvPr id="33" name="Shape 30"/>
          <p:cNvSpPr/>
          <p:nvPr/>
        </p:nvSpPr>
        <p:spPr>
          <a:xfrm>
            <a:off x="10177272" y="1709928"/>
            <a:ext cx="512064" cy="512064"/>
          </a:xfrm>
          <a:prstGeom prst="ellipse">
            <a:avLst/>
          </a:prstGeom>
          <a:solidFill>
            <a:srgbClr val="2F4BD8"/>
          </a:solidFill>
          <a:ln w="19050">
            <a:solidFill>
              <a:srgbClr val="2F4BD8"/>
            </a:solidFill>
            <a:prstDash val="solid"/>
          </a:ln>
        </p:spPr>
        <p:txBody>
          <a:bodyPr/>
          <a:p/>
        </p:txBody>
      </p:sp>
      <p:sp>
        <p:nvSpPr>
          <p:cNvPr id="34" name="Text 31"/>
          <p:cNvSpPr txBox="1"/>
          <p:nvPr/>
        </p:nvSpPr>
        <p:spPr>
          <a:xfrm>
            <a:off x="10177272" y="1709928"/>
            <a:ext cx="512064" cy="512064"/>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5η</a:t>
            </a:r>
            <a:endParaRPr lang="en-US" sz="1200" dirty="0"/>
          </a:p>
        </p:txBody>
      </p:sp>
      <p:sp>
        <p:nvSpPr>
          <p:cNvPr id="35" name="Text 32"/>
          <p:cNvSpPr txBox="1"/>
          <p:nvPr/>
        </p:nvSpPr>
        <p:spPr>
          <a:xfrm>
            <a:off x="9418320" y="2331720"/>
            <a:ext cx="2029968" cy="274320"/>
          </a:xfrm>
          <a:prstGeom prst="rect">
            <a:avLst/>
          </a:prstGeom>
          <a:noFill/>
          <a:ln/>
        </p:spPr>
        <p:txBody>
          <a:bodyPr wrap="square" lIns="0" tIns="0" rIns="0" bIns="0" rtlCol="0" anchor="ctr"/>
          <a:lstStyle/>
          <a:p>
            <a:pPr algn="ctr" indent="0" marL="0">
              <a:buNone/>
            </a:pPr>
            <a:r>
              <a:rPr lang="en-US" sz="1100" b="1" dirty="0">
                <a:solidFill>
                  <a:srgbClr val="2F4BD8"/>
                </a:solidFill>
                <a:latin typeface="Consolas" pitchFamily="34" charset="0"/>
                <a:ea typeface="Consolas" pitchFamily="34" charset="-122"/>
                <a:cs typeface="Consolas" pitchFamily="34" charset="-120"/>
              </a:rPr>
              <a:t>2007–</a:t>
            </a:r>
            <a:endParaRPr lang="en-US" sz="1100" dirty="0"/>
          </a:p>
        </p:txBody>
      </p:sp>
      <p:sp>
        <p:nvSpPr>
          <p:cNvPr id="36" name="Shape 33"/>
          <p:cNvSpPr/>
          <p:nvPr/>
        </p:nvSpPr>
        <p:spPr>
          <a:xfrm>
            <a:off x="9418320" y="2697480"/>
            <a:ext cx="2029968" cy="1828800"/>
          </a:xfrm>
          <a:prstGeom prst="roundRect">
            <a:avLst>
              <a:gd name="adj" fmla="val 3000"/>
            </a:avLst>
          </a:prstGeom>
          <a:solidFill>
            <a:srgbClr val="FBFCFE"/>
          </a:solidFill>
          <a:ln w="9525">
            <a:solidFill>
              <a:srgbClr val="D3D9E4"/>
            </a:solidFill>
            <a:prstDash val="solid"/>
          </a:ln>
        </p:spPr>
        <p:txBody>
          <a:bodyPr/>
          <a:p/>
        </p:txBody>
      </p:sp>
      <p:sp>
        <p:nvSpPr>
          <p:cNvPr id="37" name="Text 34"/>
          <p:cNvSpPr txBox="1"/>
          <p:nvPr/>
        </p:nvSpPr>
        <p:spPr>
          <a:xfrm>
            <a:off x="9582912" y="2825496"/>
            <a:ext cx="1700784" cy="242951"/>
          </a:xfrm>
          <a:prstGeom prst="rect">
            <a:avLst/>
          </a:prstGeom>
          <a:noFill/>
          <a:ln/>
        </p:spPr>
        <p:txBody>
          <a:bodyPr wrap="square" lIns="0" tIns="0" rIns="0" bIns="0" rtlCol="0" anchor="t"/>
          <a:lstStyle/>
          <a:p>
            <a:pPr indent="0" marL="0">
              <a:buNone/>
            </a:pPr>
            <a:r>
              <a:rPr lang="en-US" sz="1300" b="1" dirty="0">
                <a:solidFill>
                  <a:srgbClr val="171B26"/>
                </a:solidFill>
                <a:latin typeface="Segoe UI" pitchFamily="34" charset="0"/>
                <a:ea typeface="Segoe UI" pitchFamily="34" charset="-122"/>
                <a:cs typeface="Segoe UI" pitchFamily="34" charset="-120"/>
              </a:rPr>
              <a:t>Κινητά &amp; cloud</a:t>
            </a:r>
            <a:endParaRPr lang="en-US" sz="1300" dirty="0"/>
          </a:p>
        </p:txBody>
      </p:sp>
      <p:sp>
        <p:nvSpPr>
          <p:cNvPr id="38" name="Text 35"/>
          <p:cNvSpPr txBox="1"/>
          <p:nvPr/>
        </p:nvSpPr>
        <p:spPr>
          <a:xfrm>
            <a:off x="9582912" y="3159887"/>
            <a:ext cx="1700784" cy="1274953"/>
          </a:xfrm>
          <a:prstGeom prst="rect">
            <a:avLst/>
          </a:prstGeom>
          <a:noFill/>
          <a:ln/>
        </p:spPr>
        <p:txBody>
          <a:bodyPr wrap="square" lIns="0" tIns="0" rIns="0" bIns="0" rtlCol="0" anchor="t"/>
          <a:lstStyle/>
          <a:p>
            <a:pPr indent="0" marL="0">
              <a:lnSpc>
                <a:spcPct val="112000"/>
              </a:lnSpc>
              <a:buNone/>
            </a:pPr>
            <a:r>
              <a:rPr lang="en-US" sz="1150" dirty="0">
                <a:solidFill>
                  <a:srgbClr val="4A5265"/>
                </a:solidFill>
                <a:latin typeface="Segoe UI" pitchFamily="34" charset="0"/>
                <a:ea typeface="Segoe UI" pitchFamily="34" charset="-122"/>
                <a:cs typeface="Segoe UI" pitchFamily="34" charset="-120"/>
              </a:rPr>
              <a:t>iOS, Android, εικονικές μηχανές.</a:t>
            </a:r>
            <a:endParaRPr lang="en-US" sz="1150" dirty="0"/>
          </a:p>
        </p:txBody>
      </p:sp>
      <p:sp>
        <p:nvSpPr>
          <p:cNvPr id="39" name="Shape 36"/>
          <p:cNvSpPr/>
          <p:nvPr/>
        </p:nvSpPr>
        <p:spPr>
          <a:xfrm>
            <a:off x="566928" y="4800600"/>
            <a:ext cx="10881360" cy="1143000"/>
          </a:xfrm>
          <a:prstGeom prst="roundRect">
            <a:avLst>
              <a:gd name="adj" fmla="val 4800"/>
            </a:avLst>
          </a:prstGeom>
          <a:solidFill>
            <a:srgbClr val="F6EDD6"/>
          </a:solidFill>
          <a:ln w="12700">
            <a:solidFill>
              <a:srgbClr val="F6EDD6"/>
            </a:solidFill>
            <a:prstDash val="solid"/>
          </a:ln>
        </p:spPr>
        <p:txBody>
          <a:bodyPr/>
          <a:p/>
        </p:txBody>
      </p:sp>
      <p:sp>
        <p:nvSpPr>
          <p:cNvPr id="40" name="Text 37"/>
          <p:cNvSpPr txBox="1"/>
          <p:nvPr/>
        </p:nvSpPr>
        <p:spPr>
          <a:xfrm>
            <a:off x="731520" y="4928616"/>
            <a:ext cx="10552176" cy="258826"/>
          </a:xfrm>
          <a:prstGeom prst="rect">
            <a:avLst/>
          </a:prstGeom>
          <a:noFill/>
          <a:ln/>
        </p:spPr>
        <p:txBody>
          <a:bodyPr wrap="square" lIns="0" tIns="0" rIns="0" bIns="0" rtlCol="0" anchor="t"/>
          <a:lstStyle/>
          <a:p>
            <a:pPr indent="0" marL="0">
              <a:buNone/>
            </a:pPr>
            <a:r>
              <a:rPr lang="en-US" sz="1400" b="1" dirty="0">
                <a:solidFill>
                  <a:srgbClr val="171B26"/>
                </a:solidFill>
                <a:latin typeface="Segoe UI" pitchFamily="34" charset="0"/>
                <a:ea typeface="Segoe UI" pitchFamily="34" charset="-122"/>
                <a:cs typeface="Segoe UI" pitchFamily="34" charset="-120"/>
              </a:rPr>
              <a:t>Μίνι αποστολή (2΄)</a:t>
            </a:r>
            <a:endParaRPr lang="en-US" sz="1400" dirty="0"/>
          </a:p>
        </p:txBody>
      </p:sp>
      <p:sp>
        <p:nvSpPr>
          <p:cNvPr id="41" name="Text 38"/>
          <p:cNvSpPr txBox="1"/>
          <p:nvPr/>
        </p:nvSpPr>
        <p:spPr>
          <a:xfrm>
            <a:off x="731520" y="5278882"/>
            <a:ext cx="10552176" cy="573278"/>
          </a:xfrm>
          <a:prstGeom prst="rect">
            <a:avLst/>
          </a:prstGeom>
          <a:noFill/>
          <a:ln/>
        </p:spPr>
        <p:txBody>
          <a:bodyPr wrap="square" lIns="0" tIns="0" rIns="0" bIns="0" rtlCol="0" anchor="t"/>
          <a:lstStyle/>
          <a:p>
            <a:pPr indent="0" marL="0">
              <a:lnSpc>
                <a:spcPct val="112000"/>
              </a:lnSpc>
              <a:buNone/>
            </a:pPr>
            <a:r>
              <a:rPr lang="en-US" sz="1250" dirty="0">
                <a:solidFill>
                  <a:srgbClr val="4A5265"/>
                </a:solidFill>
                <a:latin typeface="Segoe UI" pitchFamily="34" charset="0"/>
                <a:ea typeface="Segoe UI" pitchFamily="34" charset="-122"/>
                <a:cs typeface="Segoe UI" pitchFamily="34" charset="-120"/>
              </a:rPr>
              <a:t>Τρέξε ξανά </a:t>
            </a:r>
            <a:pPr indent="0" marL="0">
              <a:lnSpc>
                <a:spcPct val="112000"/>
              </a:lnSpc>
              <a:buNone/>
            </a:pPr>
            <a:r>
              <a:rPr lang="en-US" sz="1250" dirty="0">
                <a:solidFill>
                  <a:srgbClr val="2F4BD8"/>
                </a:solidFill>
                <a:latin typeface="Consolas" pitchFamily="34" charset="0"/>
                <a:ea typeface="Consolas" pitchFamily="34" charset="-122"/>
                <a:cs typeface="Consolas" pitchFamily="34" charset="-120"/>
              </a:rPr>
              <a:t>winver</a:t>
            </a:r>
            <a:pPr indent="0" marL="0">
              <a:lnSpc>
                <a:spcPct val="112000"/>
              </a:lnSpc>
              <a:buNone/>
            </a:pPr>
            <a:r>
              <a:rPr lang="en-US" sz="1250" dirty="0">
                <a:solidFill>
                  <a:srgbClr val="4A5265"/>
                </a:solidFill>
                <a:latin typeface="Segoe UI" pitchFamily="34" charset="0"/>
                <a:ea typeface="Segoe UI" pitchFamily="34" charset="-122"/>
                <a:cs typeface="Segoe UI" pitchFamily="34" charset="-120"/>
              </a:rPr>
              <a:t>. Σε ποια γενιά ανήκει το ΛΣ σου; Ποιο είναι το παλαιότερο ΛΣ που έχεις χρησιμοποιήσει;</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CFE"/>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F4BD8"/>
          </a:solidFill>
          <a:ln w="12700">
            <a:solidFill>
              <a:srgbClr val="2F4BD8"/>
            </a:solidFill>
            <a:prstDash val="solid"/>
          </a:ln>
        </p:spPr>
        <p:txBody>
          <a:bodyPr/>
          <a:p/>
        </p:txBody>
      </p:sp>
      <p:pic>
        <p:nvPicPr>
          <p:cNvPr id="3" name="Image 0" descr="/tmp/claude-0/-home-claude/8f07f1d1-9bfe-540b-b195-992cdc902b9e/scratchpad/prak/logo_os.png">    </p:cNvPr>
          <p:cNvPicPr>
            <a:picLocks noChangeAspect="1"/>
          </p:cNvPicPr>
          <p:nvPr/>
        </p:nvPicPr>
        <p:blipFill>
          <a:blip r:embed="rId1"/>
          <a:stretch>
            <a:fillRect/>
          </a:stretch>
        </p:blipFill>
        <p:spPr>
          <a:xfrm>
            <a:off x="9189720" y="274320"/>
            <a:ext cx="310896" cy="310896"/>
          </a:xfrm>
          <a:prstGeom prst="rect">
            <a:avLst/>
          </a:prstGeom>
        </p:spPr>
      </p:pic>
      <p:sp>
        <p:nvSpPr>
          <p:cNvPr id="4" name="Text 1"/>
          <p:cNvSpPr txBox="1"/>
          <p:nvPr/>
        </p:nvSpPr>
        <p:spPr>
          <a:xfrm>
            <a:off x="9573768" y="246888"/>
            <a:ext cx="2468880" cy="365760"/>
          </a:xfrm>
          <a:prstGeom prst="rect">
            <a:avLst/>
          </a:prstGeom>
          <a:noFill/>
          <a:ln/>
        </p:spPr>
        <p:txBody>
          <a:bodyPr wrap="square" lIns="0" tIns="0" rIns="0" bIns="0" rtlCol="0" anchor="ctr"/>
          <a:lstStyle/>
          <a:p>
            <a:pPr indent="0" marL="0">
              <a:buNone/>
            </a:pPr>
            <a:r>
              <a:rPr lang="en-US" sz="950" b="1" dirty="0">
                <a:solidFill>
                  <a:srgbClr val="4A5265"/>
                </a:solidFill>
                <a:latin typeface="Segoe UI" pitchFamily="34" charset="0"/>
                <a:ea typeface="Segoe UI" pitchFamily="34" charset="-122"/>
                <a:cs typeface="Segoe UI" pitchFamily="34" charset="-120"/>
              </a:rPr>
              <a:t>ΣΑΕΚ Μαρκοπούλου</a:t>
            </a:r>
            <a:endParaRPr lang="en-US" sz="950" dirty="0"/>
          </a:p>
          <a:p>
            <a:pPr indent="0" marL="0">
              <a:buNone/>
            </a:pPr>
            <a:r>
              <a:rPr lang="en-US" sz="950" b="1" dirty="0">
                <a:solidFill>
                  <a:srgbClr val="4A5265"/>
                </a:solidFill>
                <a:latin typeface="Segoe UI" pitchFamily="34" charset="0"/>
                <a:ea typeface="Segoe UI" pitchFamily="34" charset="-122"/>
                <a:cs typeface="Segoe UI" pitchFamily="34" charset="-120"/>
              </a:rPr>
              <a:t>Σύγχρονα Λειτουργικά Συστήματα</a:t>
            </a:r>
            <a:endParaRPr lang="en-US" sz="950" dirty="0"/>
          </a:p>
        </p:txBody>
      </p:sp>
      <p:sp>
        <p:nvSpPr>
          <p:cNvPr id="5" name="Text 2"/>
          <p:cNvSpPr txBox="1"/>
          <p:nvPr/>
        </p:nvSpPr>
        <p:spPr>
          <a:xfrm>
            <a:off x="8503920" y="6419088"/>
            <a:ext cx="3154680" cy="237744"/>
          </a:xfrm>
          <a:prstGeom prst="rect">
            <a:avLst/>
          </a:prstGeom>
          <a:noFill/>
          <a:ln/>
        </p:spPr>
        <p:txBody>
          <a:bodyPr wrap="square" rtlCol="0" anchor="ctr"/>
          <a:lstStyle/>
          <a:p>
            <a:pPr algn="r" indent="0" marL="0">
              <a:buNone/>
            </a:pPr>
            <a:r>
              <a:rPr lang="en-US" sz="900" dirty="0">
                <a:solidFill>
                  <a:srgbClr val="8A91A3"/>
                </a:solidFill>
                <a:latin typeface="Consolas" pitchFamily="34" charset="0"/>
                <a:ea typeface="Consolas" pitchFamily="34" charset="-122"/>
                <a:cs typeface="Consolas" pitchFamily="34" charset="-120"/>
              </a:rPr>
              <a:t>Λαμπρόπουλος Χρήστος</a:t>
            </a:r>
            <a:endParaRPr lang="en-US" sz="900" dirty="0"/>
          </a:p>
        </p:txBody>
      </p:sp>
      <p:sp>
        <p:nvSpPr>
          <p:cNvPr id="6" name="Text 3"/>
          <p:cNvSpPr txBox="1"/>
          <p:nvPr/>
        </p:nvSpPr>
        <p:spPr>
          <a:xfrm>
            <a:off x="566928" y="384048"/>
            <a:ext cx="8412480" cy="237744"/>
          </a:xfrm>
          <a:prstGeom prst="rect">
            <a:avLst/>
          </a:prstGeom>
          <a:noFill/>
          <a:ln/>
        </p:spPr>
        <p:txBody>
          <a:bodyPr wrap="square" lIns="0" tIns="0" rIns="0" bIns="0" rtlCol="0" anchor="ctr"/>
          <a:lstStyle/>
          <a:p>
            <a:pPr indent="0" marL="0">
              <a:buNone/>
            </a:pPr>
            <a:r>
              <a:rPr lang="en-US" sz="1000" spc="140" kern="0" dirty="0">
                <a:solidFill>
                  <a:srgbClr val="2F4BD8"/>
                </a:solidFill>
                <a:latin typeface="Consolas" pitchFamily="34" charset="0"/>
                <a:ea typeface="Consolas" pitchFamily="34" charset="-122"/>
                <a:cs typeface="Consolas" pitchFamily="34" charset="-120"/>
              </a:rPr>
              <a:t>14  </a:t>
            </a:r>
            <a:pPr indent="0" marL="0">
              <a:buNone/>
            </a:pPr>
            <a:r>
              <a:rPr lang="en-US" sz="1000" spc="140" kern="0" dirty="0">
                <a:solidFill>
                  <a:srgbClr val="8A91A3"/>
                </a:solidFill>
                <a:latin typeface="Consolas" pitchFamily="34" charset="0"/>
                <a:ea typeface="Consolas" pitchFamily="34" charset="-122"/>
                <a:cs typeface="Consolas" pitchFamily="34" charset="-120"/>
              </a:rPr>
              <a:t>ΑΠΟΣΤΟΛΗ 5 · ΣΤΟ PC</a:t>
            </a:r>
            <a:endParaRPr lang="en-US" sz="1000" dirty="0"/>
          </a:p>
        </p:txBody>
      </p:sp>
      <p:sp>
        <p:nvSpPr>
          <p:cNvPr id="7" name="Text 4"/>
          <p:cNvSpPr txBox="1"/>
          <p:nvPr/>
        </p:nvSpPr>
        <p:spPr>
          <a:xfrm>
            <a:off x="530352" y="658368"/>
            <a:ext cx="8595360" cy="566928"/>
          </a:xfrm>
          <a:prstGeom prst="rect">
            <a:avLst/>
          </a:prstGeom>
          <a:noFill/>
          <a:ln/>
        </p:spPr>
        <p:txBody>
          <a:bodyPr wrap="square" lIns="0" tIns="0" rIns="0" bIns="0" rtlCol="0" anchor="t"/>
          <a:lstStyle/>
          <a:p>
            <a:pPr indent="0" marL="0">
              <a:buNone/>
            </a:pPr>
            <a:r>
              <a:rPr lang="en-US" sz="3000" b="1" dirty="0">
                <a:solidFill>
                  <a:srgbClr val="171B26"/>
                </a:solidFill>
                <a:latin typeface="Segoe UI" pitchFamily="34" charset="0"/>
                <a:ea typeface="Segoe UI" pitchFamily="34" charset="-122"/>
                <a:cs typeface="Segoe UI" pitchFamily="34" charset="-120"/>
              </a:rPr>
              <a:t>Εμπορικό ή ελεύθερο;</a:t>
            </a:r>
            <a:endParaRPr lang="en-US" sz="3000" dirty="0"/>
          </a:p>
        </p:txBody>
      </p:sp>
      <p:sp>
        <p:nvSpPr>
          <p:cNvPr id="8" name="Text 5"/>
          <p:cNvSpPr txBox="1"/>
          <p:nvPr/>
        </p:nvSpPr>
        <p:spPr>
          <a:xfrm>
            <a:off x="8138160" y="749808"/>
            <a:ext cx="2743200" cy="274320"/>
          </a:xfrm>
          <a:prstGeom prst="rect">
            <a:avLst/>
          </a:prstGeom>
          <a:noFill/>
          <a:ln/>
        </p:spPr>
        <p:txBody>
          <a:bodyPr wrap="square" rtlCol="0" anchor="ctr"/>
          <a:lstStyle/>
          <a:p>
            <a:pPr algn="r" indent="0" marL="0">
              <a:buNone/>
            </a:pPr>
            <a:r>
              <a:rPr lang="en-US" sz="1100" b="1" spc="100" kern="0" dirty="0">
                <a:solidFill>
                  <a:srgbClr val="1B6B52"/>
                </a:solidFill>
                <a:latin typeface="Consolas" pitchFamily="34" charset="0"/>
                <a:ea typeface="Consolas" pitchFamily="34" charset="-122"/>
                <a:cs typeface="Consolas" pitchFamily="34" charset="-120"/>
              </a:rPr>
              <a:t>▶ 15΄ ΣΤΟ PC</a:t>
            </a:r>
            <a:endParaRPr lang="en-US" sz="1100" dirty="0"/>
          </a:p>
        </p:txBody>
      </p:sp>
      <p:sp>
        <p:nvSpPr>
          <p:cNvPr id="9" name="Shape 6"/>
          <p:cNvSpPr/>
          <p:nvPr/>
        </p:nvSpPr>
        <p:spPr>
          <a:xfrm>
            <a:off x="566928" y="1463040"/>
            <a:ext cx="3502152" cy="1737360"/>
          </a:xfrm>
          <a:prstGeom prst="roundRect">
            <a:avLst>
              <a:gd name="adj" fmla="val 3158"/>
            </a:avLst>
          </a:prstGeom>
          <a:solidFill>
            <a:srgbClr val="FBFCFE"/>
          </a:solidFill>
          <a:ln w="9525">
            <a:solidFill>
              <a:srgbClr val="D3D9E4"/>
            </a:solidFill>
            <a:prstDash val="solid"/>
          </a:ln>
        </p:spPr>
        <p:txBody>
          <a:bodyPr/>
          <a:p/>
        </p:txBody>
      </p:sp>
      <p:sp>
        <p:nvSpPr>
          <p:cNvPr id="10" name="Text 7"/>
          <p:cNvSpPr txBox="1"/>
          <p:nvPr/>
        </p:nvSpPr>
        <p:spPr>
          <a:xfrm>
            <a:off x="731520" y="1591056"/>
            <a:ext cx="3172968" cy="258826"/>
          </a:xfrm>
          <a:prstGeom prst="rect">
            <a:avLst/>
          </a:prstGeom>
          <a:noFill/>
          <a:ln/>
        </p:spPr>
        <p:txBody>
          <a:bodyPr wrap="square" lIns="0" tIns="0" rIns="0" bIns="0" rtlCol="0" anchor="t"/>
          <a:lstStyle/>
          <a:p>
            <a:pPr indent="0" marL="0">
              <a:buNone/>
            </a:pPr>
            <a:r>
              <a:rPr lang="en-US" sz="1400" b="1" dirty="0">
                <a:solidFill>
                  <a:srgbClr val="171B26"/>
                </a:solidFill>
                <a:latin typeface="Segoe UI" pitchFamily="34" charset="0"/>
                <a:ea typeface="Segoe UI" pitchFamily="34" charset="-122"/>
                <a:cs typeface="Segoe UI" pitchFamily="34" charset="-120"/>
              </a:rPr>
              <a:t>Εμπορικό (με άδεια)</a:t>
            </a:r>
            <a:endParaRPr lang="en-US" sz="1400" dirty="0"/>
          </a:p>
        </p:txBody>
      </p:sp>
      <p:sp>
        <p:nvSpPr>
          <p:cNvPr id="11" name="Text 8"/>
          <p:cNvSpPr txBox="1"/>
          <p:nvPr/>
        </p:nvSpPr>
        <p:spPr>
          <a:xfrm>
            <a:off x="731520" y="1941322"/>
            <a:ext cx="3172968" cy="1167638"/>
          </a:xfrm>
          <a:prstGeom prst="rect">
            <a:avLst/>
          </a:prstGeom>
          <a:noFill/>
          <a:ln/>
        </p:spPr>
        <p:txBody>
          <a:bodyPr wrap="square" lIns="0" tIns="0" rIns="0" bIns="0" rtlCol="0" anchor="t"/>
          <a:lstStyle/>
          <a:p>
            <a:pPr indent="0" marL="0">
              <a:lnSpc>
                <a:spcPct val="112000"/>
              </a:lnSpc>
              <a:buNone/>
            </a:pPr>
            <a:r>
              <a:rPr lang="en-US" sz="1200" dirty="0">
                <a:solidFill>
                  <a:srgbClr val="4A5265"/>
                </a:solidFill>
                <a:latin typeface="Segoe UI" pitchFamily="34" charset="0"/>
                <a:ea typeface="Segoe UI" pitchFamily="34" charset="-122"/>
                <a:cs typeface="Segoe UI" pitchFamily="34" charset="-120"/>
              </a:rPr>
              <a:t>Πληρώνεις άδεια, ο κώδικας είναι κλειστός. Π.χ. Windows, macOS, Office.</a:t>
            </a:r>
            <a:endParaRPr lang="en-US" sz="1200" dirty="0"/>
          </a:p>
        </p:txBody>
      </p:sp>
      <p:sp>
        <p:nvSpPr>
          <p:cNvPr id="12" name="Shape 9"/>
          <p:cNvSpPr/>
          <p:nvPr/>
        </p:nvSpPr>
        <p:spPr>
          <a:xfrm>
            <a:off x="4251960" y="1463040"/>
            <a:ext cx="3502152" cy="1737360"/>
          </a:xfrm>
          <a:prstGeom prst="roundRect">
            <a:avLst>
              <a:gd name="adj" fmla="val 3158"/>
            </a:avLst>
          </a:prstGeom>
          <a:solidFill>
            <a:srgbClr val="E4E8FB"/>
          </a:solidFill>
          <a:ln w="12700">
            <a:solidFill>
              <a:srgbClr val="E4E8FB"/>
            </a:solidFill>
            <a:prstDash val="solid"/>
          </a:ln>
        </p:spPr>
        <p:txBody>
          <a:bodyPr/>
          <a:p/>
        </p:txBody>
      </p:sp>
      <p:sp>
        <p:nvSpPr>
          <p:cNvPr id="13" name="Text 10"/>
          <p:cNvSpPr txBox="1"/>
          <p:nvPr/>
        </p:nvSpPr>
        <p:spPr>
          <a:xfrm>
            <a:off x="4416552" y="1591056"/>
            <a:ext cx="3172968" cy="258826"/>
          </a:xfrm>
          <a:prstGeom prst="rect">
            <a:avLst/>
          </a:prstGeom>
          <a:noFill/>
          <a:ln/>
        </p:spPr>
        <p:txBody>
          <a:bodyPr wrap="square" lIns="0" tIns="0" rIns="0" bIns="0" rtlCol="0" anchor="t"/>
          <a:lstStyle/>
          <a:p>
            <a:pPr indent="0" marL="0">
              <a:buNone/>
            </a:pPr>
            <a:r>
              <a:rPr lang="en-US" sz="1400" b="1" dirty="0">
                <a:solidFill>
                  <a:srgbClr val="171B26"/>
                </a:solidFill>
                <a:latin typeface="Segoe UI" pitchFamily="34" charset="0"/>
                <a:ea typeface="Segoe UI" pitchFamily="34" charset="-122"/>
                <a:cs typeface="Segoe UI" pitchFamily="34" charset="-120"/>
              </a:rPr>
              <a:t>ΕΛ/ΛΑΚ</a:t>
            </a:r>
            <a:endParaRPr lang="en-US" sz="1400" dirty="0"/>
          </a:p>
        </p:txBody>
      </p:sp>
      <p:sp>
        <p:nvSpPr>
          <p:cNvPr id="14" name="Text 11"/>
          <p:cNvSpPr txBox="1"/>
          <p:nvPr/>
        </p:nvSpPr>
        <p:spPr>
          <a:xfrm>
            <a:off x="4416552" y="1941322"/>
            <a:ext cx="3172968" cy="1167638"/>
          </a:xfrm>
          <a:prstGeom prst="rect">
            <a:avLst/>
          </a:prstGeom>
          <a:noFill/>
          <a:ln/>
        </p:spPr>
        <p:txBody>
          <a:bodyPr wrap="square" lIns="0" tIns="0" rIns="0" bIns="0" rtlCol="0" anchor="t"/>
          <a:lstStyle/>
          <a:p>
            <a:pPr indent="0" marL="0">
              <a:lnSpc>
                <a:spcPct val="112000"/>
              </a:lnSpc>
              <a:buNone/>
            </a:pPr>
            <a:r>
              <a:rPr lang="en-US" sz="1150" dirty="0">
                <a:solidFill>
                  <a:srgbClr val="4A5265"/>
                </a:solidFill>
                <a:latin typeface="Segoe UI" pitchFamily="34" charset="0"/>
                <a:ea typeface="Segoe UI" pitchFamily="34" charset="-122"/>
                <a:cs typeface="Segoe UI" pitchFamily="34" charset="-120"/>
              </a:rPr>
              <a:t>Ελεύθερο λογισμικό / λογισμικό ανοιχτού κώδικα: τον κώδικα τον βλέπεις, τον αλλάζεις, τον μοιράζεσαι. Π.χ. Linux, Firefox, 7-Zip.</a:t>
            </a:r>
            <a:endParaRPr lang="en-US" sz="1150" dirty="0"/>
          </a:p>
        </p:txBody>
      </p:sp>
      <p:sp>
        <p:nvSpPr>
          <p:cNvPr id="15" name="Shape 12"/>
          <p:cNvSpPr/>
          <p:nvPr/>
        </p:nvSpPr>
        <p:spPr>
          <a:xfrm>
            <a:off x="566928" y="3680460"/>
            <a:ext cx="457200" cy="457200"/>
          </a:xfrm>
          <a:prstGeom prst="ellipse">
            <a:avLst/>
          </a:prstGeom>
          <a:solidFill>
            <a:srgbClr val="2F4BD8"/>
          </a:solidFill>
          <a:ln w="12700">
            <a:solidFill>
              <a:srgbClr val="2F4BD8"/>
            </a:solidFill>
            <a:prstDash val="solid"/>
          </a:ln>
        </p:spPr>
        <p:txBody>
          <a:bodyPr/>
          <a:p/>
        </p:txBody>
      </p:sp>
      <p:sp>
        <p:nvSpPr>
          <p:cNvPr id="16" name="Text 13"/>
          <p:cNvSpPr txBox="1"/>
          <p:nvPr/>
        </p:nvSpPr>
        <p:spPr>
          <a:xfrm>
            <a:off x="566928" y="36804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pitchFamily="34" charset="0"/>
                <a:ea typeface="Segoe UI" pitchFamily="34" charset="-122"/>
                <a:cs typeface="Segoe UI" pitchFamily="34" charset="-120"/>
              </a:rPr>
              <a:t>1</a:t>
            </a:r>
            <a:endParaRPr lang="en-US" sz="1500" dirty="0"/>
          </a:p>
        </p:txBody>
      </p:sp>
      <p:sp>
        <p:nvSpPr>
          <p:cNvPr id="17" name="Shape 14"/>
          <p:cNvSpPr/>
          <p:nvPr/>
        </p:nvSpPr>
        <p:spPr>
          <a:xfrm>
            <a:off x="1207008" y="3429000"/>
            <a:ext cx="10241280" cy="960120"/>
          </a:xfrm>
          <a:prstGeom prst="roundRect">
            <a:avLst>
              <a:gd name="adj" fmla="val 5714"/>
            </a:avLst>
          </a:prstGeom>
          <a:solidFill>
            <a:srgbClr val="FBFCFE"/>
          </a:solidFill>
          <a:ln w="9525">
            <a:solidFill>
              <a:srgbClr val="D3D9E4"/>
            </a:solidFill>
            <a:prstDash val="solid"/>
          </a:ln>
        </p:spPr>
        <p:txBody>
          <a:bodyPr/>
          <a:p/>
        </p:txBody>
      </p:sp>
      <p:sp>
        <p:nvSpPr>
          <p:cNvPr id="18" name="Text 15"/>
          <p:cNvSpPr txBox="1"/>
          <p:nvPr/>
        </p:nvSpPr>
        <p:spPr>
          <a:xfrm>
            <a:off x="1389888" y="3502152"/>
            <a:ext cx="3657600" cy="310896"/>
          </a:xfrm>
          <a:prstGeom prst="rect">
            <a:avLst/>
          </a:prstGeom>
          <a:noFill/>
          <a:ln/>
        </p:spPr>
        <p:txBody>
          <a:bodyPr wrap="square" lIns="0" tIns="0" rIns="0" bIns="0" rtlCol="0" anchor="ctr"/>
          <a:lstStyle/>
          <a:p>
            <a:pPr indent="0" marL="0">
              <a:buNone/>
            </a:pPr>
            <a:r>
              <a:rPr lang="en-US" sz="1350" b="1" dirty="0">
                <a:solidFill>
                  <a:srgbClr val="171B26"/>
                </a:solidFill>
                <a:latin typeface="Segoe UI" pitchFamily="34" charset="0"/>
                <a:ea typeface="Segoe UI" pitchFamily="34" charset="-122"/>
                <a:cs typeface="Segoe UI" pitchFamily="34" charset="-120"/>
              </a:rPr>
              <a:t>Η άδεια των Windows</a:t>
            </a:r>
            <a:endParaRPr lang="en-US" sz="1350" dirty="0"/>
          </a:p>
        </p:txBody>
      </p:sp>
      <p:sp>
        <p:nvSpPr>
          <p:cNvPr id="19" name="Text 16"/>
          <p:cNvSpPr txBox="1"/>
          <p:nvPr/>
        </p:nvSpPr>
        <p:spPr>
          <a:xfrm>
            <a:off x="1389888" y="4005072"/>
            <a:ext cx="3840480" cy="292608"/>
          </a:xfrm>
          <a:prstGeom prst="rect">
            <a:avLst/>
          </a:prstGeom>
          <a:noFill/>
          <a:ln/>
        </p:spPr>
        <p:txBody>
          <a:bodyPr wrap="square" lIns="0" tIns="0" rIns="0" bIns="0" rtlCol="0" anchor="ctr"/>
          <a:lstStyle/>
          <a:p>
            <a:pPr indent="0" marL="0">
              <a:buNone/>
            </a:pPr>
            <a:r>
              <a:rPr lang="en-US" sz="1050" dirty="0">
                <a:solidFill>
                  <a:srgbClr val="2F4BD8"/>
                </a:solidFill>
                <a:latin typeface="Consolas" pitchFamily="34" charset="0"/>
                <a:ea typeface="Consolas" pitchFamily="34" charset="-122"/>
                <a:cs typeface="Consolas" pitchFamily="34" charset="-120"/>
              </a:rPr>
              <a:t>Ρυθμίσεις → Σύστημα → Ενεργοποίηση</a:t>
            </a:r>
            <a:endParaRPr lang="en-US" sz="1050" dirty="0"/>
          </a:p>
        </p:txBody>
      </p:sp>
      <p:sp>
        <p:nvSpPr>
          <p:cNvPr id="20" name="Text 17"/>
          <p:cNvSpPr txBox="1"/>
          <p:nvPr/>
        </p:nvSpPr>
        <p:spPr>
          <a:xfrm>
            <a:off x="5394960" y="3429000"/>
            <a:ext cx="5897880" cy="960120"/>
          </a:xfrm>
          <a:prstGeom prst="rect">
            <a:avLst/>
          </a:prstGeom>
          <a:noFill/>
          <a:ln/>
        </p:spPr>
        <p:txBody>
          <a:bodyPr wrap="square" lIns="0" tIns="0" rIns="0" bIns="0" rtlCol="0" anchor="ctr"/>
          <a:lstStyle/>
          <a:p>
            <a:pPr indent="0" marL="0">
              <a:buNone/>
            </a:pPr>
            <a:r>
              <a:rPr lang="en-US" sz="1200" dirty="0">
                <a:solidFill>
                  <a:srgbClr val="4A5265"/>
                </a:solidFill>
                <a:latin typeface="Segoe UI" pitchFamily="34" charset="0"/>
                <a:ea typeface="Segoe UI" pitchFamily="34" charset="-122"/>
                <a:cs typeface="Segoe UI" pitchFamily="34" charset="-120"/>
              </a:rPr>
              <a:t>Είναι ενεργοποιημένα; Τι έκδοση (Home / Pro / Education);</a:t>
            </a:r>
            <a:endParaRPr lang="en-US" sz="1200" dirty="0"/>
          </a:p>
        </p:txBody>
      </p:sp>
      <p:sp>
        <p:nvSpPr>
          <p:cNvPr id="21" name="Shape 18"/>
          <p:cNvSpPr/>
          <p:nvPr/>
        </p:nvSpPr>
        <p:spPr>
          <a:xfrm>
            <a:off x="566928" y="4777740"/>
            <a:ext cx="457200" cy="457200"/>
          </a:xfrm>
          <a:prstGeom prst="ellipse">
            <a:avLst/>
          </a:prstGeom>
          <a:solidFill>
            <a:srgbClr val="2F4BD8"/>
          </a:solidFill>
          <a:ln w="12700">
            <a:solidFill>
              <a:srgbClr val="2F4BD8"/>
            </a:solidFill>
            <a:prstDash val="solid"/>
          </a:ln>
        </p:spPr>
        <p:txBody>
          <a:bodyPr/>
          <a:p/>
        </p:txBody>
      </p:sp>
      <p:sp>
        <p:nvSpPr>
          <p:cNvPr id="22" name="Text 19"/>
          <p:cNvSpPr txBox="1"/>
          <p:nvPr/>
        </p:nvSpPr>
        <p:spPr>
          <a:xfrm>
            <a:off x="566928" y="47777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pitchFamily="34" charset="0"/>
                <a:ea typeface="Segoe UI" pitchFamily="34" charset="-122"/>
                <a:cs typeface="Segoe UI" pitchFamily="34" charset="-120"/>
              </a:rPr>
              <a:t>2</a:t>
            </a:r>
            <a:endParaRPr lang="en-US" sz="1500" dirty="0"/>
          </a:p>
        </p:txBody>
      </p:sp>
      <p:sp>
        <p:nvSpPr>
          <p:cNvPr id="23" name="Shape 20"/>
          <p:cNvSpPr/>
          <p:nvPr/>
        </p:nvSpPr>
        <p:spPr>
          <a:xfrm>
            <a:off x="1207008" y="4526280"/>
            <a:ext cx="10241280" cy="960120"/>
          </a:xfrm>
          <a:prstGeom prst="roundRect">
            <a:avLst>
              <a:gd name="adj" fmla="val 5714"/>
            </a:avLst>
          </a:prstGeom>
          <a:solidFill>
            <a:srgbClr val="E4E8FB"/>
          </a:solidFill>
          <a:ln w="12700">
            <a:solidFill>
              <a:srgbClr val="E4E8FB"/>
            </a:solidFill>
            <a:prstDash val="solid"/>
          </a:ln>
        </p:spPr>
        <p:txBody>
          <a:bodyPr/>
          <a:p/>
        </p:txBody>
      </p:sp>
      <p:sp>
        <p:nvSpPr>
          <p:cNvPr id="24" name="Text 21"/>
          <p:cNvSpPr txBox="1"/>
          <p:nvPr/>
        </p:nvSpPr>
        <p:spPr>
          <a:xfrm>
            <a:off x="1389888" y="4599432"/>
            <a:ext cx="3657600" cy="310896"/>
          </a:xfrm>
          <a:prstGeom prst="rect">
            <a:avLst/>
          </a:prstGeom>
          <a:noFill/>
          <a:ln/>
        </p:spPr>
        <p:txBody>
          <a:bodyPr wrap="square" lIns="0" tIns="0" rIns="0" bIns="0" rtlCol="0" anchor="ctr"/>
          <a:lstStyle/>
          <a:p>
            <a:pPr indent="0" marL="0">
              <a:buNone/>
            </a:pPr>
            <a:r>
              <a:rPr lang="en-US" sz="1350" b="1" dirty="0">
                <a:solidFill>
                  <a:srgbClr val="171B26"/>
                </a:solidFill>
                <a:latin typeface="Segoe UI" pitchFamily="34" charset="0"/>
                <a:ea typeface="Segoe UI" pitchFamily="34" charset="-122"/>
                <a:cs typeface="Segoe UI" pitchFamily="34" charset="-120"/>
              </a:rPr>
              <a:t>Τα προγράμματά σου</a:t>
            </a:r>
            <a:endParaRPr lang="en-US" sz="1350" dirty="0"/>
          </a:p>
        </p:txBody>
      </p:sp>
      <p:sp>
        <p:nvSpPr>
          <p:cNvPr id="25" name="Text 22"/>
          <p:cNvSpPr txBox="1"/>
          <p:nvPr/>
        </p:nvSpPr>
        <p:spPr>
          <a:xfrm>
            <a:off x="1389888" y="5102352"/>
            <a:ext cx="3840480" cy="292608"/>
          </a:xfrm>
          <a:prstGeom prst="rect">
            <a:avLst/>
          </a:prstGeom>
          <a:noFill/>
          <a:ln/>
        </p:spPr>
        <p:txBody>
          <a:bodyPr wrap="square" lIns="0" tIns="0" rIns="0" bIns="0" rtlCol="0" anchor="ctr"/>
          <a:lstStyle/>
          <a:p>
            <a:pPr indent="0" marL="0">
              <a:buNone/>
            </a:pPr>
            <a:r>
              <a:rPr lang="en-US" sz="1050" dirty="0">
                <a:solidFill>
                  <a:srgbClr val="2F4BD8"/>
                </a:solidFill>
                <a:latin typeface="Consolas" pitchFamily="34" charset="0"/>
                <a:ea typeface="Consolas" pitchFamily="34" charset="-122"/>
                <a:cs typeface="Consolas" pitchFamily="34" charset="-120"/>
              </a:rPr>
              <a:t>Ρυθμίσεις → Εφαρμογές → Εγκατεστημένες εφαρμογές</a:t>
            </a:r>
            <a:endParaRPr lang="en-US" sz="1050" dirty="0"/>
          </a:p>
        </p:txBody>
      </p:sp>
      <p:sp>
        <p:nvSpPr>
          <p:cNvPr id="26" name="Text 23"/>
          <p:cNvSpPr txBox="1"/>
          <p:nvPr/>
        </p:nvSpPr>
        <p:spPr>
          <a:xfrm>
            <a:off x="5394960" y="4526280"/>
            <a:ext cx="5897880" cy="960120"/>
          </a:xfrm>
          <a:prstGeom prst="rect">
            <a:avLst/>
          </a:prstGeom>
          <a:noFill/>
          <a:ln/>
        </p:spPr>
        <p:txBody>
          <a:bodyPr wrap="square" lIns="0" tIns="0" rIns="0" bIns="0" rtlCol="0" anchor="ctr"/>
          <a:lstStyle/>
          <a:p>
            <a:pPr indent="0" marL="0">
              <a:buNone/>
            </a:pPr>
            <a:r>
              <a:rPr lang="en-US" sz="1200" dirty="0">
                <a:solidFill>
                  <a:srgbClr val="4A5265"/>
                </a:solidFill>
                <a:latin typeface="Segoe UI" pitchFamily="34" charset="0"/>
                <a:ea typeface="Segoe UI" pitchFamily="34" charset="-122"/>
                <a:cs typeface="Segoe UI" pitchFamily="34" charset="-120"/>
              </a:rPr>
              <a:t>Διάλεξε 5 προγράμματα. Για καθένα ψάξε στο διαδίκτυο: εμπορικό ή ΕΛ/ΛΑΚ;</a:t>
            </a:r>
            <a:endParaRPr lang="en-US" sz="1200" dirty="0"/>
          </a:p>
        </p:txBody>
      </p:sp>
      <p:sp>
        <p:nvSpPr>
          <p:cNvPr id="27" name="Shape 24"/>
          <p:cNvSpPr/>
          <p:nvPr/>
        </p:nvSpPr>
        <p:spPr>
          <a:xfrm>
            <a:off x="7946136" y="1463040"/>
            <a:ext cx="3502152" cy="1737360"/>
          </a:xfrm>
          <a:prstGeom prst="roundRect">
            <a:avLst>
              <a:gd name="adj" fmla="val 3158"/>
            </a:avLst>
          </a:prstGeom>
          <a:solidFill>
            <a:srgbClr val="F6EDD6"/>
          </a:solidFill>
          <a:ln w="12700">
            <a:solidFill>
              <a:srgbClr val="F6EDD6"/>
            </a:solidFill>
            <a:prstDash val="solid"/>
          </a:ln>
        </p:spPr>
        <p:txBody>
          <a:bodyPr/>
          <a:p/>
        </p:txBody>
      </p:sp>
      <p:sp>
        <p:nvSpPr>
          <p:cNvPr id="28" name="Text 25"/>
          <p:cNvSpPr txBox="1"/>
          <p:nvPr/>
        </p:nvSpPr>
        <p:spPr>
          <a:xfrm>
            <a:off x="8110728" y="1591056"/>
            <a:ext cx="3172968" cy="258826"/>
          </a:xfrm>
          <a:prstGeom prst="rect">
            <a:avLst/>
          </a:prstGeom>
          <a:noFill/>
          <a:ln/>
        </p:spPr>
        <p:txBody>
          <a:bodyPr wrap="square" lIns="0" tIns="0" rIns="0" bIns="0" rtlCol="0" anchor="t"/>
          <a:lstStyle/>
          <a:p>
            <a:pPr indent="0" marL="0">
              <a:buNone/>
            </a:pPr>
            <a:r>
              <a:rPr lang="en-US" sz="1400" b="1" dirty="0">
                <a:solidFill>
                  <a:srgbClr val="171B26"/>
                </a:solidFill>
                <a:latin typeface="Segoe UI" pitchFamily="34" charset="0"/>
                <a:ea typeface="Segoe UI" pitchFamily="34" charset="-122"/>
                <a:cs typeface="Segoe UI" pitchFamily="34" charset="-120"/>
              </a:rPr>
              <a:t>Παραδοτέο</a:t>
            </a:r>
            <a:endParaRPr lang="en-US" sz="1400" dirty="0"/>
          </a:p>
        </p:txBody>
      </p:sp>
      <p:sp>
        <p:nvSpPr>
          <p:cNvPr id="29" name="Text 26"/>
          <p:cNvSpPr txBox="1"/>
          <p:nvPr/>
        </p:nvSpPr>
        <p:spPr>
          <a:xfrm>
            <a:off x="8110728" y="1941322"/>
            <a:ext cx="3172968" cy="1167638"/>
          </a:xfrm>
          <a:prstGeom prst="rect">
            <a:avLst/>
          </a:prstGeom>
          <a:noFill/>
          <a:ln/>
        </p:spPr>
        <p:txBody>
          <a:bodyPr wrap="square" lIns="0" tIns="0" rIns="0" bIns="0" rtlCol="0" anchor="t"/>
          <a:lstStyle/>
          <a:p>
            <a:pPr indent="0" marL="0">
              <a:lnSpc>
                <a:spcPct val="112000"/>
              </a:lnSpc>
              <a:buNone/>
            </a:pPr>
            <a:r>
              <a:rPr lang="en-US" sz="1200" dirty="0">
                <a:solidFill>
                  <a:srgbClr val="4A5265"/>
                </a:solidFill>
                <a:latin typeface="Segoe UI" pitchFamily="34" charset="0"/>
                <a:ea typeface="Segoe UI" pitchFamily="34" charset="-122"/>
                <a:cs typeface="Segoe UI" pitchFamily="34" charset="-120"/>
              </a:rPr>
              <a:t>Πίνακας </a:t>
            </a:r>
            <a:pPr indent="0" marL="0">
              <a:lnSpc>
                <a:spcPct val="112000"/>
              </a:lnSpc>
              <a:buNone/>
            </a:pPr>
            <a:r>
              <a:rPr lang="en-US" sz="1200" b="1" dirty="0">
                <a:solidFill>
                  <a:srgbClr val="4A5265"/>
                </a:solidFill>
                <a:latin typeface="Segoe UI" pitchFamily="34" charset="0"/>
                <a:ea typeface="Segoe UI" pitchFamily="34" charset="-122"/>
                <a:cs typeface="Segoe UI" pitchFamily="34" charset="-120"/>
              </a:rPr>
              <a:t>Adeies.docx</a:t>
            </a:r>
            <a:pPr indent="0" marL="0">
              <a:lnSpc>
                <a:spcPct val="112000"/>
              </a:lnSpc>
              <a:buNone/>
            </a:pPr>
            <a:r>
              <a:rPr lang="en-US" sz="1200" dirty="0">
                <a:solidFill>
                  <a:srgbClr val="4A5265"/>
                </a:solidFill>
                <a:latin typeface="Segoe UI" pitchFamily="34" charset="0"/>
                <a:ea typeface="Segoe UI" pitchFamily="34" charset="-122"/>
                <a:cs typeface="Segoe UI" pitchFamily="34" charset="-120"/>
              </a:rPr>
              <a:t>: Πρόγραμμα · Εταιρεία/κοινότητα · Εμπορικό ή ΕΛ/ΛΑΚ · Πηγή.</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CFE"/>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F4BD8"/>
          </a:solidFill>
          <a:ln w="12700">
            <a:solidFill>
              <a:srgbClr val="2F4BD8"/>
            </a:solidFill>
            <a:prstDash val="solid"/>
          </a:ln>
        </p:spPr>
        <p:txBody>
          <a:bodyPr/>
          <a:p/>
        </p:txBody>
      </p:sp>
      <p:pic>
        <p:nvPicPr>
          <p:cNvPr id="3" name="Image 0" descr="/tmp/claude-0/-home-claude/8f07f1d1-9bfe-540b-b195-992cdc902b9e/scratchpad/prak/logo_os.png">    </p:cNvPr>
          <p:cNvPicPr>
            <a:picLocks noChangeAspect="1"/>
          </p:cNvPicPr>
          <p:nvPr/>
        </p:nvPicPr>
        <p:blipFill>
          <a:blip r:embed="rId1"/>
          <a:stretch>
            <a:fillRect/>
          </a:stretch>
        </p:blipFill>
        <p:spPr>
          <a:xfrm>
            <a:off x="9189720" y="274320"/>
            <a:ext cx="310896" cy="310896"/>
          </a:xfrm>
          <a:prstGeom prst="rect">
            <a:avLst/>
          </a:prstGeom>
        </p:spPr>
      </p:pic>
      <p:sp>
        <p:nvSpPr>
          <p:cNvPr id="4" name="Text 1"/>
          <p:cNvSpPr txBox="1"/>
          <p:nvPr/>
        </p:nvSpPr>
        <p:spPr>
          <a:xfrm>
            <a:off x="9573768" y="246888"/>
            <a:ext cx="2468880" cy="365760"/>
          </a:xfrm>
          <a:prstGeom prst="rect">
            <a:avLst/>
          </a:prstGeom>
          <a:noFill/>
          <a:ln/>
        </p:spPr>
        <p:txBody>
          <a:bodyPr wrap="square" lIns="0" tIns="0" rIns="0" bIns="0" rtlCol="0" anchor="ctr"/>
          <a:lstStyle/>
          <a:p>
            <a:pPr indent="0" marL="0">
              <a:buNone/>
            </a:pPr>
            <a:r>
              <a:rPr lang="en-US" sz="950" b="1" dirty="0">
                <a:solidFill>
                  <a:srgbClr val="4A5265"/>
                </a:solidFill>
                <a:latin typeface="Segoe UI" pitchFamily="34" charset="0"/>
                <a:ea typeface="Segoe UI" pitchFamily="34" charset="-122"/>
                <a:cs typeface="Segoe UI" pitchFamily="34" charset="-120"/>
              </a:rPr>
              <a:t>ΣΑΕΚ Μαρκοπούλου</a:t>
            </a:r>
            <a:endParaRPr lang="en-US" sz="950" dirty="0"/>
          </a:p>
          <a:p>
            <a:pPr indent="0" marL="0">
              <a:buNone/>
            </a:pPr>
            <a:r>
              <a:rPr lang="en-US" sz="950" b="1" dirty="0">
                <a:solidFill>
                  <a:srgbClr val="4A5265"/>
                </a:solidFill>
                <a:latin typeface="Segoe UI" pitchFamily="34" charset="0"/>
                <a:ea typeface="Segoe UI" pitchFamily="34" charset="-122"/>
                <a:cs typeface="Segoe UI" pitchFamily="34" charset="-120"/>
              </a:rPr>
              <a:t>Σύγχρονα Λειτουργικά Συστήματα</a:t>
            </a:r>
            <a:endParaRPr lang="en-US" sz="950" dirty="0"/>
          </a:p>
        </p:txBody>
      </p:sp>
      <p:sp>
        <p:nvSpPr>
          <p:cNvPr id="5" name="Text 2"/>
          <p:cNvSpPr txBox="1"/>
          <p:nvPr/>
        </p:nvSpPr>
        <p:spPr>
          <a:xfrm>
            <a:off x="8503920" y="6419088"/>
            <a:ext cx="3154680" cy="237744"/>
          </a:xfrm>
          <a:prstGeom prst="rect">
            <a:avLst/>
          </a:prstGeom>
          <a:noFill/>
          <a:ln/>
        </p:spPr>
        <p:txBody>
          <a:bodyPr wrap="square" rtlCol="0" anchor="ctr"/>
          <a:lstStyle/>
          <a:p>
            <a:pPr algn="r" indent="0" marL="0">
              <a:buNone/>
            </a:pPr>
            <a:r>
              <a:rPr lang="en-US" sz="900" dirty="0">
                <a:solidFill>
                  <a:srgbClr val="8A91A3"/>
                </a:solidFill>
                <a:latin typeface="Consolas" pitchFamily="34" charset="0"/>
                <a:ea typeface="Consolas" pitchFamily="34" charset="-122"/>
                <a:cs typeface="Consolas" pitchFamily="34" charset="-120"/>
              </a:rPr>
              <a:t>Λαμπρόπουλος Χρήστος</a:t>
            </a:r>
            <a:endParaRPr lang="en-US" sz="900" dirty="0"/>
          </a:p>
        </p:txBody>
      </p:sp>
      <p:sp>
        <p:nvSpPr>
          <p:cNvPr id="6" name="Text 3"/>
          <p:cNvSpPr txBox="1"/>
          <p:nvPr/>
        </p:nvSpPr>
        <p:spPr>
          <a:xfrm>
            <a:off x="566928" y="384048"/>
            <a:ext cx="8412480" cy="237744"/>
          </a:xfrm>
          <a:prstGeom prst="rect">
            <a:avLst/>
          </a:prstGeom>
          <a:noFill/>
          <a:ln/>
        </p:spPr>
        <p:txBody>
          <a:bodyPr wrap="square" lIns="0" tIns="0" rIns="0" bIns="0" rtlCol="0" anchor="ctr"/>
          <a:lstStyle/>
          <a:p>
            <a:pPr indent="0" marL="0">
              <a:buNone/>
            </a:pPr>
            <a:r>
              <a:rPr lang="en-US" sz="1000" spc="140" kern="0" dirty="0">
                <a:solidFill>
                  <a:srgbClr val="2F4BD8"/>
                </a:solidFill>
                <a:latin typeface="Consolas" pitchFamily="34" charset="0"/>
                <a:ea typeface="Consolas" pitchFamily="34" charset="-122"/>
                <a:cs typeface="Consolas" pitchFamily="34" charset="-120"/>
              </a:rPr>
              <a:t>15  </a:t>
            </a:r>
            <a:pPr indent="0" marL="0">
              <a:buNone/>
            </a:pPr>
            <a:r>
              <a:rPr lang="en-US" sz="1000" spc="140" kern="0" dirty="0">
                <a:solidFill>
                  <a:srgbClr val="8A91A3"/>
                </a:solidFill>
                <a:latin typeface="Consolas" pitchFamily="34" charset="0"/>
                <a:ea typeface="Consolas" pitchFamily="34" charset="-122"/>
                <a:cs typeface="Consolas" pitchFamily="34" charset="-120"/>
              </a:rPr>
              <a:t>ΑΠΟΣΤΟΛΗ 6 · ΣΤΟ PC</a:t>
            </a:r>
            <a:endParaRPr lang="en-US" sz="1000" dirty="0"/>
          </a:p>
        </p:txBody>
      </p:sp>
      <p:sp>
        <p:nvSpPr>
          <p:cNvPr id="7" name="Text 4"/>
          <p:cNvSpPr txBox="1"/>
          <p:nvPr/>
        </p:nvSpPr>
        <p:spPr>
          <a:xfrm>
            <a:off x="530352" y="658368"/>
            <a:ext cx="8595360" cy="566928"/>
          </a:xfrm>
          <a:prstGeom prst="rect">
            <a:avLst/>
          </a:prstGeom>
          <a:noFill/>
          <a:ln/>
        </p:spPr>
        <p:txBody>
          <a:bodyPr wrap="square" lIns="0" tIns="0" rIns="0" bIns="0" rtlCol="0" anchor="t"/>
          <a:lstStyle/>
          <a:p>
            <a:pPr indent="0" marL="0">
              <a:buNone/>
            </a:pPr>
            <a:r>
              <a:rPr lang="en-US" sz="3000" b="1" dirty="0">
                <a:solidFill>
                  <a:srgbClr val="171B26"/>
                </a:solidFill>
                <a:latin typeface="Segoe UI" pitchFamily="34" charset="0"/>
                <a:ea typeface="Segoe UI" pitchFamily="34" charset="-122"/>
                <a:cs typeface="Segoe UI" pitchFamily="34" charset="-120"/>
              </a:rPr>
              <a:t>Linux μέσα στον browser</a:t>
            </a:r>
            <a:endParaRPr lang="en-US" sz="3000" dirty="0"/>
          </a:p>
        </p:txBody>
      </p:sp>
      <p:sp>
        <p:nvSpPr>
          <p:cNvPr id="8" name="Text 5"/>
          <p:cNvSpPr txBox="1"/>
          <p:nvPr/>
        </p:nvSpPr>
        <p:spPr>
          <a:xfrm>
            <a:off x="8138160" y="749808"/>
            <a:ext cx="2743200" cy="274320"/>
          </a:xfrm>
          <a:prstGeom prst="rect">
            <a:avLst/>
          </a:prstGeom>
          <a:noFill/>
          <a:ln/>
        </p:spPr>
        <p:txBody>
          <a:bodyPr wrap="square" rtlCol="0" anchor="ctr"/>
          <a:lstStyle/>
          <a:p>
            <a:pPr algn="r" indent="0" marL="0">
              <a:buNone/>
            </a:pPr>
            <a:r>
              <a:rPr lang="en-US" sz="1100" b="1" spc="100" kern="0" dirty="0">
                <a:solidFill>
                  <a:srgbClr val="1B6B52"/>
                </a:solidFill>
                <a:latin typeface="Consolas" pitchFamily="34" charset="0"/>
                <a:ea typeface="Consolas" pitchFamily="34" charset="-122"/>
                <a:cs typeface="Consolas" pitchFamily="34" charset="-120"/>
              </a:rPr>
              <a:t>▶ 15΄ ΣΤΟ PC</a:t>
            </a:r>
            <a:endParaRPr lang="en-US" sz="1100" dirty="0"/>
          </a:p>
        </p:txBody>
      </p:sp>
      <p:sp>
        <p:nvSpPr>
          <p:cNvPr id="9" name="Shape 6"/>
          <p:cNvSpPr/>
          <p:nvPr/>
        </p:nvSpPr>
        <p:spPr>
          <a:xfrm>
            <a:off x="566928" y="1463040"/>
            <a:ext cx="10881360" cy="1051560"/>
          </a:xfrm>
          <a:prstGeom prst="rect">
            <a:avLst/>
          </a:prstGeom>
          <a:solidFill>
            <a:srgbClr val="E4E8FB"/>
          </a:solidFill>
          <a:ln w="12700">
            <a:solidFill>
              <a:srgbClr val="E4E8FB"/>
            </a:solidFill>
            <a:prstDash val="solid"/>
          </a:ln>
        </p:spPr>
        <p:txBody>
          <a:bodyPr/>
          <a:p/>
        </p:txBody>
      </p:sp>
      <p:sp>
        <p:nvSpPr>
          <p:cNvPr id="10" name="Shape 7"/>
          <p:cNvSpPr/>
          <p:nvPr/>
        </p:nvSpPr>
        <p:spPr>
          <a:xfrm>
            <a:off x="566928" y="1463040"/>
            <a:ext cx="41148" cy="1051560"/>
          </a:xfrm>
          <a:prstGeom prst="rect">
            <a:avLst/>
          </a:prstGeom>
          <a:solidFill>
            <a:srgbClr val="2F4BD8"/>
          </a:solidFill>
          <a:ln w="12700">
            <a:solidFill>
              <a:srgbClr val="2F4BD8"/>
            </a:solidFill>
            <a:prstDash val="solid"/>
          </a:ln>
        </p:spPr>
        <p:txBody>
          <a:bodyPr/>
          <a:p/>
        </p:txBody>
      </p:sp>
      <p:sp>
        <p:nvSpPr>
          <p:cNvPr id="11" name="Text 8"/>
          <p:cNvSpPr txBox="1"/>
          <p:nvPr/>
        </p:nvSpPr>
        <p:spPr>
          <a:xfrm>
            <a:off x="731520" y="1554480"/>
            <a:ext cx="4572000" cy="201168"/>
          </a:xfrm>
          <a:prstGeom prst="rect">
            <a:avLst/>
          </a:prstGeom>
          <a:noFill/>
          <a:ln/>
        </p:spPr>
        <p:txBody>
          <a:bodyPr wrap="square" lIns="0" tIns="0" rIns="0" bIns="0" rtlCol="0" anchor="ctr"/>
          <a:lstStyle/>
          <a:p>
            <a:pPr indent="0" marL="0">
              <a:buNone/>
            </a:pPr>
            <a:r>
              <a:rPr lang="en-US" sz="900" b="1" spc="120" kern="0" dirty="0">
                <a:solidFill>
                  <a:srgbClr val="2F4BD8"/>
                </a:solidFill>
                <a:latin typeface="Consolas" pitchFamily="34" charset="0"/>
                <a:ea typeface="Consolas" pitchFamily="34" charset="-122"/>
                <a:cs typeface="Consolas" pitchFamily="34" charset="-120"/>
              </a:rPr>
              <a:t>ΤΙ ΚΑΝΕΙΣ</a:t>
            </a:r>
            <a:endParaRPr lang="en-US" sz="900" dirty="0"/>
          </a:p>
        </p:txBody>
      </p:sp>
      <p:sp>
        <p:nvSpPr>
          <p:cNvPr id="12" name="Text 9"/>
          <p:cNvSpPr txBox="1"/>
          <p:nvPr/>
        </p:nvSpPr>
        <p:spPr>
          <a:xfrm>
            <a:off x="731520" y="1773936"/>
            <a:ext cx="10552176" cy="667512"/>
          </a:xfrm>
          <a:prstGeom prst="rect">
            <a:avLst/>
          </a:prstGeom>
          <a:noFill/>
          <a:ln/>
        </p:spPr>
        <p:txBody>
          <a:bodyPr wrap="square" lIns="0" tIns="0" rIns="0" bIns="0" rtlCol="0" anchor="t"/>
          <a:lstStyle/>
          <a:p>
            <a:pPr indent="0" marL="0">
              <a:lnSpc>
                <a:spcPct val="112000"/>
              </a:lnSpc>
              <a:buNone/>
            </a:pPr>
            <a:r>
              <a:rPr lang="en-US" sz="1200" dirty="0">
                <a:solidFill>
                  <a:srgbClr val="171B26"/>
                </a:solidFill>
                <a:latin typeface="Segoe UI" pitchFamily="34" charset="0"/>
                <a:ea typeface="Segoe UI" pitchFamily="34" charset="-122"/>
                <a:cs typeface="Segoe UI" pitchFamily="34" charset="-120"/>
              </a:rPr>
              <a:t>Άνοιξε στον browser το </a:t>
            </a:r>
            <a:pPr indent="0" marL="0">
              <a:lnSpc>
                <a:spcPct val="112000"/>
              </a:lnSpc>
              <a:buNone/>
            </a:pPr>
            <a:r>
              <a:rPr lang="en-US" sz="1200" b="1" dirty="0">
                <a:solidFill>
                  <a:srgbClr val="2F4BD8"/>
                </a:solidFill>
                <a:latin typeface="Consolas" pitchFamily="34" charset="0"/>
                <a:ea typeface="Consolas" pitchFamily="34" charset="-122"/>
                <a:cs typeface="Consolas" pitchFamily="34" charset="-120"/>
              </a:rPr>
              <a:t>bellard.org/jslinux</a:t>
            </a:r>
            <a:pPr indent="0" marL="0">
              <a:lnSpc>
                <a:spcPct val="112000"/>
              </a:lnSpc>
              <a:buNone/>
            </a:pPr>
            <a:r>
              <a:rPr lang="en-US" sz="1200" dirty="0">
                <a:solidFill>
                  <a:srgbClr val="171B26"/>
                </a:solidFill>
                <a:latin typeface="Segoe UI" pitchFamily="34" charset="0"/>
                <a:ea typeface="Segoe UI" pitchFamily="34" charset="-122"/>
                <a:cs typeface="Segoe UI" pitchFamily="34" charset="-120"/>
              </a:rPr>
              <a:t> και διάλεξε ένα Linux με κονσόλα. Τρέχει μέσα στον browser, χωρίς να αλλάξει τίποτα στον υπολογιστή. Δοκίμασε τις εντολές και σύγκρινε με τα Windows.</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2697480"/>
          <a:ext cx="10881360" cy="914400"/>
        </p:xfrm>
        <a:graphic>
          <a:graphicData uri="http://schemas.openxmlformats.org/drawingml/2006/table">
            <a:tbl>
              <a:tblPr/>
              <a:tblGrid>
                <a:gridCol w="3017520"/>
                <a:gridCol w="4206240"/>
                <a:gridCol w="3657600"/>
              </a:tblGrid>
              <a:tr h="457200">
                <a:tc>
                  <a:txBody>
                    <a:bodyPr/>
                    <a:lstStyle/>
                    <a:p>
                      <a:pPr indent="0" marL="0">
                        <a:buNone/>
                      </a:pPr>
                      <a:r>
                        <a:rPr lang="en-US" sz="900" b="1" dirty="0">
                          <a:solidFill>
                            <a:srgbClr val="8A91A3"/>
                          </a:solidFill>
                          <a:latin typeface="Consolas" pitchFamily="34" charset="0"/>
                          <a:ea typeface="Consolas" pitchFamily="34" charset="-122"/>
                          <a:cs typeface="Consolas" pitchFamily="34" charset="-120"/>
                        </a:rPr>
                        <a:t>ΕΝΤΟΛΗ LINUX</a:t>
                      </a:r>
                      <a:endParaRPr lang="en-US" sz="90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900" b="1" dirty="0">
                          <a:solidFill>
                            <a:srgbClr val="8A91A3"/>
                          </a:solidFill>
                          <a:latin typeface="Consolas" pitchFamily="34" charset="0"/>
                          <a:ea typeface="Consolas" pitchFamily="34" charset="-122"/>
                          <a:cs typeface="Consolas" pitchFamily="34" charset="-120"/>
                        </a:rPr>
                        <a:t>ΤΙ ΔΕΙΧΝΕΙ</a:t>
                      </a:r>
                      <a:endParaRPr lang="en-US" sz="90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900" b="1" dirty="0">
                          <a:solidFill>
                            <a:srgbClr val="8A91A3"/>
                          </a:solidFill>
                          <a:latin typeface="Consolas" pitchFamily="34" charset="0"/>
                          <a:ea typeface="Consolas" pitchFamily="34" charset="-122"/>
                          <a:cs typeface="Consolas" pitchFamily="34" charset="-120"/>
                        </a:rPr>
                        <a:t>ΑΝΤΙΣΤΟΙΧΟ ΣΤΑ WINDOWS</a:t>
                      </a:r>
                      <a:endParaRPr lang="en-US" sz="90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457200">
                <a:tc>
                  <a:txBody>
                    <a:bodyPr/>
                    <a:lstStyle/>
                    <a:p>
                      <a:pPr indent="0" marL="0">
                        <a:buNone/>
                      </a:pPr>
                      <a:r>
                        <a:rPr lang="en-US" sz="1200" dirty="0">
                          <a:solidFill>
                            <a:srgbClr val="2F4BD8"/>
                          </a:solidFill>
                          <a:latin typeface="Consolas" pitchFamily="34" charset="0"/>
                          <a:ea typeface="Consolas" pitchFamily="34" charset="-122"/>
                          <a:cs typeface="Consolas" pitchFamily="34" charset="-120"/>
                        </a:rPr>
                        <a:t>uname -a</a:t>
                      </a:r>
                      <a:endParaRPr lang="en-US" sz="120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1200" dirty="0">
                          <a:solidFill>
                            <a:srgbClr val="171B26"/>
                          </a:solidFill>
                          <a:latin typeface="Segoe UI" pitchFamily="34" charset="0"/>
                          <a:ea typeface="Segoe UI" pitchFamily="34" charset="-122"/>
                          <a:cs typeface="Segoe UI" pitchFamily="34" charset="-120"/>
                        </a:rPr>
                        <a:t>Όνομα και έκδοση του πυρήνα</a:t>
                      </a:r>
                      <a:endParaRPr lang="en-US" sz="120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1200" dirty="0">
                          <a:solidFill>
                            <a:srgbClr val="2F4BD8"/>
                          </a:solidFill>
                          <a:latin typeface="Consolas" pitchFamily="34" charset="0"/>
                          <a:ea typeface="Consolas" pitchFamily="34" charset="-122"/>
                          <a:cs typeface="Consolas" pitchFamily="34" charset="-120"/>
                        </a:rPr>
                        <a:t>winver</a:t>
                      </a:r>
                      <a:endParaRPr lang="en-US" sz="120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457200">
                <a:tc>
                  <a:txBody>
                    <a:bodyPr/>
                    <a:lstStyle/>
                    <a:p>
                      <a:pPr indent="0" marL="0">
                        <a:buNone/>
                      </a:pPr>
                      <a:r>
                        <a:rPr lang="en-US" sz="1200" dirty="0">
                          <a:solidFill>
                            <a:srgbClr val="2F4BD8"/>
                          </a:solidFill>
                          <a:latin typeface="Consolas" pitchFamily="34" charset="0"/>
                          <a:ea typeface="Consolas" pitchFamily="34" charset="-122"/>
                          <a:cs typeface="Consolas" pitchFamily="34" charset="-120"/>
                        </a:rPr>
                        <a:t>cat /etc/os-release</a:t>
                      </a:r>
                      <a:endParaRPr lang="en-US" sz="120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1200" dirty="0">
                          <a:solidFill>
                            <a:srgbClr val="171B26"/>
                          </a:solidFill>
                          <a:latin typeface="Segoe UI" pitchFamily="34" charset="0"/>
                          <a:ea typeface="Segoe UI" pitchFamily="34" charset="-122"/>
                          <a:cs typeface="Segoe UI" pitchFamily="34" charset="-120"/>
                        </a:rPr>
                        <a:t>Ποια διανομή Linux είναι</a:t>
                      </a:r>
                      <a:endParaRPr lang="en-US" sz="120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1200" dirty="0">
                          <a:solidFill>
                            <a:srgbClr val="2F4BD8"/>
                          </a:solidFill>
                          <a:latin typeface="Consolas" pitchFamily="34" charset="0"/>
                          <a:ea typeface="Consolas" pitchFamily="34" charset="-122"/>
                          <a:cs typeface="Consolas" pitchFamily="34" charset="-120"/>
                        </a:rPr>
                        <a:t>Ρυθμίσεις → Πληροφορίες</a:t>
                      </a:r>
                      <a:endParaRPr lang="en-US" sz="120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457200">
                <a:tc>
                  <a:txBody>
                    <a:bodyPr/>
                    <a:lstStyle/>
                    <a:p>
                      <a:pPr indent="0" marL="0">
                        <a:buNone/>
                      </a:pPr>
                      <a:r>
                        <a:rPr lang="en-US" sz="1200" dirty="0">
                          <a:solidFill>
                            <a:srgbClr val="2F4BD8"/>
                          </a:solidFill>
                          <a:latin typeface="Consolas" pitchFamily="34" charset="0"/>
                          <a:ea typeface="Consolas" pitchFamily="34" charset="-122"/>
                          <a:cs typeface="Consolas" pitchFamily="34" charset="-120"/>
                        </a:rPr>
                        <a:t>whoami</a:t>
                      </a:r>
                      <a:endParaRPr lang="en-US" sz="120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1200" dirty="0">
                          <a:solidFill>
                            <a:srgbClr val="171B26"/>
                          </a:solidFill>
                          <a:latin typeface="Segoe UI" pitchFamily="34" charset="0"/>
                          <a:ea typeface="Segoe UI" pitchFamily="34" charset="-122"/>
                          <a:cs typeface="Segoe UI" pitchFamily="34" charset="-120"/>
                        </a:rPr>
                        <a:t>Με ποιον χρήστη είσαι συνδεδεμένος</a:t>
                      </a:r>
                      <a:endParaRPr lang="en-US" sz="120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1200" dirty="0">
                          <a:solidFill>
                            <a:srgbClr val="2F4BD8"/>
                          </a:solidFill>
                          <a:latin typeface="Consolas" pitchFamily="34" charset="0"/>
                          <a:ea typeface="Consolas" pitchFamily="34" charset="-122"/>
                          <a:cs typeface="Consolas" pitchFamily="34" charset="-120"/>
                        </a:rPr>
                        <a:t>whoami (και στο cmd!)</a:t>
                      </a:r>
                      <a:endParaRPr lang="en-US" sz="120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457200">
                <a:tc>
                  <a:txBody>
                    <a:bodyPr/>
                    <a:lstStyle/>
                    <a:p>
                      <a:pPr indent="0" marL="0">
                        <a:buNone/>
                      </a:pPr>
                      <a:r>
                        <a:rPr lang="en-US" sz="1200" dirty="0">
                          <a:solidFill>
                            <a:srgbClr val="2F4BD8"/>
                          </a:solidFill>
                          <a:latin typeface="Consolas" pitchFamily="34" charset="0"/>
                          <a:ea typeface="Consolas" pitchFamily="34" charset="-122"/>
                          <a:cs typeface="Consolas" pitchFamily="34" charset="-120"/>
                        </a:rPr>
                        <a:t>pwd</a:t>
                      </a:r>
                      <a:endParaRPr lang="en-US" sz="120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1200" dirty="0">
                          <a:solidFill>
                            <a:srgbClr val="171B26"/>
                          </a:solidFill>
                          <a:latin typeface="Segoe UI" pitchFamily="34" charset="0"/>
                          <a:ea typeface="Segoe UI" pitchFamily="34" charset="-122"/>
                          <a:cs typeface="Segoe UI" pitchFamily="34" charset="-120"/>
                        </a:rPr>
                        <a:t>Σε ποιον φάκελο βρίσκεσαι</a:t>
                      </a:r>
                      <a:endParaRPr lang="en-US" sz="120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1200" dirty="0">
                          <a:solidFill>
                            <a:srgbClr val="2F4BD8"/>
                          </a:solidFill>
                          <a:latin typeface="Consolas" pitchFamily="34" charset="0"/>
                          <a:ea typeface="Consolas" pitchFamily="34" charset="-122"/>
                          <a:cs typeface="Consolas" pitchFamily="34" charset="-120"/>
                        </a:rPr>
                        <a:t>cd (χωρίς τίποτα άλλο)</a:t>
                      </a:r>
                      <a:endParaRPr lang="en-US" sz="120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457200">
                <a:tc>
                  <a:txBody>
                    <a:bodyPr/>
                    <a:lstStyle/>
                    <a:p>
                      <a:pPr indent="0" marL="0">
                        <a:buNone/>
                      </a:pPr>
                      <a:r>
                        <a:rPr lang="en-US" sz="1200" dirty="0">
                          <a:solidFill>
                            <a:srgbClr val="2F4BD8"/>
                          </a:solidFill>
                          <a:latin typeface="Consolas" pitchFamily="34" charset="0"/>
                          <a:ea typeface="Consolas" pitchFamily="34" charset="-122"/>
                          <a:cs typeface="Consolas" pitchFamily="34" charset="-120"/>
                        </a:rPr>
                        <a:t>ls -l</a:t>
                      </a:r>
                      <a:endParaRPr lang="en-US" sz="120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1200" dirty="0">
                          <a:solidFill>
                            <a:srgbClr val="171B26"/>
                          </a:solidFill>
                          <a:latin typeface="Segoe UI" pitchFamily="34" charset="0"/>
                          <a:ea typeface="Segoe UI" pitchFamily="34" charset="-122"/>
                          <a:cs typeface="Segoe UI" pitchFamily="34" charset="-120"/>
                        </a:rPr>
                        <a:t>Τα αρχεία του φακέλου</a:t>
                      </a:r>
                      <a:endParaRPr lang="en-US" sz="1200" dirty="0">
                        <a:latin typeface="Segoe UI" charset="0"/>
                        <a:ea typeface="Segoe UI" charset="0"/>
                        <a:cs typeface="Segoe UI"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n-US" sz="1200" dirty="0">
                          <a:solidFill>
                            <a:srgbClr val="2F4BD8"/>
                          </a:solidFill>
                          <a:latin typeface="Consolas" pitchFamily="34" charset="0"/>
                          <a:ea typeface="Consolas" pitchFamily="34" charset="-122"/>
                          <a:cs typeface="Consolas" pitchFamily="34" charset="-120"/>
                        </a:rPr>
                        <a:t>dir</a:t>
                      </a:r>
                      <a:endParaRPr lang="en-US" sz="1200" dirty="0">
                        <a:latin typeface="Consolas" charset="0"/>
                        <a:ea typeface="Consolas" charset="0"/>
                        <a:cs typeface="Consolas" charset="0"/>
                      </a:endParaRPr>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CFE"/>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F4BD8"/>
          </a:solidFill>
          <a:ln w="12700">
            <a:solidFill>
              <a:srgbClr val="2F4BD8"/>
            </a:solidFill>
            <a:prstDash val="solid"/>
          </a:ln>
        </p:spPr>
        <p:txBody>
          <a:bodyPr/>
          <a:p/>
        </p:txBody>
      </p:sp>
      <p:pic>
        <p:nvPicPr>
          <p:cNvPr id="3" name="Image 0" descr="/tmp/claude-0/-home-claude/8f07f1d1-9bfe-540b-b195-992cdc902b9e/scratchpad/prak/logo_os.png">    </p:cNvPr>
          <p:cNvPicPr>
            <a:picLocks noChangeAspect="1"/>
          </p:cNvPicPr>
          <p:nvPr/>
        </p:nvPicPr>
        <p:blipFill>
          <a:blip r:embed="rId1"/>
          <a:stretch>
            <a:fillRect/>
          </a:stretch>
        </p:blipFill>
        <p:spPr>
          <a:xfrm>
            <a:off x="9189720" y="274320"/>
            <a:ext cx="310896" cy="310896"/>
          </a:xfrm>
          <a:prstGeom prst="rect">
            <a:avLst/>
          </a:prstGeom>
        </p:spPr>
      </p:pic>
      <p:sp>
        <p:nvSpPr>
          <p:cNvPr id="4" name="Text 1"/>
          <p:cNvSpPr txBox="1"/>
          <p:nvPr/>
        </p:nvSpPr>
        <p:spPr>
          <a:xfrm>
            <a:off x="9573768" y="246888"/>
            <a:ext cx="2468880" cy="365760"/>
          </a:xfrm>
          <a:prstGeom prst="rect">
            <a:avLst/>
          </a:prstGeom>
          <a:noFill/>
          <a:ln/>
        </p:spPr>
        <p:txBody>
          <a:bodyPr wrap="square" lIns="0" tIns="0" rIns="0" bIns="0" rtlCol="0" anchor="ctr"/>
          <a:lstStyle/>
          <a:p>
            <a:pPr indent="0" marL="0">
              <a:buNone/>
            </a:pPr>
            <a:r>
              <a:rPr lang="en-US" sz="950" b="1" dirty="0">
                <a:solidFill>
                  <a:srgbClr val="4A5265"/>
                </a:solidFill>
                <a:latin typeface="Segoe UI" pitchFamily="34" charset="0"/>
                <a:ea typeface="Segoe UI" pitchFamily="34" charset="-122"/>
                <a:cs typeface="Segoe UI" pitchFamily="34" charset="-120"/>
              </a:rPr>
              <a:t>ΣΑΕΚ Μαρκοπούλου</a:t>
            </a:r>
            <a:endParaRPr lang="en-US" sz="950" dirty="0"/>
          </a:p>
          <a:p>
            <a:pPr indent="0" marL="0">
              <a:buNone/>
            </a:pPr>
            <a:r>
              <a:rPr lang="en-US" sz="950" b="1" dirty="0">
                <a:solidFill>
                  <a:srgbClr val="4A5265"/>
                </a:solidFill>
                <a:latin typeface="Segoe UI" pitchFamily="34" charset="0"/>
                <a:ea typeface="Segoe UI" pitchFamily="34" charset="-122"/>
                <a:cs typeface="Segoe UI" pitchFamily="34" charset="-120"/>
              </a:rPr>
              <a:t>Σύγχρονα Λειτουργικά Συστήματα</a:t>
            </a:r>
            <a:endParaRPr lang="en-US" sz="950" dirty="0"/>
          </a:p>
        </p:txBody>
      </p:sp>
      <p:sp>
        <p:nvSpPr>
          <p:cNvPr id="5" name="Text 2"/>
          <p:cNvSpPr txBox="1"/>
          <p:nvPr/>
        </p:nvSpPr>
        <p:spPr>
          <a:xfrm>
            <a:off x="8503920" y="6419088"/>
            <a:ext cx="3154680" cy="237744"/>
          </a:xfrm>
          <a:prstGeom prst="rect">
            <a:avLst/>
          </a:prstGeom>
          <a:noFill/>
          <a:ln/>
        </p:spPr>
        <p:txBody>
          <a:bodyPr wrap="square" rtlCol="0" anchor="ctr"/>
          <a:lstStyle/>
          <a:p>
            <a:pPr algn="r" indent="0" marL="0">
              <a:buNone/>
            </a:pPr>
            <a:r>
              <a:rPr lang="en-US" sz="900" dirty="0">
                <a:solidFill>
                  <a:srgbClr val="8A91A3"/>
                </a:solidFill>
                <a:latin typeface="Consolas" pitchFamily="34" charset="0"/>
                <a:ea typeface="Consolas" pitchFamily="34" charset="-122"/>
                <a:cs typeface="Consolas" pitchFamily="34" charset="-120"/>
              </a:rPr>
              <a:t>Λαμπρόπουλος Χρήστος</a:t>
            </a:r>
            <a:endParaRPr lang="en-US" sz="900" dirty="0"/>
          </a:p>
        </p:txBody>
      </p:sp>
      <p:sp>
        <p:nvSpPr>
          <p:cNvPr id="6" name="Text 3"/>
          <p:cNvSpPr txBox="1"/>
          <p:nvPr/>
        </p:nvSpPr>
        <p:spPr>
          <a:xfrm>
            <a:off x="566928" y="384048"/>
            <a:ext cx="8412480" cy="237744"/>
          </a:xfrm>
          <a:prstGeom prst="rect">
            <a:avLst/>
          </a:prstGeom>
          <a:noFill/>
          <a:ln/>
        </p:spPr>
        <p:txBody>
          <a:bodyPr wrap="square" lIns="0" tIns="0" rIns="0" bIns="0" rtlCol="0" anchor="ctr"/>
          <a:lstStyle/>
          <a:p>
            <a:pPr indent="0" marL="0">
              <a:buNone/>
            </a:pPr>
            <a:r>
              <a:rPr lang="en-US" sz="1000" spc="140" kern="0" dirty="0">
                <a:solidFill>
                  <a:srgbClr val="2F4BD8"/>
                </a:solidFill>
                <a:latin typeface="Consolas" pitchFamily="34" charset="0"/>
                <a:ea typeface="Consolas" pitchFamily="34" charset="-122"/>
                <a:cs typeface="Consolas" pitchFamily="34" charset="-120"/>
              </a:rPr>
              <a:t>19  </a:t>
            </a:r>
            <a:pPr indent="0" marL="0">
              <a:buNone/>
            </a:pPr>
            <a:r>
              <a:rPr lang="en-US" sz="1000" spc="140" kern="0" dirty="0">
                <a:solidFill>
                  <a:srgbClr val="8A91A3"/>
                </a:solidFill>
                <a:latin typeface="Consolas" pitchFamily="34" charset="0"/>
                <a:ea typeface="Consolas" pitchFamily="34" charset="-122"/>
                <a:cs typeface="Consolas" pitchFamily="34" charset="-120"/>
              </a:rPr>
              <a:t>ΣΥΖΗΤΗΣΗ · 5 ΛΕΠΤΑ</a:t>
            </a:r>
            <a:endParaRPr lang="en-US" sz="1000" dirty="0"/>
          </a:p>
        </p:txBody>
      </p:sp>
      <p:sp>
        <p:nvSpPr>
          <p:cNvPr id="7" name="Text 4"/>
          <p:cNvSpPr txBox="1"/>
          <p:nvPr/>
        </p:nvSpPr>
        <p:spPr>
          <a:xfrm>
            <a:off x="530352" y="658368"/>
            <a:ext cx="8595360" cy="566928"/>
          </a:xfrm>
          <a:prstGeom prst="rect">
            <a:avLst/>
          </a:prstGeom>
          <a:noFill/>
          <a:ln/>
        </p:spPr>
        <p:txBody>
          <a:bodyPr wrap="square" lIns="0" tIns="0" rIns="0" bIns="0" rtlCol="0" anchor="t"/>
          <a:lstStyle/>
          <a:p>
            <a:pPr indent="0" marL="0">
              <a:buNone/>
            </a:pPr>
            <a:r>
              <a:rPr lang="en-US" sz="3000" b="1" dirty="0">
                <a:solidFill>
                  <a:srgbClr val="171B26"/>
                </a:solidFill>
                <a:latin typeface="Segoe UI" pitchFamily="34" charset="0"/>
                <a:ea typeface="Segoe UI" pitchFamily="34" charset="-122"/>
                <a:cs typeface="Segoe UI" pitchFamily="34" charset="-120"/>
              </a:rPr>
              <a:t>Ποιο ΛΣ θα πρότεινες;</a:t>
            </a:r>
            <a:endParaRPr lang="en-US" sz="3000" dirty="0"/>
          </a:p>
        </p:txBody>
      </p:sp>
      <p:sp>
        <p:nvSpPr>
          <p:cNvPr id="8" name="Text 5"/>
          <p:cNvSpPr txBox="1"/>
          <p:nvPr/>
        </p:nvSpPr>
        <p:spPr>
          <a:xfrm>
            <a:off x="8138160" y="749808"/>
            <a:ext cx="2743200" cy="274320"/>
          </a:xfrm>
          <a:prstGeom prst="rect">
            <a:avLst/>
          </a:prstGeom>
          <a:noFill/>
          <a:ln/>
        </p:spPr>
        <p:txBody>
          <a:bodyPr wrap="square" rtlCol="0" anchor="ctr"/>
          <a:lstStyle/>
          <a:p>
            <a:pPr algn="r" indent="0" marL="0">
              <a:buNone/>
            </a:pPr>
            <a:r>
              <a:rPr lang="en-US" sz="1100" b="1" spc="100" kern="0" dirty="0">
                <a:solidFill>
                  <a:srgbClr val="9A6B0C"/>
                </a:solidFill>
                <a:latin typeface="Consolas" pitchFamily="34" charset="0"/>
                <a:ea typeface="Consolas" pitchFamily="34" charset="-122"/>
                <a:cs typeface="Consolas" pitchFamily="34" charset="-120"/>
              </a:rPr>
              <a:t>●●○  ΜΕΤΡΙΑ</a:t>
            </a:r>
            <a:endParaRPr lang="en-US" sz="1100" dirty="0"/>
          </a:p>
        </p:txBody>
      </p:sp>
      <p:sp>
        <p:nvSpPr>
          <p:cNvPr id="9" name="Text 6"/>
          <p:cNvSpPr txBox="1"/>
          <p:nvPr/>
        </p:nvSpPr>
        <p:spPr>
          <a:xfrm>
            <a:off x="566928" y="1417320"/>
            <a:ext cx="10881360" cy="201168"/>
          </a:xfrm>
          <a:prstGeom prst="rect">
            <a:avLst/>
          </a:prstGeom>
          <a:noFill/>
          <a:ln/>
        </p:spPr>
        <p:txBody>
          <a:bodyPr wrap="square" lIns="0" tIns="0" rIns="0" bIns="0" rtlCol="0" anchor="ctr"/>
          <a:lstStyle/>
          <a:p>
            <a:pPr indent="0" marL="0">
              <a:buNone/>
            </a:pPr>
            <a:r>
              <a:rPr lang="en-US" sz="900" b="1" spc="120" kern="0" dirty="0">
                <a:solidFill>
                  <a:srgbClr val="9A6B0C"/>
                </a:solidFill>
                <a:latin typeface="Consolas" pitchFamily="34" charset="0"/>
                <a:ea typeface="Consolas" pitchFamily="34" charset="-122"/>
                <a:cs typeface="Consolas" pitchFamily="34" charset="-120"/>
              </a:rPr>
              <a:t>ΕΝΔΕΙΚΤΙΚΗ ΛΥΣΗ · ΜΕΤΡΑΕΙ Η ΑΙΤΙΟΛΟΓΗΣΗ</a:t>
            </a:r>
            <a:endParaRPr lang="en-US" sz="900" dirty="0"/>
          </a:p>
        </p:txBody>
      </p:sp>
      <p:sp>
        <p:nvSpPr>
          <p:cNvPr id="10" name="Shape 7"/>
          <p:cNvSpPr/>
          <p:nvPr/>
        </p:nvSpPr>
        <p:spPr>
          <a:xfrm>
            <a:off x="566928" y="1737360"/>
            <a:ext cx="5349240" cy="1645920"/>
          </a:xfrm>
          <a:prstGeom prst="roundRect">
            <a:avLst>
              <a:gd name="adj" fmla="val 3333"/>
            </a:avLst>
          </a:prstGeom>
          <a:solidFill>
            <a:srgbClr val="FBFCFE"/>
          </a:solidFill>
          <a:ln w="9525">
            <a:solidFill>
              <a:srgbClr val="D3D9E4"/>
            </a:solidFill>
            <a:prstDash val="solid"/>
          </a:ln>
        </p:spPr>
        <p:txBody>
          <a:bodyPr/>
          <a:p/>
        </p:txBody>
      </p:sp>
      <p:sp>
        <p:nvSpPr>
          <p:cNvPr id="11" name="Text 8"/>
          <p:cNvSpPr txBox="1"/>
          <p:nvPr/>
        </p:nvSpPr>
        <p:spPr>
          <a:xfrm>
            <a:off x="731520" y="1865376"/>
            <a:ext cx="5020056" cy="465201"/>
          </a:xfrm>
          <a:prstGeom prst="rect">
            <a:avLst/>
          </a:prstGeom>
          <a:noFill/>
          <a:ln/>
        </p:spPr>
        <p:txBody>
          <a:bodyPr wrap="square" lIns="0" tIns="0" rIns="0" bIns="0" rtlCol="0" anchor="t"/>
          <a:lstStyle/>
          <a:p>
            <a:pPr indent="0" marL="0">
              <a:buNone/>
            </a:pPr>
            <a:r>
              <a:rPr lang="en-US" sz="1350" b="1" dirty="0">
                <a:solidFill>
                  <a:srgbClr val="171B26"/>
                </a:solidFill>
                <a:latin typeface="Segoe UI" pitchFamily="34" charset="0"/>
                <a:ea typeface="Segoe UI" pitchFamily="34" charset="-122"/>
                <a:cs typeface="Segoe UI" pitchFamily="34" charset="-120"/>
              </a:rPr>
              <a:t>α · Εργαστήριο με παλιούς υπολογιστές και μηδέν budget</a:t>
            </a:r>
            <a:endParaRPr lang="en-US" sz="1350" dirty="0"/>
          </a:p>
        </p:txBody>
      </p:sp>
      <p:sp>
        <p:nvSpPr>
          <p:cNvPr id="12" name="Text 9"/>
          <p:cNvSpPr txBox="1"/>
          <p:nvPr/>
        </p:nvSpPr>
        <p:spPr>
          <a:xfrm>
            <a:off x="731520" y="2422017"/>
            <a:ext cx="5020056" cy="869823"/>
          </a:xfrm>
          <a:prstGeom prst="rect">
            <a:avLst/>
          </a:prstGeom>
          <a:noFill/>
          <a:ln/>
        </p:spPr>
        <p:txBody>
          <a:bodyPr wrap="square" lIns="0" tIns="0" rIns="0" bIns="0" rtlCol="0" anchor="t"/>
          <a:lstStyle/>
          <a:p>
            <a:pPr indent="0" marL="0">
              <a:lnSpc>
                <a:spcPct val="112000"/>
              </a:lnSpc>
              <a:buNone/>
            </a:pPr>
            <a:r>
              <a:rPr lang="en-US" sz="1200" dirty="0">
                <a:solidFill>
                  <a:srgbClr val="4A5265"/>
                </a:solidFill>
                <a:latin typeface="Segoe UI" pitchFamily="34" charset="0"/>
                <a:ea typeface="Segoe UI" pitchFamily="34" charset="-122"/>
                <a:cs typeface="Segoe UI" pitchFamily="34" charset="-120"/>
              </a:rPr>
              <a:t>Linux (π.χ. Linux Mint, Lubuntu): δωρεάν, ελαφρύ, τρέχει σε παλιό υλικό.</a:t>
            </a:r>
            <a:endParaRPr lang="en-US" sz="1200" dirty="0"/>
          </a:p>
        </p:txBody>
      </p:sp>
      <p:sp>
        <p:nvSpPr>
          <p:cNvPr id="13" name="Shape 10"/>
          <p:cNvSpPr/>
          <p:nvPr/>
        </p:nvSpPr>
        <p:spPr>
          <a:xfrm>
            <a:off x="6099048" y="1737360"/>
            <a:ext cx="5349240" cy="1645920"/>
          </a:xfrm>
          <a:prstGeom prst="roundRect">
            <a:avLst>
              <a:gd name="adj" fmla="val 3333"/>
            </a:avLst>
          </a:prstGeom>
          <a:solidFill>
            <a:srgbClr val="E4E8FB"/>
          </a:solidFill>
          <a:ln w="12700">
            <a:solidFill>
              <a:srgbClr val="E4E8FB"/>
            </a:solidFill>
            <a:prstDash val="solid"/>
          </a:ln>
        </p:spPr>
        <p:txBody>
          <a:bodyPr/>
          <a:p/>
        </p:txBody>
      </p:sp>
      <p:sp>
        <p:nvSpPr>
          <p:cNvPr id="14" name="Text 11"/>
          <p:cNvSpPr txBox="1"/>
          <p:nvPr/>
        </p:nvSpPr>
        <p:spPr>
          <a:xfrm>
            <a:off x="6263640" y="1865376"/>
            <a:ext cx="5020056" cy="250888"/>
          </a:xfrm>
          <a:prstGeom prst="rect">
            <a:avLst/>
          </a:prstGeom>
          <a:noFill/>
          <a:ln/>
        </p:spPr>
        <p:txBody>
          <a:bodyPr wrap="square" lIns="0" tIns="0" rIns="0" bIns="0" rtlCol="0" anchor="t"/>
          <a:lstStyle/>
          <a:p>
            <a:pPr indent="0" marL="0">
              <a:buNone/>
            </a:pPr>
            <a:r>
              <a:rPr lang="en-US" sz="1350" b="1" dirty="0">
                <a:solidFill>
                  <a:srgbClr val="171B26"/>
                </a:solidFill>
                <a:latin typeface="Segoe UI" pitchFamily="34" charset="0"/>
                <a:ea typeface="Segoe UI" pitchFamily="34" charset="-122"/>
                <a:cs typeface="Segoe UI" pitchFamily="34" charset="-120"/>
              </a:rPr>
              <a:t>β · Γραφίστας με Adobe και Final Cut</a:t>
            </a:r>
            <a:endParaRPr lang="en-US" sz="1350" dirty="0"/>
          </a:p>
        </p:txBody>
      </p:sp>
      <p:sp>
        <p:nvSpPr>
          <p:cNvPr id="15" name="Text 12"/>
          <p:cNvSpPr txBox="1"/>
          <p:nvPr/>
        </p:nvSpPr>
        <p:spPr>
          <a:xfrm>
            <a:off x="6263640" y="2207705"/>
            <a:ext cx="5020056" cy="1084136"/>
          </a:xfrm>
          <a:prstGeom prst="rect">
            <a:avLst/>
          </a:prstGeom>
          <a:noFill/>
          <a:ln/>
        </p:spPr>
        <p:txBody>
          <a:bodyPr wrap="square" lIns="0" tIns="0" rIns="0" bIns="0" rtlCol="0" anchor="t"/>
          <a:lstStyle/>
          <a:p>
            <a:pPr indent="0" marL="0">
              <a:lnSpc>
                <a:spcPct val="112000"/>
              </a:lnSpc>
              <a:buNone/>
            </a:pPr>
            <a:r>
              <a:rPr lang="en-US" sz="1200" dirty="0">
                <a:solidFill>
                  <a:srgbClr val="4A5265"/>
                </a:solidFill>
                <a:latin typeface="Segoe UI" pitchFamily="34" charset="0"/>
                <a:ea typeface="Segoe UI" pitchFamily="34" charset="-122"/>
                <a:cs typeface="Segoe UI" pitchFamily="34" charset="-120"/>
              </a:rPr>
              <a:t>macOS: το Final Cut υπάρχει μόνο εκεί και η Adobe υποστηρίζεται πλήρως.</a:t>
            </a:r>
            <a:endParaRPr lang="en-US" sz="1200" dirty="0"/>
          </a:p>
        </p:txBody>
      </p:sp>
      <p:sp>
        <p:nvSpPr>
          <p:cNvPr id="16" name="Shape 13"/>
          <p:cNvSpPr/>
          <p:nvPr/>
        </p:nvSpPr>
        <p:spPr>
          <a:xfrm>
            <a:off x="566928" y="3566160"/>
            <a:ext cx="5349240" cy="1645920"/>
          </a:xfrm>
          <a:prstGeom prst="roundRect">
            <a:avLst>
              <a:gd name="adj" fmla="val 3333"/>
            </a:avLst>
          </a:prstGeom>
          <a:solidFill>
            <a:srgbClr val="E4E8FB"/>
          </a:solidFill>
          <a:ln w="12700">
            <a:solidFill>
              <a:srgbClr val="E4E8FB"/>
            </a:solidFill>
            <a:prstDash val="solid"/>
          </a:ln>
        </p:spPr>
        <p:txBody>
          <a:bodyPr/>
          <a:p/>
        </p:txBody>
      </p:sp>
      <p:sp>
        <p:nvSpPr>
          <p:cNvPr id="17" name="Text 14"/>
          <p:cNvSpPr txBox="1"/>
          <p:nvPr/>
        </p:nvSpPr>
        <p:spPr>
          <a:xfrm>
            <a:off x="731520" y="3694176"/>
            <a:ext cx="5020056" cy="250888"/>
          </a:xfrm>
          <a:prstGeom prst="rect">
            <a:avLst/>
          </a:prstGeom>
          <a:noFill/>
          <a:ln/>
        </p:spPr>
        <p:txBody>
          <a:bodyPr wrap="square" lIns="0" tIns="0" rIns="0" bIns="0" rtlCol="0" anchor="t"/>
          <a:lstStyle/>
          <a:p>
            <a:pPr indent="0" marL="0">
              <a:buNone/>
            </a:pPr>
            <a:r>
              <a:rPr lang="en-US" sz="1350" b="1" dirty="0">
                <a:solidFill>
                  <a:srgbClr val="171B26"/>
                </a:solidFill>
                <a:latin typeface="Segoe UI" pitchFamily="34" charset="0"/>
                <a:ea typeface="Segoe UI" pitchFamily="34" charset="-122"/>
                <a:cs typeface="Segoe UI" pitchFamily="34" charset="-120"/>
              </a:rPr>
              <a:t>γ · Web server για ένα site</a:t>
            </a:r>
            <a:endParaRPr lang="en-US" sz="1350" dirty="0"/>
          </a:p>
        </p:txBody>
      </p:sp>
      <p:sp>
        <p:nvSpPr>
          <p:cNvPr id="18" name="Text 15"/>
          <p:cNvSpPr txBox="1"/>
          <p:nvPr/>
        </p:nvSpPr>
        <p:spPr>
          <a:xfrm>
            <a:off x="731520" y="4036504"/>
            <a:ext cx="5020056" cy="1084136"/>
          </a:xfrm>
          <a:prstGeom prst="rect">
            <a:avLst/>
          </a:prstGeom>
          <a:noFill/>
          <a:ln/>
        </p:spPr>
        <p:txBody>
          <a:bodyPr wrap="square" lIns="0" tIns="0" rIns="0" bIns="0" rtlCol="0" anchor="t"/>
          <a:lstStyle/>
          <a:p>
            <a:pPr indent="0" marL="0">
              <a:lnSpc>
                <a:spcPct val="112000"/>
              </a:lnSpc>
              <a:buNone/>
            </a:pPr>
            <a:r>
              <a:rPr lang="en-US" sz="1200" dirty="0">
                <a:solidFill>
                  <a:srgbClr val="4A5265"/>
                </a:solidFill>
                <a:latin typeface="Segoe UI" pitchFamily="34" charset="0"/>
                <a:ea typeface="Segoe UI" pitchFamily="34" charset="-122"/>
                <a:cs typeface="Segoe UI" pitchFamily="34" charset="-120"/>
              </a:rPr>
              <a:t>Linux (π.χ. Ubuntu Server): σταθερό, δωρεάν, το πιο διαδεδομένο σε web servers.</a:t>
            </a:r>
            <a:endParaRPr lang="en-US" sz="1200" dirty="0"/>
          </a:p>
        </p:txBody>
      </p:sp>
      <p:sp>
        <p:nvSpPr>
          <p:cNvPr id="19" name="Shape 16"/>
          <p:cNvSpPr/>
          <p:nvPr/>
        </p:nvSpPr>
        <p:spPr>
          <a:xfrm>
            <a:off x="6099048" y="3566160"/>
            <a:ext cx="5349240" cy="1645920"/>
          </a:xfrm>
          <a:prstGeom prst="roundRect">
            <a:avLst>
              <a:gd name="adj" fmla="val 3333"/>
            </a:avLst>
          </a:prstGeom>
          <a:solidFill>
            <a:srgbClr val="FBFCFE"/>
          </a:solidFill>
          <a:ln w="9525">
            <a:solidFill>
              <a:srgbClr val="D3D9E4"/>
            </a:solidFill>
            <a:prstDash val="solid"/>
          </a:ln>
        </p:spPr>
        <p:txBody>
          <a:bodyPr/>
          <a:p/>
        </p:txBody>
      </p:sp>
      <p:sp>
        <p:nvSpPr>
          <p:cNvPr id="20" name="Text 17"/>
          <p:cNvSpPr txBox="1"/>
          <p:nvPr/>
        </p:nvSpPr>
        <p:spPr>
          <a:xfrm>
            <a:off x="6263640" y="3694176"/>
            <a:ext cx="5020056" cy="250888"/>
          </a:xfrm>
          <a:prstGeom prst="rect">
            <a:avLst/>
          </a:prstGeom>
          <a:noFill/>
          <a:ln/>
        </p:spPr>
        <p:txBody>
          <a:bodyPr wrap="square" lIns="0" tIns="0" rIns="0" bIns="0" rtlCol="0" anchor="t"/>
          <a:lstStyle/>
          <a:p>
            <a:pPr indent="0" marL="0">
              <a:buNone/>
            </a:pPr>
            <a:r>
              <a:rPr lang="en-US" sz="1350" b="1" dirty="0">
                <a:solidFill>
                  <a:srgbClr val="171B26"/>
                </a:solidFill>
                <a:latin typeface="Segoe UI" pitchFamily="34" charset="0"/>
                <a:ea typeface="Segoe UI" pitchFamily="34" charset="-122"/>
                <a:cs typeface="Segoe UI" pitchFamily="34" charset="-120"/>
              </a:rPr>
              <a:t>δ · Λογιστήριο με ελληνικό λογιστικό πρόγραμμα</a:t>
            </a:r>
            <a:endParaRPr lang="en-US" sz="1350" dirty="0"/>
          </a:p>
        </p:txBody>
      </p:sp>
      <p:sp>
        <p:nvSpPr>
          <p:cNvPr id="21" name="Text 18"/>
          <p:cNvSpPr txBox="1"/>
          <p:nvPr/>
        </p:nvSpPr>
        <p:spPr>
          <a:xfrm>
            <a:off x="6263640" y="4036504"/>
            <a:ext cx="5020056" cy="1084136"/>
          </a:xfrm>
          <a:prstGeom prst="rect">
            <a:avLst/>
          </a:prstGeom>
          <a:noFill/>
          <a:ln/>
        </p:spPr>
        <p:txBody>
          <a:bodyPr wrap="square" lIns="0" tIns="0" rIns="0" bIns="0" rtlCol="0" anchor="t"/>
          <a:lstStyle/>
          <a:p>
            <a:pPr indent="0" marL="0">
              <a:lnSpc>
                <a:spcPct val="112000"/>
              </a:lnSpc>
              <a:buNone/>
            </a:pPr>
            <a:r>
              <a:rPr lang="en-US" sz="1200" dirty="0">
                <a:solidFill>
                  <a:srgbClr val="4A5265"/>
                </a:solidFill>
                <a:latin typeface="Segoe UI" pitchFamily="34" charset="0"/>
                <a:ea typeface="Segoe UI" pitchFamily="34" charset="-122"/>
                <a:cs typeface="Segoe UI" pitchFamily="34" charset="-120"/>
              </a:rPr>
              <a:t>Windows: τα περισσότερα ελληνικά λογιστικά προγράμματα τρέχουν μόνο εκεί.</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CFE"/>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F4BD8"/>
          </a:solidFill>
          <a:ln w="12700">
            <a:solidFill>
              <a:srgbClr val="2F4BD8"/>
            </a:solidFill>
            <a:prstDash val="solid"/>
          </a:ln>
        </p:spPr>
        <p:txBody>
          <a:bodyPr/>
          <a:p/>
        </p:txBody>
      </p:sp>
      <p:pic>
        <p:nvPicPr>
          <p:cNvPr id="3" name="Image 0" descr="/tmp/claude-0/-home-claude/8f07f1d1-9bfe-540b-b195-992cdc902b9e/scratchpad/prak/logo_os.png">    </p:cNvPr>
          <p:cNvPicPr>
            <a:picLocks noChangeAspect="1"/>
          </p:cNvPicPr>
          <p:nvPr/>
        </p:nvPicPr>
        <p:blipFill>
          <a:blip r:embed="rId1"/>
          <a:stretch>
            <a:fillRect/>
          </a:stretch>
        </p:blipFill>
        <p:spPr>
          <a:xfrm>
            <a:off x="9189720" y="274320"/>
            <a:ext cx="310896" cy="310896"/>
          </a:xfrm>
          <a:prstGeom prst="rect">
            <a:avLst/>
          </a:prstGeom>
        </p:spPr>
      </p:pic>
      <p:sp>
        <p:nvSpPr>
          <p:cNvPr id="4" name="Text 1"/>
          <p:cNvSpPr txBox="1"/>
          <p:nvPr/>
        </p:nvSpPr>
        <p:spPr>
          <a:xfrm>
            <a:off x="9573768" y="246888"/>
            <a:ext cx="2468880" cy="365760"/>
          </a:xfrm>
          <a:prstGeom prst="rect">
            <a:avLst/>
          </a:prstGeom>
          <a:noFill/>
          <a:ln/>
        </p:spPr>
        <p:txBody>
          <a:bodyPr wrap="square" lIns="0" tIns="0" rIns="0" bIns="0" rtlCol="0" anchor="ctr"/>
          <a:lstStyle/>
          <a:p>
            <a:pPr indent="0" marL="0">
              <a:buNone/>
            </a:pPr>
            <a:r>
              <a:rPr lang="en-US" sz="950" b="1" dirty="0">
                <a:solidFill>
                  <a:srgbClr val="4A5265"/>
                </a:solidFill>
                <a:latin typeface="Segoe UI" pitchFamily="34" charset="0"/>
                <a:ea typeface="Segoe UI" pitchFamily="34" charset="-122"/>
                <a:cs typeface="Segoe UI" pitchFamily="34" charset="-120"/>
              </a:rPr>
              <a:t>ΣΑΕΚ Μαρκοπούλου</a:t>
            </a:r>
            <a:endParaRPr lang="en-US" sz="950" dirty="0"/>
          </a:p>
          <a:p>
            <a:pPr indent="0" marL="0">
              <a:buNone/>
            </a:pPr>
            <a:r>
              <a:rPr lang="en-US" sz="950" b="1" dirty="0">
                <a:solidFill>
                  <a:srgbClr val="4A5265"/>
                </a:solidFill>
                <a:latin typeface="Segoe UI" pitchFamily="34" charset="0"/>
                <a:ea typeface="Segoe UI" pitchFamily="34" charset="-122"/>
                <a:cs typeface="Segoe UI" pitchFamily="34" charset="-120"/>
              </a:rPr>
              <a:t>Σύγχρονα Λειτουργικά Συστήματα</a:t>
            </a:r>
            <a:endParaRPr lang="en-US" sz="950" dirty="0"/>
          </a:p>
        </p:txBody>
      </p:sp>
      <p:sp>
        <p:nvSpPr>
          <p:cNvPr id="5" name="Text 2"/>
          <p:cNvSpPr txBox="1"/>
          <p:nvPr/>
        </p:nvSpPr>
        <p:spPr>
          <a:xfrm>
            <a:off x="8503920" y="6419088"/>
            <a:ext cx="3154680" cy="237744"/>
          </a:xfrm>
          <a:prstGeom prst="rect">
            <a:avLst/>
          </a:prstGeom>
          <a:noFill/>
          <a:ln/>
        </p:spPr>
        <p:txBody>
          <a:bodyPr wrap="square" rtlCol="0" anchor="ctr"/>
          <a:lstStyle/>
          <a:p>
            <a:pPr algn="r" indent="0" marL="0">
              <a:buNone/>
            </a:pPr>
            <a:r>
              <a:rPr lang="en-US" sz="900" dirty="0">
                <a:solidFill>
                  <a:srgbClr val="8A91A3"/>
                </a:solidFill>
                <a:latin typeface="Consolas" pitchFamily="34" charset="0"/>
                <a:ea typeface="Consolas" pitchFamily="34" charset="-122"/>
                <a:cs typeface="Consolas" pitchFamily="34" charset="-120"/>
              </a:rPr>
              <a:t>Λαμπρόπουλος Χρήστος</a:t>
            </a:r>
            <a:endParaRPr lang="en-US" sz="900" dirty="0"/>
          </a:p>
        </p:txBody>
      </p:sp>
      <p:sp>
        <p:nvSpPr>
          <p:cNvPr id="6" name="Text 3"/>
          <p:cNvSpPr txBox="1"/>
          <p:nvPr/>
        </p:nvSpPr>
        <p:spPr>
          <a:xfrm>
            <a:off x="566928" y="384048"/>
            <a:ext cx="8412480" cy="237744"/>
          </a:xfrm>
          <a:prstGeom prst="rect">
            <a:avLst/>
          </a:prstGeom>
          <a:noFill/>
          <a:ln/>
        </p:spPr>
        <p:txBody>
          <a:bodyPr wrap="square" lIns="0" tIns="0" rIns="0" bIns="0" rtlCol="0" anchor="ctr"/>
          <a:lstStyle/>
          <a:p>
            <a:pPr indent="0" marL="0">
              <a:buNone/>
            </a:pPr>
            <a:r>
              <a:rPr lang="en-US" sz="1000" spc="140" kern="0" dirty="0">
                <a:solidFill>
                  <a:srgbClr val="2F4BD8"/>
                </a:solidFill>
                <a:latin typeface="Consolas" pitchFamily="34" charset="0"/>
                <a:ea typeface="Consolas" pitchFamily="34" charset="-122"/>
                <a:cs typeface="Consolas" pitchFamily="34" charset="-120"/>
              </a:rPr>
              <a:t>20  </a:t>
            </a:r>
            <a:pPr indent="0" marL="0">
              <a:buNone/>
            </a:pPr>
            <a:r>
              <a:rPr lang="en-US" sz="1000" spc="140" kern="0" dirty="0">
                <a:solidFill>
                  <a:srgbClr val="8A91A3"/>
                </a:solidFill>
                <a:latin typeface="Consolas" pitchFamily="34" charset="0"/>
                <a:ea typeface="Consolas" pitchFamily="34" charset="-122"/>
                <a:cs typeface="Consolas" pitchFamily="34" charset="-120"/>
              </a:rPr>
              <a:t>ΠΑΡΑΔΟΤΕΟ &amp; ΣΥΝΟΨΗ</a:t>
            </a:r>
            <a:endParaRPr lang="en-US" sz="1000" dirty="0"/>
          </a:p>
        </p:txBody>
      </p:sp>
      <p:sp>
        <p:nvSpPr>
          <p:cNvPr id="7" name="Text 4"/>
          <p:cNvSpPr txBox="1"/>
          <p:nvPr/>
        </p:nvSpPr>
        <p:spPr>
          <a:xfrm>
            <a:off x="530352" y="658368"/>
            <a:ext cx="8595360" cy="566928"/>
          </a:xfrm>
          <a:prstGeom prst="rect">
            <a:avLst/>
          </a:prstGeom>
          <a:noFill/>
          <a:ln/>
        </p:spPr>
        <p:txBody>
          <a:bodyPr wrap="square" lIns="0" tIns="0" rIns="0" bIns="0" rtlCol="0" anchor="t"/>
          <a:lstStyle/>
          <a:p>
            <a:pPr indent="0" marL="0">
              <a:buNone/>
            </a:pPr>
            <a:r>
              <a:rPr lang="en-US" sz="3000" b="1" dirty="0">
                <a:solidFill>
                  <a:srgbClr val="171B26"/>
                </a:solidFill>
                <a:latin typeface="Segoe UI" pitchFamily="34" charset="0"/>
                <a:ea typeface="Segoe UI" pitchFamily="34" charset="-122"/>
                <a:cs typeface="Segoe UI" pitchFamily="34" charset="-120"/>
              </a:rPr>
              <a:t>Πριν φύγεις</a:t>
            </a:r>
            <a:endParaRPr lang="en-US" sz="3000" dirty="0"/>
          </a:p>
        </p:txBody>
      </p:sp>
      <p:sp>
        <p:nvSpPr>
          <p:cNvPr id="8" name="Shape 5"/>
          <p:cNvSpPr/>
          <p:nvPr/>
        </p:nvSpPr>
        <p:spPr>
          <a:xfrm>
            <a:off x="566928" y="1463040"/>
            <a:ext cx="5349240" cy="2743200"/>
          </a:xfrm>
          <a:prstGeom prst="roundRect">
            <a:avLst>
              <a:gd name="adj" fmla="val 2000"/>
            </a:avLst>
          </a:prstGeom>
          <a:solidFill>
            <a:srgbClr val="FBFCFE"/>
          </a:solidFill>
          <a:ln w="9525">
            <a:solidFill>
              <a:srgbClr val="D3D9E4"/>
            </a:solidFill>
            <a:prstDash val="solid"/>
          </a:ln>
        </p:spPr>
        <p:txBody>
          <a:bodyPr/>
          <a:p/>
        </p:txBody>
      </p:sp>
      <p:sp>
        <p:nvSpPr>
          <p:cNvPr id="9" name="Text 6"/>
          <p:cNvSpPr txBox="1"/>
          <p:nvPr/>
        </p:nvSpPr>
        <p:spPr>
          <a:xfrm>
            <a:off x="731520" y="1591056"/>
            <a:ext cx="5020056" cy="274701"/>
          </a:xfrm>
          <a:prstGeom prst="rect">
            <a:avLst/>
          </a:prstGeom>
          <a:noFill/>
          <a:ln/>
        </p:spPr>
        <p:txBody>
          <a:bodyPr wrap="square" lIns="0" tIns="0" rIns="0" bIns="0" rtlCol="0" anchor="t"/>
          <a:lstStyle/>
          <a:p>
            <a:pPr indent="0" marL="0">
              <a:buNone/>
            </a:pPr>
            <a:r>
              <a:rPr lang="en-US" sz="1500" b="1" dirty="0">
                <a:solidFill>
                  <a:srgbClr val="171B26"/>
                </a:solidFill>
                <a:latin typeface="Segoe UI" pitchFamily="34" charset="0"/>
                <a:ea typeface="Segoe UI" pitchFamily="34" charset="-122"/>
                <a:cs typeface="Segoe UI" pitchFamily="34" charset="-120"/>
              </a:rPr>
              <a:t>Στον φάκελο LS_Eponymo πρέπει να υπάρχουν</a:t>
            </a:r>
            <a:endParaRPr lang="en-US" sz="1500" dirty="0"/>
          </a:p>
        </p:txBody>
      </p:sp>
      <p:sp>
        <p:nvSpPr>
          <p:cNvPr id="10" name="Text 7"/>
          <p:cNvSpPr txBox="1"/>
          <p:nvPr/>
        </p:nvSpPr>
        <p:spPr>
          <a:xfrm>
            <a:off x="731520" y="1957197"/>
            <a:ext cx="5020056" cy="2157603"/>
          </a:xfrm>
          <a:prstGeom prst="rect">
            <a:avLst/>
          </a:prstGeom>
          <a:noFill/>
          <a:ln/>
        </p:spPr>
        <p:txBody>
          <a:bodyPr wrap="square" lIns="0" tIns="0" rIns="0" bIns="0" rtlCol="0" anchor="t"/>
          <a:lstStyle/>
          <a:p>
            <a:pPr indent="0" marL="0">
              <a:lnSpc>
                <a:spcPct val="112000"/>
              </a:lnSpc>
              <a:buNone/>
            </a:pPr>
            <a:r>
              <a:rPr lang="en-US" sz="1300" dirty="0">
                <a:solidFill>
                  <a:srgbClr val="4A5265"/>
                </a:solidFill>
                <a:latin typeface="Segoe UI" pitchFamily="34" charset="0"/>
                <a:ea typeface="Segoe UI" pitchFamily="34" charset="-122"/>
                <a:cs typeface="Segoe UI" pitchFamily="34" charset="-120"/>
              </a:rPr>
              <a:t>☐  Karta_Systimatos.docx (με στιγμιότυπο)</a:t>
            </a:r>
            <a:endParaRPr lang="en-US" sz="1300" dirty="0"/>
          </a:p>
          <a:p>
            <a:pPr indent="0" marL="0">
              <a:lnSpc>
                <a:spcPct val="112000"/>
              </a:lnSpc>
              <a:buNone/>
            </a:pPr>
            <a:r>
              <a:rPr lang="en-US" sz="1300" dirty="0">
                <a:solidFill>
                  <a:srgbClr val="4A5265"/>
                </a:solidFill>
                <a:latin typeface="Segoe UI" pitchFamily="34" charset="0"/>
                <a:ea typeface="Segoe UI" pitchFamily="34" charset="-122"/>
                <a:cs typeface="Segoe UI" pitchFamily="34" charset="-120"/>
              </a:rPr>
              <a:t>☐  Ο πίνακας «6 δουλειές του ΛΣ»</a:t>
            </a:r>
            <a:endParaRPr lang="en-US" sz="1300" dirty="0"/>
          </a:p>
          <a:p>
            <a:pPr indent="0" marL="0">
              <a:lnSpc>
                <a:spcPct val="112000"/>
              </a:lnSpc>
              <a:buNone/>
            </a:pPr>
            <a:r>
              <a:rPr lang="en-US" sz="1300" dirty="0">
                <a:solidFill>
                  <a:srgbClr val="4A5265"/>
                </a:solidFill>
                <a:latin typeface="Segoe UI" pitchFamily="34" charset="0"/>
                <a:ea typeface="Segoe UI" pitchFamily="34" charset="-122"/>
                <a:cs typeface="Segoe UI" pitchFamily="34" charset="-120"/>
              </a:rPr>
              <a:t>☐  Φάκελοι gui_test και cli_test με το hello.txt</a:t>
            </a:r>
            <a:endParaRPr lang="en-US" sz="1300" dirty="0"/>
          </a:p>
          <a:p>
            <a:pPr indent="0" marL="0">
              <a:lnSpc>
                <a:spcPct val="112000"/>
              </a:lnSpc>
              <a:buNone/>
            </a:pPr>
            <a:r>
              <a:rPr lang="en-US" sz="1300" dirty="0">
                <a:solidFill>
                  <a:srgbClr val="4A5265"/>
                </a:solidFill>
                <a:latin typeface="Segoe UI" pitchFamily="34" charset="0"/>
                <a:ea typeface="Segoe UI" pitchFamily="34" charset="-122"/>
                <a:cs typeface="Segoe UI" pitchFamily="34" charset="-120"/>
              </a:rPr>
              <a:t>☐  Adeies.docx</a:t>
            </a:r>
            <a:endParaRPr lang="en-US" sz="1300" dirty="0"/>
          </a:p>
        </p:txBody>
      </p:sp>
      <p:sp>
        <p:nvSpPr>
          <p:cNvPr id="11" name="Shape 8"/>
          <p:cNvSpPr/>
          <p:nvPr/>
        </p:nvSpPr>
        <p:spPr>
          <a:xfrm>
            <a:off x="6099048" y="1463040"/>
            <a:ext cx="5349240" cy="2743200"/>
          </a:xfrm>
          <a:prstGeom prst="roundRect">
            <a:avLst>
              <a:gd name="adj" fmla="val 2000"/>
            </a:avLst>
          </a:prstGeom>
          <a:solidFill>
            <a:srgbClr val="E4E8FB"/>
          </a:solidFill>
          <a:ln w="12700">
            <a:solidFill>
              <a:srgbClr val="E4E8FB"/>
            </a:solidFill>
            <a:prstDash val="solid"/>
          </a:ln>
        </p:spPr>
        <p:txBody>
          <a:bodyPr/>
          <a:p/>
        </p:txBody>
      </p:sp>
      <p:sp>
        <p:nvSpPr>
          <p:cNvPr id="12" name="Text 9"/>
          <p:cNvSpPr txBox="1"/>
          <p:nvPr/>
        </p:nvSpPr>
        <p:spPr>
          <a:xfrm>
            <a:off x="6263640" y="1591056"/>
            <a:ext cx="5020056" cy="274701"/>
          </a:xfrm>
          <a:prstGeom prst="rect">
            <a:avLst/>
          </a:prstGeom>
          <a:noFill/>
          <a:ln/>
        </p:spPr>
        <p:txBody>
          <a:bodyPr wrap="square" lIns="0" tIns="0" rIns="0" bIns="0" rtlCol="0" anchor="t"/>
          <a:lstStyle/>
          <a:p>
            <a:pPr indent="0" marL="0">
              <a:buNone/>
            </a:pPr>
            <a:r>
              <a:rPr lang="en-US" sz="1500" b="1" dirty="0">
                <a:solidFill>
                  <a:srgbClr val="171B26"/>
                </a:solidFill>
                <a:latin typeface="Segoe UI" pitchFamily="34" charset="0"/>
                <a:ea typeface="Segoe UI" pitchFamily="34" charset="-122"/>
                <a:cs typeface="Segoe UI" pitchFamily="34" charset="-120"/>
              </a:rPr>
              <a:t>Τι κρατάμε</a:t>
            </a:r>
            <a:endParaRPr lang="en-US" sz="1500" dirty="0"/>
          </a:p>
        </p:txBody>
      </p:sp>
      <p:sp>
        <p:nvSpPr>
          <p:cNvPr id="13" name="Text 10"/>
          <p:cNvSpPr txBox="1"/>
          <p:nvPr/>
        </p:nvSpPr>
        <p:spPr>
          <a:xfrm>
            <a:off x="6263640" y="1957197"/>
            <a:ext cx="5020056" cy="2157603"/>
          </a:xfrm>
          <a:prstGeom prst="rect">
            <a:avLst/>
          </a:prstGeom>
          <a:noFill/>
          <a:ln/>
        </p:spPr>
        <p:txBody>
          <a:bodyPr wrap="square" lIns="0" tIns="0" rIns="0" bIns="0" rtlCol="0" anchor="t"/>
          <a:lstStyle/>
          <a:p>
            <a:pPr marL="177800" indent="-177800">
              <a:lnSpc>
                <a:spcPct val="112000"/>
              </a:lnSpc>
              <a:spcAft>
                <a:spcPts val="500"/>
              </a:spcAft>
              <a:buSzPct val="100000"/>
              <a:buChar char="•"/>
            </a:pPr>
            <a:r>
              <a:rPr lang="en-US" sz="1250" dirty="0">
                <a:solidFill>
                  <a:srgbClr val="4A5265"/>
                </a:solidFill>
                <a:latin typeface="Segoe UI" pitchFamily="34" charset="0"/>
                <a:ea typeface="Segoe UI" pitchFamily="34" charset="-122"/>
                <a:cs typeface="Segoe UI" pitchFamily="34" charset="-120"/>
              </a:rPr>
              <a:t>Το ΛΣ στέκεται ανάμεσα σε εφαρμογές και υλικό.</a:t>
            </a:r>
            <a:endParaRPr lang="en-US" sz="1250" dirty="0"/>
          </a:p>
          <a:p>
            <a:pPr marL="177800" indent="-177800">
              <a:lnSpc>
                <a:spcPct val="112000"/>
              </a:lnSpc>
              <a:spcAft>
                <a:spcPts val="500"/>
              </a:spcAft>
              <a:buSzPct val="100000"/>
              <a:buChar char="•"/>
            </a:pPr>
            <a:r>
              <a:rPr lang="en-US" sz="1250" dirty="0">
                <a:solidFill>
                  <a:srgbClr val="4A5265"/>
                </a:solidFill>
                <a:latin typeface="Segoe UI" pitchFamily="34" charset="0"/>
                <a:ea typeface="Segoe UI" pitchFamily="34" charset="-122"/>
                <a:cs typeface="Segoe UI" pitchFamily="34" charset="-120"/>
              </a:rPr>
              <a:t>Κάνει 6 δουλειές: τις βρήκες όλες στα Windows.</a:t>
            </a:r>
            <a:endParaRPr lang="en-US" sz="1250" dirty="0"/>
          </a:p>
          <a:p>
            <a:pPr marL="177800" indent="-177800">
              <a:lnSpc>
                <a:spcPct val="112000"/>
              </a:lnSpc>
              <a:spcAft>
                <a:spcPts val="500"/>
              </a:spcAft>
              <a:buSzPct val="100000"/>
              <a:buChar char="•"/>
            </a:pPr>
            <a:r>
              <a:rPr lang="en-US" sz="1250" dirty="0">
                <a:solidFill>
                  <a:srgbClr val="4A5265"/>
                </a:solidFill>
                <a:latin typeface="Segoe UI" pitchFamily="34" charset="0"/>
                <a:ea typeface="Segoe UI" pitchFamily="34" charset="-122"/>
                <a:cs typeface="Segoe UI" pitchFamily="34" charset="-120"/>
              </a:rPr>
              <a:t>Πυρήνας από κάτω, κέλυφος (GUI ή CLI) από πάνω.</a:t>
            </a:r>
            <a:endParaRPr lang="en-US" sz="1250" dirty="0"/>
          </a:p>
          <a:p>
            <a:pPr marL="177800" indent="-177800">
              <a:lnSpc>
                <a:spcPct val="112000"/>
              </a:lnSpc>
              <a:spcAft>
                <a:spcPts val="500"/>
              </a:spcAft>
              <a:buSzPct val="100000"/>
              <a:buChar char="•"/>
            </a:pPr>
            <a:r>
              <a:rPr lang="en-US" sz="1250" dirty="0">
                <a:solidFill>
                  <a:srgbClr val="4A5265"/>
                </a:solidFill>
                <a:latin typeface="Segoe UI" pitchFamily="34" charset="0"/>
                <a:ea typeface="Segoe UI" pitchFamily="34" charset="-122"/>
                <a:cs typeface="Segoe UI" pitchFamily="34" charset="-120"/>
              </a:rPr>
              <a:t>Εμπορικό ή ΕΛ/ΛΑΚ: διαλέγεις ανάλογα με τη χρήση.</a:t>
            </a:r>
            <a:endParaRPr lang="en-US" sz="1250" dirty="0"/>
          </a:p>
        </p:txBody>
      </p:sp>
      <p:sp>
        <p:nvSpPr>
          <p:cNvPr id="14" name="Shape 11"/>
          <p:cNvSpPr/>
          <p:nvPr/>
        </p:nvSpPr>
        <p:spPr>
          <a:xfrm>
            <a:off x="566928" y="4434840"/>
            <a:ext cx="10881360" cy="1508760"/>
          </a:xfrm>
          <a:prstGeom prst="roundRect">
            <a:avLst>
              <a:gd name="adj" fmla="val 3636"/>
            </a:avLst>
          </a:prstGeom>
          <a:solidFill>
            <a:srgbClr val="F6EDD6"/>
          </a:solidFill>
          <a:ln w="12700">
            <a:solidFill>
              <a:srgbClr val="F6EDD6"/>
            </a:solidFill>
            <a:prstDash val="solid"/>
          </a:ln>
        </p:spPr>
        <p:txBody>
          <a:bodyPr/>
          <a:p/>
        </p:txBody>
      </p:sp>
      <p:sp>
        <p:nvSpPr>
          <p:cNvPr id="15" name="Text 12"/>
          <p:cNvSpPr txBox="1"/>
          <p:nvPr/>
        </p:nvSpPr>
        <p:spPr>
          <a:xfrm>
            <a:off x="731520" y="4562856"/>
            <a:ext cx="10552176" cy="258826"/>
          </a:xfrm>
          <a:prstGeom prst="rect">
            <a:avLst/>
          </a:prstGeom>
          <a:noFill/>
          <a:ln/>
        </p:spPr>
        <p:txBody>
          <a:bodyPr wrap="square" lIns="0" tIns="0" rIns="0" bIns="0" rtlCol="0" anchor="t"/>
          <a:lstStyle/>
          <a:p>
            <a:pPr indent="0" marL="0">
              <a:buNone/>
            </a:pPr>
            <a:r>
              <a:rPr lang="en-US" sz="1400" b="1" dirty="0">
                <a:solidFill>
                  <a:srgbClr val="171B26"/>
                </a:solidFill>
                <a:latin typeface="Segoe UI" pitchFamily="34" charset="0"/>
                <a:ea typeface="Segoe UI" pitchFamily="34" charset="-122"/>
                <a:cs typeface="Segoe UI" pitchFamily="34" charset="-120"/>
              </a:rPr>
              <a:t>Επόμενο εργαστήριο · Τρίτη 13/10</a:t>
            </a:r>
            <a:endParaRPr lang="en-US" sz="1400" dirty="0"/>
          </a:p>
        </p:txBody>
      </p:sp>
      <p:sp>
        <p:nvSpPr>
          <p:cNvPr id="16" name="Text 13"/>
          <p:cNvSpPr txBox="1"/>
          <p:nvPr/>
        </p:nvSpPr>
        <p:spPr>
          <a:xfrm>
            <a:off x="731520" y="4913122"/>
            <a:ext cx="10552176" cy="939038"/>
          </a:xfrm>
          <a:prstGeom prst="rect">
            <a:avLst/>
          </a:prstGeom>
          <a:noFill/>
          <a:ln/>
        </p:spPr>
        <p:txBody>
          <a:bodyPr wrap="square" lIns="0" tIns="0" rIns="0" bIns="0" rtlCol="0" anchor="t"/>
          <a:lstStyle/>
          <a:p>
            <a:pPr indent="0" marL="0">
              <a:lnSpc>
                <a:spcPct val="112000"/>
              </a:lnSpc>
              <a:buNone/>
            </a:pPr>
            <a:r>
              <a:rPr lang="en-US" sz="1300" dirty="0">
                <a:solidFill>
                  <a:srgbClr val="4A5265"/>
                </a:solidFill>
                <a:latin typeface="Segoe UI" pitchFamily="34" charset="0"/>
                <a:ea typeface="Segoe UI" pitchFamily="34" charset="-122"/>
                <a:cs typeface="Segoe UI" pitchFamily="34" charset="-120"/>
              </a:rPr>
              <a:t>Πώς τρέχουν 150 προγράμματα σε λίγους πυρήνες; Θα «κυνηγήσουμε» διεργασίες, θα τους αλλάξουμε προτεραιότητα και θα τις παγώσουμε.</a:t>
            </a:r>
            <a:endParaRPr lang="en-US" sz="13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1" name="Shape 101"/>
          <p:cNvSpPr/>
          <p:nvPr/>
        </p:nvSpPr>
        <p:spPr>
          <a:xfrm>
            <a:off x="0" y="0"/>
            <a:ext cx="109728" cy="6858000"/>
          </a:xfrm>
          <a:prstGeom prst="rect">
            <a:avLst/>
          </a:prstGeom>
          <a:solidFill>
            <a:srgbClr val="2F4BD8"/>
          </a:solidFill>
          <a:ln w="12700">
            <a:solidFill>
              <a:srgbClr val="2F4BD8"/>
            </a:solidFill>
            <a:prstDash val="solid"/>
          </a:ln>
        </p:spPr>
        <p:txBody>
          <a:bodyPr/>
          <a:p/>
        </p:txBody>
      </p:sp>
      <p:pic>
        <p:nvPicPr>
          <p:cNvPr id="102" name="Picture 101" descr="image.png"/>
          <p:cNvPicPr>
            <a:picLocks noChangeAspect="1"/>
          </p:cNvPicPr>
          <p:nvPr/>
        </p:nvPicPr>
        <p:blipFill>
          <a:blip r:embed="rId2"/>
          <a:stretch>
            <a:fillRect/>
          </a:stretch>
        </p:blipFill>
        <p:spPr>
          <a:xfrm>
            <a:off x="9189720" y="274320"/>
            <a:ext cx="310896" cy="310896"/>
          </a:xfrm>
          <a:prstGeom prst="rect">
            <a:avLst/>
          </a:prstGeom>
        </p:spPr>
      </p:pic>
      <p:sp>
        <p:nvSpPr>
          <p:cNvPr id="102" name="Text 102"/>
          <p:cNvSpPr txBox="1"/>
          <p:nvPr/>
        </p:nvSpPr>
        <p:spPr>
          <a:xfrm>
            <a:off x="9573768" y="246888"/>
            <a:ext cx="2468880" cy="365760"/>
          </a:xfrm>
          <a:prstGeom prst="rect">
            <a:avLst/>
          </a:prstGeom>
          <a:noFill/>
          <a:ln/>
        </p:spPr>
        <p:txBody>
          <a:bodyPr wrap="square" lIns="0" tIns="0" rIns="0" bIns="0" rtlCol="0" anchor="ctr"/>
          <a:lstStyle/>
          <a:p>
            <a:pPr indent="0" marL="0">
              <a:buNone/>
            </a:pPr>
            <a:r>
              <a:rPr lang="el-GR" sz="950" b="1" dirty="0">
                <a:solidFill>
                  <a:srgbClr val="4A5265"/>
                </a:solidFill>
                <a:latin typeface="Segoe UI" pitchFamily="34" charset="0"/>
                <a:ea typeface="Segoe UI" pitchFamily="34" charset="-122"/>
                <a:cs typeface="Segoe UI" pitchFamily="34" charset="-120"/>
              </a:rPr>
              <a:t>ΣΑΕΚ Μαρκοπούλου</a:t>
            </a:r>
            <a:endParaRPr lang="el-GR" sz="950" dirty="0"/>
          </a:p>
          <a:p>
            <a:pPr indent="0" marL="0">
              <a:buNone/>
            </a:pPr>
            <a:r>
              <a:rPr lang="el-GR" sz="950" dirty="0">
                <a:solidFill>
                  <a:srgbClr val="8A91A3"/>
                </a:solidFill>
                <a:latin typeface="Segoe UI" pitchFamily="34" charset="0"/>
                <a:ea typeface="Segoe UI" pitchFamily="34" charset="-122"/>
                <a:cs typeface="Segoe UI" pitchFamily="34" charset="-120"/>
              </a:rPr>
              <a:t>Σύγχρονα Λειτουργικά Συστήματα</a:t>
            </a:r>
            <a:endParaRPr lang="el-GR" sz="950" dirty="0"/>
          </a:p>
        </p:txBody>
      </p:sp>
      <p:sp>
        <p:nvSpPr>
          <p:cNvPr id="103" name="Text 103"/>
          <p:cNvSpPr txBox="1"/>
          <p:nvPr/>
        </p:nvSpPr>
        <p:spPr>
          <a:xfrm>
            <a:off x="8503920" y="6419088"/>
            <a:ext cx="3154680" cy="237744"/>
          </a:xfrm>
          <a:prstGeom prst="rect">
            <a:avLst/>
          </a:prstGeom>
          <a:noFill/>
          <a:ln/>
        </p:spPr>
        <p:txBody>
          <a:bodyPr wrap="square" lIns="0" tIns="0" rIns="0" bIns="0" rtlCol="0" anchor="ctr"/>
          <a:lstStyle/>
          <a:p>
            <a:pPr indent="0" marL="0" algn="r">
              <a:buNone/>
            </a:pPr>
            <a:r>
              <a:rPr lang="el-GR" sz="900" dirty="0">
                <a:solidFill>
                  <a:srgbClr val="8A91A3"/>
                </a:solidFill>
                <a:latin typeface="Consolas" pitchFamily="34" charset="0"/>
                <a:ea typeface="Consolas" pitchFamily="34" charset="-122"/>
                <a:cs typeface="Consolas" pitchFamily="34" charset="-120"/>
              </a:rPr>
              <a:t>Λαμπρόπουλος Χρήστος</a:t>
            </a:r>
            <a:endParaRPr lang="el-GR" sz="900" dirty="0"/>
          </a:p>
        </p:txBody>
      </p:sp>
      <p:sp>
        <p:nvSpPr>
          <p:cNvPr id="104" name="Text 104"/>
          <p:cNvSpPr txBox="1"/>
          <p:nvPr/>
        </p:nvSpPr>
        <p:spPr>
          <a:xfrm>
            <a:off x="566928" y="384048"/>
            <a:ext cx="8412480" cy="237744"/>
          </a:xfrm>
          <a:prstGeom prst="rect">
            <a:avLst/>
          </a:prstGeom>
          <a:noFill/>
          <a:ln/>
        </p:spPr>
        <p:txBody>
          <a:bodyPr wrap="square" lIns="0" tIns="0" rIns="0" bIns="0" rtlCol="0" anchor="ctr"/>
          <a:lstStyle/>
          <a:p>
            <a:pPr indent="0" marL="0">
              <a:buNone/>
            </a:pPr>
            <a:r>
              <a:rPr lang="el-GR" sz="1000" spc="140" dirty="0">
                <a:solidFill>
                  <a:srgbClr val="2F4BD8"/>
                </a:solidFill>
                <a:latin typeface="Consolas" pitchFamily="34" charset="0"/>
                <a:ea typeface="Consolas" pitchFamily="34" charset="-122"/>
                <a:cs typeface="Consolas" pitchFamily="34" charset="-120"/>
              </a:rPr>
              <a:t xml:space="preserve">18  </a:t>
            </a:r>
            <a:r>
              <a:rPr lang="el-GR" sz="1000" spc="140" dirty="0">
                <a:solidFill>
                  <a:srgbClr val="8A91A3"/>
                </a:solidFill>
                <a:latin typeface="Consolas" pitchFamily="34" charset="0"/>
                <a:ea typeface="Consolas" pitchFamily="34" charset="-122"/>
                <a:cs typeface="Consolas" pitchFamily="34" charset="-120"/>
              </a:rPr>
              <a:t>ΟΔΗΓΟΣ ΕΝΤΟΛΩΝ · BASH</a:t>
            </a:r>
            <a:endParaRPr lang="el-GR" sz="1000" dirty="0"/>
          </a:p>
        </p:txBody>
      </p:sp>
      <p:sp>
        <p:nvSpPr>
          <p:cNvPr id="105" name="Text 105"/>
          <p:cNvSpPr txBox="1"/>
          <p:nvPr/>
        </p:nvSpPr>
        <p:spPr>
          <a:xfrm>
            <a:off x="530352" y="658368"/>
            <a:ext cx="8503920" cy="566928"/>
          </a:xfrm>
          <a:prstGeom prst="rect">
            <a:avLst/>
          </a:prstGeom>
          <a:noFill/>
          <a:ln/>
        </p:spPr>
        <p:txBody>
          <a:bodyPr wrap="square" lIns="0" tIns="0" rIns="0" bIns="0" rtlCol="0" anchor="ctr"/>
          <a:lstStyle/>
          <a:p>
            <a:pPr indent="0" marL="0">
              <a:buNone/>
            </a:pPr>
            <a:r>
              <a:rPr lang="el-GR" sz="2600" b="1" dirty="0">
                <a:solidFill>
                  <a:srgbClr val="171B26"/>
                </a:solidFill>
                <a:latin typeface="Segoe UI" pitchFamily="34" charset="0"/>
                <a:ea typeface="Segoe UI" pitchFamily="34" charset="-122"/>
                <a:cs typeface="Segoe UI" pitchFamily="34" charset="-120"/>
              </a:rPr>
              <a:t>Μνήμη, δίσκος, επεξεργαστής στο Linux</a:t>
            </a:r>
            <a:endParaRPr lang="el-GR" sz="2600" dirty="0"/>
          </a:p>
        </p:txBody>
      </p:sp>
      <p:sp>
        <p:nvSpPr>
          <p:cNvPr id="106" name="Text 106"/>
          <p:cNvSpPr txBox="1"/>
          <p:nvPr/>
        </p:nvSpPr>
        <p:spPr>
          <a:xfrm>
            <a:off x="9098280" y="749808"/>
            <a:ext cx="2331720" cy="274320"/>
          </a:xfrm>
          <a:prstGeom prst="rect">
            <a:avLst/>
          </a:prstGeom>
          <a:noFill/>
          <a:ln/>
        </p:spPr>
        <p:txBody>
          <a:bodyPr wrap="square" lIns="0" tIns="0" rIns="0" bIns="0" rtlCol="0" anchor="ctr"/>
          <a:lstStyle/>
          <a:p>
            <a:pPr indent="0" marL="0" algn="r">
              <a:buNone/>
            </a:pPr>
            <a:r>
              <a:rPr lang="el-GR" sz="1100" b="1" dirty="0">
                <a:solidFill>
                  <a:srgbClr val="1B6B52"/>
                </a:solidFill>
                <a:latin typeface="Consolas" pitchFamily="34" charset="0"/>
                <a:ea typeface="Consolas" pitchFamily="34" charset="-122"/>
                <a:cs typeface="Consolas" pitchFamily="34" charset="-120"/>
              </a:rPr>
              <a:t>ΓΙΑ ΤΟ SITE</a:t>
            </a:r>
            <a:endParaRPr lang="el-GR" sz="1100" dirty="0"/>
          </a:p>
        </p:txBody>
      </p:sp>
      <p:graphicFrame>
        <p:nvGraphicFramePr>
          <p:cNvPr id="107" name="Table 107"/>
          <p:cNvGraphicFramePr>
            <a:graphicFrameLocks noGrp="1"/>
          </p:cNvGraphicFramePr>
          <p:nvPr/>
        </p:nvGraphicFramePr>
        <p:xfrm>
          <a:off x="566928" y="1463040"/>
          <a:ext cx="10881360" cy="2340864"/>
        </p:xfrm>
        <a:graphic>
          <a:graphicData uri="http://schemas.openxmlformats.org/drawingml/2006/table">
            <a:tbl>
              <a:tblPr/>
              <a:tblGrid>
                <a:gridCol w="2011680"/>
                <a:gridCol w="3840480"/>
                <a:gridCol w="5029200"/>
              </a:tblGrid>
              <a:tr h="329184">
                <a:tc>
                  <a:txBody>
                    <a:bodyPr/>
                    <a:lstStyle/>
                    <a:p>
                      <a:pPr indent="0" marL="0">
                        <a:buNone/>
                      </a:pPr>
                      <a:r>
                        <a:rPr lang="el-GR" sz="900" b="1" dirty="0">
                          <a:solidFill>
                            <a:srgbClr val="8A91A3"/>
                          </a:solidFill>
                          <a:latin typeface="Consolas" pitchFamily="34" charset="0"/>
                          <a:ea typeface="Consolas" pitchFamily="34" charset="-122"/>
                          <a:cs typeface="Consolas" pitchFamily="34" charset="-120"/>
                        </a:rPr>
                        <a:t>ΕΝΤΟΛΗ</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1F3FA"/>
                    </a:solidFill>
                  </a:tcPr>
                </a:tc>
                <a:tc>
                  <a:txBody>
                    <a:bodyPr/>
                    <a:lstStyle/>
                    <a:p>
                      <a:pPr indent="0" marL="0">
                        <a:buNone/>
                      </a:pPr>
                      <a:r>
                        <a:rPr lang="el-GR" sz="900" b="1" dirty="0">
                          <a:solidFill>
                            <a:srgbClr val="8A91A3"/>
                          </a:solidFill>
                          <a:latin typeface="Consolas" pitchFamily="34" charset="0"/>
                          <a:ea typeface="Consolas" pitchFamily="34" charset="-122"/>
                          <a:cs typeface="Consolas" pitchFamily="34" charset="-120"/>
                        </a:rPr>
                        <a:t>ΤΙ ΔΕΙΧΝΕΙ</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1F3FA"/>
                    </a:solidFill>
                  </a:tcPr>
                </a:tc>
                <a:tc>
                  <a:txBody>
                    <a:bodyPr/>
                    <a:lstStyle/>
                    <a:p>
                      <a:pPr indent="0" marL="0">
                        <a:buNone/>
                      </a:pPr>
                      <a:r>
                        <a:rPr lang="el-GR" sz="900" b="1" dirty="0">
                          <a:solidFill>
                            <a:srgbClr val="8A91A3"/>
                          </a:solidFill>
                          <a:latin typeface="Consolas" pitchFamily="34" charset="0"/>
                          <a:ea typeface="Consolas" pitchFamily="34" charset="-122"/>
                          <a:cs typeface="Consolas" pitchFamily="34" charset="-120"/>
                        </a:rPr>
                        <a:t>ΤΙ ΚΟΙΤΑΣ ΣΤΗΝ ΕΞΟΔΟ</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1F3FA"/>
                    </a:solidFill>
                  </a:tcPr>
                </a:tc>
              </a:tr>
              <a:tr h="402336">
                <a:tc>
                  <a:txBody>
                    <a:bodyPr/>
                    <a:lstStyle/>
                    <a:p>
                      <a:pPr indent="0" marL="0">
                        <a:buNone/>
                      </a:pPr>
                      <a:r>
                        <a:rPr lang="el-GR" sz="1100" b="1" dirty="0">
                          <a:solidFill>
                            <a:srgbClr val="171B26"/>
                          </a:solidFill>
                          <a:latin typeface="Consolas" pitchFamily="34" charset="0"/>
                          <a:ea typeface="Consolas" pitchFamily="34" charset="-122"/>
                          <a:cs typeface="Consolas" pitchFamily="34" charset="-120"/>
                        </a:rPr>
                        <a:t>free -h</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Μνήμη RAM και swap</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Γραμμή Mem: στήλες total, used, free</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402336">
                <a:tc>
                  <a:txBody>
                    <a:bodyPr/>
                    <a:lstStyle/>
                    <a:p>
                      <a:pPr indent="0" marL="0">
                        <a:buNone/>
                      </a:pPr>
                      <a:r>
                        <a:rPr lang="el-GR" sz="1100" b="1" dirty="0">
                          <a:solidFill>
                            <a:srgbClr val="171B26"/>
                          </a:solidFill>
                          <a:latin typeface="Consolas" pitchFamily="34" charset="0"/>
                          <a:ea typeface="Consolas" pitchFamily="34" charset="-122"/>
                          <a:cs typeface="Consolas" pitchFamily="34" charset="-120"/>
                        </a:rPr>
                        <a:t>df -h</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Χώρος στους δίσκους</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Γραμμή του / : Size, Used, Avail, Use%</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402336">
                <a:tc>
                  <a:txBody>
                    <a:bodyPr/>
                    <a:lstStyle/>
                    <a:p>
                      <a:pPr indent="0" marL="0">
                        <a:buNone/>
                      </a:pPr>
                      <a:r>
                        <a:rPr lang="el-GR" sz="1100" b="1" dirty="0">
                          <a:solidFill>
                            <a:srgbClr val="171B26"/>
                          </a:solidFill>
                          <a:latin typeface="Consolas" pitchFamily="34" charset="0"/>
                          <a:ea typeface="Consolas" pitchFamily="34" charset="-122"/>
                          <a:cs typeface="Consolas" pitchFamily="34" charset="-120"/>
                        </a:rPr>
                        <a:t>lscpu</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Τον επεξεργαστή</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CPU(s) = λογικοί επεξεργαστές · Model name</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402336">
                <a:tc>
                  <a:txBody>
                    <a:bodyPr/>
                    <a:lstStyle/>
                    <a:p>
                      <a:pPr indent="0" marL="0">
                        <a:buNone/>
                      </a:pPr>
                      <a:r>
                        <a:rPr lang="el-GR" sz="1100" b="1" dirty="0">
                          <a:solidFill>
                            <a:srgbClr val="171B26"/>
                          </a:solidFill>
                          <a:latin typeface="Consolas" pitchFamily="34" charset="0"/>
                          <a:ea typeface="Consolas" pitchFamily="34" charset="-122"/>
                          <a:cs typeface="Consolas" pitchFamily="34" charset="-120"/>
                        </a:rPr>
                        <a:t>nproc</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Πόσοι λογικοί επεξεργαστές</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Έναν αριθμό</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402336">
                <a:tc>
                  <a:txBody>
                    <a:bodyPr/>
                    <a:lstStyle/>
                    <a:p>
                      <a:pPr indent="0" marL="0">
                        <a:buNone/>
                      </a:pPr>
                      <a:r>
                        <a:rPr lang="el-GR" sz="1100" b="1" dirty="0">
                          <a:solidFill>
                            <a:srgbClr val="171B26"/>
                          </a:solidFill>
                          <a:latin typeface="Consolas" pitchFamily="34" charset="0"/>
                          <a:ea typeface="Consolas" pitchFamily="34" charset="-122"/>
                          <a:cs typeface="Consolas" pitchFamily="34" charset="-120"/>
                        </a:rPr>
                        <a:t>uptime</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Πόση ώρα είναι ανοιχτός</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up 2:14 · load average</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bl>
          </a:graphicData>
        </a:graphic>
      </p:graphicFrame>
      <p:sp>
        <p:nvSpPr>
          <p:cNvPr id="108" name="Shape 108"/>
          <p:cNvSpPr/>
          <p:nvPr/>
        </p:nvSpPr>
        <p:spPr>
          <a:xfrm>
            <a:off x="566928" y="4032504"/>
            <a:ext cx="5349240" cy="1956816"/>
          </a:xfrm>
          <a:prstGeom prst="roundRect">
            <a:avLst>
              <a:gd name="adj" fmla="val 1935"/>
            </a:avLst>
          </a:prstGeom>
          <a:solidFill>
            <a:srgbClr val="E4E8FB"/>
          </a:solidFill>
          <a:ln w="12700">
            <a:solidFill>
              <a:srgbClr val="E4E8FB"/>
            </a:solidFill>
            <a:prstDash val="solid"/>
          </a:ln>
        </p:spPr>
        <p:txBody>
          <a:bodyPr/>
          <a:p/>
        </p:txBody>
      </p:sp>
      <p:sp>
        <p:nvSpPr>
          <p:cNvPr id="109" name="Text 109"/>
          <p:cNvSpPr txBox="1"/>
          <p:nvPr/>
        </p:nvSpPr>
        <p:spPr>
          <a:xfrm>
            <a:off x="731520" y="4160520"/>
            <a:ext cx="5020056" cy="274320"/>
          </a:xfrm>
          <a:prstGeom prst="rect">
            <a:avLst/>
          </a:prstGeom>
          <a:noFill/>
          <a:ln/>
        </p:spPr>
        <p:txBody>
          <a:bodyPr wrap="square" lIns="0" tIns="0" rIns="0" bIns="0" rtlCol="0" anchor="ctr"/>
          <a:lstStyle/>
          <a:p>
            <a:pPr indent="0" marL="0">
              <a:buNone/>
            </a:pPr>
            <a:r>
              <a:rPr lang="el-GR" sz="1400" b="1" dirty="0">
                <a:solidFill>
                  <a:srgbClr val="171B26"/>
                </a:solidFill>
                <a:latin typeface="Segoe UI" pitchFamily="34" charset="0"/>
                <a:ea typeface="Segoe UI" pitchFamily="34" charset="-122"/>
                <a:cs typeface="Segoe UI" pitchFamily="34" charset="-120"/>
              </a:rPr>
              <a:t>Το -h</a:t>
            </a:r>
            <a:endParaRPr lang="el-GR" sz="1400" dirty="0"/>
          </a:p>
        </p:txBody>
      </p:sp>
      <p:sp>
        <p:nvSpPr>
          <p:cNvPr id="110" name="Text 110"/>
          <p:cNvSpPr txBox="1"/>
          <p:nvPr/>
        </p:nvSpPr>
        <p:spPr>
          <a:xfrm>
            <a:off x="731520" y="4507992"/>
            <a:ext cx="5020056" cy="1389888"/>
          </a:xfrm>
          <a:prstGeom prst="rect">
            <a:avLst/>
          </a:prstGeom>
          <a:noFill/>
          <a:ln/>
        </p:spPr>
        <p:txBody>
          <a:bodyPr wrap="square" lIns="0" tIns="0" rIns="0" bIns="0" rtlCol="0" anchor="t"/>
          <a:lstStyle/>
          <a:p>
            <a:pPr indent="0" marL="0">
              <a:lnSpc>
                <a:spcPct val="112000"/>
              </a:lnSpc>
              <a:spcAft>
                <a:spcPts val="400"/>
              </a:spcAft>
              <a:buNone/>
            </a:pPr>
            <a:r>
              <a:rPr lang="el-GR" sz="1150" dirty="0">
                <a:solidFill>
                  <a:srgbClr val="4A5265"/>
                </a:solidFill>
                <a:latin typeface="Segoe UI" pitchFamily="34" charset="0"/>
                <a:ea typeface="Segoe UI" pitchFamily="34" charset="-122"/>
                <a:cs typeface="Segoe UI" pitchFamily="34" charset="-120"/>
              </a:rPr>
              <a:t xml:space="preserve">Σημαίνει human-readable: μεγέθη σε </a:t>
            </a:r>
            <a:r>
              <a:rPr lang="el-GR" sz="1150" b="1" dirty="0">
                <a:solidFill>
                  <a:srgbClr val="171B26"/>
                </a:solidFill>
                <a:latin typeface="Segoe UI" pitchFamily="34" charset="0"/>
                <a:ea typeface="Segoe UI" pitchFamily="34" charset="-122"/>
                <a:cs typeface="Segoe UI" pitchFamily="34" charset="-120"/>
              </a:rPr>
              <a:t>G</a:t>
            </a:r>
            <a:r>
              <a:rPr lang="el-GR" sz="1150" dirty="0">
                <a:solidFill>
                  <a:srgbClr val="4A5265"/>
                </a:solidFill>
                <a:latin typeface="Segoe UI" pitchFamily="34" charset="0"/>
                <a:ea typeface="Segoe UI" pitchFamily="34" charset="-122"/>
                <a:cs typeface="Segoe UI" pitchFamily="34" charset="-120"/>
              </a:rPr>
              <a:t xml:space="preserve"> και </a:t>
            </a:r>
            <a:r>
              <a:rPr lang="el-GR" sz="1150" b="1" dirty="0">
                <a:solidFill>
                  <a:srgbClr val="171B26"/>
                </a:solidFill>
                <a:latin typeface="Segoe UI" pitchFamily="34" charset="0"/>
                <a:ea typeface="Segoe UI" pitchFamily="34" charset="-122"/>
                <a:cs typeface="Segoe UI" pitchFamily="34" charset="-120"/>
              </a:rPr>
              <a:t>M</a:t>
            </a:r>
            <a:r>
              <a:rPr lang="el-GR" sz="1150" dirty="0">
                <a:solidFill>
                  <a:srgbClr val="4A5265"/>
                </a:solidFill>
                <a:latin typeface="Segoe UI" pitchFamily="34" charset="0"/>
                <a:ea typeface="Segoe UI" pitchFamily="34" charset="-122"/>
                <a:cs typeface="Segoe UI" pitchFamily="34" charset="-120"/>
              </a:rPr>
              <a:t xml:space="preserve"> αντί για bytes. Χωρίς -h το free δίνει τα νούμερα σε KiB.</a:t>
            </a:r>
            <a:endParaRPr lang="el-GR" sz="1150" dirty="0"/>
          </a:p>
        </p:txBody>
      </p:sp>
      <p:sp>
        <p:nvSpPr>
          <p:cNvPr id="111" name="Shape 111"/>
          <p:cNvSpPr/>
          <p:nvPr/>
        </p:nvSpPr>
        <p:spPr>
          <a:xfrm>
            <a:off x="6099048" y="4032504"/>
            <a:ext cx="5349240" cy="1956816"/>
          </a:xfrm>
          <a:prstGeom prst="roundRect">
            <a:avLst>
              <a:gd name="adj" fmla="val 1935"/>
            </a:avLst>
          </a:prstGeom>
          <a:solidFill>
            <a:srgbClr val="F6EDD6"/>
          </a:solidFill>
          <a:ln w="12700">
            <a:solidFill>
              <a:srgbClr val="F6EDD6"/>
            </a:solidFill>
            <a:prstDash val="solid"/>
          </a:ln>
        </p:spPr>
        <p:txBody>
          <a:bodyPr/>
          <a:p/>
        </p:txBody>
      </p:sp>
      <p:sp>
        <p:nvSpPr>
          <p:cNvPr id="112" name="Text 112"/>
          <p:cNvSpPr txBox="1"/>
          <p:nvPr/>
        </p:nvSpPr>
        <p:spPr>
          <a:xfrm>
            <a:off x="6263640" y="4160520"/>
            <a:ext cx="5020056" cy="274320"/>
          </a:xfrm>
          <a:prstGeom prst="rect">
            <a:avLst/>
          </a:prstGeom>
          <a:noFill/>
          <a:ln/>
        </p:spPr>
        <p:txBody>
          <a:bodyPr wrap="square" lIns="0" tIns="0" rIns="0" bIns="0" rtlCol="0" anchor="ctr"/>
          <a:lstStyle/>
          <a:p>
            <a:pPr indent="0" marL="0">
              <a:buNone/>
            </a:pPr>
            <a:r>
              <a:rPr lang="el-GR" sz="1400" b="1" dirty="0">
                <a:solidFill>
                  <a:srgbClr val="171B26"/>
                </a:solidFill>
                <a:latin typeface="Segoe UI" pitchFamily="34" charset="0"/>
                <a:ea typeface="Segoe UI" pitchFamily="34" charset="-122"/>
                <a:cs typeface="Segoe UI" pitchFamily="34" charset="-120"/>
              </a:rPr>
              <a:t>Γιατί 16 GB φαίνονται 15.4Gi;</a:t>
            </a:r>
            <a:endParaRPr lang="el-GR" sz="1400" dirty="0"/>
          </a:p>
        </p:txBody>
      </p:sp>
      <p:sp>
        <p:nvSpPr>
          <p:cNvPr id="113" name="Text 113"/>
          <p:cNvSpPr txBox="1"/>
          <p:nvPr/>
        </p:nvSpPr>
        <p:spPr>
          <a:xfrm>
            <a:off x="6263640" y="4507992"/>
            <a:ext cx="5020056" cy="1389888"/>
          </a:xfrm>
          <a:prstGeom prst="rect">
            <a:avLst/>
          </a:prstGeom>
          <a:noFill/>
          <a:ln/>
        </p:spPr>
        <p:txBody>
          <a:bodyPr wrap="square" lIns="0" tIns="0" rIns="0" bIns="0" rtlCol="0" anchor="t"/>
          <a:lstStyle/>
          <a:p>
            <a:pPr indent="0" marL="0">
              <a:lnSpc>
                <a:spcPct val="112000"/>
              </a:lnSpc>
              <a:spcAft>
                <a:spcPts val="400"/>
              </a:spcAft>
              <a:buNone/>
            </a:pPr>
            <a:r>
              <a:rPr lang="el-GR" sz="1150" dirty="0">
                <a:solidFill>
                  <a:srgbClr val="4A5265"/>
                </a:solidFill>
                <a:latin typeface="Segoe UI" pitchFamily="34" charset="0"/>
                <a:ea typeface="Segoe UI" pitchFamily="34" charset="-122"/>
                <a:cs typeface="Segoe UI" pitchFamily="34" charset="-120"/>
              </a:rPr>
              <a:t xml:space="preserve">1 Gi = 1024 Mi (δυνάμεις του 2), ενώ 1 GB = 1000 MB. Οι ίδιες 16 «χιλιάδες» MB γίνονται περίπου </a:t>
            </a:r>
            <a:r>
              <a:rPr lang="el-GR" sz="1150" b="1" dirty="0">
                <a:solidFill>
                  <a:srgbClr val="171B26"/>
                </a:solidFill>
                <a:latin typeface="Segoe UI" pitchFamily="34" charset="0"/>
                <a:ea typeface="Segoe UI" pitchFamily="34" charset="-122"/>
                <a:cs typeface="Segoe UI" pitchFamily="34" charset="-120"/>
              </a:rPr>
              <a:t>15.4Gi</a:t>
            </a:r>
            <a:r>
              <a:rPr lang="el-GR" sz="1150" dirty="0">
                <a:solidFill>
                  <a:srgbClr val="4A5265"/>
                </a:solidFill>
                <a:latin typeface="Segoe UI" pitchFamily="34" charset="0"/>
                <a:ea typeface="Segoe UI" pitchFamily="34" charset="-122"/>
                <a:cs typeface="Segoe UI" pitchFamily="34" charset="-120"/>
              </a:rPr>
              <a:t>.</a:t>
            </a:r>
            <a:endParaRPr lang="el-GR" sz="11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1" name="Shape 101"/>
          <p:cNvSpPr/>
          <p:nvPr/>
        </p:nvSpPr>
        <p:spPr>
          <a:xfrm>
            <a:off x="0" y="0"/>
            <a:ext cx="109728" cy="6858000"/>
          </a:xfrm>
          <a:prstGeom prst="rect">
            <a:avLst/>
          </a:prstGeom>
          <a:solidFill>
            <a:srgbClr val="2F4BD8"/>
          </a:solidFill>
          <a:ln w="12700">
            <a:solidFill>
              <a:srgbClr val="2F4BD8"/>
            </a:solidFill>
            <a:prstDash val="solid"/>
          </a:ln>
        </p:spPr>
        <p:txBody>
          <a:bodyPr/>
          <a:p/>
        </p:txBody>
      </p:sp>
      <p:pic>
        <p:nvPicPr>
          <p:cNvPr id="102" name="Picture 101" descr="image.png"/>
          <p:cNvPicPr>
            <a:picLocks noChangeAspect="1"/>
          </p:cNvPicPr>
          <p:nvPr/>
        </p:nvPicPr>
        <p:blipFill>
          <a:blip r:embed="rId2"/>
          <a:stretch>
            <a:fillRect/>
          </a:stretch>
        </p:blipFill>
        <p:spPr>
          <a:xfrm>
            <a:off x="9189720" y="274320"/>
            <a:ext cx="310896" cy="310896"/>
          </a:xfrm>
          <a:prstGeom prst="rect">
            <a:avLst/>
          </a:prstGeom>
        </p:spPr>
      </p:pic>
      <p:sp>
        <p:nvSpPr>
          <p:cNvPr id="102" name="Text 102"/>
          <p:cNvSpPr txBox="1"/>
          <p:nvPr/>
        </p:nvSpPr>
        <p:spPr>
          <a:xfrm>
            <a:off x="9573768" y="246888"/>
            <a:ext cx="2468880" cy="365760"/>
          </a:xfrm>
          <a:prstGeom prst="rect">
            <a:avLst/>
          </a:prstGeom>
          <a:noFill/>
          <a:ln/>
        </p:spPr>
        <p:txBody>
          <a:bodyPr wrap="square" lIns="0" tIns="0" rIns="0" bIns="0" rtlCol="0" anchor="ctr"/>
          <a:lstStyle/>
          <a:p>
            <a:pPr indent="0" marL="0">
              <a:buNone/>
            </a:pPr>
            <a:r>
              <a:rPr lang="el-GR" sz="950" b="1" dirty="0">
                <a:solidFill>
                  <a:srgbClr val="4A5265"/>
                </a:solidFill>
                <a:latin typeface="Segoe UI" pitchFamily="34" charset="0"/>
                <a:ea typeface="Segoe UI" pitchFamily="34" charset="-122"/>
                <a:cs typeface="Segoe UI" pitchFamily="34" charset="-120"/>
              </a:rPr>
              <a:t>ΣΑΕΚ Μαρκοπούλου</a:t>
            </a:r>
            <a:endParaRPr lang="el-GR" sz="950" dirty="0"/>
          </a:p>
          <a:p>
            <a:pPr indent="0" marL="0">
              <a:buNone/>
            </a:pPr>
            <a:r>
              <a:rPr lang="el-GR" sz="950" dirty="0">
                <a:solidFill>
                  <a:srgbClr val="8A91A3"/>
                </a:solidFill>
                <a:latin typeface="Segoe UI" pitchFamily="34" charset="0"/>
                <a:ea typeface="Segoe UI" pitchFamily="34" charset="-122"/>
                <a:cs typeface="Segoe UI" pitchFamily="34" charset="-120"/>
              </a:rPr>
              <a:t>Σύγχρονα Λειτουργικά Συστήματα</a:t>
            </a:r>
            <a:endParaRPr lang="el-GR" sz="950" dirty="0"/>
          </a:p>
        </p:txBody>
      </p:sp>
      <p:sp>
        <p:nvSpPr>
          <p:cNvPr id="103" name="Text 103"/>
          <p:cNvSpPr txBox="1"/>
          <p:nvPr/>
        </p:nvSpPr>
        <p:spPr>
          <a:xfrm>
            <a:off x="8503920" y="6419088"/>
            <a:ext cx="3154680" cy="237744"/>
          </a:xfrm>
          <a:prstGeom prst="rect">
            <a:avLst/>
          </a:prstGeom>
          <a:noFill/>
          <a:ln/>
        </p:spPr>
        <p:txBody>
          <a:bodyPr wrap="square" lIns="0" tIns="0" rIns="0" bIns="0" rtlCol="0" anchor="ctr"/>
          <a:lstStyle/>
          <a:p>
            <a:pPr indent="0" marL="0" algn="r">
              <a:buNone/>
            </a:pPr>
            <a:r>
              <a:rPr lang="el-GR" sz="900" dirty="0">
                <a:solidFill>
                  <a:srgbClr val="8A91A3"/>
                </a:solidFill>
                <a:latin typeface="Consolas" pitchFamily="34" charset="0"/>
                <a:ea typeface="Consolas" pitchFamily="34" charset="-122"/>
                <a:cs typeface="Consolas" pitchFamily="34" charset="-120"/>
              </a:rPr>
              <a:t>Λαμπρόπουλος Χρήστος</a:t>
            </a:r>
            <a:endParaRPr lang="el-GR" sz="900" dirty="0"/>
          </a:p>
        </p:txBody>
      </p:sp>
      <p:sp>
        <p:nvSpPr>
          <p:cNvPr id="104" name="Text 104"/>
          <p:cNvSpPr txBox="1"/>
          <p:nvPr/>
        </p:nvSpPr>
        <p:spPr>
          <a:xfrm>
            <a:off x="566928" y="384048"/>
            <a:ext cx="8412480" cy="237744"/>
          </a:xfrm>
          <a:prstGeom prst="rect">
            <a:avLst/>
          </a:prstGeom>
          <a:noFill/>
          <a:ln/>
        </p:spPr>
        <p:txBody>
          <a:bodyPr wrap="square" lIns="0" tIns="0" rIns="0" bIns="0" rtlCol="0" anchor="ctr"/>
          <a:lstStyle/>
          <a:p>
            <a:pPr indent="0" marL="0">
              <a:buNone/>
            </a:pPr>
            <a:r>
              <a:rPr lang="el-GR" sz="1000" spc="140" dirty="0">
                <a:solidFill>
                  <a:srgbClr val="2F4BD8"/>
                </a:solidFill>
                <a:latin typeface="Consolas" pitchFamily="34" charset="0"/>
                <a:ea typeface="Consolas" pitchFamily="34" charset="-122"/>
                <a:cs typeface="Consolas" pitchFamily="34" charset="-120"/>
              </a:rPr>
              <a:t xml:space="preserve">17  </a:t>
            </a:r>
            <a:r>
              <a:rPr lang="el-GR" sz="1000" spc="140" dirty="0">
                <a:solidFill>
                  <a:srgbClr val="8A91A3"/>
                </a:solidFill>
                <a:latin typeface="Consolas" pitchFamily="34" charset="0"/>
                <a:ea typeface="Consolas" pitchFamily="34" charset="-122"/>
                <a:cs typeface="Consolas" pitchFamily="34" charset="-120"/>
              </a:rPr>
              <a:t>ΟΔΗΓΟΣ ΕΝΤΟΛΩΝ · BASH</a:t>
            </a:r>
            <a:endParaRPr lang="el-GR" sz="1000" dirty="0"/>
          </a:p>
        </p:txBody>
      </p:sp>
      <p:sp>
        <p:nvSpPr>
          <p:cNvPr id="105" name="Text 105"/>
          <p:cNvSpPr txBox="1"/>
          <p:nvPr/>
        </p:nvSpPr>
        <p:spPr>
          <a:xfrm>
            <a:off x="530352" y="658368"/>
            <a:ext cx="8503920" cy="566928"/>
          </a:xfrm>
          <a:prstGeom prst="rect">
            <a:avLst/>
          </a:prstGeom>
          <a:noFill/>
          <a:ln/>
        </p:spPr>
        <p:txBody>
          <a:bodyPr wrap="square" lIns="0" tIns="0" rIns="0" bIns="0" rtlCol="0" anchor="ctr"/>
          <a:lstStyle/>
          <a:p>
            <a:pPr indent="0" marL="0">
              <a:buNone/>
            </a:pPr>
            <a:r>
              <a:rPr lang="el-GR" sz="3000" b="1" dirty="0">
                <a:solidFill>
                  <a:srgbClr val="171B26"/>
                </a:solidFill>
                <a:latin typeface="Segoe UI" pitchFamily="34" charset="0"/>
                <a:ea typeface="Segoe UI" pitchFamily="34" charset="-122"/>
                <a:cs typeface="Segoe UI" pitchFamily="34" charset="-120"/>
              </a:rPr>
              <a:t>Χρήστες και δικαιώματα στο Linux</a:t>
            </a:r>
            <a:endParaRPr lang="el-GR" sz="3000" dirty="0"/>
          </a:p>
        </p:txBody>
      </p:sp>
      <p:sp>
        <p:nvSpPr>
          <p:cNvPr id="106" name="Text 106"/>
          <p:cNvSpPr txBox="1"/>
          <p:nvPr/>
        </p:nvSpPr>
        <p:spPr>
          <a:xfrm>
            <a:off x="9098280" y="749808"/>
            <a:ext cx="2331720" cy="274320"/>
          </a:xfrm>
          <a:prstGeom prst="rect">
            <a:avLst/>
          </a:prstGeom>
          <a:noFill/>
          <a:ln/>
        </p:spPr>
        <p:txBody>
          <a:bodyPr wrap="square" lIns="0" tIns="0" rIns="0" bIns="0" rtlCol="0" anchor="ctr"/>
          <a:lstStyle/>
          <a:p>
            <a:pPr indent="0" marL="0" algn="r">
              <a:buNone/>
            </a:pPr>
            <a:r>
              <a:rPr lang="el-GR" sz="1100" b="1" dirty="0">
                <a:solidFill>
                  <a:srgbClr val="1B6B52"/>
                </a:solidFill>
                <a:latin typeface="Consolas" pitchFamily="34" charset="0"/>
                <a:ea typeface="Consolas" pitchFamily="34" charset="-122"/>
                <a:cs typeface="Consolas" pitchFamily="34" charset="-120"/>
              </a:rPr>
              <a:t>ΓΙΑ ΤΟ SITE</a:t>
            </a:r>
            <a:endParaRPr lang="el-GR" sz="1100" dirty="0"/>
          </a:p>
        </p:txBody>
      </p:sp>
      <p:sp>
        <p:nvSpPr>
          <p:cNvPr id="107" name="Shape 107"/>
          <p:cNvSpPr/>
          <p:nvPr/>
        </p:nvSpPr>
        <p:spPr>
          <a:xfrm>
            <a:off x="566928" y="1463040"/>
            <a:ext cx="6949440" cy="2651760"/>
          </a:xfrm>
          <a:prstGeom prst="roundRect">
            <a:avLst>
              <a:gd name="adj" fmla="val 1935"/>
            </a:avLst>
          </a:prstGeom>
          <a:solidFill>
            <a:srgbClr val="FBFCFE"/>
          </a:solidFill>
          <a:ln w="9525">
            <a:solidFill>
              <a:srgbClr val="D3D9E4"/>
            </a:solidFill>
            <a:prstDash val="solid"/>
          </a:ln>
        </p:spPr>
        <p:txBody>
          <a:bodyPr/>
          <a:p/>
        </p:txBody>
      </p:sp>
      <p:sp>
        <p:nvSpPr>
          <p:cNvPr id="108" name="Text 108"/>
          <p:cNvSpPr txBox="1"/>
          <p:nvPr/>
        </p:nvSpPr>
        <p:spPr>
          <a:xfrm>
            <a:off x="731520" y="1591056"/>
            <a:ext cx="6620256" cy="201168"/>
          </a:xfrm>
          <a:prstGeom prst="rect">
            <a:avLst/>
          </a:prstGeom>
          <a:noFill/>
          <a:ln/>
        </p:spPr>
        <p:txBody>
          <a:bodyPr wrap="square" lIns="0" tIns="0" rIns="0" bIns="0" rtlCol="0" anchor="ctr"/>
          <a:lstStyle/>
          <a:p>
            <a:pPr indent="0" marL="0">
              <a:buNone/>
            </a:pPr>
            <a:r>
              <a:rPr lang="el-GR" sz="900" b="1" spc="100" dirty="0">
                <a:solidFill>
                  <a:srgbClr val="2F4BD8"/>
                </a:solidFill>
                <a:latin typeface="Consolas" pitchFamily="34" charset="0"/>
                <a:ea typeface="Consolas" pitchFamily="34" charset="-122"/>
                <a:cs typeface="Consolas" pitchFamily="34" charset="-120"/>
              </a:rPr>
              <a:t>ΣΤΟ ΤΕΡΜΑΤΙΚΟ</a:t>
            </a:r>
            <a:endParaRPr lang="el-GR" sz="900" dirty="0"/>
          </a:p>
        </p:txBody>
      </p:sp>
      <p:sp>
        <p:nvSpPr>
          <p:cNvPr id="109" name="Text 109"/>
          <p:cNvSpPr txBox="1"/>
          <p:nvPr/>
        </p:nvSpPr>
        <p:spPr>
          <a:xfrm>
            <a:off x="731520" y="1874520"/>
            <a:ext cx="6620256" cy="2148840"/>
          </a:xfrm>
          <a:prstGeom prst="rect">
            <a:avLst/>
          </a:prstGeom>
          <a:noFill/>
          <a:ln/>
        </p:spPr>
        <p:txBody>
          <a:bodyPr wrap="square" lIns="0" tIns="0" rIns="0" bIns="0" rtlCol="0" anchor="t"/>
          <a:lstStyle/>
          <a:p>
            <a:pPr indent="0" marL="0">
              <a:lnSpc>
                <a:spcPct val="125000"/>
              </a:lnSpc>
              <a:buNone/>
            </a:pPr>
            <a:r>
              <a:rPr lang="el-GR" sz="1150" b="1" dirty="0">
                <a:solidFill>
                  <a:srgbClr val="171B26"/>
                </a:solidFill>
                <a:latin typeface="Consolas" pitchFamily="34" charset="0"/>
                <a:ea typeface="Consolas" pitchFamily="34" charset="-122"/>
                <a:cs typeface="Consolas" pitchFamily="34" charset="-120"/>
              </a:rPr>
              <a:t>whoami</a:t>
            </a:r>
            <a:r>
              <a:rPr lang="el-GR" sz="1150" dirty="0">
                <a:solidFill>
                  <a:srgbClr val="8A91A3"/>
                </a:solidFill>
                <a:latin typeface="Consolas" pitchFamily="34" charset="0"/>
                <a:ea typeface="Consolas" pitchFamily="34" charset="-122"/>
                <a:cs typeface="Consolas" pitchFamily="34" charset="-120"/>
              </a:rPr>
              <a:t xml:space="preserve">   → mathitis</a:t>
            </a:r>
            <a:endParaRPr lang="el-GR" sz="1150" dirty="0"/>
          </a:p>
          <a:p>
            <a:pPr indent="0" marL="0">
              <a:lnSpc>
                <a:spcPct val="125000"/>
              </a:lnSpc>
              <a:buNone/>
            </a:pPr>
            <a:r>
              <a:rPr lang="el-GR" sz="1150" b="1" dirty="0">
                <a:solidFill>
                  <a:srgbClr val="171B26"/>
                </a:solidFill>
                <a:latin typeface="Consolas" pitchFamily="34" charset="0"/>
                <a:ea typeface="Consolas" pitchFamily="34" charset="-122"/>
                <a:cs typeface="Consolas" pitchFamily="34" charset="-120"/>
              </a:rPr>
              <a:t>id</a:t>
            </a:r>
            <a:r>
              <a:rPr lang="el-GR" sz="1150" dirty="0">
                <a:solidFill>
                  <a:srgbClr val="8A91A3"/>
                </a:solidFill>
                <a:latin typeface="Consolas" pitchFamily="34" charset="0"/>
                <a:ea typeface="Consolas" pitchFamily="34" charset="-122"/>
                <a:cs typeface="Consolas" pitchFamily="34" charset="-120"/>
              </a:rPr>
              <a:t xml:space="preserve">   → uid=1000(mathitis) …</a:t>
            </a:r>
            <a:endParaRPr lang="el-GR" sz="1150" dirty="0"/>
          </a:p>
          <a:p>
            <a:pPr indent="0" marL="0">
              <a:lnSpc>
                <a:spcPct val="125000"/>
              </a:lnSpc>
              <a:buNone/>
            </a:pPr>
            <a:r>
              <a:rPr lang="el-GR" sz="1150" b="1" dirty="0">
                <a:solidFill>
                  <a:srgbClr val="171B26"/>
                </a:solidFill>
                <a:latin typeface="Consolas" pitchFamily="34" charset="0"/>
                <a:ea typeface="Consolas" pitchFamily="34" charset="-122"/>
                <a:cs typeface="Consolas" pitchFamily="34" charset="-120"/>
              </a:rPr>
              <a:t>ls /root</a:t>
            </a:r>
            <a:r>
              <a:rPr lang="el-GR" sz="1150" dirty="0">
                <a:solidFill>
                  <a:srgbClr val="8A91A3"/>
                </a:solidFill>
                <a:latin typeface="Consolas" pitchFamily="34" charset="0"/>
                <a:ea typeface="Consolas" pitchFamily="34" charset="-122"/>
                <a:cs typeface="Consolas" pitchFamily="34" charset="-120"/>
              </a:rPr>
              <a:t xml:space="preserve">   → Permission denied</a:t>
            </a:r>
            <a:endParaRPr lang="el-GR" sz="1150" dirty="0"/>
          </a:p>
          <a:p>
            <a:pPr indent="0" marL="0">
              <a:lnSpc>
                <a:spcPct val="125000"/>
              </a:lnSpc>
              <a:buNone/>
            </a:pPr>
            <a:r>
              <a:rPr lang="el-GR" sz="1150" b="1" dirty="0">
                <a:solidFill>
                  <a:srgbClr val="171B26"/>
                </a:solidFill>
                <a:latin typeface="Consolas" pitchFamily="34" charset="0"/>
                <a:ea typeface="Consolas" pitchFamily="34" charset="-122"/>
                <a:cs typeface="Consolas" pitchFamily="34" charset="-120"/>
              </a:rPr>
              <a:t>sudo apt install htop</a:t>
            </a:r>
            <a:r>
              <a:rPr lang="el-GR" sz="1150" dirty="0">
                <a:solidFill>
                  <a:srgbClr val="8A91A3"/>
                </a:solidFill>
                <a:latin typeface="Consolas" pitchFamily="34" charset="0"/>
                <a:ea typeface="Consolas" pitchFamily="34" charset="-122"/>
                <a:cs typeface="Consolas" pitchFamily="34" charset="-120"/>
              </a:rPr>
              <a:t xml:space="preserve">   → not in the sudoers file</a:t>
            </a:r>
            <a:endParaRPr lang="el-GR" sz="1150" dirty="0"/>
          </a:p>
          <a:p>
            <a:pPr indent="0" marL="0">
              <a:lnSpc>
                <a:spcPct val="125000"/>
              </a:lnSpc>
              <a:buNone/>
            </a:pPr>
            <a:r>
              <a:rPr lang="el-GR" sz="1150" b="1" dirty="0">
                <a:solidFill>
                  <a:srgbClr val="171B26"/>
                </a:solidFill>
                <a:latin typeface="Consolas" pitchFamily="34" charset="0"/>
                <a:ea typeface="Consolas" pitchFamily="34" charset="-122"/>
                <a:cs typeface="Consolas" pitchFamily="34" charset="-120"/>
              </a:rPr>
              <a:t>mkdir ~/ls_test</a:t>
            </a:r>
            <a:r>
              <a:rPr lang="el-GR" sz="1150" dirty="0">
                <a:solidFill>
                  <a:srgbClr val="8A91A3"/>
                </a:solidFill>
                <a:latin typeface="Consolas" pitchFamily="34" charset="0"/>
                <a:ea typeface="Consolas" pitchFamily="34" charset="-122"/>
                <a:cs typeface="Consolas" pitchFamily="34" charset="-120"/>
              </a:rPr>
              <a:t xml:space="preserve">   → στο σπίτι σου επιτρέπεται</a:t>
            </a:r>
            <a:endParaRPr lang="el-GR" sz="1150" dirty="0"/>
          </a:p>
        </p:txBody>
      </p:sp>
      <p:sp>
        <p:nvSpPr>
          <p:cNvPr id="110" name="Shape 110"/>
          <p:cNvSpPr/>
          <p:nvPr/>
        </p:nvSpPr>
        <p:spPr>
          <a:xfrm>
            <a:off x="7699248" y="1463040"/>
            <a:ext cx="3749040" cy="2651760"/>
          </a:xfrm>
          <a:prstGeom prst="roundRect">
            <a:avLst>
              <a:gd name="adj" fmla="val 1935"/>
            </a:avLst>
          </a:prstGeom>
          <a:solidFill>
            <a:srgbClr val="E4E8FB"/>
          </a:solidFill>
          <a:ln w="12700">
            <a:solidFill>
              <a:srgbClr val="E4E8FB"/>
            </a:solidFill>
            <a:prstDash val="solid"/>
          </a:ln>
        </p:spPr>
        <p:txBody>
          <a:bodyPr/>
          <a:p/>
        </p:txBody>
      </p:sp>
      <p:sp>
        <p:nvSpPr>
          <p:cNvPr id="111" name="Text 111"/>
          <p:cNvSpPr txBox="1"/>
          <p:nvPr/>
        </p:nvSpPr>
        <p:spPr>
          <a:xfrm>
            <a:off x="7863840" y="1591056"/>
            <a:ext cx="3419856" cy="274320"/>
          </a:xfrm>
          <a:prstGeom prst="rect">
            <a:avLst/>
          </a:prstGeom>
          <a:noFill/>
          <a:ln/>
        </p:spPr>
        <p:txBody>
          <a:bodyPr wrap="square" lIns="0" tIns="0" rIns="0" bIns="0" rtlCol="0" anchor="ctr"/>
          <a:lstStyle/>
          <a:p>
            <a:pPr indent="0" marL="0">
              <a:buNone/>
            </a:pPr>
            <a:r>
              <a:rPr lang="el-GR" sz="1400" b="1" dirty="0">
                <a:solidFill>
                  <a:srgbClr val="171B26"/>
                </a:solidFill>
                <a:latin typeface="Segoe UI" pitchFamily="34" charset="0"/>
                <a:ea typeface="Segoe UI" pitchFamily="34" charset="-122"/>
                <a:cs typeface="Segoe UI" pitchFamily="34" charset="-120"/>
              </a:rPr>
              <a:t>Ο root</a:t>
            </a:r>
            <a:endParaRPr lang="el-GR" sz="1400" dirty="0"/>
          </a:p>
        </p:txBody>
      </p:sp>
      <p:sp>
        <p:nvSpPr>
          <p:cNvPr id="112" name="Text 112"/>
          <p:cNvSpPr txBox="1"/>
          <p:nvPr/>
        </p:nvSpPr>
        <p:spPr>
          <a:xfrm>
            <a:off x="7863840" y="1938528"/>
            <a:ext cx="3419856" cy="2084832"/>
          </a:xfrm>
          <a:prstGeom prst="rect">
            <a:avLst/>
          </a:prstGeom>
          <a:noFill/>
          <a:ln/>
        </p:spPr>
        <p:txBody>
          <a:bodyPr wrap="square" lIns="0" tIns="0" rIns="0" bIns="0" rtlCol="0" anchor="t"/>
          <a:lstStyle/>
          <a:p>
            <a:pPr marL="177800" indent="-177800">
              <a:lnSpc>
                <a:spcPct val="112000"/>
              </a:lnSpc>
              <a:spcAft>
                <a:spcPts val="400"/>
              </a:spcAft>
              <a:buSzPct val="100000"/>
              <a:buChar char="•"/>
            </a:pPr>
            <a:r>
              <a:rPr lang="el-GR" sz="1150" dirty="0">
                <a:solidFill>
                  <a:srgbClr val="4A5265"/>
                </a:solidFill>
                <a:latin typeface="Segoe UI" pitchFamily="34" charset="0"/>
                <a:ea typeface="Segoe UI" pitchFamily="34" charset="-122"/>
                <a:cs typeface="Segoe UI" pitchFamily="34" charset="-120"/>
              </a:rPr>
              <a:t xml:space="preserve">Ο διαχειριστής του Linux, με </a:t>
            </a:r>
            <a:r>
              <a:rPr lang="el-GR" sz="1150" b="1" dirty="0">
                <a:solidFill>
                  <a:srgbClr val="171B26"/>
                </a:solidFill>
                <a:latin typeface="Segoe UI" pitchFamily="34" charset="0"/>
                <a:ea typeface="Segoe UI" pitchFamily="34" charset="-122"/>
                <a:cs typeface="Segoe UI" pitchFamily="34" charset="-120"/>
              </a:rPr>
              <a:t>uid 0</a:t>
            </a:r>
            <a:r>
              <a:rPr lang="el-GR" sz="1150" dirty="0">
                <a:solidFill>
                  <a:srgbClr val="4A5265"/>
                </a:solidFill>
                <a:latin typeface="Segoe UI" pitchFamily="34" charset="0"/>
                <a:ea typeface="Segoe UI" pitchFamily="34" charset="-122"/>
                <a:cs typeface="Segoe UI" pitchFamily="34" charset="-120"/>
              </a:rPr>
              <a:t>. Μπορεί τα πάντα.</a:t>
            </a:r>
            <a:endParaRPr lang="el-GR" sz="1150" dirty="0"/>
          </a:p>
          <a:p>
            <a:pPr marL="177800" indent="-177800">
              <a:lnSpc>
                <a:spcPct val="112000"/>
              </a:lnSpc>
              <a:spcAft>
                <a:spcPts val="400"/>
              </a:spcAft>
              <a:buSzPct val="100000"/>
              <a:buChar char="•"/>
            </a:pPr>
            <a:r>
              <a:rPr lang="el-GR" sz="1150" dirty="0">
                <a:solidFill>
                  <a:srgbClr val="4A5265"/>
                </a:solidFill>
                <a:latin typeface="Segoe UI" pitchFamily="34" charset="0"/>
                <a:ea typeface="Segoe UI" pitchFamily="34" charset="-122"/>
                <a:cs typeface="Segoe UI" pitchFamily="34" charset="-120"/>
              </a:rPr>
              <a:t xml:space="preserve">Οι απλοί χρήστες ξεκινούν από </a:t>
            </a:r>
            <a:r>
              <a:rPr lang="el-GR" sz="1150" b="1" dirty="0">
                <a:solidFill>
                  <a:srgbClr val="171B26"/>
                </a:solidFill>
                <a:latin typeface="Segoe UI" pitchFamily="34" charset="0"/>
                <a:ea typeface="Segoe UI" pitchFamily="34" charset="-122"/>
                <a:cs typeface="Segoe UI" pitchFamily="34" charset="-120"/>
              </a:rPr>
              <a:t>uid 1000</a:t>
            </a:r>
            <a:r>
              <a:rPr lang="el-GR" sz="1150" dirty="0">
                <a:solidFill>
                  <a:srgbClr val="4A5265"/>
                </a:solidFill>
                <a:latin typeface="Segoe UI" pitchFamily="34" charset="0"/>
                <a:ea typeface="Segoe UI" pitchFamily="34" charset="-122"/>
                <a:cs typeface="Segoe UI" pitchFamily="34" charset="-120"/>
              </a:rPr>
              <a:t>.</a:t>
            </a:r>
            <a:endParaRPr lang="el-GR" sz="1150" dirty="0"/>
          </a:p>
          <a:p>
            <a:pPr marL="177800" indent="-177800">
              <a:lnSpc>
                <a:spcPct val="112000"/>
              </a:lnSpc>
              <a:spcAft>
                <a:spcPts val="400"/>
              </a:spcAft>
              <a:buSzPct val="100000"/>
              <a:buChar char="•"/>
            </a:pPr>
            <a:r>
              <a:rPr lang="el-GR" sz="1100" b="1" dirty="0">
                <a:solidFill>
                  <a:srgbClr val="2F4BD8"/>
                </a:solidFill>
                <a:latin typeface="Consolas" pitchFamily="34" charset="0"/>
                <a:ea typeface="Consolas" pitchFamily="34" charset="-122"/>
                <a:cs typeface="Consolas" pitchFamily="34" charset="-120"/>
              </a:rPr>
              <a:t>sudo</a:t>
            </a:r>
            <a:r>
              <a:rPr lang="el-GR" sz="1150" dirty="0">
                <a:solidFill>
                  <a:srgbClr val="4A5265"/>
                </a:solidFill>
                <a:latin typeface="Segoe UI" pitchFamily="34" charset="0"/>
                <a:ea typeface="Segoe UI" pitchFamily="34" charset="-122"/>
                <a:cs typeface="Segoe UI" pitchFamily="34" charset="-120"/>
              </a:rPr>
              <a:t xml:space="preserve"> = «κάνε αυτή την εντολή ως root». Θέλει άδεια από τον διαχειριστή.</a:t>
            </a:r>
            <a:endParaRPr lang="el-GR" sz="1150" dirty="0"/>
          </a:p>
        </p:txBody>
      </p:sp>
      <p:sp>
        <p:nvSpPr>
          <p:cNvPr id="113" name="Shape 113"/>
          <p:cNvSpPr/>
          <p:nvPr/>
        </p:nvSpPr>
        <p:spPr>
          <a:xfrm>
            <a:off x="566928" y="4343400"/>
            <a:ext cx="10881360" cy="1645920"/>
          </a:xfrm>
          <a:prstGeom prst="roundRect">
            <a:avLst>
              <a:gd name="adj" fmla="val 1935"/>
            </a:avLst>
          </a:prstGeom>
          <a:solidFill>
            <a:srgbClr val="F6EDD6"/>
          </a:solidFill>
          <a:ln w="12700">
            <a:solidFill>
              <a:srgbClr val="F6EDD6"/>
            </a:solidFill>
            <a:prstDash val="solid"/>
          </a:ln>
        </p:spPr>
        <p:txBody>
          <a:bodyPr/>
          <a:p/>
        </p:txBody>
      </p:sp>
      <p:sp>
        <p:nvSpPr>
          <p:cNvPr id="114" name="Text 114"/>
          <p:cNvSpPr txBox="1"/>
          <p:nvPr/>
        </p:nvSpPr>
        <p:spPr>
          <a:xfrm>
            <a:off x="731520" y="4471416"/>
            <a:ext cx="10552176" cy="274320"/>
          </a:xfrm>
          <a:prstGeom prst="rect">
            <a:avLst/>
          </a:prstGeom>
          <a:noFill/>
          <a:ln/>
        </p:spPr>
        <p:txBody>
          <a:bodyPr wrap="square" lIns="0" tIns="0" rIns="0" bIns="0" rtlCol="0" anchor="ctr"/>
          <a:lstStyle/>
          <a:p>
            <a:pPr indent="0" marL="0">
              <a:buNone/>
            </a:pPr>
            <a:r>
              <a:rPr lang="el-GR" sz="1400" b="1" dirty="0">
                <a:solidFill>
                  <a:srgbClr val="171B26"/>
                </a:solidFill>
                <a:latin typeface="Segoe UI" pitchFamily="34" charset="0"/>
                <a:ea typeface="Segoe UI" pitchFamily="34" charset="-122"/>
                <a:cs typeface="Segoe UI" pitchFamily="34" charset="-120"/>
              </a:rPr>
              <a:t>Windows ↔ Linux</a:t>
            </a:r>
            <a:endParaRPr lang="el-GR" sz="1400" dirty="0"/>
          </a:p>
        </p:txBody>
      </p:sp>
      <p:sp>
        <p:nvSpPr>
          <p:cNvPr id="115" name="Text 115"/>
          <p:cNvSpPr txBox="1"/>
          <p:nvPr/>
        </p:nvSpPr>
        <p:spPr>
          <a:xfrm>
            <a:off x="731520" y="4818888"/>
            <a:ext cx="10552176" cy="1078992"/>
          </a:xfrm>
          <a:prstGeom prst="rect">
            <a:avLst/>
          </a:prstGeom>
          <a:noFill/>
          <a:ln/>
        </p:spPr>
        <p:txBody>
          <a:bodyPr wrap="square" lIns="0" tIns="0" rIns="0" bIns="0" rtlCol="0" anchor="t"/>
          <a:lstStyle/>
          <a:p>
            <a:pPr indent="0" marL="0">
              <a:lnSpc>
                <a:spcPct val="112000"/>
              </a:lnSpc>
              <a:spcAft>
                <a:spcPts val="400"/>
              </a:spcAft>
              <a:buNone/>
            </a:pPr>
            <a:r>
              <a:rPr lang="el-GR" sz="1200" dirty="0">
                <a:solidFill>
                  <a:srgbClr val="4A5265"/>
                </a:solidFill>
                <a:latin typeface="Segoe UI" pitchFamily="34" charset="0"/>
                <a:ea typeface="Segoe UI" pitchFamily="34" charset="-122"/>
                <a:cs typeface="Segoe UI" pitchFamily="34" charset="-120"/>
              </a:rPr>
              <a:t xml:space="preserve">Access is denied = </a:t>
            </a:r>
            <a:r>
              <a:rPr lang="el-GR" sz="1200" b="1" dirty="0">
                <a:solidFill>
                  <a:srgbClr val="171B26"/>
                </a:solidFill>
                <a:latin typeface="Segoe UI" pitchFamily="34" charset="0"/>
                <a:ea typeface="Segoe UI" pitchFamily="34" charset="-122"/>
                <a:cs typeface="Segoe UI" pitchFamily="34" charset="-120"/>
              </a:rPr>
              <a:t>Permission denied</a:t>
            </a:r>
            <a:r>
              <a:rPr lang="el-GR" sz="1200" dirty="0">
                <a:solidFill>
                  <a:srgbClr val="4A5265"/>
                </a:solidFill>
                <a:latin typeface="Segoe UI" pitchFamily="34" charset="0"/>
                <a:ea typeface="Segoe UI" pitchFamily="34" charset="-122"/>
                <a:cs typeface="Segoe UI" pitchFamily="34" charset="-120"/>
              </a:rPr>
              <a:t xml:space="preserve"> · Administrator = </a:t>
            </a:r>
            <a:r>
              <a:rPr lang="el-GR" sz="1200" b="1" dirty="0">
                <a:solidFill>
                  <a:srgbClr val="171B26"/>
                </a:solidFill>
                <a:latin typeface="Segoe UI" pitchFamily="34" charset="0"/>
                <a:ea typeface="Segoe UI" pitchFamily="34" charset="-122"/>
                <a:cs typeface="Segoe UI" pitchFamily="34" charset="-120"/>
              </a:rPr>
              <a:t>root</a:t>
            </a:r>
            <a:r>
              <a:rPr lang="el-GR" sz="1200" dirty="0">
                <a:solidFill>
                  <a:srgbClr val="4A5265"/>
                </a:solidFill>
                <a:latin typeface="Segoe UI" pitchFamily="34" charset="0"/>
                <a:ea typeface="Segoe UI" pitchFamily="34" charset="-122"/>
                <a:cs typeface="Segoe UI" pitchFamily="34" charset="-120"/>
              </a:rPr>
              <a:t xml:space="preserve"> · «Εκτέλεση ως διαχειριστής» = </a:t>
            </a:r>
            <a:r>
              <a:rPr lang="el-GR" sz="1200" b="1" dirty="0">
                <a:solidFill>
                  <a:srgbClr val="171B26"/>
                </a:solidFill>
                <a:latin typeface="Segoe UI" pitchFamily="34" charset="0"/>
                <a:ea typeface="Segoe UI" pitchFamily="34" charset="-122"/>
                <a:cs typeface="Segoe UI" pitchFamily="34" charset="-120"/>
              </a:rPr>
              <a:t>sudo</a:t>
            </a:r>
            <a:r>
              <a:rPr lang="el-GR" sz="1200" dirty="0">
                <a:solidFill>
                  <a:srgbClr val="4A5265"/>
                </a:solidFill>
                <a:latin typeface="Segoe UI" pitchFamily="34" charset="0"/>
                <a:ea typeface="Segoe UI" pitchFamily="34" charset="-122"/>
                <a:cs typeface="Segoe UI" pitchFamily="34" charset="-120"/>
              </a:rPr>
              <a:t>. Στο εργαστήριο δεν είσαι στους sudoers, όπως κι ένας μαθητής στο σχολικό PC.</a:t>
            </a:r>
            <a:endParaRPr lang="el-GR" sz="12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1" name="Shape 101"/>
          <p:cNvSpPr/>
          <p:nvPr/>
        </p:nvSpPr>
        <p:spPr>
          <a:xfrm>
            <a:off x="0" y="0"/>
            <a:ext cx="109728" cy="6858000"/>
          </a:xfrm>
          <a:prstGeom prst="rect">
            <a:avLst/>
          </a:prstGeom>
          <a:solidFill>
            <a:srgbClr val="2F4BD8"/>
          </a:solidFill>
          <a:ln w="12700">
            <a:solidFill>
              <a:srgbClr val="2F4BD8"/>
            </a:solidFill>
            <a:prstDash val="solid"/>
          </a:ln>
        </p:spPr>
        <p:txBody>
          <a:bodyPr/>
          <a:p/>
        </p:txBody>
      </p:sp>
      <p:pic>
        <p:nvPicPr>
          <p:cNvPr id="102" name="Picture 101" descr="image.png"/>
          <p:cNvPicPr>
            <a:picLocks noChangeAspect="1"/>
          </p:cNvPicPr>
          <p:nvPr/>
        </p:nvPicPr>
        <p:blipFill>
          <a:blip r:embed="rId2"/>
          <a:stretch>
            <a:fillRect/>
          </a:stretch>
        </p:blipFill>
        <p:spPr>
          <a:xfrm>
            <a:off x="9189720" y="274320"/>
            <a:ext cx="310896" cy="310896"/>
          </a:xfrm>
          <a:prstGeom prst="rect">
            <a:avLst/>
          </a:prstGeom>
        </p:spPr>
      </p:pic>
      <p:sp>
        <p:nvSpPr>
          <p:cNvPr id="102" name="Text 102"/>
          <p:cNvSpPr txBox="1"/>
          <p:nvPr/>
        </p:nvSpPr>
        <p:spPr>
          <a:xfrm>
            <a:off x="9573768" y="246888"/>
            <a:ext cx="2468880" cy="365760"/>
          </a:xfrm>
          <a:prstGeom prst="rect">
            <a:avLst/>
          </a:prstGeom>
          <a:noFill/>
          <a:ln/>
        </p:spPr>
        <p:txBody>
          <a:bodyPr wrap="square" lIns="0" tIns="0" rIns="0" bIns="0" rtlCol="0" anchor="ctr"/>
          <a:lstStyle/>
          <a:p>
            <a:pPr indent="0" marL="0">
              <a:buNone/>
            </a:pPr>
            <a:r>
              <a:rPr lang="el-GR" sz="950" b="1" dirty="0">
                <a:solidFill>
                  <a:srgbClr val="4A5265"/>
                </a:solidFill>
                <a:latin typeface="Segoe UI" pitchFamily="34" charset="0"/>
                <a:ea typeface="Segoe UI" pitchFamily="34" charset="-122"/>
                <a:cs typeface="Segoe UI" pitchFamily="34" charset="-120"/>
              </a:rPr>
              <a:t>ΣΑΕΚ Μαρκοπούλου</a:t>
            </a:r>
            <a:endParaRPr lang="el-GR" sz="950" dirty="0"/>
          </a:p>
          <a:p>
            <a:pPr indent="0" marL="0">
              <a:buNone/>
            </a:pPr>
            <a:r>
              <a:rPr lang="el-GR" sz="950" dirty="0">
                <a:solidFill>
                  <a:srgbClr val="8A91A3"/>
                </a:solidFill>
                <a:latin typeface="Segoe UI" pitchFamily="34" charset="0"/>
                <a:ea typeface="Segoe UI" pitchFamily="34" charset="-122"/>
                <a:cs typeface="Segoe UI" pitchFamily="34" charset="-120"/>
              </a:rPr>
              <a:t>Σύγχρονα Λειτουργικά Συστήματα</a:t>
            </a:r>
            <a:endParaRPr lang="el-GR" sz="950" dirty="0"/>
          </a:p>
        </p:txBody>
      </p:sp>
      <p:sp>
        <p:nvSpPr>
          <p:cNvPr id="103" name="Text 103"/>
          <p:cNvSpPr txBox="1"/>
          <p:nvPr/>
        </p:nvSpPr>
        <p:spPr>
          <a:xfrm>
            <a:off x="8503920" y="6419088"/>
            <a:ext cx="3154680" cy="237744"/>
          </a:xfrm>
          <a:prstGeom prst="rect">
            <a:avLst/>
          </a:prstGeom>
          <a:noFill/>
          <a:ln/>
        </p:spPr>
        <p:txBody>
          <a:bodyPr wrap="square" lIns="0" tIns="0" rIns="0" bIns="0" rtlCol="0" anchor="ctr"/>
          <a:lstStyle/>
          <a:p>
            <a:pPr indent="0" marL="0" algn="r">
              <a:buNone/>
            </a:pPr>
            <a:r>
              <a:rPr lang="el-GR" sz="900" dirty="0">
                <a:solidFill>
                  <a:srgbClr val="8A91A3"/>
                </a:solidFill>
                <a:latin typeface="Consolas" pitchFamily="34" charset="0"/>
                <a:ea typeface="Consolas" pitchFamily="34" charset="-122"/>
                <a:cs typeface="Consolas" pitchFamily="34" charset="-120"/>
              </a:rPr>
              <a:t>Λαμπρόπουλος Χρήστος</a:t>
            </a:r>
            <a:endParaRPr lang="el-GR" sz="900" dirty="0"/>
          </a:p>
        </p:txBody>
      </p:sp>
      <p:sp>
        <p:nvSpPr>
          <p:cNvPr id="104" name="Text 104"/>
          <p:cNvSpPr txBox="1"/>
          <p:nvPr/>
        </p:nvSpPr>
        <p:spPr>
          <a:xfrm>
            <a:off x="566928" y="384048"/>
            <a:ext cx="8412480" cy="237744"/>
          </a:xfrm>
          <a:prstGeom prst="rect">
            <a:avLst/>
          </a:prstGeom>
          <a:noFill/>
          <a:ln/>
        </p:spPr>
        <p:txBody>
          <a:bodyPr wrap="square" lIns="0" tIns="0" rIns="0" bIns="0" rtlCol="0" anchor="ctr"/>
          <a:lstStyle/>
          <a:p>
            <a:pPr indent="0" marL="0">
              <a:buNone/>
            </a:pPr>
            <a:r>
              <a:rPr lang="el-GR" sz="1000" spc="140" dirty="0">
                <a:solidFill>
                  <a:srgbClr val="2F4BD8"/>
                </a:solidFill>
                <a:latin typeface="Consolas" pitchFamily="34" charset="0"/>
                <a:ea typeface="Consolas" pitchFamily="34" charset="-122"/>
                <a:cs typeface="Consolas" pitchFamily="34" charset="-120"/>
              </a:rPr>
              <a:t xml:space="preserve">16  </a:t>
            </a:r>
            <a:r>
              <a:rPr lang="el-GR" sz="1000" spc="140" dirty="0">
                <a:solidFill>
                  <a:srgbClr val="8A91A3"/>
                </a:solidFill>
                <a:latin typeface="Consolas" pitchFamily="34" charset="0"/>
                <a:ea typeface="Consolas" pitchFamily="34" charset="-122"/>
                <a:cs typeface="Consolas" pitchFamily="34" charset="-120"/>
              </a:rPr>
              <a:t>ΟΔΗΓΟΣ ΕΝΤΟΛΩΝ · BASH</a:t>
            </a:r>
            <a:endParaRPr lang="el-GR" sz="1000" dirty="0"/>
          </a:p>
        </p:txBody>
      </p:sp>
      <p:sp>
        <p:nvSpPr>
          <p:cNvPr id="105" name="Text 105"/>
          <p:cNvSpPr txBox="1"/>
          <p:nvPr/>
        </p:nvSpPr>
        <p:spPr>
          <a:xfrm>
            <a:off x="530352" y="658368"/>
            <a:ext cx="8503920" cy="566928"/>
          </a:xfrm>
          <a:prstGeom prst="rect">
            <a:avLst/>
          </a:prstGeom>
          <a:noFill/>
          <a:ln/>
        </p:spPr>
        <p:txBody>
          <a:bodyPr wrap="square" lIns="0" tIns="0" rIns="0" bIns="0" rtlCol="0" anchor="ctr"/>
          <a:lstStyle/>
          <a:p>
            <a:pPr indent="0" marL="0">
              <a:buNone/>
            </a:pPr>
            <a:r>
              <a:rPr lang="el-GR" sz="3000" b="1" dirty="0">
                <a:solidFill>
                  <a:srgbClr val="171B26"/>
                </a:solidFill>
                <a:latin typeface="Segoe UI" pitchFamily="34" charset="0"/>
                <a:ea typeface="Segoe UI" pitchFamily="34" charset="-122"/>
                <a:cs typeface="Segoe UI" pitchFamily="34" charset="-120"/>
              </a:rPr>
              <a:t>Το δέντρο φακέλων του Linux</a:t>
            </a:r>
            <a:endParaRPr lang="el-GR" sz="3000" dirty="0"/>
          </a:p>
        </p:txBody>
      </p:sp>
      <p:sp>
        <p:nvSpPr>
          <p:cNvPr id="106" name="Text 106"/>
          <p:cNvSpPr txBox="1"/>
          <p:nvPr/>
        </p:nvSpPr>
        <p:spPr>
          <a:xfrm>
            <a:off x="9098280" y="749808"/>
            <a:ext cx="2331720" cy="274320"/>
          </a:xfrm>
          <a:prstGeom prst="rect">
            <a:avLst/>
          </a:prstGeom>
          <a:noFill/>
          <a:ln/>
        </p:spPr>
        <p:txBody>
          <a:bodyPr wrap="square" lIns="0" tIns="0" rIns="0" bIns="0" rtlCol="0" anchor="ctr"/>
          <a:lstStyle/>
          <a:p>
            <a:pPr indent="0" marL="0" algn="r">
              <a:buNone/>
            </a:pPr>
            <a:r>
              <a:rPr lang="el-GR" sz="1100" b="1" dirty="0">
                <a:solidFill>
                  <a:srgbClr val="1B6B52"/>
                </a:solidFill>
                <a:latin typeface="Consolas" pitchFamily="34" charset="0"/>
                <a:ea typeface="Consolas" pitchFamily="34" charset="-122"/>
                <a:cs typeface="Consolas" pitchFamily="34" charset="-120"/>
              </a:rPr>
              <a:t>ΓΙΑ ΤΟ SITE</a:t>
            </a:r>
            <a:endParaRPr lang="el-GR" sz="1100" dirty="0"/>
          </a:p>
        </p:txBody>
      </p:sp>
      <p:graphicFrame>
        <p:nvGraphicFramePr>
          <p:cNvPr id="107" name="Table 107"/>
          <p:cNvGraphicFramePr>
            <a:graphicFrameLocks noGrp="1"/>
          </p:cNvGraphicFramePr>
          <p:nvPr/>
        </p:nvGraphicFramePr>
        <p:xfrm>
          <a:off x="566928" y="1463040"/>
          <a:ext cx="10881360" cy="2414016"/>
        </p:xfrm>
        <a:graphic>
          <a:graphicData uri="http://schemas.openxmlformats.org/drawingml/2006/table">
            <a:tbl>
              <a:tblPr/>
              <a:tblGrid>
                <a:gridCol w="2011680"/>
                <a:gridCol w="5120640"/>
                <a:gridCol w="3749040"/>
              </a:tblGrid>
              <a:tr h="329184">
                <a:tc>
                  <a:txBody>
                    <a:bodyPr/>
                    <a:lstStyle/>
                    <a:p>
                      <a:pPr indent="0" marL="0">
                        <a:buNone/>
                      </a:pPr>
                      <a:r>
                        <a:rPr lang="el-GR" sz="900" b="1" dirty="0">
                          <a:solidFill>
                            <a:srgbClr val="8A91A3"/>
                          </a:solidFill>
                          <a:latin typeface="Consolas" pitchFamily="34" charset="0"/>
                          <a:ea typeface="Consolas" pitchFamily="34" charset="-122"/>
                          <a:cs typeface="Consolas" pitchFamily="34" charset="-120"/>
                        </a:rPr>
                        <a:t>ΦΑΚΕΛΟΣ</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1F3FA"/>
                    </a:solidFill>
                  </a:tcPr>
                </a:tc>
                <a:tc>
                  <a:txBody>
                    <a:bodyPr/>
                    <a:lstStyle/>
                    <a:p>
                      <a:pPr indent="0" marL="0">
                        <a:buNone/>
                      </a:pPr>
                      <a:r>
                        <a:rPr lang="el-GR" sz="900" b="1" dirty="0">
                          <a:solidFill>
                            <a:srgbClr val="8A91A3"/>
                          </a:solidFill>
                          <a:latin typeface="Consolas" pitchFamily="34" charset="0"/>
                          <a:ea typeface="Consolas" pitchFamily="34" charset="-122"/>
                          <a:cs typeface="Consolas" pitchFamily="34" charset="-120"/>
                        </a:rPr>
                        <a:t>ΤΙ ΕΧΕΙ</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1F3FA"/>
                    </a:solidFill>
                  </a:tcPr>
                </a:tc>
                <a:tc>
                  <a:txBody>
                    <a:bodyPr/>
                    <a:lstStyle/>
                    <a:p>
                      <a:pPr indent="0" marL="0">
                        <a:buNone/>
                      </a:pPr>
                      <a:r>
                        <a:rPr lang="el-GR" sz="900" b="1" dirty="0">
                          <a:solidFill>
                            <a:srgbClr val="8A91A3"/>
                          </a:solidFill>
                          <a:latin typeface="Consolas" pitchFamily="34" charset="0"/>
                          <a:ea typeface="Consolas" pitchFamily="34" charset="-122"/>
                          <a:cs typeface="Consolas" pitchFamily="34" charset="-120"/>
                        </a:rPr>
                        <a:t>ΣΤΑ WINDOWS (ΠΕΡΙΠΟΥ)</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1F3FA"/>
                    </a:solidFill>
                  </a:tcPr>
                </a:tc>
              </a:tr>
              <a:tr h="347472">
                <a:tc>
                  <a:txBody>
                    <a:bodyPr/>
                    <a:lstStyle/>
                    <a:p>
                      <a:pPr indent="0" marL="0">
                        <a:buNone/>
                      </a:pPr>
                      <a:r>
                        <a:rPr lang="el-GR" sz="1100" b="1" dirty="0">
                          <a:solidFill>
                            <a:srgbClr val="171B26"/>
                          </a:solidFill>
                          <a:latin typeface="Consolas" pitchFamily="34" charset="0"/>
                          <a:ea typeface="Consolas" pitchFamily="34" charset="-122"/>
                          <a:cs typeface="Consolas" pitchFamily="34" charset="-120"/>
                        </a:rPr>
                        <a:t>/</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Η ρίζα: από εδώ ξεκινούν όλα</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C:\</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347472">
                <a:tc>
                  <a:txBody>
                    <a:bodyPr/>
                    <a:lstStyle/>
                    <a:p>
                      <a:pPr indent="0" marL="0">
                        <a:buNone/>
                      </a:pPr>
                      <a:r>
                        <a:rPr lang="el-GR" sz="1100" b="1" dirty="0">
                          <a:solidFill>
                            <a:srgbClr val="171B26"/>
                          </a:solidFill>
                          <a:latin typeface="Consolas" pitchFamily="34" charset="0"/>
                          <a:ea typeface="Consolas" pitchFamily="34" charset="-122"/>
                          <a:cs typeface="Consolas" pitchFamily="34" charset="-120"/>
                        </a:rPr>
                        <a:t>/home</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Τα «σπίτια» των χρηστών, π.χ. /home/mathitis</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C:\Users</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347472">
                <a:tc>
                  <a:txBody>
                    <a:bodyPr/>
                    <a:lstStyle/>
                    <a:p>
                      <a:pPr indent="0" marL="0">
                        <a:buNone/>
                      </a:pPr>
                      <a:r>
                        <a:rPr lang="el-GR" sz="1100" b="1" dirty="0">
                          <a:solidFill>
                            <a:srgbClr val="171B26"/>
                          </a:solidFill>
                          <a:latin typeface="Consolas" pitchFamily="34" charset="0"/>
                          <a:ea typeface="Consolas" pitchFamily="34" charset="-122"/>
                          <a:cs typeface="Consolas" pitchFamily="34" charset="-120"/>
                        </a:rPr>
                        <a:t>/etc</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Αρχεία ρυθμίσεων: hostname, os-release, passwd</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ρυθμίσεις μέσα στο C:\Windows</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347472">
                <a:tc>
                  <a:txBody>
                    <a:bodyPr/>
                    <a:lstStyle/>
                    <a:p>
                      <a:pPr indent="0" marL="0">
                        <a:buNone/>
                      </a:pPr>
                      <a:r>
                        <a:rPr lang="el-GR" sz="1100" b="1" dirty="0">
                          <a:solidFill>
                            <a:srgbClr val="171B26"/>
                          </a:solidFill>
                          <a:latin typeface="Consolas" pitchFamily="34" charset="0"/>
                          <a:ea typeface="Consolas" pitchFamily="34" charset="-122"/>
                          <a:cs typeface="Consolas" pitchFamily="34" charset="-120"/>
                        </a:rPr>
                        <a:t>/bin  /usr/bin</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Τα προγράμματα: ls, cat, ps …</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C:\Windows\System32</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347472">
                <a:tc>
                  <a:txBody>
                    <a:bodyPr/>
                    <a:lstStyle/>
                    <a:p>
                      <a:pPr indent="0" marL="0">
                        <a:buNone/>
                      </a:pPr>
                      <a:r>
                        <a:rPr lang="el-GR" sz="1100" b="1" dirty="0">
                          <a:solidFill>
                            <a:srgbClr val="171B26"/>
                          </a:solidFill>
                          <a:latin typeface="Consolas" pitchFamily="34" charset="0"/>
                          <a:ea typeface="Consolas" pitchFamily="34" charset="-122"/>
                          <a:cs typeface="Consolas" pitchFamily="34" charset="-120"/>
                        </a:rPr>
                        <a:t>/proc</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Πληροφορίες για υλικό και διεργασίες, π.χ. cpuinfo</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δεν υπάρχει</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347472">
                <a:tc>
                  <a:txBody>
                    <a:bodyPr/>
                    <a:lstStyle/>
                    <a:p>
                      <a:pPr indent="0" marL="0">
                        <a:buNone/>
                      </a:pPr>
                      <a:r>
                        <a:rPr lang="el-GR" sz="1100" b="1" dirty="0">
                          <a:solidFill>
                            <a:srgbClr val="171B26"/>
                          </a:solidFill>
                          <a:latin typeface="Consolas" pitchFamily="34" charset="0"/>
                          <a:ea typeface="Consolas" pitchFamily="34" charset="-122"/>
                          <a:cs typeface="Consolas" pitchFamily="34" charset="-120"/>
                        </a:rPr>
                        <a:t>/root</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Το «σπίτι» του διαχειριστή (root)</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bl>
          </a:graphicData>
        </a:graphic>
      </p:graphicFrame>
      <p:sp>
        <p:nvSpPr>
          <p:cNvPr id="108" name="Shape 108"/>
          <p:cNvSpPr/>
          <p:nvPr/>
        </p:nvSpPr>
        <p:spPr>
          <a:xfrm>
            <a:off x="566928" y="4078224"/>
            <a:ext cx="6949440" cy="1911096"/>
          </a:xfrm>
          <a:prstGeom prst="roundRect">
            <a:avLst>
              <a:gd name="adj" fmla="val 1935"/>
            </a:avLst>
          </a:prstGeom>
          <a:solidFill>
            <a:srgbClr val="FBFCFE"/>
          </a:solidFill>
          <a:ln w="9525">
            <a:solidFill>
              <a:srgbClr val="D3D9E4"/>
            </a:solidFill>
            <a:prstDash val="solid"/>
          </a:ln>
        </p:spPr>
        <p:txBody>
          <a:bodyPr/>
          <a:p/>
        </p:txBody>
      </p:sp>
      <p:sp>
        <p:nvSpPr>
          <p:cNvPr id="109" name="Text 109"/>
          <p:cNvSpPr txBox="1"/>
          <p:nvPr/>
        </p:nvSpPr>
        <p:spPr>
          <a:xfrm>
            <a:off x="731520" y="4206240"/>
            <a:ext cx="6620256" cy="201168"/>
          </a:xfrm>
          <a:prstGeom prst="rect">
            <a:avLst/>
          </a:prstGeom>
          <a:noFill/>
          <a:ln/>
        </p:spPr>
        <p:txBody>
          <a:bodyPr wrap="square" lIns="0" tIns="0" rIns="0" bIns="0" rtlCol="0" anchor="ctr"/>
          <a:lstStyle/>
          <a:p>
            <a:pPr indent="0" marL="0">
              <a:buNone/>
            </a:pPr>
            <a:r>
              <a:rPr lang="el-GR" sz="900" b="1" spc="100" dirty="0">
                <a:solidFill>
                  <a:srgbClr val="2F4BD8"/>
                </a:solidFill>
                <a:latin typeface="Consolas" pitchFamily="34" charset="0"/>
                <a:ea typeface="Consolas" pitchFamily="34" charset="-122"/>
                <a:cs typeface="Consolas" pitchFamily="34" charset="-120"/>
              </a:rPr>
              <a:t>ΣΤΟ ΤΕΡΜΑΤΙΚΟ</a:t>
            </a:r>
            <a:endParaRPr lang="el-GR" sz="900" dirty="0"/>
          </a:p>
        </p:txBody>
      </p:sp>
      <p:sp>
        <p:nvSpPr>
          <p:cNvPr id="110" name="Text 110"/>
          <p:cNvSpPr txBox="1"/>
          <p:nvPr/>
        </p:nvSpPr>
        <p:spPr>
          <a:xfrm>
            <a:off x="731520" y="4489704"/>
            <a:ext cx="6620256" cy="1408176"/>
          </a:xfrm>
          <a:prstGeom prst="rect">
            <a:avLst/>
          </a:prstGeom>
          <a:noFill/>
          <a:ln/>
        </p:spPr>
        <p:txBody>
          <a:bodyPr wrap="square" lIns="0" tIns="0" rIns="0" bIns="0" rtlCol="0" anchor="t"/>
          <a:lstStyle/>
          <a:p>
            <a:pPr indent="0" marL="0">
              <a:lnSpc>
                <a:spcPct val="125000"/>
              </a:lnSpc>
              <a:buNone/>
            </a:pPr>
            <a:r>
              <a:rPr lang="el-GR" sz="1100" b="1" dirty="0">
                <a:solidFill>
                  <a:srgbClr val="171B26"/>
                </a:solidFill>
                <a:latin typeface="Consolas" pitchFamily="34" charset="0"/>
                <a:ea typeface="Consolas" pitchFamily="34" charset="-122"/>
                <a:cs typeface="Consolas" pitchFamily="34" charset="-120"/>
              </a:rPr>
              <a:t>cd / ; ls</a:t>
            </a:r>
            <a:r>
              <a:rPr lang="el-GR" sz="1100" dirty="0">
                <a:solidFill>
                  <a:srgbClr val="8A91A3"/>
                </a:solidFill>
                <a:latin typeface="Consolas" pitchFamily="34" charset="0"/>
                <a:ea typeface="Consolas" pitchFamily="34" charset="-122"/>
                <a:cs typeface="Consolas" pitchFamily="34" charset="-120"/>
              </a:rPr>
              <a:t xml:space="preserve">   η ρίζα</a:t>
            </a:r>
            <a:endParaRPr lang="el-GR" sz="1100" dirty="0"/>
          </a:p>
          <a:p>
            <a:pPr indent="0" marL="0">
              <a:lnSpc>
                <a:spcPct val="125000"/>
              </a:lnSpc>
              <a:buNone/>
            </a:pPr>
            <a:r>
              <a:rPr lang="el-GR" sz="1100" b="1" dirty="0">
                <a:solidFill>
                  <a:srgbClr val="171B26"/>
                </a:solidFill>
                <a:latin typeface="Consolas" pitchFamily="34" charset="0"/>
                <a:ea typeface="Consolas" pitchFamily="34" charset="-122"/>
                <a:cs typeface="Consolas" pitchFamily="34" charset="-120"/>
              </a:rPr>
              <a:t>cat /etc/hostname</a:t>
            </a:r>
            <a:r>
              <a:rPr lang="el-GR" sz="1100" dirty="0">
                <a:solidFill>
                  <a:srgbClr val="8A91A3"/>
                </a:solidFill>
                <a:latin typeface="Consolas" pitchFamily="34" charset="0"/>
                <a:ea typeface="Consolas" pitchFamily="34" charset="-122"/>
                <a:cs typeface="Consolas" pitchFamily="34" charset="-120"/>
              </a:rPr>
              <a:t xml:space="preserve">   το όνομα του υπολογιστή</a:t>
            </a:r>
            <a:endParaRPr lang="el-GR" sz="1100" dirty="0"/>
          </a:p>
          <a:p>
            <a:pPr indent="0" marL="0">
              <a:lnSpc>
                <a:spcPct val="125000"/>
              </a:lnSpc>
              <a:buNone/>
            </a:pPr>
            <a:r>
              <a:rPr lang="el-GR" sz="1100" b="1" dirty="0">
                <a:solidFill>
                  <a:srgbClr val="171B26"/>
                </a:solidFill>
                <a:latin typeface="Consolas" pitchFamily="34" charset="0"/>
                <a:ea typeface="Consolas" pitchFamily="34" charset="-122"/>
                <a:cs typeface="Consolas" pitchFamily="34" charset="-120"/>
              </a:rPr>
              <a:t>cat /proc/cpuinfo</a:t>
            </a:r>
            <a:r>
              <a:rPr lang="el-GR" sz="1100" dirty="0">
                <a:solidFill>
                  <a:srgbClr val="8A91A3"/>
                </a:solidFill>
                <a:latin typeface="Consolas" pitchFamily="34" charset="0"/>
                <a:ea typeface="Consolas" pitchFamily="34" charset="-122"/>
                <a:cs typeface="Consolas" pitchFamily="34" charset="-120"/>
              </a:rPr>
              <a:t xml:space="preserve">   ο επεξεργαστής (model name)</a:t>
            </a:r>
            <a:endParaRPr lang="el-GR" sz="1100" dirty="0"/>
          </a:p>
        </p:txBody>
      </p:sp>
      <p:sp>
        <p:nvSpPr>
          <p:cNvPr id="111" name="Shape 111"/>
          <p:cNvSpPr/>
          <p:nvPr/>
        </p:nvSpPr>
        <p:spPr>
          <a:xfrm>
            <a:off x="7699248" y="4078224"/>
            <a:ext cx="3749040" cy="1911096"/>
          </a:xfrm>
          <a:prstGeom prst="roundRect">
            <a:avLst>
              <a:gd name="adj" fmla="val 1935"/>
            </a:avLst>
          </a:prstGeom>
          <a:solidFill>
            <a:srgbClr val="F6EDD6"/>
          </a:solidFill>
          <a:ln w="12700">
            <a:solidFill>
              <a:srgbClr val="F6EDD6"/>
            </a:solidFill>
            <a:prstDash val="solid"/>
          </a:ln>
        </p:spPr>
        <p:txBody>
          <a:bodyPr/>
          <a:p/>
        </p:txBody>
      </p:sp>
      <p:sp>
        <p:nvSpPr>
          <p:cNvPr id="112" name="Text 112"/>
          <p:cNvSpPr txBox="1"/>
          <p:nvPr/>
        </p:nvSpPr>
        <p:spPr>
          <a:xfrm>
            <a:off x="7863840" y="4206240"/>
            <a:ext cx="3419856" cy="274320"/>
          </a:xfrm>
          <a:prstGeom prst="rect">
            <a:avLst/>
          </a:prstGeom>
          <a:noFill/>
          <a:ln/>
        </p:spPr>
        <p:txBody>
          <a:bodyPr wrap="square" lIns="0" tIns="0" rIns="0" bIns="0" rtlCol="0" anchor="ctr"/>
          <a:lstStyle/>
          <a:p>
            <a:pPr indent="0" marL="0">
              <a:buNone/>
            </a:pPr>
            <a:r>
              <a:rPr lang="el-GR" sz="1400" b="1" dirty="0">
                <a:solidFill>
                  <a:srgbClr val="171B26"/>
                </a:solidFill>
                <a:latin typeface="Segoe UI" pitchFamily="34" charset="0"/>
                <a:ea typeface="Segoe UI" pitchFamily="34" charset="-122"/>
                <a:cs typeface="Segoe UI" pitchFamily="34" charset="-120"/>
              </a:rPr>
              <a:t>Το ~ (tilde)</a:t>
            </a:r>
            <a:endParaRPr lang="el-GR" sz="1400" dirty="0"/>
          </a:p>
        </p:txBody>
      </p:sp>
      <p:sp>
        <p:nvSpPr>
          <p:cNvPr id="113" name="Text 113"/>
          <p:cNvSpPr txBox="1"/>
          <p:nvPr/>
        </p:nvSpPr>
        <p:spPr>
          <a:xfrm>
            <a:off x="7863840" y="4553712"/>
            <a:ext cx="3419856" cy="1344168"/>
          </a:xfrm>
          <a:prstGeom prst="rect">
            <a:avLst/>
          </a:prstGeom>
          <a:noFill/>
          <a:ln/>
        </p:spPr>
        <p:txBody>
          <a:bodyPr wrap="square" lIns="0" tIns="0" rIns="0" bIns="0" rtlCol="0" anchor="t"/>
          <a:lstStyle/>
          <a:p>
            <a:pPr indent="0" marL="0">
              <a:lnSpc>
                <a:spcPct val="112000"/>
              </a:lnSpc>
              <a:spcAft>
                <a:spcPts val="400"/>
              </a:spcAft>
              <a:buNone/>
            </a:pPr>
            <a:r>
              <a:rPr lang="el-GR" sz="1150" dirty="0">
                <a:solidFill>
                  <a:srgbClr val="4A5265"/>
                </a:solidFill>
                <a:latin typeface="Segoe UI" pitchFamily="34" charset="0"/>
                <a:ea typeface="Segoe UI" pitchFamily="34" charset="-122"/>
                <a:cs typeface="Segoe UI" pitchFamily="34" charset="-120"/>
              </a:rPr>
              <a:t xml:space="preserve">Σημαίνει το σπίτι σου, </a:t>
            </a:r>
            <a:r>
              <a:rPr lang="el-GR" sz="1100" b="1" dirty="0">
                <a:solidFill>
                  <a:srgbClr val="2F4BD8"/>
                </a:solidFill>
                <a:latin typeface="Consolas" pitchFamily="34" charset="0"/>
                <a:ea typeface="Consolas" pitchFamily="34" charset="-122"/>
                <a:cs typeface="Consolas" pitchFamily="34" charset="-120"/>
              </a:rPr>
              <a:t>/home/mathitis</a:t>
            </a:r>
            <a:r>
              <a:rPr lang="el-GR" sz="1150" dirty="0">
                <a:solidFill>
                  <a:srgbClr val="4A5265"/>
                </a:solidFill>
                <a:latin typeface="Segoe UI" pitchFamily="34" charset="0"/>
                <a:ea typeface="Segoe UI" pitchFamily="34" charset="-122"/>
                <a:cs typeface="Segoe UI" pitchFamily="34" charset="-120"/>
              </a:rPr>
              <a:t xml:space="preserve">. Το </a:t>
            </a:r>
            <a:r>
              <a:rPr lang="el-GR" sz="1100" b="1" dirty="0">
                <a:solidFill>
                  <a:srgbClr val="2F4BD8"/>
                </a:solidFill>
                <a:latin typeface="Consolas" pitchFamily="34" charset="0"/>
                <a:ea typeface="Consolas" pitchFamily="34" charset="-122"/>
                <a:cs typeface="Consolas" pitchFamily="34" charset="-120"/>
              </a:rPr>
              <a:t>cd ~</a:t>
            </a:r>
            <a:r>
              <a:rPr lang="el-GR" sz="1150" dirty="0">
                <a:solidFill>
                  <a:srgbClr val="4A5265"/>
                </a:solidFill>
                <a:latin typeface="Segoe UI" pitchFamily="34" charset="0"/>
                <a:ea typeface="Segoe UI" pitchFamily="34" charset="-122"/>
                <a:cs typeface="Segoe UI" pitchFamily="34" charset="-120"/>
              </a:rPr>
              <a:t xml:space="preserve"> (ή σκέτο </a:t>
            </a:r>
            <a:r>
              <a:rPr lang="el-GR" sz="1100" b="1" dirty="0">
                <a:solidFill>
                  <a:srgbClr val="2F4BD8"/>
                </a:solidFill>
                <a:latin typeface="Consolas" pitchFamily="34" charset="0"/>
                <a:ea typeface="Consolas" pitchFamily="34" charset="-122"/>
                <a:cs typeface="Consolas" pitchFamily="34" charset="-120"/>
              </a:rPr>
              <a:t>cd</a:t>
            </a:r>
            <a:r>
              <a:rPr lang="el-GR" sz="1150" dirty="0">
                <a:solidFill>
                  <a:srgbClr val="4A5265"/>
                </a:solidFill>
                <a:latin typeface="Segoe UI" pitchFamily="34" charset="0"/>
                <a:ea typeface="Segoe UI" pitchFamily="34" charset="-122"/>
                <a:cs typeface="Segoe UI" pitchFamily="34" charset="-120"/>
              </a:rPr>
              <a:t xml:space="preserve">) σε γυρίζει εκεί. Το </a:t>
            </a:r>
            <a:r>
              <a:rPr lang="el-GR" sz="1100" b="1" dirty="0">
                <a:solidFill>
                  <a:srgbClr val="2F4BD8"/>
                </a:solidFill>
                <a:latin typeface="Consolas" pitchFamily="34" charset="0"/>
                <a:ea typeface="Consolas" pitchFamily="34" charset="-122"/>
                <a:cs typeface="Consolas" pitchFamily="34" charset="-120"/>
              </a:rPr>
              <a:t>pwd</a:t>
            </a:r>
            <a:r>
              <a:rPr lang="el-GR" sz="1150" dirty="0">
                <a:solidFill>
                  <a:srgbClr val="4A5265"/>
                </a:solidFill>
                <a:latin typeface="Segoe UI" pitchFamily="34" charset="0"/>
                <a:ea typeface="Segoe UI" pitchFamily="34" charset="-122"/>
                <a:cs typeface="Segoe UI" pitchFamily="34" charset="-120"/>
              </a:rPr>
              <a:t xml:space="preserve"> δείχνει πού είσαι.</a:t>
            </a:r>
            <a:endParaRPr lang="el-GR" sz="115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1" name="Shape 101"/>
          <p:cNvSpPr/>
          <p:nvPr/>
        </p:nvSpPr>
        <p:spPr>
          <a:xfrm>
            <a:off x="0" y="0"/>
            <a:ext cx="109728" cy="6858000"/>
          </a:xfrm>
          <a:prstGeom prst="rect">
            <a:avLst/>
          </a:prstGeom>
          <a:solidFill>
            <a:srgbClr val="2F4BD8"/>
          </a:solidFill>
          <a:ln w="12700">
            <a:solidFill>
              <a:srgbClr val="2F4BD8"/>
            </a:solidFill>
            <a:prstDash val="solid"/>
          </a:ln>
        </p:spPr>
        <p:txBody>
          <a:bodyPr/>
          <a:p/>
        </p:txBody>
      </p:sp>
      <p:pic>
        <p:nvPicPr>
          <p:cNvPr id="102" name="Picture 101" descr="image.png"/>
          <p:cNvPicPr>
            <a:picLocks noChangeAspect="1"/>
          </p:cNvPicPr>
          <p:nvPr/>
        </p:nvPicPr>
        <p:blipFill>
          <a:blip r:embed="rId2"/>
          <a:stretch>
            <a:fillRect/>
          </a:stretch>
        </p:blipFill>
        <p:spPr>
          <a:xfrm>
            <a:off x="9189720" y="274320"/>
            <a:ext cx="310896" cy="310896"/>
          </a:xfrm>
          <a:prstGeom prst="rect">
            <a:avLst/>
          </a:prstGeom>
        </p:spPr>
      </p:pic>
      <p:sp>
        <p:nvSpPr>
          <p:cNvPr id="102" name="Text 102"/>
          <p:cNvSpPr txBox="1"/>
          <p:nvPr/>
        </p:nvSpPr>
        <p:spPr>
          <a:xfrm>
            <a:off x="9573768" y="246888"/>
            <a:ext cx="2468880" cy="365760"/>
          </a:xfrm>
          <a:prstGeom prst="rect">
            <a:avLst/>
          </a:prstGeom>
          <a:noFill/>
          <a:ln/>
        </p:spPr>
        <p:txBody>
          <a:bodyPr wrap="square" lIns="0" tIns="0" rIns="0" bIns="0" rtlCol="0" anchor="ctr"/>
          <a:lstStyle/>
          <a:p>
            <a:pPr indent="0" marL="0">
              <a:buNone/>
            </a:pPr>
            <a:r>
              <a:rPr lang="el-GR" sz="950" b="1" dirty="0">
                <a:solidFill>
                  <a:srgbClr val="4A5265"/>
                </a:solidFill>
                <a:latin typeface="Segoe UI" pitchFamily="34" charset="0"/>
                <a:ea typeface="Segoe UI" pitchFamily="34" charset="-122"/>
                <a:cs typeface="Segoe UI" pitchFamily="34" charset="-120"/>
              </a:rPr>
              <a:t>ΣΑΕΚ Μαρκοπούλου</a:t>
            </a:r>
            <a:endParaRPr lang="el-GR" sz="950" dirty="0"/>
          </a:p>
          <a:p>
            <a:pPr indent="0" marL="0">
              <a:buNone/>
            </a:pPr>
            <a:r>
              <a:rPr lang="el-GR" sz="950" dirty="0">
                <a:solidFill>
                  <a:srgbClr val="8A91A3"/>
                </a:solidFill>
                <a:latin typeface="Segoe UI" pitchFamily="34" charset="0"/>
                <a:ea typeface="Segoe UI" pitchFamily="34" charset="-122"/>
                <a:cs typeface="Segoe UI" pitchFamily="34" charset="-120"/>
              </a:rPr>
              <a:t>Σύγχρονα Λειτουργικά Συστήματα</a:t>
            </a:r>
            <a:endParaRPr lang="el-GR" sz="950" dirty="0"/>
          </a:p>
        </p:txBody>
      </p:sp>
      <p:sp>
        <p:nvSpPr>
          <p:cNvPr id="103" name="Text 103"/>
          <p:cNvSpPr txBox="1"/>
          <p:nvPr/>
        </p:nvSpPr>
        <p:spPr>
          <a:xfrm>
            <a:off x="8503920" y="6419088"/>
            <a:ext cx="3154680" cy="237744"/>
          </a:xfrm>
          <a:prstGeom prst="rect">
            <a:avLst/>
          </a:prstGeom>
          <a:noFill/>
          <a:ln/>
        </p:spPr>
        <p:txBody>
          <a:bodyPr wrap="square" lIns="0" tIns="0" rIns="0" bIns="0" rtlCol="0" anchor="ctr"/>
          <a:lstStyle/>
          <a:p>
            <a:pPr indent="0" marL="0" algn="r">
              <a:buNone/>
            </a:pPr>
            <a:r>
              <a:rPr lang="el-GR" sz="900" dirty="0">
                <a:solidFill>
                  <a:srgbClr val="8A91A3"/>
                </a:solidFill>
                <a:latin typeface="Consolas" pitchFamily="34" charset="0"/>
                <a:ea typeface="Consolas" pitchFamily="34" charset="-122"/>
                <a:cs typeface="Consolas" pitchFamily="34" charset="-120"/>
              </a:rPr>
              <a:t>Λαμπρόπουλος Χρήστος</a:t>
            </a:r>
            <a:endParaRPr lang="el-GR" sz="900" dirty="0"/>
          </a:p>
        </p:txBody>
      </p:sp>
      <p:sp>
        <p:nvSpPr>
          <p:cNvPr id="104" name="Text 104"/>
          <p:cNvSpPr txBox="1"/>
          <p:nvPr/>
        </p:nvSpPr>
        <p:spPr>
          <a:xfrm>
            <a:off x="566928" y="384048"/>
            <a:ext cx="8412480" cy="237744"/>
          </a:xfrm>
          <a:prstGeom prst="rect">
            <a:avLst/>
          </a:prstGeom>
          <a:noFill/>
          <a:ln/>
        </p:spPr>
        <p:txBody>
          <a:bodyPr wrap="square" lIns="0" tIns="0" rIns="0" bIns="0" rtlCol="0" anchor="ctr"/>
          <a:lstStyle/>
          <a:p>
            <a:pPr indent="0" marL="0">
              <a:buNone/>
            </a:pPr>
            <a:r>
              <a:rPr lang="el-GR" sz="1000" spc="140" dirty="0">
                <a:solidFill>
                  <a:srgbClr val="2F4BD8"/>
                </a:solidFill>
                <a:latin typeface="Consolas" pitchFamily="34" charset="0"/>
                <a:ea typeface="Consolas" pitchFamily="34" charset="-122"/>
                <a:cs typeface="Consolas" pitchFamily="34" charset="-120"/>
              </a:rPr>
              <a:t xml:space="preserve">11  </a:t>
            </a:r>
            <a:r>
              <a:rPr lang="el-GR" sz="1000" spc="140" dirty="0">
                <a:solidFill>
                  <a:srgbClr val="8A91A3"/>
                </a:solidFill>
                <a:latin typeface="Consolas" pitchFamily="34" charset="0"/>
                <a:ea typeface="Consolas" pitchFamily="34" charset="-122"/>
                <a:cs typeface="Consolas" pitchFamily="34" charset="-120"/>
              </a:rPr>
              <a:t>ΟΔΗΓΟΣ ΕΝΤΟΛΩΝ · CMD</a:t>
            </a:r>
            <a:endParaRPr lang="el-GR" sz="1000" dirty="0"/>
          </a:p>
        </p:txBody>
      </p:sp>
      <p:sp>
        <p:nvSpPr>
          <p:cNvPr id="105" name="Text 105"/>
          <p:cNvSpPr txBox="1"/>
          <p:nvPr/>
        </p:nvSpPr>
        <p:spPr>
          <a:xfrm>
            <a:off x="530352" y="658368"/>
            <a:ext cx="8503920" cy="566928"/>
          </a:xfrm>
          <a:prstGeom prst="rect">
            <a:avLst/>
          </a:prstGeom>
          <a:noFill/>
          <a:ln/>
        </p:spPr>
        <p:txBody>
          <a:bodyPr wrap="square" lIns="0" tIns="0" rIns="0" bIns="0" rtlCol="0" anchor="ctr"/>
          <a:lstStyle/>
          <a:p>
            <a:pPr indent="0" marL="0">
              <a:buNone/>
            </a:pPr>
            <a:r>
              <a:rPr lang="el-GR" sz="2600" b="1" dirty="0">
                <a:solidFill>
                  <a:srgbClr val="171B26"/>
                </a:solidFill>
                <a:latin typeface="Segoe UI" pitchFamily="34" charset="0"/>
                <a:ea typeface="Segoe UI" pitchFamily="34" charset="-122"/>
                <a:cs typeface="Segoe UI" pitchFamily="34" charset="-120"/>
              </a:rPr>
              <a:t>Ασφάλεια: εκεί που δεν σε αφήνει το ΛΣ</a:t>
            </a:r>
            <a:endParaRPr lang="el-GR" sz="2600" dirty="0"/>
          </a:p>
        </p:txBody>
      </p:sp>
      <p:sp>
        <p:nvSpPr>
          <p:cNvPr id="106" name="Text 106"/>
          <p:cNvSpPr txBox="1"/>
          <p:nvPr/>
        </p:nvSpPr>
        <p:spPr>
          <a:xfrm>
            <a:off x="9098280" y="749808"/>
            <a:ext cx="2331720" cy="274320"/>
          </a:xfrm>
          <a:prstGeom prst="rect">
            <a:avLst/>
          </a:prstGeom>
          <a:noFill/>
          <a:ln/>
        </p:spPr>
        <p:txBody>
          <a:bodyPr wrap="square" lIns="0" tIns="0" rIns="0" bIns="0" rtlCol="0" anchor="ctr"/>
          <a:lstStyle/>
          <a:p>
            <a:pPr indent="0" marL="0" algn="r">
              <a:buNone/>
            </a:pPr>
            <a:r>
              <a:rPr lang="el-GR" sz="1100" b="1" dirty="0">
                <a:solidFill>
                  <a:srgbClr val="1B6B52"/>
                </a:solidFill>
                <a:latin typeface="Consolas" pitchFamily="34" charset="0"/>
                <a:ea typeface="Consolas" pitchFamily="34" charset="-122"/>
                <a:cs typeface="Consolas" pitchFamily="34" charset="-120"/>
              </a:rPr>
              <a:t>ΓΙΑ ΤΟ SITE</a:t>
            </a:r>
            <a:endParaRPr lang="el-GR" sz="1100" dirty="0"/>
          </a:p>
        </p:txBody>
      </p:sp>
      <p:sp>
        <p:nvSpPr>
          <p:cNvPr id="107" name="Shape 107"/>
          <p:cNvSpPr/>
          <p:nvPr/>
        </p:nvSpPr>
        <p:spPr>
          <a:xfrm>
            <a:off x="566928" y="1463040"/>
            <a:ext cx="6949440" cy="2194560"/>
          </a:xfrm>
          <a:prstGeom prst="roundRect">
            <a:avLst>
              <a:gd name="adj" fmla="val 1935"/>
            </a:avLst>
          </a:prstGeom>
          <a:solidFill>
            <a:srgbClr val="FBFCFE"/>
          </a:solidFill>
          <a:ln w="9525">
            <a:solidFill>
              <a:srgbClr val="D3D9E4"/>
            </a:solidFill>
            <a:prstDash val="solid"/>
          </a:ln>
        </p:spPr>
        <p:txBody>
          <a:bodyPr/>
          <a:p/>
        </p:txBody>
      </p:sp>
      <p:sp>
        <p:nvSpPr>
          <p:cNvPr id="108" name="Text 108"/>
          <p:cNvSpPr txBox="1"/>
          <p:nvPr/>
        </p:nvSpPr>
        <p:spPr>
          <a:xfrm>
            <a:off x="731520" y="1591056"/>
            <a:ext cx="6620256" cy="201168"/>
          </a:xfrm>
          <a:prstGeom prst="rect">
            <a:avLst/>
          </a:prstGeom>
          <a:noFill/>
          <a:ln/>
        </p:spPr>
        <p:txBody>
          <a:bodyPr wrap="square" lIns="0" tIns="0" rIns="0" bIns="0" rtlCol="0" anchor="ctr"/>
          <a:lstStyle/>
          <a:p>
            <a:pPr indent="0" marL="0">
              <a:buNone/>
            </a:pPr>
            <a:r>
              <a:rPr lang="el-GR" sz="900" b="1" spc="100" dirty="0">
                <a:solidFill>
                  <a:srgbClr val="2F4BD8"/>
                </a:solidFill>
                <a:latin typeface="Consolas" pitchFamily="34" charset="0"/>
                <a:ea typeface="Consolas" pitchFamily="34" charset="-122"/>
                <a:cs typeface="Consolas" pitchFamily="34" charset="-120"/>
              </a:rPr>
              <a:t>ΔΟΚΙΜΑΣΕ (ΣΤΟΝ ΕΞΟΜΟΙΩΤΗ ΤΟΥ SITE!)</a:t>
            </a:r>
            <a:endParaRPr lang="el-GR" sz="900" dirty="0"/>
          </a:p>
        </p:txBody>
      </p:sp>
      <p:sp>
        <p:nvSpPr>
          <p:cNvPr id="109" name="Text 109"/>
          <p:cNvSpPr txBox="1"/>
          <p:nvPr/>
        </p:nvSpPr>
        <p:spPr>
          <a:xfrm>
            <a:off x="731520" y="1874520"/>
            <a:ext cx="6620256" cy="1691640"/>
          </a:xfrm>
          <a:prstGeom prst="rect">
            <a:avLst/>
          </a:prstGeom>
          <a:noFill/>
          <a:ln/>
        </p:spPr>
        <p:txBody>
          <a:bodyPr wrap="square" lIns="0" tIns="0" rIns="0" bIns="0" rtlCol="0" anchor="t"/>
          <a:lstStyle/>
          <a:p>
            <a:pPr indent="0" marL="0">
              <a:lnSpc>
                <a:spcPct val="125000"/>
              </a:lnSpc>
              <a:buNone/>
            </a:pPr>
            <a:r>
              <a:rPr lang="el-GR" sz="1100" b="1" dirty="0">
                <a:solidFill>
                  <a:srgbClr val="171B26"/>
                </a:solidFill>
                <a:latin typeface="Consolas" pitchFamily="34" charset="0"/>
                <a:ea typeface="Consolas" pitchFamily="34" charset="-122"/>
                <a:cs typeface="Consolas" pitchFamily="34" charset="-120"/>
              </a:rPr>
              <a:t>mkdir C:\Windows\test</a:t>
            </a:r>
            <a:r>
              <a:rPr lang="el-GR" sz="1100" dirty="0">
                <a:solidFill>
                  <a:srgbClr val="8A91A3"/>
                </a:solidFill>
                <a:latin typeface="Consolas" pitchFamily="34" charset="0"/>
                <a:ea typeface="Consolas" pitchFamily="34" charset="-122"/>
                <a:cs typeface="Consolas" pitchFamily="34" charset="-120"/>
              </a:rPr>
              <a:t xml:space="preserve">   → Access is denied.</a:t>
            </a:r>
            <a:endParaRPr lang="el-GR" sz="1100" dirty="0"/>
          </a:p>
          <a:p>
            <a:pPr indent="0" marL="0">
              <a:lnSpc>
                <a:spcPct val="125000"/>
              </a:lnSpc>
              <a:buNone/>
            </a:pPr>
            <a:r>
              <a:rPr lang="el-GR" sz="1100" b="1" dirty="0">
                <a:solidFill>
                  <a:srgbClr val="171B26"/>
                </a:solidFill>
                <a:latin typeface="Consolas" pitchFamily="34" charset="0"/>
                <a:ea typeface="Consolas" pitchFamily="34" charset="-122"/>
                <a:cs typeface="Consolas" pitchFamily="34" charset="-120"/>
              </a:rPr>
              <a:t>del C:\Windows\System32\notepad.exe</a:t>
            </a:r>
            <a:r>
              <a:rPr lang="el-GR" sz="1100" dirty="0">
                <a:solidFill>
                  <a:srgbClr val="8A91A3"/>
                </a:solidFill>
                <a:latin typeface="Consolas" pitchFamily="34" charset="0"/>
                <a:ea typeface="Consolas" pitchFamily="34" charset="-122"/>
                <a:cs typeface="Consolas" pitchFamily="34" charset="-120"/>
              </a:rPr>
              <a:t xml:space="preserve">   → Access is denied.</a:t>
            </a:r>
            <a:endParaRPr lang="el-GR" sz="1100" dirty="0"/>
          </a:p>
          <a:p>
            <a:pPr indent="0" marL="0">
              <a:lnSpc>
                <a:spcPct val="125000"/>
              </a:lnSpc>
              <a:buNone/>
            </a:pPr>
            <a:r>
              <a:rPr lang="el-GR" sz="1100" b="1" dirty="0">
                <a:solidFill>
                  <a:srgbClr val="171B26"/>
                </a:solidFill>
                <a:latin typeface="Consolas" pitchFamily="34" charset="0"/>
                <a:ea typeface="Consolas" pitchFamily="34" charset="-122"/>
                <a:cs typeface="Consolas" pitchFamily="34" charset="-120"/>
              </a:rPr>
              <a:t>mkdir %USERPROFILE%\Desktop\asfaleia</a:t>
            </a:r>
            <a:r>
              <a:rPr lang="el-GR" sz="1100" dirty="0">
                <a:solidFill>
                  <a:srgbClr val="8A91A3"/>
                </a:solidFill>
                <a:latin typeface="Consolas" pitchFamily="34" charset="0"/>
                <a:ea typeface="Consolas" pitchFamily="34" charset="-122"/>
                <a:cs typeface="Consolas" pitchFamily="34" charset="-120"/>
              </a:rPr>
              <a:t xml:space="preserve">   → εδώ επιτρέπεται</a:t>
            </a:r>
            <a:endParaRPr lang="el-GR" sz="1100" dirty="0"/>
          </a:p>
        </p:txBody>
      </p:sp>
      <p:sp>
        <p:nvSpPr>
          <p:cNvPr id="110" name="Shape 110"/>
          <p:cNvSpPr/>
          <p:nvPr/>
        </p:nvSpPr>
        <p:spPr>
          <a:xfrm>
            <a:off x="7699248" y="1463040"/>
            <a:ext cx="3749040" cy="2194560"/>
          </a:xfrm>
          <a:prstGeom prst="roundRect">
            <a:avLst>
              <a:gd name="adj" fmla="val 1935"/>
            </a:avLst>
          </a:prstGeom>
          <a:solidFill>
            <a:srgbClr val="E4E8FB"/>
          </a:solidFill>
          <a:ln w="12700">
            <a:solidFill>
              <a:srgbClr val="E4E8FB"/>
            </a:solidFill>
            <a:prstDash val="solid"/>
          </a:ln>
        </p:spPr>
        <p:txBody>
          <a:bodyPr/>
          <a:p/>
        </p:txBody>
      </p:sp>
      <p:sp>
        <p:nvSpPr>
          <p:cNvPr id="111" name="Text 111"/>
          <p:cNvSpPr txBox="1"/>
          <p:nvPr/>
        </p:nvSpPr>
        <p:spPr>
          <a:xfrm>
            <a:off x="7863840" y="1591056"/>
            <a:ext cx="3419856" cy="274320"/>
          </a:xfrm>
          <a:prstGeom prst="rect">
            <a:avLst/>
          </a:prstGeom>
          <a:noFill/>
          <a:ln/>
        </p:spPr>
        <p:txBody>
          <a:bodyPr wrap="square" lIns="0" tIns="0" rIns="0" bIns="0" rtlCol="0" anchor="ctr"/>
          <a:lstStyle/>
          <a:p>
            <a:pPr indent="0" marL="0">
              <a:buNone/>
            </a:pPr>
            <a:r>
              <a:rPr lang="el-GR" sz="1400" b="1" dirty="0">
                <a:solidFill>
                  <a:srgbClr val="171B26"/>
                </a:solidFill>
                <a:latin typeface="Segoe UI" pitchFamily="34" charset="0"/>
                <a:ea typeface="Segoe UI" pitchFamily="34" charset="-122"/>
                <a:cs typeface="Segoe UI" pitchFamily="34" charset="-120"/>
              </a:rPr>
              <a:t>Γιατί;</a:t>
            </a:r>
            <a:endParaRPr lang="el-GR" sz="1400" dirty="0"/>
          </a:p>
        </p:txBody>
      </p:sp>
      <p:sp>
        <p:nvSpPr>
          <p:cNvPr id="112" name="Text 112"/>
          <p:cNvSpPr txBox="1"/>
          <p:nvPr/>
        </p:nvSpPr>
        <p:spPr>
          <a:xfrm>
            <a:off x="7863840" y="1938528"/>
            <a:ext cx="3419856" cy="1627632"/>
          </a:xfrm>
          <a:prstGeom prst="rect">
            <a:avLst/>
          </a:prstGeom>
          <a:noFill/>
          <a:ln/>
        </p:spPr>
        <p:txBody>
          <a:bodyPr wrap="square" lIns="0" tIns="0" rIns="0" bIns="0" rtlCol="0" anchor="t"/>
          <a:lstStyle/>
          <a:p>
            <a:pPr indent="0" marL="0">
              <a:lnSpc>
                <a:spcPct val="112000"/>
              </a:lnSpc>
              <a:spcAft>
                <a:spcPts val="400"/>
              </a:spcAft>
              <a:buNone/>
            </a:pPr>
            <a:r>
              <a:rPr lang="el-GR" sz="1150" dirty="0">
                <a:solidFill>
                  <a:srgbClr val="4A5265"/>
                </a:solidFill>
                <a:latin typeface="Segoe UI" pitchFamily="34" charset="0"/>
                <a:ea typeface="Segoe UI" pitchFamily="34" charset="-122"/>
                <a:cs typeface="Segoe UI" pitchFamily="34" charset="-120"/>
              </a:rPr>
              <a:t>Τα αρχεία του συστήματος τα αλλάζει μόνο ο διαχειριστής. Αν τα έσβηνε ένας απλός χρήστης (ή ένας ιός), τα Windows θα χαλούσαν.</a:t>
            </a:r>
            <a:endParaRPr lang="el-GR" sz="1150" dirty="0"/>
          </a:p>
        </p:txBody>
      </p:sp>
      <p:sp>
        <p:nvSpPr>
          <p:cNvPr id="113" name="Shape 113"/>
          <p:cNvSpPr/>
          <p:nvPr/>
        </p:nvSpPr>
        <p:spPr>
          <a:xfrm>
            <a:off x="566928" y="3886200"/>
            <a:ext cx="10881360" cy="2103120"/>
          </a:xfrm>
          <a:prstGeom prst="roundRect">
            <a:avLst>
              <a:gd name="adj" fmla="val 1935"/>
            </a:avLst>
          </a:prstGeom>
          <a:solidFill>
            <a:srgbClr val="F6EDD6"/>
          </a:solidFill>
          <a:ln w="12700">
            <a:solidFill>
              <a:srgbClr val="F6EDD6"/>
            </a:solidFill>
            <a:prstDash val="solid"/>
          </a:ln>
        </p:spPr>
        <p:txBody>
          <a:bodyPr/>
          <a:p/>
        </p:txBody>
      </p:sp>
      <p:sp>
        <p:nvSpPr>
          <p:cNvPr id="114" name="Text 114"/>
          <p:cNvSpPr txBox="1"/>
          <p:nvPr/>
        </p:nvSpPr>
        <p:spPr>
          <a:xfrm>
            <a:off x="731520" y="4014216"/>
            <a:ext cx="10552176" cy="274320"/>
          </a:xfrm>
          <a:prstGeom prst="rect">
            <a:avLst/>
          </a:prstGeom>
          <a:noFill/>
          <a:ln/>
        </p:spPr>
        <p:txBody>
          <a:bodyPr wrap="square" lIns="0" tIns="0" rIns="0" bIns="0" rtlCol="0" anchor="ctr"/>
          <a:lstStyle/>
          <a:p>
            <a:pPr indent="0" marL="0">
              <a:buNone/>
            </a:pPr>
            <a:r>
              <a:rPr lang="el-GR" sz="1400" b="1" dirty="0">
                <a:solidFill>
                  <a:srgbClr val="171B26"/>
                </a:solidFill>
                <a:latin typeface="Segoe UI" pitchFamily="34" charset="0"/>
                <a:ea typeface="Segoe UI" pitchFamily="34" charset="-122"/>
                <a:cs typeface="Segoe UI" pitchFamily="34" charset="-120"/>
              </a:rPr>
              <a:t>Ποια δουλειά του ΛΣ είναι αυτή;</a:t>
            </a:r>
            <a:endParaRPr lang="el-GR" sz="1400" dirty="0"/>
          </a:p>
        </p:txBody>
      </p:sp>
      <p:sp>
        <p:nvSpPr>
          <p:cNvPr id="115" name="Text 115"/>
          <p:cNvSpPr txBox="1"/>
          <p:nvPr/>
        </p:nvSpPr>
        <p:spPr>
          <a:xfrm>
            <a:off x="731520" y="4361688"/>
            <a:ext cx="10552176" cy="1536192"/>
          </a:xfrm>
          <a:prstGeom prst="rect">
            <a:avLst/>
          </a:prstGeom>
          <a:noFill/>
          <a:ln/>
        </p:spPr>
        <p:txBody>
          <a:bodyPr wrap="square" lIns="0" tIns="0" rIns="0" bIns="0" rtlCol="0" anchor="t"/>
          <a:lstStyle/>
          <a:p>
            <a:pPr indent="0" marL="0">
              <a:lnSpc>
                <a:spcPct val="112000"/>
              </a:lnSpc>
              <a:spcAft>
                <a:spcPts val="400"/>
              </a:spcAft>
              <a:buNone/>
            </a:pPr>
            <a:r>
              <a:rPr lang="el-GR" sz="1200" dirty="0">
                <a:solidFill>
                  <a:srgbClr val="4A5265"/>
                </a:solidFill>
                <a:latin typeface="Segoe UI" pitchFamily="34" charset="0"/>
                <a:ea typeface="Segoe UI" pitchFamily="34" charset="-122"/>
                <a:cs typeface="Segoe UI" pitchFamily="34" charset="-120"/>
              </a:rPr>
              <a:t xml:space="preserve">Είναι η </a:t>
            </a:r>
            <a:r>
              <a:rPr lang="el-GR" sz="1200" b="1" dirty="0">
                <a:solidFill>
                  <a:srgbClr val="171B26"/>
                </a:solidFill>
                <a:latin typeface="Segoe UI" pitchFamily="34" charset="0"/>
                <a:ea typeface="Segoe UI" pitchFamily="34" charset="-122"/>
                <a:cs typeface="Segoe UI" pitchFamily="34" charset="-120"/>
              </a:rPr>
              <a:t>Ασφάλεια &amp; χρήστες</a:t>
            </a:r>
            <a:r>
              <a:rPr lang="el-GR" sz="1200" dirty="0">
                <a:solidFill>
                  <a:srgbClr val="4A5265"/>
                </a:solidFill>
                <a:latin typeface="Segoe UI" pitchFamily="34" charset="0"/>
                <a:ea typeface="Segoe UI" pitchFamily="34" charset="-122"/>
                <a:cs typeface="Segoe UI" pitchFamily="34" charset="-120"/>
              </a:rPr>
              <a:t xml:space="preserve">: κάθε χρήστης γράφει μόνο στον δικό του φάκελο, </a:t>
            </a:r>
            <a:r>
              <a:rPr lang="el-GR" sz="1150" b="1" dirty="0">
                <a:solidFill>
                  <a:srgbClr val="2F4BD8"/>
                </a:solidFill>
                <a:latin typeface="Consolas" pitchFamily="34" charset="0"/>
                <a:ea typeface="Consolas" pitchFamily="34" charset="-122"/>
                <a:cs typeface="Consolas" pitchFamily="34" charset="-120"/>
              </a:rPr>
              <a:t>C:\Users\&lt;όνομα&gt;</a:t>
            </a:r>
            <a:r>
              <a:rPr lang="el-GR" sz="1200" dirty="0">
                <a:solidFill>
                  <a:srgbClr val="4A5265"/>
                </a:solidFill>
                <a:latin typeface="Segoe UI" pitchFamily="34" charset="0"/>
                <a:ea typeface="Segoe UI" pitchFamily="34" charset="-122"/>
                <a:cs typeface="Segoe UI" pitchFamily="34" charset="-120"/>
              </a:rPr>
              <a:t>.</a:t>
            </a:r>
            <a:endParaRPr lang="el-GR" sz="1200" dirty="0"/>
          </a:p>
          <a:p>
            <a:pPr indent="0" marL="0">
              <a:lnSpc>
                <a:spcPct val="112000"/>
              </a:lnSpc>
              <a:spcAft>
                <a:spcPts val="400"/>
              </a:spcAft>
              <a:buNone/>
            </a:pPr>
            <a:r>
              <a:rPr lang="el-GR" sz="1200" dirty="0">
                <a:solidFill>
                  <a:srgbClr val="4A5265"/>
                </a:solidFill>
                <a:latin typeface="Segoe UI" pitchFamily="34" charset="0"/>
                <a:ea typeface="Segoe UI" pitchFamily="34" charset="-122"/>
                <a:cs typeface="Segoe UI" pitchFamily="34" charset="-120"/>
              </a:rPr>
              <a:t xml:space="preserve">Στα Windows το μήνυμα είναι </a:t>
            </a:r>
            <a:r>
              <a:rPr lang="el-GR" sz="1200" b="1" dirty="0">
                <a:solidFill>
                  <a:srgbClr val="171B26"/>
                </a:solidFill>
                <a:latin typeface="Segoe UI" pitchFamily="34" charset="0"/>
                <a:ea typeface="Segoe UI" pitchFamily="34" charset="-122"/>
                <a:cs typeface="Segoe UI" pitchFamily="34" charset="-120"/>
              </a:rPr>
              <a:t>Access is denied</a:t>
            </a:r>
            <a:r>
              <a:rPr lang="el-GR" sz="1200" dirty="0">
                <a:solidFill>
                  <a:srgbClr val="4A5265"/>
                </a:solidFill>
                <a:latin typeface="Segoe UI" pitchFamily="34" charset="0"/>
                <a:ea typeface="Segoe UI" pitchFamily="34" charset="-122"/>
                <a:cs typeface="Segoe UI" pitchFamily="34" charset="-120"/>
              </a:rPr>
              <a:t xml:space="preserve">. Στο Linux το ίδιο μήνυμα είναι </a:t>
            </a:r>
            <a:r>
              <a:rPr lang="el-GR" sz="1200" b="1" dirty="0">
                <a:solidFill>
                  <a:srgbClr val="171B26"/>
                </a:solidFill>
                <a:latin typeface="Segoe UI" pitchFamily="34" charset="0"/>
                <a:ea typeface="Segoe UI" pitchFamily="34" charset="-122"/>
                <a:cs typeface="Segoe UI" pitchFamily="34" charset="-120"/>
              </a:rPr>
              <a:t>Permission denied</a:t>
            </a:r>
            <a:r>
              <a:rPr lang="el-GR" sz="1200" dirty="0">
                <a:solidFill>
                  <a:srgbClr val="4A5265"/>
                </a:solidFill>
                <a:latin typeface="Segoe UI" pitchFamily="34" charset="0"/>
                <a:ea typeface="Segoe UI" pitchFamily="34" charset="-122"/>
                <a:cs typeface="Segoe UI" pitchFamily="34" charset="-120"/>
              </a:rPr>
              <a:t>.</a:t>
            </a:r>
            <a:endParaRPr lang="el-GR" sz="12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1" name="Shape 101"/>
          <p:cNvSpPr/>
          <p:nvPr/>
        </p:nvSpPr>
        <p:spPr>
          <a:xfrm>
            <a:off x="0" y="0"/>
            <a:ext cx="109728" cy="6858000"/>
          </a:xfrm>
          <a:prstGeom prst="rect">
            <a:avLst/>
          </a:prstGeom>
          <a:solidFill>
            <a:srgbClr val="2F4BD8"/>
          </a:solidFill>
          <a:ln w="12700">
            <a:solidFill>
              <a:srgbClr val="2F4BD8"/>
            </a:solidFill>
            <a:prstDash val="solid"/>
          </a:ln>
        </p:spPr>
        <p:txBody>
          <a:bodyPr/>
          <a:p/>
        </p:txBody>
      </p:sp>
      <p:pic>
        <p:nvPicPr>
          <p:cNvPr id="102" name="Picture 101" descr="image.png"/>
          <p:cNvPicPr>
            <a:picLocks noChangeAspect="1"/>
          </p:cNvPicPr>
          <p:nvPr/>
        </p:nvPicPr>
        <p:blipFill>
          <a:blip r:embed="rId2"/>
          <a:stretch>
            <a:fillRect/>
          </a:stretch>
        </p:blipFill>
        <p:spPr>
          <a:xfrm>
            <a:off x="9189720" y="274320"/>
            <a:ext cx="310896" cy="310896"/>
          </a:xfrm>
          <a:prstGeom prst="rect">
            <a:avLst/>
          </a:prstGeom>
        </p:spPr>
      </p:pic>
      <p:sp>
        <p:nvSpPr>
          <p:cNvPr id="102" name="Text 102"/>
          <p:cNvSpPr txBox="1"/>
          <p:nvPr/>
        </p:nvSpPr>
        <p:spPr>
          <a:xfrm>
            <a:off x="9573768" y="246888"/>
            <a:ext cx="2468880" cy="365760"/>
          </a:xfrm>
          <a:prstGeom prst="rect">
            <a:avLst/>
          </a:prstGeom>
          <a:noFill/>
          <a:ln/>
        </p:spPr>
        <p:txBody>
          <a:bodyPr wrap="square" lIns="0" tIns="0" rIns="0" bIns="0" rtlCol="0" anchor="ctr"/>
          <a:lstStyle/>
          <a:p>
            <a:pPr indent="0" marL="0">
              <a:buNone/>
            </a:pPr>
            <a:r>
              <a:rPr lang="el-GR" sz="950" b="1" dirty="0">
                <a:solidFill>
                  <a:srgbClr val="4A5265"/>
                </a:solidFill>
                <a:latin typeface="Segoe UI" pitchFamily="34" charset="0"/>
                <a:ea typeface="Segoe UI" pitchFamily="34" charset="-122"/>
                <a:cs typeface="Segoe UI" pitchFamily="34" charset="-120"/>
              </a:rPr>
              <a:t>ΣΑΕΚ Μαρκοπούλου</a:t>
            </a:r>
            <a:endParaRPr lang="el-GR" sz="950" dirty="0"/>
          </a:p>
          <a:p>
            <a:pPr indent="0" marL="0">
              <a:buNone/>
            </a:pPr>
            <a:r>
              <a:rPr lang="el-GR" sz="950" dirty="0">
                <a:solidFill>
                  <a:srgbClr val="8A91A3"/>
                </a:solidFill>
                <a:latin typeface="Segoe UI" pitchFamily="34" charset="0"/>
                <a:ea typeface="Segoe UI" pitchFamily="34" charset="-122"/>
                <a:cs typeface="Segoe UI" pitchFamily="34" charset="-120"/>
              </a:rPr>
              <a:t>Σύγχρονα Λειτουργικά Συστήματα</a:t>
            </a:r>
            <a:endParaRPr lang="el-GR" sz="950" dirty="0"/>
          </a:p>
        </p:txBody>
      </p:sp>
      <p:sp>
        <p:nvSpPr>
          <p:cNvPr id="103" name="Text 103"/>
          <p:cNvSpPr txBox="1"/>
          <p:nvPr/>
        </p:nvSpPr>
        <p:spPr>
          <a:xfrm>
            <a:off x="8503920" y="6419088"/>
            <a:ext cx="3154680" cy="237744"/>
          </a:xfrm>
          <a:prstGeom prst="rect">
            <a:avLst/>
          </a:prstGeom>
          <a:noFill/>
          <a:ln/>
        </p:spPr>
        <p:txBody>
          <a:bodyPr wrap="square" lIns="0" tIns="0" rIns="0" bIns="0" rtlCol="0" anchor="ctr"/>
          <a:lstStyle/>
          <a:p>
            <a:pPr indent="0" marL="0" algn="r">
              <a:buNone/>
            </a:pPr>
            <a:r>
              <a:rPr lang="el-GR" sz="900" dirty="0">
                <a:solidFill>
                  <a:srgbClr val="8A91A3"/>
                </a:solidFill>
                <a:latin typeface="Consolas" pitchFamily="34" charset="0"/>
                <a:ea typeface="Consolas" pitchFamily="34" charset="-122"/>
                <a:cs typeface="Consolas" pitchFamily="34" charset="-120"/>
              </a:rPr>
              <a:t>Λαμπρόπουλος Χρήστος</a:t>
            </a:r>
            <a:endParaRPr lang="el-GR" sz="900" dirty="0"/>
          </a:p>
        </p:txBody>
      </p:sp>
      <p:sp>
        <p:nvSpPr>
          <p:cNvPr id="104" name="Text 104"/>
          <p:cNvSpPr txBox="1"/>
          <p:nvPr/>
        </p:nvSpPr>
        <p:spPr>
          <a:xfrm>
            <a:off x="566928" y="384048"/>
            <a:ext cx="8412480" cy="237744"/>
          </a:xfrm>
          <a:prstGeom prst="rect">
            <a:avLst/>
          </a:prstGeom>
          <a:noFill/>
          <a:ln/>
        </p:spPr>
        <p:txBody>
          <a:bodyPr wrap="square" lIns="0" tIns="0" rIns="0" bIns="0" rtlCol="0" anchor="ctr"/>
          <a:lstStyle/>
          <a:p>
            <a:pPr indent="0" marL="0">
              <a:buNone/>
            </a:pPr>
            <a:r>
              <a:rPr lang="el-GR" sz="1000" spc="140" dirty="0">
                <a:solidFill>
                  <a:srgbClr val="2F4BD8"/>
                </a:solidFill>
                <a:latin typeface="Consolas" pitchFamily="34" charset="0"/>
                <a:ea typeface="Consolas" pitchFamily="34" charset="-122"/>
                <a:cs typeface="Consolas" pitchFamily="34" charset="-120"/>
              </a:rPr>
              <a:t xml:space="preserve">10  </a:t>
            </a:r>
            <a:r>
              <a:rPr lang="el-GR" sz="1000" spc="140" dirty="0">
                <a:solidFill>
                  <a:srgbClr val="8A91A3"/>
                </a:solidFill>
                <a:latin typeface="Consolas" pitchFamily="34" charset="0"/>
                <a:ea typeface="Consolas" pitchFamily="34" charset="-122"/>
                <a:cs typeface="Consolas" pitchFamily="34" charset="-120"/>
              </a:rPr>
              <a:t>ΟΔΗΓΟΣ ΕΝΤΟΛΩΝ · CMD</a:t>
            </a:r>
            <a:endParaRPr lang="el-GR" sz="1000" dirty="0"/>
          </a:p>
        </p:txBody>
      </p:sp>
      <p:sp>
        <p:nvSpPr>
          <p:cNvPr id="105" name="Text 105"/>
          <p:cNvSpPr txBox="1"/>
          <p:nvPr/>
        </p:nvSpPr>
        <p:spPr>
          <a:xfrm>
            <a:off x="530352" y="658368"/>
            <a:ext cx="8503920" cy="566928"/>
          </a:xfrm>
          <a:prstGeom prst="rect">
            <a:avLst/>
          </a:prstGeom>
          <a:noFill/>
          <a:ln/>
        </p:spPr>
        <p:txBody>
          <a:bodyPr wrap="square" lIns="0" tIns="0" rIns="0" bIns="0" rtlCol="0" anchor="ctr"/>
          <a:lstStyle/>
          <a:p>
            <a:pPr indent="0" marL="0">
              <a:buNone/>
            </a:pPr>
            <a:r>
              <a:rPr lang="el-GR" sz="3000" b="1" dirty="0">
                <a:solidFill>
                  <a:srgbClr val="171B26"/>
                </a:solidFill>
                <a:latin typeface="Segoe UI" pitchFamily="34" charset="0"/>
                <a:ea typeface="Segoe UI" pitchFamily="34" charset="-122"/>
                <a:cs typeface="Segoe UI" pitchFamily="34" charset="-120"/>
              </a:rPr>
              <a:t>Ταξίδι στον δίσκο C:</a:t>
            </a:r>
            <a:endParaRPr lang="el-GR" sz="3000" dirty="0"/>
          </a:p>
        </p:txBody>
      </p:sp>
      <p:sp>
        <p:nvSpPr>
          <p:cNvPr id="106" name="Text 106"/>
          <p:cNvSpPr txBox="1"/>
          <p:nvPr/>
        </p:nvSpPr>
        <p:spPr>
          <a:xfrm>
            <a:off x="9098280" y="749808"/>
            <a:ext cx="2331720" cy="274320"/>
          </a:xfrm>
          <a:prstGeom prst="rect">
            <a:avLst/>
          </a:prstGeom>
          <a:noFill/>
          <a:ln/>
        </p:spPr>
        <p:txBody>
          <a:bodyPr wrap="square" lIns="0" tIns="0" rIns="0" bIns="0" rtlCol="0" anchor="ctr"/>
          <a:lstStyle/>
          <a:p>
            <a:pPr indent="0" marL="0" algn="r">
              <a:buNone/>
            </a:pPr>
            <a:r>
              <a:rPr lang="el-GR" sz="1100" b="1" dirty="0">
                <a:solidFill>
                  <a:srgbClr val="1B6B52"/>
                </a:solidFill>
                <a:latin typeface="Consolas" pitchFamily="34" charset="0"/>
                <a:ea typeface="Consolas" pitchFamily="34" charset="-122"/>
                <a:cs typeface="Consolas" pitchFamily="34" charset="-120"/>
              </a:rPr>
              <a:t>ΓΙΑ ΤΟ SITE</a:t>
            </a:r>
            <a:endParaRPr lang="el-GR" sz="1100" dirty="0"/>
          </a:p>
        </p:txBody>
      </p:sp>
      <p:sp>
        <p:nvSpPr>
          <p:cNvPr id="107" name="Shape 107"/>
          <p:cNvSpPr/>
          <p:nvPr/>
        </p:nvSpPr>
        <p:spPr>
          <a:xfrm>
            <a:off x="566928" y="1463040"/>
            <a:ext cx="6949440" cy="2834640"/>
          </a:xfrm>
          <a:prstGeom prst="roundRect">
            <a:avLst>
              <a:gd name="adj" fmla="val 1935"/>
            </a:avLst>
          </a:prstGeom>
          <a:solidFill>
            <a:srgbClr val="FBFCFE"/>
          </a:solidFill>
          <a:ln w="9525">
            <a:solidFill>
              <a:srgbClr val="D3D9E4"/>
            </a:solidFill>
            <a:prstDash val="solid"/>
          </a:ln>
        </p:spPr>
        <p:txBody>
          <a:bodyPr/>
          <a:p/>
        </p:txBody>
      </p:sp>
      <p:sp>
        <p:nvSpPr>
          <p:cNvPr id="108" name="Text 108"/>
          <p:cNvSpPr txBox="1"/>
          <p:nvPr/>
        </p:nvSpPr>
        <p:spPr>
          <a:xfrm>
            <a:off x="731520" y="1591056"/>
            <a:ext cx="6620256" cy="201168"/>
          </a:xfrm>
          <a:prstGeom prst="rect">
            <a:avLst/>
          </a:prstGeom>
          <a:noFill/>
          <a:ln/>
        </p:spPr>
        <p:txBody>
          <a:bodyPr wrap="square" lIns="0" tIns="0" rIns="0" bIns="0" rtlCol="0" anchor="ctr"/>
          <a:lstStyle/>
          <a:p>
            <a:pPr indent="0" marL="0">
              <a:buNone/>
            </a:pPr>
            <a:r>
              <a:rPr lang="el-GR" sz="900" b="1" spc="100" dirty="0">
                <a:solidFill>
                  <a:srgbClr val="2F4BD8"/>
                </a:solidFill>
                <a:latin typeface="Consolas" pitchFamily="34" charset="0"/>
                <a:ea typeface="Consolas" pitchFamily="34" charset="-122"/>
                <a:cs typeface="Consolas" pitchFamily="34" charset="-120"/>
              </a:rPr>
              <a:t>ΣΤΟ CMD, ΜΙΑ-ΜΙΑ</a:t>
            </a:r>
            <a:endParaRPr lang="el-GR" sz="900" dirty="0"/>
          </a:p>
        </p:txBody>
      </p:sp>
      <p:sp>
        <p:nvSpPr>
          <p:cNvPr id="109" name="Text 109"/>
          <p:cNvSpPr txBox="1"/>
          <p:nvPr/>
        </p:nvSpPr>
        <p:spPr>
          <a:xfrm>
            <a:off x="731520" y="1874520"/>
            <a:ext cx="6620256" cy="2331720"/>
          </a:xfrm>
          <a:prstGeom prst="rect">
            <a:avLst/>
          </a:prstGeom>
          <a:noFill/>
          <a:ln/>
        </p:spPr>
        <p:txBody>
          <a:bodyPr wrap="square" lIns="0" tIns="0" rIns="0" bIns="0" rtlCol="0" anchor="t"/>
          <a:lstStyle/>
          <a:p>
            <a:pPr indent="0" marL="0">
              <a:lnSpc>
                <a:spcPct val="125000"/>
              </a:lnSpc>
              <a:buNone/>
            </a:pPr>
            <a:r>
              <a:rPr lang="el-GR" sz="1150" b="1" dirty="0">
                <a:solidFill>
                  <a:srgbClr val="171B26"/>
                </a:solidFill>
                <a:latin typeface="Consolas" pitchFamily="34" charset="0"/>
                <a:ea typeface="Consolas" pitchFamily="34" charset="-122"/>
                <a:cs typeface="Consolas" pitchFamily="34" charset="-120"/>
              </a:rPr>
              <a:t>cd \</a:t>
            </a:r>
            <a:r>
              <a:rPr lang="el-GR" sz="1150" dirty="0">
                <a:solidFill>
                  <a:srgbClr val="8A91A3"/>
                </a:solidFill>
                <a:latin typeface="Consolas" pitchFamily="34" charset="0"/>
                <a:ea typeface="Consolas" pitchFamily="34" charset="-122"/>
                <a:cs typeface="Consolas" pitchFamily="34" charset="-120"/>
              </a:rPr>
              <a:t xml:space="preserve">   πήγαινε στη ρίζα C:\</a:t>
            </a:r>
            <a:endParaRPr lang="el-GR" sz="1150" dirty="0"/>
          </a:p>
          <a:p>
            <a:pPr indent="0" marL="0">
              <a:lnSpc>
                <a:spcPct val="125000"/>
              </a:lnSpc>
              <a:buNone/>
            </a:pPr>
            <a:r>
              <a:rPr lang="el-GR" sz="1150" b="1" dirty="0">
                <a:solidFill>
                  <a:srgbClr val="171B26"/>
                </a:solidFill>
                <a:latin typeface="Consolas" pitchFamily="34" charset="0"/>
                <a:ea typeface="Consolas" pitchFamily="34" charset="-122"/>
                <a:cs typeface="Consolas" pitchFamily="34" charset="-120"/>
              </a:rPr>
              <a:t>cd Windows\System32</a:t>
            </a:r>
            <a:r>
              <a:rPr lang="el-GR" sz="1150" dirty="0">
                <a:solidFill>
                  <a:srgbClr val="8A91A3"/>
                </a:solidFill>
                <a:latin typeface="Consolas" pitchFamily="34" charset="0"/>
                <a:ea typeface="Consolas" pitchFamily="34" charset="-122"/>
                <a:cs typeface="Consolas" pitchFamily="34" charset="-120"/>
              </a:rPr>
              <a:t xml:space="preserve">   τα προγράμματα του ΛΣ</a:t>
            </a:r>
            <a:endParaRPr lang="el-GR" sz="1150" dirty="0"/>
          </a:p>
          <a:p>
            <a:pPr indent="0" marL="0">
              <a:lnSpc>
                <a:spcPct val="125000"/>
              </a:lnSpc>
              <a:buNone/>
            </a:pPr>
            <a:r>
              <a:rPr lang="el-GR" sz="1150" b="1" dirty="0">
                <a:solidFill>
                  <a:srgbClr val="171B26"/>
                </a:solidFill>
                <a:latin typeface="Consolas" pitchFamily="34" charset="0"/>
                <a:ea typeface="Consolas" pitchFamily="34" charset="-122"/>
                <a:cs typeface="Consolas" pitchFamily="34" charset="-120"/>
              </a:rPr>
              <a:t>dir</a:t>
            </a:r>
            <a:r>
              <a:rPr lang="el-GR" sz="1150" dirty="0">
                <a:solidFill>
                  <a:srgbClr val="8A91A3"/>
                </a:solidFill>
                <a:latin typeface="Consolas" pitchFamily="34" charset="0"/>
                <a:ea typeface="Consolas" pitchFamily="34" charset="-122"/>
                <a:cs typeface="Consolas" pitchFamily="34" charset="-120"/>
              </a:rPr>
              <a:t xml:space="preserve">   δες τι έχει (και μεγέθη)</a:t>
            </a:r>
            <a:endParaRPr lang="el-GR" sz="1150" dirty="0"/>
          </a:p>
          <a:p>
            <a:pPr indent="0" marL="0">
              <a:lnSpc>
                <a:spcPct val="125000"/>
              </a:lnSpc>
              <a:buNone/>
            </a:pPr>
            <a:r>
              <a:rPr lang="el-GR" sz="1150" b="1" dirty="0">
                <a:solidFill>
                  <a:srgbClr val="171B26"/>
                </a:solidFill>
                <a:latin typeface="Consolas" pitchFamily="34" charset="0"/>
                <a:ea typeface="Consolas" pitchFamily="34" charset="-122"/>
                <a:cs typeface="Consolas" pitchFamily="34" charset="-120"/>
              </a:rPr>
              <a:t>cd ..</a:t>
            </a:r>
            <a:r>
              <a:rPr lang="el-GR" sz="1150" dirty="0">
                <a:solidFill>
                  <a:srgbClr val="8A91A3"/>
                </a:solidFill>
                <a:latin typeface="Consolas" pitchFamily="34" charset="0"/>
                <a:ea typeface="Consolas" pitchFamily="34" charset="-122"/>
                <a:cs typeface="Consolas" pitchFamily="34" charset="-120"/>
              </a:rPr>
              <a:t xml:space="preserve">   έναν φάκελο πάνω</a:t>
            </a:r>
            <a:endParaRPr lang="el-GR" sz="1150" dirty="0"/>
          </a:p>
          <a:p>
            <a:pPr indent="0" marL="0">
              <a:lnSpc>
                <a:spcPct val="125000"/>
              </a:lnSpc>
              <a:buNone/>
            </a:pPr>
            <a:r>
              <a:rPr lang="el-GR" sz="1150" b="1" dirty="0">
                <a:solidFill>
                  <a:srgbClr val="171B26"/>
                </a:solidFill>
                <a:latin typeface="Consolas" pitchFamily="34" charset="0"/>
                <a:ea typeface="Consolas" pitchFamily="34" charset="-122"/>
                <a:cs typeface="Consolas" pitchFamily="34" charset="-120"/>
              </a:rPr>
              <a:t>cd %USERPROFILE%</a:t>
            </a:r>
            <a:r>
              <a:rPr lang="el-GR" sz="1150" dirty="0">
                <a:solidFill>
                  <a:srgbClr val="8A91A3"/>
                </a:solidFill>
                <a:latin typeface="Consolas" pitchFamily="34" charset="0"/>
                <a:ea typeface="Consolas" pitchFamily="34" charset="-122"/>
                <a:cs typeface="Consolas" pitchFamily="34" charset="-120"/>
              </a:rPr>
              <a:t xml:space="preserve">   πίσω στον φάκελό σου</a:t>
            </a:r>
            <a:endParaRPr lang="el-GR" sz="1150" dirty="0"/>
          </a:p>
          <a:p>
            <a:pPr indent="0" marL="0">
              <a:lnSpc>
                <a:spcPct val="125000"/>
              </a:lnSpc>
              <a:buNone/>
            </a:pPr>
            <a:r>
              <a:rPr lang="el-GR" sz="1150" b="1" dirty="0">
                <a:solidFill>
                  <a:srgbClr val="171B26"/>
                </a:solidFill>
                <a:latin typeface="Consolas" pitchFamily="34" charset="0"/>
                <a:ea typeface="Consolas" pitchFamily="34" charset="-122"/>
                <a:cs typeface="Consolas" pitchFamily="34" charset="-120"/>
              </a:rPr>
              <a:t>tree</a:t>
            </a:r>
            <a:r>
              <a:rPr lang="el-GR" sz="1150" dirty="0">
                <a:solidFill>
                  <a:srgbClr val="8A91A3"/>
                </a:solidFill>
                <a:latin typeface="Consolas" pitchFamily="34" charset="0"/>
                <a:ea typeface="Consolas" pitchFamily="34" charset="-122"/>
                <a:cs typeface="Consolas" pitchFamily="34" charset="-120"/>
              </a:rPr>
              <a:t xml:space="preserve">   οι φάκελοι σαν δέντρο</a:t>
            </a:r>
            <a:endParaRPr lang="el-GR" sz="1150" dirty="0"/>
          </a:p>
          <a:p>
            <a:pPr indent="0" marL="0">
              <a:lnSpc>
                <a:spcPct val="125000"/>
              </a:lnSpc>
              <a:buNone/>
            </a:pPr>
            <a:r>
              <a:rPr lang="el-GR" sz="1150" b="1" dirty="0">
                <a:solidFill>
                  <a:srgbClr val="171B26"/>
                </a:solidFill>
                <a:latin typeface="Consolas" pitchFamily="34" charset="0"/>
                <a:ea typeface="Consolas" pitchFamily="34" charset="-122"/>
                <a:cs typeface="Consolas" pitchFamily="34" charset="-120"/>
              </a:rPr>
              <a:t>type ergasia.txt</a:t>
            </a:r>
            <a:r>
              <a:rPr lang="el-GR" sz="1150" dirty="0">
                <a:solidFill>
                  <a:srgbClr val="8A91A3"/>
                </a:solidFill>
                <a:latin typeface="Consolas" pitchFamily="34" charset="0"/>
                <a:ea typeface="Consolas" pitchFamily="34" charset="-122"/>
                <a:cs typeface="Consolas" pitchFamily="34" charset="-120"/>
              </a:rPr>
              <a:t xml:space="preserve">   δες ένα αρχείο κειμένου</a:t>
            </a:r>
            <a:endParaRPr lang="el-GR" sz="1150" dirty="0"/>
          </a:p>
        </p:txBody>
      </p:sp>
      <p:sp>
        <p:nvSpPr>
          <p:cNvPr id="110" name="Shape 110"/>
          <p:cNvSpPr/>
          <p:nvPr/>
        </p:nvSpPr>
        <p:spPr>
          <a:xfrm>
            <a:off x="7699248" y="1463040"/>
            <a:ext cx="3749040" cy="2834640"/>
          </a:xfrm>
          <a:prstGeom prst="roundRect">
            <a:avLst>
              <a:gd name="adj" fmla="val 1935"/>
            </a:avLst>
          </a:prstGeom>
          <a:solidFill>
            <a:srgbClr val="E4E8FB"/>
          </a:solidFill>
          <a:ln w="12700">
            <a:solidFill>
              <a:srgbClr val="E4E8FB"/>
            </a:solidFill>
            <a:prstDash val="solid"/>
          </a:ln>
        </p:spPr>
        <p:txBody>
          <a:bodyPr/>
          <a:p/>
        </p:txBody>
      </p:sp>
      <p:sp>
        <p:nvSpPr>
          <p:cNvPr id="111" name="Text 111"/>
          <p:cNvSpPr txBox="1"/>
          <p:nvPr/>
        </p:nvSpPr>
        <p:spPr>
          <a:xfrm>
            <a:off x="7863840" y="1591056"/>
            <a:ext cx="3419856" cy="274320"/>
          </a:xfrm>
          <a:prstGeom prst="rect">
            <a:avLst/>
          </a:prstGeom>
          <a:noFill/>
          <a:ln/>
        </p:spPr>
        <p:txBody>
          <a:bodyPr wrap="square" lIns="0" tIns="0" rIns="0" bIns="0" rtlCol="0" anchor="ctr"/>
          <a:lstStyle/>
          <a:p>
            <a:pPr indent="0" marL="0">
              <a:buNone/>
            </a:pPr>
            <a:r>
              <a:rPr lang="el-GR" sz="1400" b="1" dirty="0">
                <a:solidFill>
                  <a:srgbClr val="171B26"/>
                </a:solidFill>
                <a:latin typeface="Segoe UI" pitchFamily="34" charset="0"/>
                <a:ea typeface="Segoe UI" pitchFamily="34" charset="-122"/>
                <a:cs typeface="Segoe UI" pitchFamily="34" charset="-120"/>
              </a:rPr>
              <a:t>Τι έχει το System32</a:t>
            </a:r>
            <a:endParaRPr lang="el-GR" sz="1400" dirty="0"/>
          </a:p>
        </p:txBody>
      </p:sp>
      <p:sp>
        <p:nvSpPr>
          <p:cNvPr id="112" name="Text 112"/>
          <p:cNvSpPr txBox="1"/>
          <p:nvPr/>
        </p:nvSpPr>
        <p:spPr>
          <a:xfrm>
            <a:off x="7863840" y="1938528"/>
            <a:ext cx="3419856" cy="2267712"/>
          </a:xfrm>
          <a:prstGeom prst="rect">
            <a:avLst/>
          </a:prstGeom>
          <a:noFill/>
          <a:ln/>
        </p:spPr>
        <p:txBody>
          <a:bodyPr wrap="square" lIns="0" tIns="0" rIns="0" bIns="0" rtlCol="0" anchor="t"/>
          <a:lstStyle/>
          <a:p>
            <a:pPr marL="177800" indent="-177800">
              <a:lnSpc>
                <a:spcPct val="112000"/>
              </a:lnSpc>
              <a:spcAft>
                <a:spcPts val="400"/>
              </a:spcAft>
              <a:buSzPct val="100000"/>
              <a:buChar char="•"/>
            </a:pPr>
            <a:r>
              <a:rPr lang="el-GR" sz="1100" b="1" dirty="0">
                <a:solidFill>
                  <a:srgbClr val="2F4BD8"/>
                </a:solidFill>
                <a:latin typeface="Consolas" pitchFamily="34" charset="0"/>
                <a:ea typeface="Consolas" pitchFamily="34" charset="-122"/>
                <a:cs typeface="Consolas" pitchFamily="34" charset="-120"/>
              </a:rPr>
              <a:t>cmd.exe</a:t>
            </a:r>
            <a:r>
              <a:rPr lang="el-GR" sz="1150" dirty="0">
                <a:solidFill>
                  <a:srgbClr val="4A5265"/>
                </a:solidFill>
                <a:latin typeface="Segoe UI" pitchFamily="34" charset="0"/>
                <a:ea typeface="Segoe UI" pitchFamily="34" charset="-122"/>
                <a:cs typeface="Segoe UI" pitchFamily="34" charset="-120"/>
              </a:rPr>
              <a:t xml:space="preserve"> η Γραμμή εντολών</a:t>
            </a:r>
            <a:endParaRPr lang="el-GR" sz="1150" dirty="0"/>
          </a:p>
          <a:p>
            <a:pPr marL="177800" indent="-177800">
              <a:lnSpc>
                <a:spcPct val="112000"/>
              </a:lnSpc>
              <a:spcAft>
                <a:spcPts val="400"/>
              </a:spcAft>
              <a:buSzPct val="100000"/>
              <a:buChar char="•"/>
            </a:pPr>
            <a:r>
              <a:rPr lang="el-GR" sz="1100" b="1" dirty="0">
                <a:solidFill>
                  <a:srgbClr val="2F4BD8"/>
                </a:solidFill>
                <a:latin typeface="Consolas" pitchFamily="34" charset="0"/>
                <a:ea typeface="Consolas" pitchFamily="34" charset="-122"/>
                <a:cs typeface="Consolas" pitchFamily="34" charset="-120"/>
              </a:rPr>
              <a:t>notepad.exe</a:t>
            </a:r>
            <a:r>
              <a:rPr lang="el-GR" sz="1150" dirty="0">
                <a:solidFill>
                  <a:srgbClr val="4A5265"/>
                </a:solidFill>
                <a:latin typeface="Segoe UI" pitchFamily="34" charset="0"/>
                <a:ea typeface="Segoe UI" pitchFamily="34" charset="-122"/>
                <a:cs typeface="Segoe UI" pitchFamily="34" charset="-120"/>
              </a:rPr>
              <a:t xml:space="preserve"> το Σημειωματάριο</a:t>
            </a:r>
            <a:endParaRPr lang="el-GR" sz="1150" dirty="0"/>
          </a:p>
          <a:p>
            <a:pPr marL="177800" indent="-177800">
              <a:lnSpc>
                <a:spcPct val="112000"/>
              </a:lnSpc>
              <a:spcAft>
                <a:spcPts val="400"/>
              </a:spcAft>
              <a:buSzPct val="100000"/>
              <a:buChar char="•"/>
            </a:pPr>
            <a:r>
              <a:rPr lang="el-GR" sz="1100" b="1" dirty="0">
                <a:solidFill>
                  <a:srgbClr val="2F4BD8"/>
                </a:solidFill>
                <a:latin typeface="Consolas" pitchFamily="34" charset="0"/>
                <a:ea typeface="Consolas" pitchFamily="34" charset="-122"/>
                <a:cs typeface="Consolas" pitchFamily="34" charset="-120"/>
              </a:rPr>
              <a:t>taskmgr.exe</a:t>
            </a:r>
            <a:r>
              <a:rPr lang="el-GR" sz="1150" dirty="0">
                <a:solidFill>
                  <a:srgbClr val="4A5265"/>
                </a:solidFill>
                <a:latin typeface="Segoe UI" pitchFamily="34" charset="0"/>
                <a:ea typeface="Segoe UI" pitchFamily="34" charset="-122"/>
                <a:cs typeface="Segoe UI" pitchFamily="34" charset="-120"/>
              </a:rPr>
              <a:t xml:space="preserve"> η Διαχείριση εργασιών</a:t>
            </a:r>
            <a:endParaRPr lang="el-GR" sz="1150" dirty="0"/>
          </a:p>
          <a:p>
            <a:pPr marL="177800" indent="-177800">
              <a:lnSpc>
                <a:spcPct val="112000"/>
              </a:lnSpc>
              <a:spcAft>
                <a:spcPts val="400"/>
              </a:spcAft>
              <a:buSzPct val="100000"/>
              <a:buChar char="•"/>
            </a:pPr>
            <a:r>
              <a:rPr lang="el-GR" sz="1100" b="1" dirty="0">
                <a:solidFill>
                  <a:srgbClr val="2F4BD8"/>
                </a:solidFill>
                <a:latin typeface="Consolas" pitchFamily="34" charset="0"/>
                <a:ea typeface="Consolas" pitchFamily="34" charset="-122"/>
                <a:cs typeface="Consolas" pitchFamily="34" charset="-120"/>
              </a:rPr>
              <a:t>calc.exe</a:t>
            </a:r>
            <a:r>
              <a:rPr lang="el-GR" sz="1150" dirty="0">
                <a:solidFill>
                  <a:srgbClr val="4A5265"/>
                </a:solidFill>
                <a:latin typeface="Segoe UI" pitchFamily="34" charset="0"/>
                <a:ea typeface="Segoe UI" pitchFamily="34" charset="-122"/>
                <a:cs typeface="Segoe UI" pitchFamily="34" charset="-120"/>
              </a:rPr>
              <a:t xml:space="preserve"> η Αριθμομηχανή</a:t>
            </a:r>
            <a:endParaRPr lang="el-GR" sz="1150" dirty="0"/>
          </a:p>
          <a:p>
            <a:pPr marL="177800" indent="-177800">
              <a:lnSpc>
                <a:spcPct val="112000"/>
              </a:lnSpc>
              <a:spcAft>
                <a:spcPts val="400"/>
              </a:spcAft>
              <a:buSzPct val="100000"/>
              <a:buChar char="•"/>
            </a:pPr>
            <a:r>
              <a:rPr lang="el-GR" sz="1150" dirty="0">
                <a:solidFill>
                  <a:srgbClr val="4A5265"/>
                </a:solidFill>
                <a:latin typeface="Segoe UI" pitchFamily="34" charset="0"/>
                <a:ea typeface="Segoe UI" pitchFamily="34" charset="-122"/>
                <a:cs typeface="Segoe UI" pitchFamily="34" charset="-120"/>
              </a:rPr>
              <a:t xml:space="preserve">Το </a:t>
            </a:r>
            <a:r>
              <a:rPr lang="el-GR" sz="1100" b="1" dirty="0">
                <a:solidFill>
                  <a:srgbClr val="2F4BD8"/>
                </a:solidFill>
                <a:latin typeface="Consolas" pitchFamily="34" charset="0"/>
                <a:ea typeface="Consolas" pitchFamily="34" charset="-122"/>
                <a:cs typeface="Consolas" pitchFamily="34" charset="-120"/>
              </a:rPr>
              <a:t>dir</a:t>
            </a:r>
            <a:r>
              <a:rPr lang="el-GR" sz="1150" dirty="0">
                <a:solidFill>
                  <a:srgbClr val="4A5265"/>
                </a:solidFill>
                <a:latin typeface="Segoe UI" pitchFamily="34" charset="0"/>
                <a:ea typeface="Segoe UI" pitchFamily="34" charset="-122"/>
                <a:cs typeface="Segoe UI" pitchFamily="34" charset="-120"/>
              </a:rPr>
              <a:t xml:space="preserve"> γράφει δίπλα σε κάθε αρχείο το </a:t>
            </a:r>
            <a:r>
              <a:rPr lang="el-GR" sz="1150" b="1" dirty="0">
                <a:solidFill>
                  <a:srgbClr val="171B26"/>
                </a:solidFill>
                <a:latin typeface="Segoe UI" pitchFamily="34" charset="0"/>
                <a:ea typeface="Segoe UI" pitchFamily="34" charset="-122"/>
                <a:cs typeface="Segoe UI" pitchFamily="34" charset="-120"/>
              </a:rPr>
              <a:t>μέγεθος σε bytes</a:t>
            </a:r>
            <a:endParaRPr lang="el-GR" sz="1150" dirty="0"/>
          </a:p>
        </p:txBody>
      </p:sp>
      <p:sp>
        <p:nvSpPr>
          <p:cNvPr id="113" name="Shape 113"/>
          <p:cNvSpPr/>
          <p:nvPr/>
        </p:nvSpPr>
        <p:spPr>
          <a:xfrm>
            <a:off x="566928" y="4526280"/>
            <a:ext cx="10881360" cy="1463040"/>
          </a:xfrm>
          <a:prstGeom prst="roundRect">
            <a:avLst>
              <a:gd name="adj" fmla="val 1935"/>
            </a:avLst>
          </a:prstGeom>
          <a:solidFill>
            <a:srgbClr val="F6EDD6"/>
          </a:solidFill>
          <a:ln w="12700">
            <a:solidFill>
              <a:srgbClr val="F6EDD6"/>
            </a:solidFill>
            <a:prstDash val="solid"/>
          </a:ln>
        </p:spPr>
        <p:txBody>
          <a:bodyPr/>
          <a:p/>
        </p:txBody>
      </p:sp>
      <p:sp>
        <p:nvSpPr>
          <p:cNvPr id="114" name="Text 114"/>
          <p:cNvSpPr txBox="1"/>
          <p:nvPr/>
        </p:nvSpPr>
        <p:spPr>
          <a:xfrm>
            <a:off x="731520" y="4654296"/>
            <a:ext cx="10552176" cy="274320"/>
          </a:xfrm>
          <a:prstGeom prst="rect">
            <a:avLst/>
          </a:prstGeom>
          <a:noFill/>
          <a:ln/>
        </p:spPr>
        <p:txBody>
          <a:bodyPr wrap="square" lIns="0" tIns="0" rIns="0" bIns="0" rtlCol="0" anchor="ctr"/>
          <a:lstStyle/>
          <a:p>
            <a:pPr indent="0" marL="0">
              <a:buNone/>
            </a:pPr>
            <a:r>
              <a:rPr lang="el-GR" sz="1400" b="1" dirty="0">
                <a:solidFill>
                  <a:srgbClr val="171B26"/>
                </a:solidFill>
                <a:latin typeface="Segoe UI" pitchFamily="34" charset="0"/>
                <a:ea typeface="Segoe UI" pitchFamily="34" charset="-122"/>
                <a:cs typeface="Segoe UI" pitchFamily="34" charset="-120"/>
              </a:rPr>
              <a:t>Απόλυτη ή σχετική διαδρομή;</a:t>
            </a:r>
            <a:endParaRPr lang="el-GR" sz="1400" dirty="0"/>
          </a:p>
        </p:txBody>
      </p:sp>
      <p:sp>
        <p:nvSpPr>
          <p:cNvPr id="115" name="Text 115"/>
          <p:cNvSpPr txBox="1"/>
          <p:nvPr/>
        </p:nvSpPr>
        <p:spPr>
          <a:xfrm>
            <a:off x="731520" y="5001768"/>
            <a:ext cx="10552176" cy="896112"/>
          </a:xfrm>
          <a:prstGeom prst="rect">
            <a:avLst/>
          </a:prstGeom>
          <a:noFill/>
          <a:ln/>
        </p:spPr>
        <p:txBody>
          <a:bodyPr wrap="square" lIns="0" tIns="0" rIns="0" bIns="0" rtlCol="0" anchor="t"/>
          <a:lstStyle/>
          <a:p>
            <a:pPr indent="0" marL="0">
              <a:lnSpc>
                <a:spcPct val="112000"/>
              </a:lnSpc>
              <a:spcAft>
                <a:spcPts val="400"/>
              </a:spcAft>
              <a:buNone/>
            </a:pPr>
            <a:r>
              <a:rPr lang="el-GR" sz="1200" dirty="0">
                <a:solidFill>
                  <a:srgbClr val="4A5265"/>
                </a:solidFill>
                <a:latin typeface="Segoe UI" pitchFamily="34" charset="0"/>
                <a:ea typeface="Segoe UI" pitchFamily="34" charset="-122"/>
                <a:cs typeface="Segoe UI" pitchFamily="34" charset="-120"/>
              </a:rPr>
              <a:t xml:space="preserve">Απόλυτη: ξεκινά από τη ρίζα, π.χ. </a:t>
            </a:r>
            <a:r>
              <a:rPr lang="el-GR" sz="1150" b="1" dirty="0">
                <a:solidFill>
                  <a:srgbClr val="2F4BD8"/>
                </a:solidFill>
                <a:latin typeface="Consolas" pitchFamily="34" charset="0"/>
                <a:ea typeface="Consolas" pitchFamily="34" charset="-122"/>
                <a:cs typeface="Consolas" pitchFamily="34" charset="-120"/>
              </a:rPr>
              <a:t>C:\Users\mathitis\Desktop</a:t>
            </a:r>
            <a:r>
              <a:rPr lang="el-GR" sz="1200" dirty="0">
                <a:solidFill>
                  <a:srgbClr val="4A5265"/>
                </a:solidFill>
                <a:latin typeface="Segoe UI" pitchFamily="34" charset="0"/>
                <a:ea typeface="Segoe UI" pitchFamily="34" charset="-122"/>
                <a:cs typeface="Segoe UI" pitchFamily="34" charset="-120"/>
              </a:rPr>
              <a:t xml:space="preserve">. Σχετική: ξεκινά από εκεί που είσαι, π.χ. </a:t>
            </a:r>
            <a:r>
              <a:rPr lang="el-GR" sz="1150" b="1" dirty="0">
                <a:solidFill>
                  <a:srgbClr val="2F4BD8"/>
                </a:solidFill>
                <a:latin typeface="Consolas" pitchFamily="34" charset="0"/>
                <a:ea typeface="Consolas" pitchFamily="34" charset="-122"/>
                <a:cs typeface="Consolas" pitchFamily="34" charset="-120"/>
              </a:rPr>
              <a:t>cd Desktop</a:t>
            </a:r>
            <a:r>
              <a:rPr lang="el-GR" sz="1200" dirty="0">
                <a:solidFill>
                  <a:srgbClr val="4A5265"/>
                </a:solidFill>
                <a:latin typeface="Segoe UI" pitchFamily="34" charset="0"/>
                <a:ea typeface="Segoe UI" pitchFamily="34" charset="-122"/>
                <a:cs typeface="Segoe UI" pitchFamily="34" charset="-120"/>
              </a:rPr>
              <a:t xml:space="preserve">. Το </a:t>
            </a:r>
            <a:r>
              <a:rPr lang="el-GR" sz="1150" b="1" dirty="0">
                <a:solidFill>
                  <a:srgbClr val="2F4BD8"/>
                </a:solidFill>
                <a:latin typeface="Consolas" pitchFamily="34" charset="0"/>
                <a:ea typeface="Consolas" pitchFamily="34" charset="-122"/>
                <a:cs typeface="Consolas" pitchFamily="34" charset="-120"/>
              </a:rPr>
              <a:t>%USERPROFILE%</a:t>
            </a:r>
            <a:r>
              <a:rPr lang="el-GR" sz="1200" dirty="0">
                <a:solidFill>
                  <a:srgbClr val="4A5265"/>
                </a:solidFill>
                <a:latin typeface="Segoe UI" pitchFamily="34" charset="0"/>
                <a:ea typeface="Segoe UI" pitchFamily="34" charset="-122"/>
                <a:cs typeface="Segoe UI" pitchFamily="34" charset="-120"/>
              </a:rPr>
              <a:t xml:space="preserve"> είναι συντόμευση για τον φάκελό σου, </a:t>
            </a:r>
            <a:r>
              <a:rPr lang="el-GR" sz="1150" b="1" dirty="0">
                <a:solidFill>
                  <a:srgbClr val="2F4BD8"/>
                </a:solidFill>
                <a:latin typeface="Consolas" pitchFamily="34" charset="0"/>
                <a:ea typeface="Consolas" pitchFamily="34" charset="-122"/>
                <a:cs typeface="Consolas" pitchFamily="34" charset="-120"/>
              </a:rPr>
              <a:t>C:\Users\&lt;όνομα&gt;</a:t>
            </a:r>
            <a:r>
              <a:rPr lang="el-GR" sz="1200" dirty="0">
                <a:solidFill>
                  <a:srgbClr val="4A5265"/>
                </a:solidFill>
                <a:latin typeface="Segoe UI" pitchFamily="34" charset="0"/>
                <a:ea typeface="Segoe UI" pitchFamily="34" charset="-122"/>
                <a:cs typeface="Segoe UI" pitchFamily="34" charset="-120"/>
              </a:rPr>
              <a:t>.</a:t>
            </a:r>
            <a:endParaRPr lang="el-GR" sz="12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1" name="Shape 101"/>
          <p:cNvSpPr/>
          <p:nvPr/>
        </p:nvSpPr>
        <p:spPr>
          <a:xfrm>
            <a:off x="0" y="0"/>
            <a:ext cx="109728" cy="6858000"/>
          </a:xfrm>
          <a:prstGeom prst="rect">
            <a:avLst/>
          </a:prstGeom>
          <a:solidFill>
            <a:srgbClr val="2F4BD8"/>
          </a:solidFill>
          <a:ln w="12700">
            <a:solidFill>
              <a:srgbClr val="2F4BD8"/>
            </a:solidFill>
            <a:prstDash val="solid"/>
          </a:ln>
        </p:spPr>
        <p:txBody>
          <a:bodyPr/>
          <a:p/>
        </p:txBody>
      </p:sp>
      <p:pic>
        <p:nvPicPr>
          <p:cNvPr id="102" name="Picture 101" descr="image.png"/>
          <p:cNvPicPr>
            <a:picLocks noChangeAspect="1"/>
          </p:cNvPicPr>
          <p:nvPr/>
        </p:nvPicPr>
        <p:blipFill>
          <a:blip r:embed="rId2"/>
          <a:stretch>
            <a:fillRect/>
          </a:stretch>
        </p:blipFill>
        <p:spPr>
          <a:xfrm>
            <a:off x="9189720" y="274320"/>
            <a:ext cx="310896" cy="310896"/>
          </a:xfrm>
          <a:prstGeom prst="rect">
            <a:avLst/>
          </a:prstGeom>
        </p:spPr>
      </p:pic>
      <p:sp>
        <p:nvSpPr>
          <p:cNvPr id="102" name="Text 102"/>
          <p:cNvSpPr txBox="1"/>
          <p:nvPr/>
        </p:nvSpPr>
        <p:spPr>
          <a:xfrm>
            <a:off x="9573768" y="246888"/>
            <a:ext cx="2468880" cy="365760"/>
          </a:xfrm>
          <a:prstGeom prst="rect">
            <a:avLst/>
          </a:prstGeom>
          <a:noFill/>
          <a:ln/>
        </p:spPr>
        <p:txBody>
          <a:bodyPr wrap="square" lIns="0" tIns="0" rIns="0" bIns="0" rtlCol="0" anchor="ctr"/>
          <a:lstStyle/>
          <a:p>
            <a:pPr indent="0" marL="0">
              <a:buNone/>
            </a:pPr>
            <a:r>
              <a:rPr lang="el-GR" sz="950" b="1" dirty="0">
                <a:solidFill>
                  <a:srgbClr val="4A5265"/>
                </a:solidFill>
                <a:latin typeface="Segoe UI" pitchFamily="34" charset="0"/>
                <a:ea typeface="Segoe UI" pitchFamily="34" charset="-122"/>
                <a:cs typeface="Segoe UI" pitchFamily="34" charset="-120"/>
              </a:rPr>
              <a:t>ΣΑΕΚ Μαρκοπούλου</a:t>
            </a:r>
            <a:endParaRPr lang="el-GR" sz="950" dirty="0"/>
          </a:p>
          <a:p>
            <a:pPr indent="0" marL="0">
              <a:buNone/>
            </a:pPr>
            <a:r>
              <a:rPr lang="el-GR" sz="950" dirty="0">
                <a:solidFill>
                  <a:srgbClr val="8A91A3"/>
                </a:solidFill>
                <a:latin typeface="Segoe UI" pitchFamily="34" charset="0"/>
                <a:ea typeface="Segoe UI" pitchFamily="34" charset="-122"/>
                <a:cs typeface="Segoe UI" pitchFamily="34" charset="-120"/>
              </a:rPr>
              <a:t>Σύγχρονα Λειτουργικά Συστήματα</a:t>
            </a:r>
            <a:endParaRPr lang="el-GR" sz="950" dirty="0"/>
          </a:p>
        </p:txBody>
      </p:sp>
      <p:sp>
        <p:nvSpPr>
          <p:cNvPr id="103" name="Text 103"/>
          <p:cNvSpPr txBox="1"/>
          <p:nvPr/>
        </p:nvSpPr>
        <p:spPr>
          <a:xfrm>
            <a:off x="8503920" y="6419088"/>
            <a:ext cx="3154680" cy="237744"/>
          </a:xfrm>
          <a:prstGeom prst="rect">
            <a:avLst/>
          </a:prstGeom>
          <a:noFill/>
          <a:ln/>
        </p:spPr>
        <p:txBody>
          <a:bodyPr wrap="square" lIns="0" tIns="0" rIns="0" bIns="0" rtlCol="0" anchor="ctr"/>
          <a:lstStyle/>
          <a:p>
            <a:pPr indent="0" marL="0" algn="r">
              <a:buNone/>
            </a:pPr>
            <a:r>
              <a:rPr lang="el-GR" sz="900" dirty="0">
                <a:solidFill>
                  <a:srgbClr val="8A91A3"/>
                </a:solidFill>
                <a:latin typeface="Consolas" pitchFamily="34" charset="0"/>
                <a:ea typeface="Consolas" pitchFamily="34" charset="-122"/>
                <a:cs typeface="Consolas" pitchFamily="34" charset="-120"/>
              </a:rPr>
              <a:t>Λαμπρόπουλος Χρήστος</a:t>
            </a:r>
            <a:endParaRPr lang="el-GR" sz="900" dirty="0"/>
          </a:p>
        </p:txBody>
      </p:sp>
      <p:sp>
        <p:nvSpPr>
          <p:cNvPr id="104" name="Text 104"/>
          <p:cNvSpPr txBox="1"/>
          <p:nvPr/>
        </p:nvSpPr>
        <p:spPr>
          <a:xfrm>
            <a:off x="566928" y="384048"/>
            <a:ext cx="8412480" cy="237744"/>
          </a:xfrm>
          <a:prstGeom prst="rect">
            <a:avLst/>
          </a:prstGeom>
          <a:noFill/>
          <a:ln/>
        </p:spPr>
        <p:txBody>
          <a:bodyPr wrap="square" lIns="0" tIns="0" rIns="0" bIns="0" rtlCol="0" anchor="ctr"/>
          <a:lstStyle/>
          <a:p>
            <a:pPr indent="0" marL="0">
              <a:buNone/>
            </a:pPr>
            <a:r>
              <a:rPr lang="el-GR" sz="1000" spc="140" dirty="0">
                <a:solidFill>
                  <a:srgbClr val="2F4BD8"/>
                </a:solidFill>
                <a:latin typeface="Consolas" pitchFamily="34" charset="0"/>
                <a:ea typeface="Consolas" pitchFamily="34" charset="-122"/>
                <a:cs typeface="Consolas" pitchFamily="34" charset="-120"/>
              </a:rPr>
              <a:t xml:space="preserve">08  </a:t>
            </a:r>
            <a:r>
              <a:rPr lang="el-GR" sz="1000" spc="140" dirty="0">
                <a:solidFill>
                  <a:srgbClr val="8A91A3"/>
                </a:solidFill>
                <a:latin typeface="Consolas" pitchFamily="34" charset="0"/>
                <a:ea typeface="Consolas" pitchFamily="34" charset="-122"/>
                <a:cs typeface="Consolas" pitchFamily="34" charset="-120"/>
              </a:rPr>
              <a:t>ΟΔΗΓΟΣ ΕΝΤΟΛΩΝ · CMD</a:t>
            </a:r>
            <a:endParaRPr lang="el-GR" sz="1000" dirty="0"/>
          </a:p>
        </p:txBody>
      </p:sp>
      <p:sp>
        <p:nvSpPr>
          <p:cNvPr id="105" name="Text 105"/>
          <p:cNvSpPr txBox="1"/>
          <p:nvPr/>
        </p:nvSpPr>
        <p:spPr>
          <a:xfrm>
            <a:off x="530352" y="658368"/>
            <a:ext cx="8503920" cy="566928"/>
          </a:xfrm>
          <a:prstGeom prst="rect">
            <a:avLst/>
          </a:prstGeom>
          <a:noFill/>
          <a:ln/>
        </p:spPr>
        <p:txBody>
          <a:bodyPr wrap="square" lIns="0" tIns="0" rIns="0" bIns="0" rtlCol="0" anchor="ctr"/>
          <a:lstStyle/>
          <a:p>
            <a:pPr indent="0" marL="0">
              <a:buNone/>
            </a:pPr>
            <a:r>
              <a:rPr lang="el-GR" sz="3000" b="1" dirty="0">
                <a:solidFill>
                  <a:srgbClr val="171B26"/>
                </a:solidFill>
                <a:latin typeface="Segoe UI" pitchFamily="34" charset="0"/>
                <a:ea typeface="Segoe UI" pitchFamily="34" charset="-122"/>
                <a:cs typeface="Segoe UI" pitchFamily="34" charset="-120"/>
              </a:rPr>
              <a:t>Ο υπολογιστής στο δίκτυο</a:t>
            </a:r>
            <a:endParaRPr lang="el-GR" sz="3000" dirty="0"/>
          </a:p>
        </p:txBody>
      </p:sp>
      <p:sp>
        <p:nvSpPr>
          <p:cNvPr id="106" name="Text 106"/>
          <p:cNvSpPr txBox="1"/>
          <p:nvPr/>
        </p:nvSpPr>
        <p:spPr>
          <a:xfrm>
            <a:off x="9098280" y="749808"/>
            <a:ext cx="2331720" cy="274320"/>
          </a:xfrm>
          <a:prstGeom prst="rect">
            <a:avLst/>
          </a:prstGeom>
          <a:noFill/>
          <a:ln/>
        </p:spPr>
        <p:txBody>
          <a:bodyPr wrap="square" lIns="0" tIns="0" rIns="0" bIns="0" rtlCol="0" anchor="ctr"/>
          <a:lstStyle/>
          <a:p>
            <a:pPr indent="0" marL="0" algn="r">
              <a:buNone/>
            </a:pPr>
            <a:r>
              <a:rPr lang="el-GR" sz="1100" b="1" dirty="0">
                <a:solidFill>
                  <a:srgbClr val="1B6B52"/>
                </a:solidFill>
                <a:latin typeface="Consolas" pitchFamily="34" charset="0"/>
                <a:ea typeface="Consolas" pitchFamily="34" charset="-122"/>
                <a:cs typeface="Consolas" pitchFamily="34" charset="-120"/>
              </a:rPr>
              <a:t>ΓΙΑ ΤΟ SITE</a:t>
            </a:r>
            <a:endParaRPr lang="el-GR" sz="1100" dirty="0"/>
          </a:p>
        </p:txBody>
      </p:sp>
      <p:sp>
        <p:nvSpPr>
          <p:cNvPr id="107" name="Shape 107"/>
          <p:cNvSpPr/>
          <p:nvPr/>
        </p:nvSpPr>
        <p:spPr>
          <a:xfrm>
            <a:off x="566928" y="1463040"/>
            <a:ext cx="6949440" cy="2377440"/>
          </a:xfrm>
          <a:prstGeom prst="roundRect">
            <a:avLst>
              <a:gd name="adj" fmla="val 1935"/>
            </a:avLst>
          </a:prstGeom>
          <a:solidFill>
            <a:srgbClr val="FBFCFE"/>
          </a:solidFill>
          <a:ln w="9525">
            <a:solidFill>
              <a:srgbClr val="D3D9E4"/>
            </a:solidFill>
            <a:prstDash val="solid"/>
          </a:ln>
        </p:spPr>
        <p:txBody>
          <a:bodyPr/>
          <a:p/>
        </p:txBody>
      </p:sp>
      <p:sp>
        <p:nvSpPr>
          <p:cNvPr id="108" name="Text 108"/>
          <p:cNvSpPr txBox="1"/>
          <p:nvPr/>
        </p:nvSpPr>
        <p:spPr>
          <a:xfrm>
            <a:off x="731520" y="1591056"/>
            <a:ext cx="6620256" cy="201168"/>
          </a:xfrm>
          <a:prstGeom prst="rect">
            <a:avLst/>
          </a:prstGeom>
          <a:noFill/>
          <a:ln/>
        </p:spPr>
        <p:txBody>
          <a:bodyPr wrap="square" lIns="0" tIns="0" rIns="0" bIns="0" rtlCol="0" anchor="ctr"/>
          <a:lstStyle/>
          <a:p>
            <a:pPr indent="0" marL="0">
              <a:buNone/>
            </a:pPr>
            <a:r>
              <a:rPr lang="el-GR" sz="900" b="1" spc="100" dirty="0">
                <a:solidFill>
                  <a:srgbClr val="2F4BD8"/>
                </a:solidFill>
                <a:latin typeface="Consolas" pitchFamily="34" charset="0"/>
                <a:ea typeface="Consolas" pitchFamily="34" charset="-122"/>
                <a:cs typeface="Consolas" pitchFamily="34" charset="-120"/>
              </a:rPr>
              <a:t>ΣΤΟ CMD, ΜΙΑ-ΜΙΑ</a:t>
            </a:r>
            <a:endParaRPr lang="el-GR" sz="900" dirty="0"/>
          </a:p>
        </p:txBody>
      </p:sp>
      <p:sp>
        <p:nvSpPr>
          <p:cNvPr id="109" name="Text 109"/>
          <p:cNvSpPr txBox="1"/>
          <p:nvPr/>
        </p:nvSpPr>
        <p:spPr>
          <a:xfrm>
            <a:off x="731520" y="1874520"/>
            <a:ext cx="6620256" cy="1874520"/>
          </a:xfrm>
          <a:prstGeom prst="rect">
            <a:avLst/>
          </a:prstGeom>
          <a:noFill/>
          <a:ln/>
        </p:spPr>
        <p:txBody>
          <a:bodyPr wrap="square" lIns="0" tIns="0" rIns="0" bIns="0" rtlCol="0" anchor="t"/>
          <a:lstStyle/>
          <a:p>
            <a:pPr indent="0" marL="0">
              <a:lnSpc>
                <a:spcPct val="125000"/>
              </a:lnSpc>
              <a:buNone/>
            </a:pPr>
            <a:r>
              <a:rPr lang="el-GR" sz="1150" b="1" dirty="0">
                <a:solidFill>
                  <a:srgbClr val="171B26"/>
                </a:solidFill>
                <a:latin typeface="Consolas" pitchFamily="34" charset="0"/>
                <a:ea typeface="Consolas" pitchFamily="34" charset="-122"/>
                <a:cs typeface="Consolas" pitchFamily="34" charset="-120"/>
              </a:rPr>
              <a:t>ipconfig</a:t>
            </a:r>
            <a:r>
              <a:rPr lang="el-GR" sz="1150" dirty="0">
                <a:solidFill>
                  <a:srgbClr val="8A91A3"/>
                </a:solidFill>
                <a:latin typeface="Consolas" pitchFamily="34" charset="0"/>
                <a:ea typeface="Consolas" pitchFamily="34" charset="-122"/>
                <a:cs typeface="Consolas" pitchFamily="34" charset="-120"/>
              </a:rPr>
              <a:t xml:space="preserve">   IPv4, μάσκα, πύλη</a:t>
            </a:r>
            <a:endParaRPr lang="el-GR" sz="1150" dirty="0"/>
          </a:p>
          <a:p>
            <a:pPr indent="0" marL="0">
              <a:lnSpc>
                <a:spcPct val="125000"/>
              </a:lnSpc>
              <a:buNone/>
            </a:pPr>
            <a:r>
              <a:rPr lang="el-GR" sz="1150" b="1" dirty="0">
                <a:solidFill>
                  <a:srgbClr val="171B26"/>
                </a:solidFill>
                <a:latin typeface="Consolas" pitchFamily="34" charset="0"/>
                <a:ea typeface="Consolas" pitchFamily="34" charset="-122"/>
                <a:cs typeface="Consolas" pitchFamily="34" charset="-120"/>
              </a:rPr>
              <a:t>ipconfig /all</a:t>
            </a:r>
            <a:r>
              <a:rPr lang="el-GR" sz="1150" dirty="0">
                <a:solidFill>
                  <a:srgbClr val="8A91A3"/>
                </a:solidFill>
                <a:latin typeface="Consolas" pitchFamily="34" charset="0"/>
                <a:ea typeface="Consolas" pitchFamily="34" charset="-122"/>
                <a:cs typeface="Consolas" pitchFamily="34" charset="-120"/>
              </a:rPr>
              <a:t xml:space="preserve">   και MAC, DHCP, DNS</a:t>
            </a:r>
            <a:endParaRPr lang="el-GR" sz="1150" dirty="0"/>
          </a:p>
          <a:p>
            <a:pPr indent="0" marL="0">
              <a:lnSpc>
                <a:spcPct val="125000"/>
              </a:lnSpc>
              <a:buNone/>
            </a:pPr>
            <a:r>
              <a:rPr lang="el-GR" sz="1150" b="1" dirty="0">
                <a:solidFill>
                  <a:srgbClr val="171B26"/>
                </a:solidFill>
                <a:latin typeface="Consolas" pitchFamily="34" charset="0"/>
                <a:ea typeface="Consolas" pitchFamily="34" charset="-122"/>
                <a:cs typeface="Consolas" pitchFamily="34" charset="-120"/>
              </a:rPr>
              <a:t>ping google.com</a:t>
            </a:r>
            <a:r>
              <a:rPr lang="el-GR" sz="1150" dirty="0">
                <a:solidFill>
                  <a:srgbClr val="8A91A3"/>
                </a:solidFill>
                <a:latin typeface="Consolas" pitchFamily="34" charset="0"/>
                <a:ea typeface="Consolas" pitchFamily="34" charset="-122"/>
                <a:cs typeface="Consolas" pitchFamily="34" charset="-120"/>
              </a:rPr>
              <a:t xml:space="preserve">   απαντά ο server;</a:t>
            </a:r>
            <a:endParaRPr lang="el-GR" sz="1150" dirty="0"/>
          </a:p>
          <a:p>
            <a:pPr indent="0" marL="0">
              <a:lnSpc>
                <a:spcPct val="125000"/>
              </a:lnSpc>
              <a:buNone/>
            </a:pPr>
            <a:r>
              <a:rPr lang="el-GR" sz="1150" b="1" dirty="0">
                <a:solidFill>
                  <a:srgbClr val="171B26"/>
                </a:solidFill>
                <a:latin typeface="Consolas" pitchFamily="34" charset="0"/>
                <a:ea typeface="Consolas" pitchFamily="34" charset="-122"/>
                <a:cs typeface="Consolas" pitchFamily="34" charset="-120"/>
              </a:rPr>
              <a:t>ping localhost</a:t>
            </a:r>
            <a:r>
              <a:rPr lang="el-GR" sz="1150" dirty="0">
                <a:solidFill>
                  <a:srgbClr val="8A91A3"/>
                </a:solidFill>
                <a:latin typeface="Consolas" pitchFamily="34" charset="0"/>
                <a:ea typeface="Consolas" pitchFamily="34" charset="-122"/>
                <a:cs typeface="Consolas" pitchFamily="34" charset="-120"/>
              </a:rPr>
              <a:t xml:space="preserve">   ο ίδιος μου ο υπολογιστής</a:t>
            </a:r>
            <a:endParaRPr lang="el-GR" sz="1150" dirty="0"/>
          </a:p>
        </p:txBody>
      </p:sp>
      <p:sp>
        <p:nvSpPr>
          <p:cNvPr id="110" name="Shape 110"/>
          <p:cNvSpPr/>
          <p:nvPr/>
        </p:nvSpPr>
        <p:spPr>
          <a:xfrm>
            <a:off x="7699248" y="1463040"/>
            <a:ext cx="3749040" cy="2377440"/>
          </a:xfrm>
          <a:prstGeom prst="roundRect">
            <a:avLst>
              <a:gd name="adj" fmla="val 1935"/>
            </a:avLst>
          </a:prstGeom>
          <a:solidFill>
            <a:srgbClr val="E4E8FB"/>
          </a:solidFill>
          <a:ln w="12700">
            <a:solidFill>
              <a:srgbClr val="E4E8FB"/>
            </a:solidFill>
            <a:prstDash val="solid"/>
          </a:ln>
        </p:spPr>
        <p:txBody>
          <a:bodyPr/>
          <a:p/>
        </p:txBody>
      </p:sp>
      <p:sp>
        <p:nvSpPr>
          <p:cNvPr id="111" name="Text 111"/>
          <p:cNvSpPr txBox="1"/>
          <p:nvPr/>
        </p:nvSpPr>
        <p:spPr>
          <a:xfrm>
            <a:off x="7863840" y="1591056"/>
            <a:ext cx="3419856" cy="274320"/>
          </a:xfrm>
          <a:prstGeom prst="rect">
            <a:avLst/>
          </a:prstGeom>
          <a:noFill/>
          <a:ln/>
        </p:spPr>
        <p:txBody>
          <a:bodyPr wrap="square" lIns="0" tIns="0" rIns="0" bIns="0" rtlCol="0" anchor="ctr"/>
          <a:lstStyle/>
          <a:p>
            <a:pPr indent="0" marL="0">
              <a:buNone/>
            </a:pPr>
            <a:r>
              <a:rPr lang="el-GR" sz="1400" b="1" dirty="0">
                <a:solidFill>
                  <a:srgbClr val="171B26"/>
                </a:solidFill>
                <a:latin typeface="Segoe UI" pitchFamily="34" charset="0"/>
                <a:ea typeface="Segoe UI" pitchFamily="34" charset="-122"/>
                <a:cs typeface="Segoe UI" pitchFamily="34" charset="-120"/>
              </a:rPr>
              <a:t>Τι σημαίνουν</a:t>
            </a:r>
            <a:endParaRPr lang="el-GR" sz="1400" dirty="0"/>
          </a:p>
        </p:txBody>
      </p:sp>
      <p:sp>
        <p:nvSpPr>
          <p:cNvPr id="112" name="Text 112"/>
          <p:cNvSpPr txBox="1"/>
          <p:nvPr/>
        </p:nvSpPr>
        <p:spPr>
          <a:xfrm>
            <a:off x="7863840" y="1938528"/>
            <a:ext cx="3419856" cy="1810512"/>
          </a:xfrm>
          <a:prstGeom prst="rect">
            <a:avLst/>
          </a:prstGeom>
          <a:noFill/>
          <a:ln/>
        </p:spPr>
        <p:txBody>
          <a:bodyPr wrap="square" lIns="0" tIns="0" rIns="0" bIns="0" rtlCol="0" anchor="t"/>
          <a:lstStyle/>
          <a:p>
            <a:pPr marL="177800" indent="-177800">
              <a:lnSpc>
                <a:spcPct val="112000"/>
              </a:lnSpc>
              <a:spcAft>
                <a:spcPts val="400"/>
              </a:spcAft>
              <a:buSzPct val="100000"/>
              <a:buChar char="•"/>
            </a:pPr>
            <a:r>
              <a:rPr lang="el-GR" sz="1150" b="1" dirty="0">
                <a:solidFill>
                  <a:srgbClr val="171B26"/>
                </a:solidFill>
                <a:latin typeface="Segoe UI" pitchFamily="34" charset="0"/>
                <a:ea typeface="Segoe UI" pitchFamily="34" charset="-122"/>
                <a:cs typeface="Segoe UI" pitchFamily="34" charset="-120"/>
              </a:rPr>
              <a:t>IPv4 Address</a:t>
            </a:r>
            <a:r>
              <a:rPr lang="el-GR" sz="1150" dirty="0">
                <a:solidFill>
                  <a:srgbClr val="4A5265"/>
                </a:solidFill>
                <a:latin typeface="Segoe UI" pitchFamily="34" charset="0"/>
                <a:ea typeface="Segoe UI" pitchFamily="34" charset="-122"/>
                <a:cs typeface="Segoe UI" pitchFamily="34" charset="-120"/>
              </a:rPr>
              <a:t>: η διεύθυνση του υπολογιστή στο δίκτυο</a:t>
            </a:r>
            <a:endParaRPr lang="el-GR" sz="1150" dirty="0"/>
          </a:p>
          <a:p>
            <a:pPr marL="177800" indent="-177800">
              <a:lnSpc>
                <a:spcPct val="112000"/>
              </a:lnSpc>
              <a:spcAft>
                <a:spcPts val="400"/>
              </a:spcAft>
              <a:buSzPct val="100000"/>
              <a:buChar char="•"/>
            </a:pPr>
            <a:r>
              <a:rPr lang="el-GR" sz="1150" b="1" dirty="0">
                <a:solidFill>
                  <a:srgbClr val="171B26"/>
                </a:solidFill>
                <a:latin typeface="Segoe UI" pitchFamily="34" charset="0"/>
                <a:ea typeface="Segoe UI" pitchFamily="34" charset="-122"/>
                <a:cs typeface="Segoe UI" pitchFamily="34" charset="-120"/>
              </a:rPr>
              <a:t>Default Gateway</a:t>
            </a:r>
            <a:r>
              <a:rPr lang="el-GR" sz="1150" dirty="0">
                <a:solidFill>
                  <a:srgbClr val="4A5265"/>
                </a:solidFill>
                <a:latin typeface="Segoe UI" pitchFamily="34" charset="0"/>
                <a:ea typeface="Segoe UI" pitchFamily="34" charset="-122"/>
                <a:cs typeface="Segoe UI" pitchFamily="34" charset="-120"/>
              </a:rPr>
              <a:t>: η «πόρτα» προς το ίντερνετ (το ρούτερ)</a:t>
            </a:r>
            <a:endParaRPr lang="el-GR" sz="1150" dirty="0"/>
          </a:p>
          <a:p>
            <a:pPr marL="177800" indent="-177800">
              <a:lnSpc>
                <a:spcPct val="112000"/>
              </a:lnSpc>
              <a:spcAft>
                <a:spcPts val="400"/>
              </a:spcAft>
              <a:buSzPct val="100000"/>
              <a:buChar char="•"/>
            </a:pPr>
            <a:r>
              <a:rPr lang="el-GR" sz="1150" b="1" dirty="0">
                <a:solidFill>
                  <a:srgbClr val="171B26"/>
                </a:solidFill>
                <a:latin typeface="Segoe UI" pitchFamily="34" charset="0"/>
                <a:ea typeface="Segoe UI" pitchFamily="34" charset="-122"/>
                <a:cs typeface="Segoe UI" pitchFamily="34" charset="-120"/>
              </a:rPr>
              <a:t>Physical Address</a:t>
            </a:r>
            <a:r>
              <a:rPr lang="el-GR" sz="1150" dirty="0">
                <a:solidFill>
                  <a:srgbClr val="4A5265"/>
                </a:solidFill>
                <a:latin typeface="Segoe UI" pitchFamily="34" charset="0"/>
                <a:ea typeface="Segoe UI" pitchFamily="34" charset="-122"/>
                <a:cs typeface="Segoe UI" pitchFamily="34" charset="-120"/>
              </a:rPr>
              <a:t>: η MAC, ο «σειριακός» της κάρτας</a:t>
            </a:r>
            <a:endParaRPr lang="el-GR" sz="1150" dirty="0"/>
          </a:p>
          <a:p>
            <a:pPr marL="177800" indent="-177800">
              <a:lnSpc>
                <a:spcPct val="112000"/>
              </a:lnSpc>
              <a:spcAft>
                <a:spcPts val="400"/>
              </a:spcAft>
              <a:buSzPct val="100000"/>
              <a:buChar char="•"/>
            </a:pPr>
            <a:r>
              <a:rPr lang="el-GR" sz="1150" b="1" dirty="0">
                <a:solidFill>
                  <a:srgbClr val="171B26"/>
                </a:solidFill>
                <a:latin typeface="Segoe UI" pitchFamily="34" charset="0"/>
                <a:ea typeface="Segoe UI" pitchFamily="34" charset="-122"/>
                <a:cs typeface="Segoe UI" pitchFamily="34" charset="-120"/>
              </a:rPr>
              <a:t>localhost</a:t>
            </a:r>
            <a:r>
              <a:rPr lang="el-GR" sz="1150" dirty="0">
                <a:solidFill>
                  <a:srgbClr val="4A5265"/>
                </a:solidFill>
                <a:latin typeface="Segoe UI" pitchFamily="34" charset="0"/>
                <a:ea typeface="Segoe UI" pitchFamily="34" charset="-122"/>
                <a:cs typeface="Segoe UI" pitchFamily="34" charset="-120"/>
              </a:rPr>
              <a:t xml:space="preserve"> = </a:t>
            </a:r>
            <a:r>
              <a:rPr lang="el-GR" sz="1150" b="1" dirty="0">
                <a:solidFill>
                  <a:srgbClr val="171B26"/>
                </a:solidFill>
                <a:latin typeface="Segoe UI" pitchFamily="34" charset="0"/>
                <a:ea typeface="Segoe UI" pitchFamily="34" charset="-122"/>
                <a:cs typeface="Segoe UI" pitchFamily="34" charset="-120"/>
              </a:rPr>
              <a:t>127.0.0.1</a:t>
            </a:r>
            <a:r>
              <a:rPr lang="el-GR" sz="1150" dirty="0">
                <a:solidFill>
                  <a:srgbClr val="4A5265"/>
                </a:solidFill>
                <a:latin typeface="Segoe UI" pitchFamily="34" charset="0"/>
                <a:ea typeface="Segoe UI" pitchFamily="34" charset="-122"/>
                <a:cs typeface="Segoe UI" pitchFamily="34" charset="-120"/>
              </a:rPr>
              <a:t>: πάντα ο ίδιος ο υπολογιστής</a:t>
            </a:r>
            <a:endParaRPr lang="el-GR" sz="1150" dirty="0"/>
          </a:p>
        </p:txBody>
      </p:sp>
      <p:sp>
        <p:nvSpPr>
          <p:cNvPr id="113" name="Shape 113"/>
          <p:cNvSpPr/>
          <p:nvPr/>
        </p:nvSpPr>
        <p:spPr>
          <a:xfrm>
            <a:off x="566928" y="4069080"/>
            <a:ext cx="10881360" cy="1920240"/>
          </a:xfrm>
          <a:prstGeom prst="roundRect">
            <a:avLst>
              <a:gd name="adj" fmla="val 1935"/>
            </a:avLst>
          </a:prstGeom>
          <a:solidFill>
            <a:srgbClr val="F6EDD6"/>
          </a:solidFill>
          <a:ln w="12700">
            <a:solidFill>
              <a:srgbClr val="F6EDD6"/>
            </a:solidFill>
            <a:prstDash val="solid"/>
          </a:ln>
        </p:spPr>
        <p:txBody>
          <a:bodyPr/>
          <a:p/>
        </p:txBody>
      </p:sp>
      <p:sp>
        <p:nvSpPr>
          <p:cNvPr id="114" name="Text 114"/>
          <p:cNvSpPr txBox="1"/>
          <p:nvPr/>
        </p:nvSpPr>
        <p:spPr>
          <a:xfrm>
            <a:off x="731520" y="4197096"/>
            <a:ext cx="10552176" cy="274320"/>
          </a:xfrm>
          <a:prstGeom prst="rect">
            <a:avLst/>
          </a:prstGeom>
          <a:noFill/>
          <a:ln/>
        </p:spPr>
        <p:txBody>
          <a:bodyPr wrap="square" lIns="0" tIns="0" rIns="0" bIns="0" rtlCol="0" anchor="ctr"/>
          <a:lstStyle/>
          <a:p>
            <a:pPr indent="0" marL="0">
              <a:buNone/>
            </a:pPr>
            <a:r>
              <a:rPr lang="el-GR" sz="1400" b="1" dirty="0">
                <a:solidFill>
                  <a:srgbClr val="171B26"/>
                </a:solidFill>
                <a:latin typeface="Segoe UI" pitchFamily="34" charset="0"/>
                <a:ea typeface="Segoe UI" pitchFamily="34" charset="-122"/>
                <a:cs typeface="Segoe UI" pitchFamily="34" charset="-120"/>
              </a:rPr>
              <a:t>Πώς διαβάζω το ping</a:t>
            </a:r>
            <a:endParaRPr lang="el-GR" sz="1400" dirty="0"/>
          </a:p>
        </p:txBody>
      </p:sp>
      <p:sp>
        <p:nvSpPr>
          <p:cNvPr id="115" name="Text 115"/>
          <p:cNvSpPr txBox="1"/>
          <p:nvPr/>
        </p:nvSpPr>
        <p:spPr>
          <a:xfrm>
            <a:off x="731520" y="4544568"/>
            <a:ext cx="10552176" cy="1353312"/>
          </a:xfrm>
          <a:prstGeom prst="rect">
            <a:avLst/>
          </a:prstGeom>
          <a:noFill/>
          <a:ln/>
        </p:spPr>
        <p:txBody>
          <a:bodyPr wrap="square" lIns="0" tIns="0" rIns="0" bIns="0" rtlCol="0" anchor="t"/>
          <a:lstStyle/>
          <a:p>
            <a:pPr indent="0" marL="0">
              <a:lnSpc>
                <a:spcPct val="112000"/>
              </a:lnSpc>
              <a:spcAft>
                <a:spcPts val="400"/>
              </a:spcAft>
              <a:buNone/>
            </a:pPr>
            <a:r>
              <a:rPr lang="el-GR" sz="1150" b="1" dirty="0">
                <a:solidFill>
                  <a:srgbClr val="2F4BD8"/>
                </a:solidFill>
                <a:latin typeface="Consolas" pitchFamily="34" charset="0"/>
                <a:ea typeface="Consolas" pitchFamily="34" charset="-122"/>
                <a:cs typeface="Consolas" pitchFamily="34" charset="-120"/>
              </a:rPr>
              <a:t>Reply from 142.250.184.78: bytes=32 time=14ms</a:t>
            </a:r>
            <a:r>
              <a:rPr lang="el-GR" sz="1200" dirty="0">
                <a:solidFill>
                  <a:srgbClr val="4A5265"/>
                </a:solidFill>
                <a:latin typeface="Segoe UI" pitchFamily="34" charset="0"/>
                <a:ea typeface="Segoe UI" pitchFamily="34" charset="-122"/>
                <a:cs typeface="Segoe UI" pitchFamily="34" charset="-120"/>
              </a:rPr>
              <a:t xml:space="preserve"> → ο server απάντησε σε 14 χιλιοστά του δευτερολέπτου.</a:t>
            </a:r>
            <a:endParaRPr lang="el-GR" sz="1200" dirty="0"/>
          </a:p>
          <a:p>
            <a:pPr indent="0" marL="0">
              <a:lnSpc>
                <a:spcPct val="112000"/>
              </a:lnSpc>
              <a:spcAft>
                <a:spcPts val="400"/>
              </a:spcAft>
              <a:buNone/>
            </a:pPr>
            <a:r>
              <a:rPr lang="el-GR" sz="1150" b="1" dirty="0">
                <a:solidFill>
                  <a:srgbClr val="2F4BD8"/>
                </a:solidFill>
                <a:latin typeface="Consolas" pitchFamily="34" charset="0"/>
                <a:ea typeface="Consolas" pitchFamily="34" charset="-122"/>
                <a:cs typeface="Consolas" pitchFamily="34" charset="-120"/>
              </a:rPr>
              <a:t>Packets: Sent = 4, Received = 4, Lost = 0 (0% loss)</a:t>
            </a:r>
            <a:r>
              <a:rPr lang="el-GR" sz="1200" dirty="0">
                <a:solidFill>
                  <a:srgbClr val="4A5265"/>
                </a:solidFill>
                <a:latin typeface="Segoe UI" pitchFamily="34" charset="0"/>
                <a:ea typeface="Segoe UI" pitchFamily="34" charset="-122"/>
                <a:cs typeface="Segoe UI" pitchFamily="34" charset="-120"/>
              </a:rPr>
              <a:t xml:space="preserve"> → </a:t>
            </a:r>
            <a:r>
              <a:rPr lang="el-GR" sz="1200" b="1" dirty="0">
                <a:solidFill>
                  <a:srgbClr val="171B26"/>
                </a:solidFill>
                <a:latin typeface="Segoe UI" pitchFamily="34" charset="0"/>
                <a:ea typeface="Segoe UI" pitchFamily="34" charset="-122"/>
                <a:cs typeface="Segoe UI" pitchFamily="34" charset="-120"/>
              </a:rPr>
              <a:t>Lost</a:t>
            </a:r>
            <a:r>
              <a:rPr lang="el-GR" sz="1200" dirty="0">
                <a:solidFill>
                  <a:srgbClr val="4A5265"/>
                </a:solidFill>
                <a:latin typeface="Segoe UI" pitchFamily="34" charset="0"/>
                <a:ea typeface="Segoe UI" pitchFamily="34" charset="-122"/>
                <a:cs typeface="Segoe UI" pitchFamily="34" charset="-120"/>
              </a:rPr>
              <a:t xml:space="preserve"> = πόσα πακέτα χάθηκαν. 0 σημαίνει ότι έφτασαν όλα.</a:t>
            </a:r>
            <a:endParaRPr lang="el-GR" sz="12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1" name="Shape 101"/>
          <p:cNvSpPr/>
          <p:nvPr/>
        </p:nvSpPr>
        <p:spPr>
          <a:xfrm>
            <a:off x="0" y="0"/>
            <a:ext cx="109728" cy="6858000"/>
          </a:xfrm>
          <a:prstGeom prst="rect">
            <a:avLst/>
          </a:prstGeom>
          <a:solidFill>
            <a:srgbClr val="2F4BD8"/>
          </a:solidFill>
          <a:ln w="12700">
            <a:solidFill>
              <a:srgbClr val="2F4BD8"/>
            </a:solidFill>
            <a:prstDash val="solid"/>
          </a:ln>
        </p:spPr>
        <p:txBody>
          <a:bodyPr/>
          <a:p/>
        </p:txBody>
      </p:sp>
      <p:pic>
        <p:nvPicPr>
          <p:cNvPr id="102" name="Picture 101" descr="image.png"/>
          <p:cNvPicPr>
            <a:picLocks noChangeAspect="1"/>
          </p:cNvPicPr>
          <p:nvPr/>
        </p:nvPicPr>
        <p:blipFill>
          <a:blip r:embed="rId2"/>
          <a:stretch>
            <a:fillRect/>
          </a:stretch>
        </p:blipFill>
        <p:spPr>
          <a:xfrm>
            <a:off x="9189720" y="274320"/>
            <a:ext cx="310896" cy="310896"/>
          </a:xfrm>
          <a:prstGeom prst="rect">
            <a:avLst/>
          </a:prstGeom>
        </p:spPr>
      </p:pic>
      <p:sp>
        <p:nvSpPr>
          <p:cNvPr id="102" name="Text 102"/>
          <p:cNvSpPr txBox="1"/>
          <p:nvPr/>
        </p:nvSpPr>
        <p:spPr>
          <a:xfrm>
            <a:off x="9573768" y="246888"/>
            <a:ext cx="2468880" cy="365760"/>
          </a:xfrm>
          <a:prstGeom prst="rect">
            <a:avLst/>
          </a:prstGeom>
          <a:noFill/>
          <a:ln/>
        </p:spPr>
        <p:txBody>
          <a:bodyPr wrap="square" lIns="0" tIns="0" rIns="0" bIns="0" rtlCol="0" anchor="ctr"/>
          <a:lstStyle/>
          <a:p>
            <a:pPr indent="0" marL="0">
              <a:buNone/>
            </a:pPr>
            <a:r>
              <a:rPr lang="el-GR" sz="950" b="1" dirty="0">
                <a:solidFill>
                  <a:srgbClr val="4A5265"/>
                </a:solidFill>
                <a:latin typeface="Segoe UI" pitchFamily="34" charset="0"/>
                <a:ea typeface="Segoe UI" pitchFamily="34" charset="-122"/>
                <a:cs typeface="Segoe UI" pitchFamily="34" charset="-120"/>
              </a:rPr>
              <a:t>ΣΑΕΚ Μαρκοπούλου</a:t>
            </a:r>
            <a:endParaRPr lang="el-GR" sz="950" dirty="0"/>
          </a:p>
          <a:p>
            <a:pPr indent="0" marL="0">
              <a:buNone/>
            </a:pPr>
            <a:r>
              <a:rPr lang="el-GR" sz="950" dirty="0">
                <a:solidFill>
                  <a:srgbClr val="8A91A3"/>
                </a:solidFill>
                <a:latin typeface="Segoe UI" pitchFamily="34" charset="0"/>
                <a:ea typeface="Segoe UI" pitchFamily="34" charset="-122"/>
                <a:cs typeface="Segoe UI" pitchFamily="34" charset="-120"/>
              </a:rPr>
              <a:t>Σύγχρονα Λειτουργικά Συστήματα</a:t>
            </a:r>
            <a:endParaRPr lang="el-GR" sz="950" dirty="0"/>
          </a:p>
        </p:txBody>
      </p:sp>
      <p:sp>
        <p:nvSpPr>
          <p:cNvPr id="103" name="Text 103"/>
          <p:cNvSpPr txBox="1"/>
          <p:nvPr/>
        </p:nvSpPr>
        <p:spPr>
          <a:xfrm>
            <a:off x="8503920" y="6419088"/>
            <a:ext cx="3154680" cy="237744"/>
          </a:xfrm>
          <a:prstGeom prst="rect">
            <a:avLst/>
          </a:prstGeom>
          <a:noFill/>
          <a:ln/>
        </p:spPr>
        <p:txBody>
          <a:bodyPr wrap="square" lIns="0" tIns="0" rIns="0" bIns="0" rtlCol="0" anchor="ctr"/>
          <a:lstStyle/>
          <a:p>
            <a:pPr indent="0" marL="0" algn="r">
              <a:buNone/>
            </a:pPr>
            <a:r>
              <a:rPr lang="el-GR" sz="900" dirty="0">
                <a:solidFill>
                  <a:srgbClr val="8A91A3"/>
                </a:solidFill>
                <a:latin typeface="Consolas" pitchFamily="34" charset="0"/>
                <a:ea typeface="Consolas" pitchFamily="34" charset="-122"/>
                <a:cs typeface="Consolas" pitchFamily="34" charset="-120"/>
              </a:rPr>
              <a:t>Λαμπρόπουλος Χρήστος</a:t>
            </a:r>
            <a:endParaRPr lang="el-GR" sz="900" dirty="0"/>
          </a:p>
        </p:txBody>
      </p:sp>
      <p:sp>
        <p:nvSpPr>
          <p:cNvPr id="104" name="Text 104"/>
          <p:cNvSpPr txBox="1"/>
          <p:nvPr/>
        </p:nvSpPr>
        <p:spPr>
          <a:xfrm>
            <a:off x="566928" y="384048"/>
            <a:ext cx="8412480" cy="237744"/>
          </a:xfrm>
          <a:prstGeom prst="rect">
            <a:avLst/>
          </a:prstGeom>
          <a:noFill/>
          <a:ln/>
        </p:spPr>
        <p:txBody>
          <a:bodyPr wrap="square" lIns="0" tIns="0" rIns="0" bIns="0" rtlCol="0" anchor="ctr"/>
          <a:lstStyle/>
          <a:p>
            <a:pPr indent="0" marL="0">
              <a:buNone/>
            </a:pPr>
            <a:r>
              <a:rPr lang="el-GR" sz="1000" spc="140" dirty="0">
                <a:solidFill>
                  <a:srgbClr val="2F4BD8"/>
                </a:solidFill>
                <a:latin typeface="Consolas" pitchFamily="34" charset="0"/>
                <a:ea typeface="Consolas" pitchFamily="34" charset="-122"/>
                <a:cs typeface="Consolas" pitchFamily="34" charset="-120"/>
              </a:rPr>
              <a:t xml:space="preserve">07  </a:t>
            </a:r>
            <a:r>
              <a:rPr lang="el-GR" sz="1000" spc="140" dirty="0">
                <a:solidFill>
                  <a:srgbClr val="8A91A3"/>
                </a:solidFill>
                <a:latin typeface="Consolas" pitchFamily="34" charset="0"/>
                <a:ea typeface="Consolas" pitchFamily="34" charset="-122"/>
                <a:cs typeface="Consolas" pitchFamily="34" charset="-120"/>
              </a:rPr>
              <a:t>ΟΔΗΓΟΣ ΕΝΤΟΛΩΝ · CMD</a:t>
            </a:r>
            <a:endParaRPr lang="el-GR" sz="1000" dirty="0"/>
          </a:p>
        </p:txBody>
      </p:sp>
      <p:sp>
        <p:nvSpPr>
          <p:cNvPr id="105" name="Text 105"/>
          <p:cNvSpPr txBox="1"/>
          <p:nvPr/>
        </p:nvSpPr>
        <p:spPr>
          <a:xfrm>
            <a:off x="530352" y="658368"/>
            <a:ext cx="8503920" cy="566928"/>
          </a:xfrm>
          <a:prstGeom prst="rect">
            <a:avLst/>
          </a:prstGeom>
          <a:noFill/>
          <a:ln/>
        </p:spPr>
        <p:txBody>
          <a:bodyPr wrap="square" lIns="0" tIns="0" rIns="0" bIns="0" rtlCol="0" anchor="ctr"/>
          <a:lstStyle/>
          <a:p>
            <a:pPr indent="0" marL="0">
              <a:buNone/>
            </a:pPr>
            <a:r>
              <a:rPr lang="el-GR" sz="3000" b="1" dirty="0">
                <a:solidFill>
                  <a:srgbClr val="171B26"/>
                </a:solidFill>
                <a:latin typeface="Segoe UI" pitchFamily="34" charset="0"/>
                <a:ea typeface="Segoe UI" pitchFamily="34" charset="-122"/>
                <a:cs typeface="Segoe UI" pitchFamily="34" charset="-120"/>
              </a:rPr>
              <a:t>Οι 6 δουλειές του ΛΣ στο cmd</a:t>
            </a:r>
            <a:endParaRPr lang="el-GR" sz="3000" dirty="0"/>
          </a:p>
        </p:txBody>
      </p:sp>
      <p:sp>
        <p:nvSpPr>
          <p:cNvPr id="106" name="Text 106"/>
          <p:cNvSpPr txBox="1"/>
          <p:nvPr/>
        </p:nvSpPr>
        <p:spPr>
          <a:xfrm>
            <a:off x="9098280" y="749808"/>
            <a:ext cx="2331720" cy="274320"/>
          </a:xfrm>
          <a:prstGeom prst="rect">
            <a:avLst/>
          </a:prstGeom>
          <a:noFill/>
          <a:ln/>
        </p:spPr>
        <p:txBody>
          <a:bodyPr wrap="square" lIns="0" tIns="0" rIns="0" bIns="0" rtlCol="0" anchor="ctr"/>
          <a:lstStyle/>
          <a:p>
            <a:pPr indent="0" marL="0" algn="r">
              <a:buNone/>
            </a:pPr>
            <a:r>
              <a:rPr lang="el-GR" sz="1100" b="1" dirty="0">
                <a:solidFill>
                  <a:srgbClr val="1B6B52"/>
                </a:solidFill>
                <a:latin typeface="Consolas" pitchFamily="34" charset="0"/>
                <a:ea typeface="Consolas" pitchFamily="34" charset="-122"/>
                <a:cs typeface="Consolas" pitchFamily="34" charset="-120"/>
              </a:rPr>
              <a:t>ΓΙΑ ΤΟ SITE</a:t>
            </a:r>
            <a:endParaRPr lang="el-GR" sz="1100" dirty="0"/>
          </a:p>
        </p:txBody>
      </p:sp>
      <p:graphicFrame>
        <p:nvGraphicFramePr>
          <p:cNvPr id="107" name="Table 107"/>
          <p:cNvGraphicFramePr>
            <a:graphicFrameLocks noGrp="1"/>
          </p:cNvGraphicFramePr>
          <p:nvPr/>
        </p:nvGraphicFramePr>
        <p:xfrm>
          <a:off x="566928" y="1463040"/>
          <a:ext cx="10881360" cy="2852928"/>
        </p:xfrm>
        <a:graphic>
          <a:graphicData uri="http://schemas.openxmlformats.org/drawingml/2006/table">
            <a:tbl>
              <a:tblPr/>
              <a:tblGrid>
                <a:gridCol w="2926080"/>
                <a:gridCol w="2377440"/>
                <a:gridCol w="5577840"/>
              </a:tblGrid>
              <a:tr h="329184">
                <a:tc>
                  <a:txBody>
                    <a:bodyPr/>
                    <a:lstStyle/>
                    <a:p>
                      <a:pPr indent="0" marL="0">
                        <a:buNone/>
                      </a:pPr>
                      <a:r>
                        <a:rPr lang="el-GR" sz="900" b="1" dirty="0">
                          <a:solidFill>
                            <a:srgbClr val="8A91A3"/>
                          </a:solidFill>
                          <a:latin typeface="Consolas" pitchFamily="34" charset="0"/>
                          <a:ea typeface="Consolas" pitchFamily="34" charset="-122"/>
                          <a:cs typeface="Consolas" pitchFamily="34" charset="-120"/>
                        </a:rPr>
                        <a:t>ΔΟΥΛΕΙΑ ΤΟΥ ΛΣ</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1F3FA"/>
                    </a:solidFill>
                  </a:tcPr>
                </a:tc>
                <a:tc>
                  <a:txBody>
                    <a:bodyPr/>
                    <a:lstStyle/>
                    <a:p>
                      <a:pPr indent="0" marL="0">
                        <a:buNone/>
                      </a:pPr>
                      <a:r>
                        <a:rPr lang="el-GR" sz="900" b="1" dirty="0">
                          <a:solidFill>
                            <a:srgbClr val="8A91A3"/>
                          </a:solidFill>
                          <a:latin typeface="Consolas" pitchFamily="34" charset="0"/>
                          <a:ea typeface="Consolas" pitchFamily="34" charset="-122"/>
                          <a:cs typeface="Consolas" pitchFamily="34" charset="-120"/>
                        </a:rPr>
                        <a:t>ΕΝΤΟΛΗ</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1F3FA"/>
                    </a:solidFill>
                  </a:tcPr>
                </a:tc>
                <a:tc>
                  <a:txBody>
                    <a:bodyPr/>
                    <a:lstStyle/>
                    <a:p>
                      <a:pPr indent="0" marL="0">
                        <a:buNone/>
                      </a:pPr>
                      <a:r>
                        <a:rPr lang="el-GR" sz="900" b="1" dirty="0">
                          <a:solidFill>
                            <a:srgbClr val="8A91A3"/>
                          </a:solidFill>
                          <a:latin typeface="Consolas" pitchFamily="34" charset="0"/>
                          <a:ea typeface="Consolas" pitchFamily="34" charset="-122"/>
                          <a:cs typeface="Consolas" pitchFamily="34" charset="-120"/>
                        </a:rPr>
                        <a:t>ΤΙ ΒΛΕΠΕΙΣ</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1F3FA"/>
                    </a:solidFill>
                  </a:tcPr>
                </a:tc>
              </a:tr>
              <a:tr h="420624">
                <a:tc>
                  <a:txBody>
                    <a:bodyPr/>
                    <a:lstStyle/>
                    <a:p>
                      <a:pPr indent="0" marL="0">
                        <a:buNone/>
                      </a:pPr>
                      <a:r>
                        <a:rPr lang="el-GR" sz="1150" b="1" dirty="0">
                          <a:solidFill>
                            <a:srgbClr val="171B26"/>
                          </a:solidFill>
                          <a:latin typeface="Segoe UI" pitchFamily="34" charset="0"/>
                          <a:ea typeface="Segoe UI" pitchFamily="34" charset="-122"/>
                          <a:cs typeface="Segoe UI" pitchFamily="34" charset="-120"/>
                        </a:rPr>
                        <a:t>Διεργασίες &amp; CPU</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00" dirty="0">
                          <a:solidFill>
                            <a:srgbClr val="171B26"/>
                          </a:solidFill>
                          <a:latin typeface="Consolas" pitchFamily="34" charset="0"/>
                          <a:ea typeface="Consolas" pitchFamily="34" charset="-122"/>
                          <a:cs typeface="Consolas" pitchFamily="34" charset="-120"/>
                        </a:rPr>
                        <a:t>tasklist</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Ποια προγράμματα τρέχουν, με το PID και τη μνήμη τους</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420624">
                <a:tc>
                  <a:txBody>
                    <a:bodyPr/>
                    <a:lstStyle/>
                    <a:p>
                      <a:pPr indent="0" marL="0">
                        <a:buNone/>
                      </a:pPr>
                      <a:r>
                        <a:rPr lang="el-GR" sz="1150" b="1" dirty="0">
                          <a:solidFill>
                            <a:srgbClr val="171B26"/>
                          </a:solidFill>
                          <a:latin typeface="Segoe UI" pitchFamily="34" charset="0"/>
                          <a:ea typeface="Segoe UI" pitchFamily="34" charset="-122"/>
                          <a:cs typeface="Segoe UI" pitchFamily="34" charset="-120"/>
                        </a:rPr>
                        <a:t>Κύρια μνήμη (RAM)</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00" dirty="0">
                          <a:solidFill>
                            <a:srgbClr val="171B26"/>
                          </a:solidFill>
                          <a:latin typeface="Consolas" pitchFamily="34" charset="0"/>
                          <a:ea typeface="Consolas" pitchFamily="34" charset="-122"/>
                          <a:cs typeface="Consolas" pitchFamily="34" charset="-120"/>
                        </a:rPr>
                        <a:t>systeminfo</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Total Physical Memory · Available Physical Memory (ελεύθερη)</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420624">
                <a:tc>
                  <a:txBody>
                    <a:bodyPr/>
                    <a:lstStyle/>
                    <a:p>
                      <a:pPr indent="0" marL="0">
                        <a:buNone/>
                      </a:pPr>
                      <a:r>
                        <a:rPr lang="el-GR" sz="1150" b="1" dirty="0">
                          <a:solidFill>
                            <a:srgbClr val="171B26"/>
                          </a:solidFill>
                          <a:latin typeface="Segoe UI" pitchFamily="34" charset="0"/>
                          <a:ea typeface="Segoe UI" pitchFamily="34" charset="-122"/>
                          <a:cs typeface="Segoe UI" pitchFamily="34" charset="-120"/>
                        </a:rPr>
                        <a:t>Αρχεία &amp; φάκελοι</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00" dirty="0">
                          <a:solidFill>
                            <a:srgbClr val="171B26"/>
                          </a:solidFill>
                          <a:latin typeface="Consolas" pitchFamily="34" charset="0"/>
                          <a:ea typeface="Consolas" pitchFamily="34" charset="-122"/>
                          <a:cs typeface="Consolas" pitchFamily="34" charset="-120"/>
                        </a:rPr>
                        <a:t>dir · tree</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Τι έχει ένας φάκελος, μεγέθη αρχείων σε bytes</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420624">
                <a:tc>
                  <a:txBody>
                    <a:bodyPr/>
                    <a:lstStyle/>
                    <a:p>
                      <a:pPr indent="0" marL="0">
                        <a:buNone/>
                      </a:pPr>
                      <a:r>
                        <a:rPr lang="el-GR" sz="1150" b="1" dirty="0">
                          <a:solidFill>
                            <a:srgbClr val="171B26"/>
                          </a:solidFill>
                          <a:latin typeface="Segoe UI" pitchFamily="34" charset="0"/>
                          <a:ea typeface="Segoe UI" pitchFamily="34" charset="-122"/>
                          <a:cs typeface="Segoe UI" pitchFamily="34" charset="-120"/>
                        </a:rPr>
                        <a:t>Συσκευές Ε/Ε</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00" dirty="0">
                          <a:solidFill>
                            <a:srgbClr val="171B26"/>
                          </a:solidFill>
                          <a:latin typeface="Consolas" pitchFamily="34" charset="0"/>
                          <a:ea typeface="Consolas" pitchFamily="34" charset="-122"/>
                          <a:cs typeface="Consolas" pitchFamily="34" charset="-120"/>
                        </a:rPr>
                        <a:t>ipconfig</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Την κάρτα δικτύου και τις διευθύνσεις της</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420624">
                <a:tc>
                  <a:txBody>
                    <a:bodyPr/>
                    <a:lstStyle/>
                    <a:p>
                      <a:pPr indent="0" marL="0">
                        <a:buNone/>
                      </a:pPr>
                      <a:r>
                        <a:rPr lang="el-GR" sz="1150" b="1" dirty="0">
                          <a:solidFill>
                            <a:srgbClr val="171B26"/>
                          </a:solidFill>
                          <a:latin typeface="Segoe UI" pitchFamily="34" charset="0"/>
                          <a:ea typeface="Segoe UI" pitchFamily="34" charset="-122"/>
                          <a:cs typeface="Segoe UI" pitchFamily="34" charset="-120"/>
                        </a:rPr>
                        <a:t>Ασφάλεια &amp; χρήστες</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00" dirty="0">
                          <a:solidFill>
                            <a:srgbClr val="171B26"/>
                          </a:solidFill>
                          <a:latin typeface="Consolas" pitchFamily="34" charset="0"/>
                          <a:ea typeface="Consolas" pitchFamily="34" charset="-122"/>
                          <a:cs typeface="Consolas" pitchFamily="34" charset="-120"/>
                        </a:rPr>
                        <a:t>whoami</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Ποιος χρήστης είσαι: υπολογιστής\χρήστης</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420624">
                <a:tc>
                  <a:txBody>
                    <a:bodyPr/>
                    <a:lstStyle/>
                    <a:p>
                      <a:pPr indent="0" marL="0">
                        <a:buNone/>
                      </a:pPr>
                      <a:r>
                        <a:rPr lang="el-GR" sz="1150" b="1" dirty="0">
                          <a:solidFill>
                            <a:srgbClr val="171B26"/>
                          </a:solidFill>
                          <a:latin typeface="Segoe UI" pitchFamily="34" charset="0"/>
                          <a:ea typeface="Segoe UI" pitchFamily="34" charset="-122"/>
                          <a:cs typeface="Segoe UI" pitchFamily="34" charset="-120"/>
                        </a:rPr>
                        <a:t>Διεπαφή χρήστη</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00" dirty="0">
                          <a:solidFill>
                            <a:srgbClr val="171B26"/>
                          </a:solidFill>
                          <a:latin typeface="Consolas" pitchFamily="34" charset="0"/>
                          <a:ea typeface="Consolas" pitchFamily="34" charset="-122"/>
                          <a:cs typeface="Consolas" pitchFamily="34" charset="-120"/>
                        </a:rPr>
                        <a:t>cmd</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Η ίδια η γραμμή εντολών είναι κέλυφος (CLI)</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bl>
          </a:graphicData>
        </a:graphic>
      </p:graphicFrame>
      <p:sp>
        <p:nvSpPr>
          <p:cNvPr id="108" name="Shape 108"/>
          <p:cNvSpPr/>
          <p:nvPr/>
        </p:nvSpPr>
        <p:spPr>
          <a:xfrm>
            <a:off x="566928" y="4544568"/>
            <a:ext cx="10881360" cy="1444752"/>
          </a:xfrm>
          <a:prstGeom prst="roundRect">
            <a:avLst>
              <a:gd name="adj" fmla="val 1935"/>
            </a:avLst>
          </a:prstGeom>
          <a:solidFill>
            <a:srgbClr val="F6EDD6"/>
          </a:solidFill>
          <a:ln w="12700">
            <a:solidFill>
              <a:srgbClr val="F6EDD6"/>
            </a:solidFill>
            <a:prstDash val="solid"/>
          </a:ln>
        </p:spPr>
        <p:txBody>
          <a:bodyPr/>
          <a:p/>
        </p:txBody>
      </p:sp>
      <p:sp>
        <p:nvSpPr>
          <p:cNvPr id="109" name="Text 109"/>
          <p:cNvSpPr txBox="1"/>
          <p:nvPr/>
        </p:nvSpPr>
        <p:spPr>
          <a:xfrm>
            <a:off x="731520" y="4672584"/>
            <a:ext cx="10552176" cy="274320"/>
          </a:xfrm>
          <a:prstGeom prst="rect">
            <a:avLst/>
          </a:prstGeom>
          <a:noFill/>
          <a:ln/>
        </p:spPr>
        <p:txBody>
          <a:bodyPr wrap="square" lIns="0" tIns="0" rIns="0" bIns="0" rtlCol="0" anchor="ctr"/>
          <a:lstStyle/>
          <a:p>
            <a:pPr indent="0" marL="0">
              <a:buNone/>
            </a:pPr>
            <a:r>
              <a:rPr lang="el-GR" sz="1400" b="1" dirty="0">
                <a:solidFill>
                  <a:srgbClr val="171B26"/>
                </a:solidFill>
                <a:latin typeface="Segoe UI" pitchFamily="34" charset="0"/>
                <a:ea typeface="Segoe UI" pitchFamily="34" charset="-122"/>
                <a:cs typeface="Segoe UI" pitchFamily="34" charset="-120"/>
              </a:rPr>
              <a:t>Παράδειγμα</a:t>
            </a:r>
            <a:endParaRPr lang="el-GR" sz="1400" dirty="0"/>
          </a:p>
        </p:txBody>
      </p:sp>
      <p:sp>
        <p:nvSpPr>
          <p:cNvPr id="110" name="Text 110"/>
          <p:cNvSpPr txBox="1"/>
          <p:nvPr/>
        </p:nvSpPr>
        <p:spPr>
          <a:xfrm>
            <a:off x="731520" y="5020056"/>
            <a:ext cx="10552176" cy="877824"/>
          </a:xfrm>
          <a:prstGeom prst="rect">
            <a:avLst/>
          </a:prstGeom>
          <a:noFill/>
          <a:ln/>
        </p:spPr>
        <p:txBody>
          <a:bodyPr wrap="square" lIns="0" tIns="0" rIns="0" bIns="0" rtlCol="0" anchor="t"/>
          <a:lstStyle/>
          <a:p>
            <a:pPr indent="0" marL="0">
              <a:lnSpc>
                <a:spcPct val="112000"/>
              </a:lnSpc>
              <a:spcAft>
                <a:spcPts val="400"/>
              </a:spcAft>
              <a:buNone/>
            </a:pPr>
            <a:r>
              <a:rPr lang="el-GR" sz="1200" dirty="0">
                <a:solidFill>
                  <a:srgbClr val="4A5265"/>
                </a:solidFill>
                <a:latin typeface="Segoe UI" pitchFamily="34" charset="0"/>
                <a:ea typeface="Segoe UI" pitchFamily="34" charset="-122"/>
                <a:cs typeface="Segoe UI" pitchFamily="34" charset="-120"/>
              </a:rPr>
              <a:t xml:space="preserve">Το </a:t>
            </a:r>
            <a:r>
              <a:rPr lang="el-GR" sz="1150" b="1" dirty="0">
                <a:solidFill>
                  <a:srgbClr val="2F4BD8"/>
                </a:solidFill>
                <a:latin typeface="Consolas" pitchFamily="34" charset="0"/>
                <a:ea typeface="Consolas" pitchFamily="34" charset="-122"/>
                <a:cs typeface="Consolas" pitchFamily="34" charset="-120"/>
              </a:rPr>
              <a:t>whoami</a:t>
            </a:r>
            <a:r>
              <a:rPr lang="el-GR" sz="1200" dirty="0">
                <a:solidFill>
                  <a:srgbClr val="4A5265"/>
                </a:solidFill>
                <a:latin typeface="Segoe UI" pitchFamily="34" charset="0"/>
                <a:ea typeface="Segoe UI" pitchFamily="34" charset="-122"/>
                <a:cs typeface="Segoe UI" pitchFamily="34" charset="-120"/>
              </a:rPr>
              <a:t xml:space="preserve"> στα Windows γράφει </a:t>
            </a:r>
            <a:r>
              <a:rPr lang="el-GR" sz="1200" b="1" dirty="0">
                <a:solidFill>
                  <a:srgbClr val="171B26"/>
                </a:solidFill>
                <a:latin typeface="Segoe UI" pitchFamily="34" charset="0"/>
                <a:ea typeface="Segoe UI" pitchFamily="34" charset="-122"/>
                <a:cs typeface="Segoe UI" pitchFamily="34" charset="-120"/>
              </a:rPr>
              <a:t>όνομα-υπολογιστή\χρήστης</a:t>
            </a:r>
            <a:r>
              <a:rPr lang="el-GR" sz="1200" dirty="0">
                <a:solidFill>
                  <a:srgbClr val="4A5265"/>
                </a:solidFill>
                <a:latin typeface="Segoe UI" pitchFamily="34" charset="0"/>
                <a:ea typeface="Segoe UI" pitchFamily="34" charset="-122"/>
                <a:cs typeface="Segoe UI" pitchFamily="34" charset="-120"/>
              </a:rPr>
              <a:t xml:space="preserve">, π.χ. </a:t>
            </a:r>
            <a:r>
              <a:rPr lang="el-GR" sz="1150" b="1" dirty="0">
                <a:solidFill>
                  <a:srgbClr val="2F4BD8"/>
                </a:solidFill>
                <a:latin typeface="Consolas" pitchFamily="34" charset="0"/>
                <a:ea typeface="Consolas" pitchFamily="34" charset="-122"/>
                <a:cs typeface="Consolas" pitchFamily="34" charset="-120"/>
              </a:rPr>
              <a:t>saek-pc07\mathitis</a:t>
            </a:r>
            <a:r>
              <a:rPr lang="el-GR" sz="1200" dirty="0">
                <a:solidFill>
                  <a:srgbClr val="4A5265"/>
                </a:solidFill>
                <a:latin typeface="Segoe UI" pitchFamily="34" charset="0"/>
                <a:ea typeface="Segoe UI" pitchFamily="34" charset="-122"/>
                <a:cs typeface="Segoe UI" pitchFamily="34" charset="-120"/>
              </a:rPr>
              <a:t xml:space="preserve">. Η IPv4 βρίσκεται και στο </a:t>
            </a:r>
            <a:r>
              <a:rPr lang="el-GR" sz="1150" b="1" dirty="0">
                <a:solidFill>
                  <a:srgbClr val="2F4BD8"/>
                </a:solidFill>
                <a:latin typeface="Consolas" pitchFamily="34" charset="0"/>
                <a:ea typeface="Consolas" pitchFamily="34" charset="-122"/>
                <a:cs typeface="Consolas" pitchFamily="34" charset="-120"/>
              </a:rPr>
              <a:t>ipconfig</a:t>
            </a:r>
            <a:r>
              <a:rPr lang="el-GR" sz="1200" dirty="0">
                <a:solidFill>
                  <a:srgbClr val="4A5265"/>
                </a:solidFill>
                <a:latin typeface="Segoe UI" pitchFamily="34" charset="0"/>
                <a:ea typeface="Segoe UI" pitchFamily="34" charset="-122"/>
                <a:cs typeface="Segoe UI" pitchFamily="34" charset="-120"/>
              </a:rPr>
              <a:t xml:space="preserve"> και στο τέλος του </a:t>
            </a:r>
            <a:r>
              <a:rPr lang="el-GR" sz="1150" b="1" dirty="0">
                <a:solidFill>
                  <a:srgbClr val="2F4BD8"/>
                </a:solidFill>
                <a:latin typeface="Consolas" pitchFamily="34" charset="0"/>
                <a:ea typeface="Consolas" pitchFamily="34" charset="-122"/>
                <a:cs typeface="Consolas" pitchFamily="34" charset="-120"/>
              </a:rPr>
              <a:t>systeminfo</a:t>
            </a:r>
            <a:r>
              <a:rPr lang="el-GR" sz="1200" dirty="0">
                <a:solidFill>
                  <a:srgbClr val="4A5265"/>
                </a:solidFill>
                <a:latin typeface="Segoe UI" pitchFamily="34" charset="0"/>
                <a:ea typeface="Segoe UI" pitchFamily="34" charset="-122"/>
                <a:cs typeface="Segoe UI" pitchFamily="34" charset="-120"/>
              </a:rPr>
              <a:t>.</a:t>
            </a:r>
            <a:endParaRPr lang="el-GR" sz="12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1" name="Shape 101"/>
          <p:cNvSpPr/>
          <p:nvPr/>
        </p:nvSpPr>
        <p:spPr>
          <a:xfrm>
            <a:off x="0" y="0"/>
            <a:ext cx="109728" cy="6858000"/>
          </a:xfrm>
          <a:prstGeom prst="rect">
            <a:avLst/>
          </a:prstGeom>
          <a:solidFill>
            <a:srgbClr val="2F4BD8"/>
          </a:solidFill>
          <a:ln w="12700">
            <a:solidFill>
              <a:srgbClr val="2F4BD8"/>
            </a:solidFill>
            <a:prstDash val="solid"/>
          </a:ln>
        </p:spPr>
        <p:txBody>
          <a:bodyPr/>
          <a:p/>
        </p:txBody>
      </p:sp>
      <p:pic>
        <p:nvPicPr>
          <p:cNvPr id="102" name="Picture 101" descr="image.png"/>
          <p:cNvPicPr>
            <a:picLocks noChangeAspect="1"/>
          </p:cNvPicPr>
          <p:nvPr/>
        </p:nvPicPr>
        <p:blipFill>
          <a:blip r:embed="rId2"/>
          <a:stretch>
            <a:fillRect/>
          </a:stretch>
        </p:blipFill>
        <p:spPr>
          <a:xfrm>
            <a:off x="9189720" y="274320"/>
            <a:ext cx="310896" cy="310896"/>
          </a:xfrm>
          <a:prstGeom prst="rect">
            <a:avLst/>
          </a:prstGeom>
        </p:spPr>
      </p:pic>
      <p:sp>
        <p:nvSpPr>
          <p:cNvPr id="102" name="Text 102"/>
          <p:cNvSpPr txBox="1"/>
          <p:nvPr/>
        </p:nvSpPr>
        <p:spPr>
          <a:xfrm>
            <a:off x="9573768" y="246888"/>
            <a:ext cx="2468880" cy="365760"/>
          </a:xfrm>
          <a:prstGeom prst="rect">
            <a:avLst/>
          </a:prstGeom>
          <a:noFill/>
          <a:ln/>
        </p:spPr>
        <p:txBody>
          <a:bodyPr wrap="square" lIns="0" tIns="0" rIns="0" bIns="0" rtlCol="0" anchor="ctr"/>
          <a:lstStyle/>
          <a:p>
            <a:pPr indent="0" marL="0">
              <a:buNone/>
            </a:pPr>
            <a:r>
              <a:rPr lang="el-GR" sz="950" b="1" dirty="0">
                <a:solidFill>
                  <a:srgbClr val="4A5265"/>
                </a:solidFill>
                <a:latin typeface="Segoe UI" pitchFamily="34" charset="0"/>
                <a:ea typeface="Segoe UI" pitchFamily="34" charset="-122"/>
                <a:cs typeface="Segoe UI" pitchFamily="34" charset="-120"/>
              </a:rPr>
              <a:t>ΣΑΕΚ Μαρκοπούλου</a:t>
            </a:r>
            <a:endParaRPr lang="el-GR" sz="950" dirty="0"/>
          </a:p>
          <a:p>
            <a:pPr indent="0" marL="0">
              <a:buNone/>
            </a:pPr>
            <a:r>
              <a:rPr lang="el-GR" sz="950" dirty="0">
                <a:solidFill>
                  <a:srgbClr val="8A91A3"/>
                </a:solidFill>
                <a:latin typeface="Segoe UI" pitchFamily="34" charset="0"/>
                <a:ea typeface="Segoe UI" pitchFamily="34" charset="-122"/>
                <a:cs typeface="Segoe UI" pitchFamily="34" charset="-120"/>
              </a:rPr>
              <a:t>Σύγχρονα Λειτουργικά Συστήματα</a:t>
            </a:r>
            <a:endParaRPr lang="el-GR" sz="950" dirty="0"/>
          </a:p>
        </p:txBody>
      </p:sp>
      <p:sp>
        <p:nvSpPr>
          <p:cNvPr id="103" name="Text 103"/>
          <p:cNvSpPr txBox="1"/>
          <p:nvPr/>
        </p:nvSpPr>
        <p:spPr>
          <a:xfrm>
            <a:off x="8503920" y="6419088"/>
            <a:ext cx="3154680" cy="237744"/>
          </a:xfrm>
          <a:prstGeom prst="rect">
            <a:avLst/>
          </a:prstGeom>
          <a:noFill/>
          <a:ln/>
        </p:spPr>
        <p:txBody>
          <a:bodyPr wrap="square" lIns="0" tIns="0" rIns="0" bIns="0" rtlCol="0" anchor="ctr"/>
          <a:lstStyle/>
          <a:p>
            <a:pPr indent="0" marL="0" algn="r">
              <a:buNone/>
            </a:pPr>
            <a:r>
              <a:rPr lang="el-GR" sz="900" dirty="0">
                <a:solidFill>
                  <a:srgbClr val="8A91A3"/>
                </a:solidFill>
                <a:latin typeface="Consolas" pitchFamily="34" charset="0"/>
                <a:ea typeface="Consolas" pitchFamily="34" charset="-122"/>
                <a:cs typeface="Consolas" pitchFamily="34" charset="-120"/>
              </a:rPr>
              <a:t>Λαμπρόπουλος Χρήστος</a:t>
            </a:r>
            <a:endParaRPr lang="el-GR" sz="900" dirty="0"/>
          </a:p>
        </p:txBody>
      </p:sp>
      <p:sp>
        <p:nvSpPr>
          <p:cNvPr id="104" name="Text 104"/>
          <p:cNvSpPr txBox="1"/>
          <p:nvPr/>
        </p:nvSpPr>
        <p:spPr>
          <a:xfrm>
            <a:off x="566928" y="384048"/>
            <a:ext cx="8412480" cy="237744"/>
          </a:xfrm>
          <a:prstGeom prst="rect">
            <a:avLst/>
          </a:prstGeom>
          <a:noFill/>
          <a:ln/>
        </p:spPr>
        <p:txBody>
          <a:bodyPr wrap="square" lIns="0" tIns="0" rIns="0" bIns="0" rtlCol="0" anchor="ctr"/>
          <a:lstStyle/>
          <a:p>
            <a:pPr indent="0" marL="0">
              <a:buNone/>
            </a:pPr>
            <a:r>
              <a:rPr lang="el-GR" sz="1000" spc="140" dirty="0">
                <a:solidFill>
                  <a:srgbClr val="2F4BD8"/>
                </a:solidFill>
                <a:latin typeface="Consolas" pitchFamily="34" charset="0"/>
                <a:ea typeface="Consolas" pitchFamily="34" charset="-122"/>
                <a:cs typeface="Consolas" pitchFamily="34" charset="-120"/>
              </a:rPr>
              <a:t xml:space="preserve">05  </a:t>
            </a:r>
            <a:r>
              <a:rPr lang="el-GR" sz="1000" spc="140" dirty="0">
                <a:solidFill>
                  <a:srgbClr val="8A91A3"/>
                </a:solidFill>
                <a:latin typeface="Consolas" pitchFamily="34" charset="0"/>
                <a:ea typeface="Consolas" pitchFamily="34" charset="-122"/>
                <a:cs typeface="Consolas" pitchFamily="34" charset="-120"/>
              </a:rPr>
              <a:t>ΟΔΗΓΟΣ ΕΝΤΟΛΩΝ · CMD</a:t>
            </a:r>
            <a:endParaRPr lang="el-GR" sz="1000" dirty="0"/>
          </a:p>
        </p:txBody>
      </p:sp>
      <p:sp>
        <p:nvSpPr>
          <p:cNvPr id="105" name="Text 105"/>
          <p:cNvSpPr txBox="1"/>
          <p:nvPr/>
        </p:nvSpPr>
        <p:spPr>
          <a:xfrm>
            <a:off x="530352" y="658368"/>
            <a:ext cx="8503920" cy="566928"/>
          </a:xfrm>
          <a:prstGeom prst="rect">
            <a:avLst/>
          </a:prstGeom>
          <a:noFill/>
          <a:ln/>
        </p:spPr>
        <p:txBody>
          <a:bodyPr wrap="square" lIns="0" tIns="0" rIns="0" bIns="0" rtlCol="0" anchor="ctr"/>
          <a:lstStyle/>
          <a:p>
            <a:pPr indent="0" marL="0">
              <a:buNone/>
            </a:pPr>
            <a:r>
              <a:rPr lang="el-GR" sz="2600" b="1" dirty="0">
                <a:solidFill>
                  <a:srgbClr val="171B26"/>
                </a:solidFill>
                <a:latin typeface="Segoe UI" pitchFamily="34" charset="0"/>
                <a:ea typeface="Segoe UI" pitchFamily="34" charset="-122"/>
                <a:cs typeface="Segoe UI" pitchFamily="34" charset="-120"/>
              </a:rPr>
              <a:t>Η κάρτα συστήματος από τη γραμμή εντολών</a:t>
            </a:r>
            <a:endParaRPr lang="el-GR" sz="2600" dirty="0"/>
          </a:p>
        </p:txBody>
      </p:sp>
      <p:sp>
        <p:nvSpPr>
          <p:cNvPr id="106" name="Text 106"/>
          <p:cNvSpPr txBox="1"/>
          <p:nvPr/>
        </p:nvSpPr>
        <p:spPr>
          <a:xfrm>
            <a:off x="9098280" y="749808"/>
            <a:ext cx="2331720" cy="274320"/>
          </a:xfrm>
          <a:prstGeom prst="rect">
            <a:avLst/>
          </a:prstGeom>
          <a:noFill/>
          <a:ln/>
        </p:spPr>
        <p:txBody>
          <a:bodyPr wrap="square" lIns="0" tIns="0" rIns="0" bIns="0" rtlCol="0" anchor="ctr"/>
          <a:lstStyle/>
          <a:p>
            <a:pPr indent="0" marL="0" algn="r">
              <a:buNone/>
            </a:pPr>
            <a:r>
              <a:rPr lang="el-GR" sz="1100" b="1" dirty="0">
                <a:solidFill>
                  <a:srgbClr val="1B6B52"/>
                </a:solidFill>
                <a:latin typeface="Consolas" pitchFamily="34" charset="0"/>
                <a:ea typeface="Consolas" pitchFamily="34" charset="-122"/>
                <a:cs typeface="Consolas" pitchFamily="34" charset="-120"/>
              </a:rPr>
              <a:t>ΓΙΑ ΤΟ SITE</a:t>
            </a:r>
            <a:endParaRPr lang="el-GR" sz="1100" dirty="0"/>
          </a:p>
        </p:txBody>
      </p:sp>
      <p:graphicFrame>
        <p:nvGraphicFramePr>
          <p:cNvPr id="107" name="Table 107"/>
          <p:cNvGraphicFramePr>
            <a:graphicFrameLocks noGrp="1"/>
          </p:cNvGraphicFramePr>
          <p:nvPr/>
        </p:nvGraphicFramePr>
        <p:xfrm>
          <a:off x="566928" y="1463040"/>
          <a:ext cx="10881360" cy="2889504"/>
        </p:xfrm>
        <a:graphic>
          <a:graphicData uri="http://schemas.openxmlformats.org/drawingml/2006/table">
            <a:tbl>
              <a:tblPr/>
              <a:tblGrid>
                <a:gridCol w="2651760"/>
                <a:gridCol w="2286000"/>
                <a:gridCol w="3017520"/>
                <a:gridCol w="2926080"/>
              </a:tblGrid>
              <a:tr h="329184">
                <a:tc>
                  <a:txBody>
                    <a:bodyPr/>
                    <a:lstStyle/>
                    <a:p>
                      <a:pPr indent="0" marL="0">
                        <a:buNone/>
                      </a:pPr>
                      <a:r>
                        <a:rPr lang="el-GR" sz="900" b="1" dirty="0">
                          <a:solidFill>
                            <a:srgbClr val="8A91A3"/>
                          </a:solidFill>
                          <a:latin typeface="Consolas" pitchFamily="34" charset="0"/>
                          <a:ea typeface="Consolas" pitchFamily="34" charset="-122"/>
                          <a:cs typeface="Consolas" pitchFamily="34" charset="-120"/>
                        </a:rPr>
                        <a:t>ΣΤΟΙΧΕΙΟ ΤΗΣ ΚΑΡΤΑΣ</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1F3FA"/>
                    </a:solidFill>
                  </a:tcPr>
                </a:tc>
                <a:tc>
                  <a:txBody>
                    <a:bodyPr/>
                    <a:lstStyle/>
                    <a:p>
                      <a:pPr indent="0" marL="0">
                        <a:buNone/>
                      </a:pPr>
                      <a:r>
                        <a:rPr lang="el-GR" sz="900" b="1" dirty="0">
                          <a:solidFill>
                            <a:srgbClr val="8A91A3"/>
                          </a:solidFill>
                          <a:latin typeface="Consolas" pitchFamily="34" charset="0"/>
                          <a:ea typeface="Consolas" pitchFamily="34" charset="-122"/>
                          <a:cs typeface="Consolas" pitchFamily="34" charset="-120"/>
                        </a:rPr>
                        <a:t>ΕΝΤΟΛΗ</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1F3FA"/>
                    </a:solidFill>
                  </a:tcPr>
                </a:tc>
                <a:tc>
                  <a:txBody>
                    <a:bodyPr/>
                    <a:lstStyle/>
                    <a:p>
                      <a:pPr indent="0" marL="0">
                        <a:buNone/>
                      </a:pPr>
                      <a:r>
                        <a:rPr lang="el-GR" sz="900" b="1" dirty="0">
                          <a:solidFill>
                            <a:srgbClr val="8A91A3"/>
                          </a:solidFill>
                          <a:latin typeface="Consolas" pitchFamily="34" charset="0"/>
                          <a:ea typeface="Consolas" pitchFamily="34" charset="-122"/>
                          <a:cs typeface="Consolas" pitchFamily="34" charset="-120"/>
                        </a:rPr>
                        <a:t>ΓΡΑΜΜΗ ΣΤΗΝ ΕΞΟΔΟ</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1F3FA"/>
                    </a:solidFill>
                  </a:tcPr>
                </a:tc>
                <a:tc>
                  <a:txBody>
                    <a:bodyPr/>
                    <a:lstStyle/>
                    <a:p>
                      <a:pPr indent="0" marL="0">
                        <a:buNone/>
                      </a:pPr>
                      <a:r>
                        <a:rPr lang="el-GR" sz="900" b="1" dirty="0">
                          <a:solidFill>
                            <a:srgbClr val="8A91A3"/>
                          </a:solidFill>
                          <a:latin typeface="Consolas" pitchFamily="34" charset="0"/>
                          <a:ea typeface="Consolas" pitchFamily="34" charset="-122"/>
                          <a:cs typeface="Consolas" pitchFamily="34" charset="-120"/>
                        </a:rPr>
                        <a:t>ΣΤΟΝ ΕΞΟΜΟΙΩΤΗ ΤΟΥ SITE</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1F3FA"/>
                    </a:solidFill>
                  </a:tcPr>
                </a:tc>
              </a:tr>
              <a:tr h="365760">
                <a:tc>
                  <a:txBody>
                    <a:bodyPr/>
                    <a:lstStyle/>
                    <a:p>
                      <a:pPr indent="0" marL="0">
                        <a:buNone/>
                      </a:pPr>
                      <a:r>
                        <a:rPr lang="el-GR" sz="1150" b="1" dirty="0">
                          <a:solidFill>
                            <a:srgbClr val="171B26"/>
                          </a:solidFill>
                          <a:latin typeface="Segoe UI" pitchFamily="34" charset="0"/>
                          <a:ea typeface="Segoe UI" pitchFamily="34" charset="-122"/>
                          <a:cs typeface="Segoe UI" pitchFamily="34" charset="-120"/>
                        </a:rPr>
                        <a:t>Όνομα υπολογιστή</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00" dirty="0">
                          <a:solidFill>
                            <a:srgbClr val="171B26"/>
                          </a:solidFill>
                          <a:latin typeface="Consolas" pitchFamily="34" charset="0"/>
                          <a:ea typeface="Consolas" pitchFamily="34" charset="-122"/>
                          <a:cs typeface="Consolas" pitchFamily="34" charset="-120"/>
                        </a:rPr>
                        <a:t>hostname</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00" dirty="0">
                          <a:solidFill>
                            <a:srgbClr val="171B26"/>
                          </a:solidFill>
                          <a:latin typeface="Consolas" pitchFamily="34" charset="0"/>
                          <a:ea typeface="Consolas" pitchFamily="34" charset="-122"/>
                          <a:cs typeface="Consolas" pitchFamily="34" charset="-120"/>
                        </a:rPr>
                        <a:t>Host Name</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SAEK-PC07</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365760">
                <a:tc>
                  <a:txBody>
                    <a:bodyPr/>
                    <a:lstStyle/>
                    <a:p>
                      <a:pPr indent="0" marL="0">
                        <a:buNone/>
                      </a:pPr>
                      <a:r>
                        <a:rPr lang="el-GR" sz="1150" b="1" dirty="0">
                          <a:solidFill>
                            <a:srgbClr val="171B26"/>
                          </a:solidFill>
                          <a:latin typeface="Segoe UI" pitchFamily="34" charset="0"/>
                          <a:ea typeface="Segoe UI" pitchFamily="34" charset="-122"/>
                          <a:cs typeface="Segoe UI" pitchFamily="34" charset="-120"/>
                        </a:rPr>
                        <a:t>Λειτουργικό σύστημα</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00" dirty="0">
                          <a:solidFill>
                            <a:srgbClr val="171B26"/>
                          </a:solidFill>
                          <a:latin typeface="Consolas" pitchFamily="34" charset="0"/>
                          <a:ea typeface="Consolas" pitchFamily="34" charset="-122"/>
                          <a:cs typeface="Consolas" pitchFamily="34" charset="-120"/>
                        </a:rPr>
                        <a:t>systeminfo</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00" dirty="0">
                          <a:solidFill>
                            <a:srgbClr val="171B26"/>
                          </a:solidFill>
                          <a:latin typeface="Consolas" pitchFamily="34" charset="0"/>
                          <a:ea typeface="Consolas" pitchFamily="34" charset="-122"/>
                          <a:cs typeface="Consolas" pitchFamily="34" charset="-120"/>
                        </a:rPr>
                        <a:t>OS Name</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Microsoft Windows 11 Pro</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365760">
                <a:tc>
                  <a:txBody>
                    <a:bodyPr/>
                    <a:lstStyle/>
                    <a:p>
                      <a:pPr indent="0" marL="0">
                        <a:buNone/>
                      </a:pPr>
                      <a:r>
                        <a:rPr lang="el-GR" sz="1150" b="1" dirty="0">
                          <a:solidFill>
                            <a:srgbClr val="171B26"/>
                          </a:solidFill>
                          <a:latin typeface="Segoe UI" pitchFamily="34" charset="0"/>
                          <a:ea typeface="Segoe UI" pitchFamily="34" charset="-122"/>
                          <a:cs typeface="Segoe UI" pitchFamily="34" charset="-120"/>
                        </a:rPr>
                        <a:t>Έκδοση και build</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00" dirty="0">
                          <a:solidFill>
                            <a:srgbClr val="171B26"/>
                          </a:solidFill>
                          <a:latin typeface="Consolas" pitchFamily="34" charset="0"/>
                          <a:ea typeface="Consolas" pitchFamily="34" charset="-122"/>
                          <a:cs typeface="Consolas" pitchFamily="34" charset="-120"/>
                        </a:rPr>
                        <a:t>ver</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00" dirty="0">
                          <a:solidFill>
                            <a:srgbClr val="171B26"/>
                          </a:solidFill>
                          <a:latin typeface="Consolas" pitchFamily="34" charset="0"/>
                          <a:ea typeface="Consolas" pitchFamily="34" charset="-122"/>
                          <a:cs typeface="Consolas" pitchFamily="34" charset="-120"/>
                        </a:rPr>
                        <a:t>OS Version · … Build</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10.0.22631 · Build 22631</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365760">
                <a:tc>
                  <a:txBody>
                    <a:bodyPr/>
                    <a:lstStyle/>
                    <a:p>
                      <a:pPr indent="0" marL="0">
                        <a:buNone/>
                      </a:pPr>
                      <a:r>
                        <a:rPr lang="el-GR" sz="1150" b="1" dirty="0">
                          <a:solidFill>
                            <a:srgbClr val="171B26"/>
                          </a:solidFill>
                          <a:latin typeface="Segoe UI" pitchFamily="34" charset="0"/>
                          <a:ea typeface="Segoe UI" pitchFamily="34" charset="-122"/>
                          <a:cs typeface="Segoe UI" pitchFamily="34" charset="-120"/>
                        </a:rPr>
                        <a:t>Τύπος συστήματος</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00" dirty="0">
                          <a:solidFill>
                            <a:srgbClr val="171B26"/>
                          </a:solidFill>
                          <a:latin typeface="Consolas" pitchFamily="34" charset="0"/>
                          <a:ea typeface="Consolas" pitchFamily="34" charset="-122"/>
                          <a:cs typeface="Consolas" pitchFamily="34" charset="-120"/>
                        </a:rPr>
                        <a:t>systeminfo</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00" dirty="0">
                          <a:solidFill>
                            <a:srgbClr val="171B26"/>
                          </a:solidFill>
                          <a:latin typeface="Consolas" pitchFamily="34" charset="0"/>
                          <a:ea typeface="Consolas" pitchFamily="34" charset="-122"/>
                          <a:cs typeface="Consolas" pitchFamily="34" charset="-120"/>
                        </a:rPr>
                        <a:t>System Type</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x64-based PC (64-bit)</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365760">
                <a:tc>
                  <a:txBody>
                    <a:bodyPr/>
                    <a:lstStyle/>
                    <a:p>
                      <a:pPr indent="0" marL="0">
                        <a:buNone/>
                      </a:pPr>
                      <a:r>
                        <a:rPr lang="el-GR" sz="1150" b="1" dirty="0">
                          <a:solidFill>
                            <a:srgbClr val="171B26"/>
                          </a:solidFill>
                          <a:latin typeface="Segoe UI" pitchFamily="34" charset="0"/>
                          <a:ea typeface="Segoe UI" pitchFamily="34" charset="-122"/>
                          <a:cs typeface="Segoe UI" pitchFamily="34" charset="-120"/>
                        </a:rPr>
                        <a:t>Συνολική RAM</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00" dirty="0">
                          <a:solidFill>
                            <a:srgbClr val="171B26"/>
                          </a:solidFill>
                          <a:latin typeface="Consolas" pitchFamily="34" charset="0"/>
                          <a:ea typeface="Consolas" pitchFamily="34" charset="-122"/>
                          <a:cs typeface="Consolas" pitchFamily="34" charset="-120"/>
                        </a:rPr>
                        <a:t>systeminfo</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00" dirty="0">
                          <a:solidFill>
                            <a:srgbClr val="171B26"/>
                          </a:solidFill>
                          <a:latin typeface="Consolas" pitchFamily="34" charset="0"/>
                          <a:ea typeface="Consolas" pitchFamily="34" charset="-122"/>
                          <a:cs typeface="Consolas" pitchFamily="34" charset="-120"/>
                        </a:rPr>
                        <a:t>Total Physical Memory</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16,183 MB</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365760">
                <a:tc>
                  <a:txBody>
                    <a:bodyPr/>
                    <a:lstStyle/>
                    <a:p>
                      <a:pPr indent="0" marL="0">
                        <a:buNone/>
                      </a:pPr>
                      <a:r>
                        <a:rPr lang="el-GR" sz="1150" b="1" dirty="0">
                          <a:solidFill>
                            <a:srgbClr val="171B26"/>
                          </a:solidFill>
                          <a:latin typeface="Segoe UI" pitchFamily="34" charset="0"/>
                          <a:ea typeface="Segoe UI" pitchFamily="34" charset="-122"/>
                          <a:cs typeface="Segoe UI" pitchFamily="34" charset="-120"/>
                        </a:rPr>
                        <a:t>Ελεύθερη RAM</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00" dirty="0">
                          <a:solidFill>
                            <a:srgbClr val="171B26"/>
                          </a:solidFill>
                          <a:latin typeface="Consolas" pitchFamily="34" charset="0"/>
                          <a:ea typeface="Consolas" pitchFamily="34" charset="-122"/>
                          <a:cs typeface="Consolas" pitchFamily="34" charset="-120"/>
                        </a:rPr>
                        <a:t>systeminfo</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00" dirty="0">
                          <a:solidFill>
                            <a:srgbClr val="171B26"/>
                          </a:solidFill>
                          <a:latin typeface="Consolas" pitchFamily="34" charset="0"/>
                          <a:ea typeface="Consolas" pitchFamily="34" charset="-122"/>
                          <a:cs typeface="Consolas" pitchFamily="34" charset="-120"/>
                        </a:rPr>
                        <a:t>Available Physical Memory</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αλλάζει με τα ανοιχτά προγράμματα</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r h="365760">
                <a:tc>
                  <a:txBody>
                    <a:bodyPr/>
                    <a:lstStyle/>
                    <a:p>
                      <a:pPr indent="0" marL="0">
                        <a:buNone/>
                      </a:pPr>
                      <a:r>
                        <a:rPr lang="el-GR" sz="1150" b="1" dirty="0">
                          <a:solidFill>
                            <a:srgbClr val="171B26"/>
                          </a:solidFill>
                          <a:latin typeface="Segoe UI" pitchFamily="34" charset="0"/>
                          <a:ea typeface="Segoe UI" pitchFamily="34" charset="-122"/>
                          <a:cs typeface="Segoe UI" pitchFamily="34" charset="-120"/>
                        </a:rPr>
                        <a:t>Διεύθυνση IP</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00" dirty="0">
                          <a:solidFill>
                            <a:srgbClr val="171B26"/>
                          </a:solidFill>
                          <a:latin typeface="Consolas" pitchFamily="34" charset="0"/>
                          <a:ea typeface="Consolas" pitchFamily="34" charset="-122"/>
                          <a:cs typeface="Consolas" pitchFamily="34" charset="-120"/>
                        </a:rPr>
                        <a:t>systeminfo · ipconfig</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00" dirty="0">
                          <a:solidFill>
                            <a:srgbClr val="171B26"/>
                          </a:solidFill>
                          <a:latin typeface="Consolas" pitchFamily="34" charset="0"/>
                          <a:ea typeface="Consolas" pitchFamily="34" charset="-122"/>
                          <a:cs typeface="Consolas" pitchFamily="34" charset="-120"/>
                        </a:rPr>
                        <a:t>IP address(es) · IPv4 Address</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c>
                  <a:txBody>
                    <a:bodyPr/>
                    <a:lstStyle/>
                    <a:p>
                      <a:pPr indent="0" marL="0">
                        <a:buNone/>
                      </a:pPr>
                      <a:r>
                        <a:rPr lang="el-GR" sz="1150" dirty="0">
                          <a:solidFill>
                            <a:srgbClr val="171B26"/>
                          </a:solidFill>
                          <a:latin typeface="Segoe UI" pitchFamily="34" charset="0"/>
                          <a:ea typeface="Segoe UI" pitchFamily="34" charset="-122"/>
                          <a:cs typeface="Segoe UI" pitchFamily="34" charset="-120"/>
                        </a:rPr>
                        <a:t>192.168.1.107</a:t>
                      </a:r>
                      <a:endParaRPr lang="el-GR" sz="1150" dirty="0"/>
                    </a:p>
                  </a:txBody>
                  <a:tcPr marL="91440" marR="91440" marT="45720" marB="45720" anchor="ctr">
                    <a:lnL w="9525" cap="flat" cmpd="sng" algn="ctr">
                      <a:solidFill>
                        <a:srgbClr val="D3D9E4"/>
                      </a:solidFill>
                      <a:prstDash val="solid"/>
                      <a:round/>
                      <a:headEnd type="none" w="med" len="med"/>
                      <a:tailEnd type="none" w="med" len="med"/>
                    </a:lnL>
                    <a:lnR w="9525" cap="flat" cmpd="sng" algn="ctr">
                      <a:solidFill>
                        <a:srgbClr val="D3D9E4"/>
                      </a:solidFill>
                      <a:prstDash val="solid"/>
                      <a:round/>
                      <a:headEnd type="none" w="med" len="med"/>
                      <a:tailEnd type="none" w="med" len="med"/>
                    </a:lnR>
                    <a:lnT w="9525" cap="flat" cmpd="sng" algn="ctr">
                      <a:solidFill>
                        <a:srgbClr val="D3D9E4"/>
                      </a:solidFill>
                      <a:prstDash val="solid"/>
                      <a:round/>
                      <a:headEnd type="none" w="med" len="med"/>
                      <a:tailEnd type="none" w="med" len="med"/>
                    </a:lnT>
                    <a:lnB w="9525" cap="flat" cmpd="sng" algn="ctr">
                      <a:solidFill>
                        <a:srgbClr val="D3D9E4"/>
                      </a:solidFill>
                      <a:prstDash val="solid"/>
                      <a:round/>
                      <a:headEnd type="none" w="med" len="med"/>
                      <a:tailEnd type="none" w="med" len="med"/>
                    </a:lnB>
                    <a:solidFill>
                      <a:srgbClr val="FBFCFE"/>
                    </a:solidFill>
                  </a:tcPr>
                </a:tc>
              </a:tr>
            </a:tbl>
          </a:graphicData>
        </a:graphic>
      </p:graphicFrame>
      <p:sp>
        <p:nvSpPr>
          <p:cNvPr id="108" name="Shape 108"/>
          <p:cNvSpPr/>
          <p:nvPr/>
        </p:nvSpPr>
        <p:spPr>
          <a:xfrm>
            <a:off x="566928" y="4581144"/>
            <a:ext cx="10881360" cy="1408176"/>
          </a:xfrm>
          <a:prstGeom prst="roundRect">
            <a:avLst>
              <a:gd name="adj" fmla="val 1935"/>
            </a:avLst>
          </a:prstGeom>
          <a:solidFill>
            <a:srgbClr val="F6EDD6"/>
          </a:solidFill>
          <a:ln w="12700">
            <a:solidFill>
              <a:srgbClr val="F6EDD6"/>
            </a:solidFill>
            <a:prstDash val="solid"/>
          </a:ln>
        </p:spPr>
        <p:txBody>
          <a:bodyPr/>
          <a:p/>
        </p:txBody>
      </p:sp>
      <p:sp>
        <p:nvSpPr>
          <p:cNvPr id="109" name="Text 109"/>
          <p:cNvSpPr txBox="1"/>
          <p:nvPr/>
        </p:nvSpPr>
        <p:spPr>
          <a:xfrm>
            <a:off x="731520" y="4709160"/>
            <a:ext cx="10552176" cy="274320"/>
          </a:xfrm>
          <a:prstGeom prst="rect">
            <a:avLst/>
          </a:prstGeom>
          <a:noFill/>
          <a:ln/>
        </p:spPr>
        <p:txBody>
          <a:bodyPr wrap="square" lIns="0" tIns="0" rIns="0" bIns="0" rtlCol="0" anchor="ctr"/>
          <a:lstStyle/>
          <a:p>
            <a:pPr indent="0" marL="0">
              <a:buNone/>
            </a:pPr>
            <a:r>
              <a:rPr lang="el-GR" sz="1400" b="1" dirty="0">
                <a:solidFill>
                  <a:srgbClr val="171B26"/>
                </a:solidFill>
                <a:latin typeface="Segoe UI" pitchFamily="34" charset="0"/>
                <a:ea typeface="Segoe UI" pitchFamily="34" charset="-122"/>
                <a:cs typeface="Segoe UI" pitchFamily="34" charset="-120"/>
              </a:rPr>
              <a:t>Συμβουλή: φίλτραρε τη μεγάλη έξοδο</a:t>
            </a:r>
            <a:endParaRPr lang="el-GR" sz="1400" dirty="0"/>
          </a:p>
        </p:txBody>
      </p:sp>
      <p:sp>
        <p:nvSpPr>
          <p:cNvPr id="110" name="Text 110"/>
          <p:cNvSpPr txBox="1"/>
          <p:nvPr/>
        </p:nvSpPr>
        <p:spPr>
          <a:xfrm>
            <a:off x="731520" y="5056632"/>
            <a:ext cx="10552176" cy="841248"/>
          </a:xfrm>
          <a:prstGeom prst="rect">
            <a:avLst/>
          </a:prstGeom>
          <a:noFill/>
          <a:ln/>
        </p:spPr>
        <p:txBody>
          <a:bodyPr wrap="square" lIns="0" tIns="0" rIns="0" bIns="0" rtlCol="0" anchor="t"/>
          <a:lstStyle/>
          <a:p>
            <a:pPr indent="0" marL="0">
              <a:lnSpc>
                <a:spcPct val="112000"/>
              </a:lnSpc>
              <a:spcAft>
                <a:spcPts val="400"/>
              </a:spcAft>
              <a:buNone/>
            </a:pPr>
            <a:r>
              <a:rPr lang="el-GR" sz="1200" dirty="0">
                <a:solidFill>
                  <a:srgbClr val="4A5265"/>
                </a:solidFill>
                <a:latin typeface="Segoe UI" pitchFamily="34" charset="0"/>
                <a:ea typeface="Segoe UI" pitchFamily="34" charset="-122"/>
                <a:cs typeface="Segoe UI" pitchFamily="34" charset="-120"/>
              </a:rPr>
              <a:t xml:space="preserve">Το </a:t>
            </a:r>
            <a:r>
              <a:rPr lang="el-GR" sz="1150" b="1" dirty="0">
                <a:solidFill>
                  <a:srgbClr val="2F4BD8"/>
                </a:solidFill>
                <a:latin typeface="Consolas" pitchFamily="34" charset="0"/>
                <a:ea typeface="Consolas" pitchFamily="34" charset="-122"/>
                <a:cs typeface="Consolas" pitchFamily="34" charset="-120"/>
              </a:rPr>
              <a:t>systeminfo</a:t>
            </a:r>
            <a:r>
              <a:rPr lang="el-GR" sz="1200" dirty="0">
                <a:solidFill>
                  <a:srgbClr val="4A5265"/>
                </a:solidFill>
                <a:latin typeface="Segoe UI" pitchFamily="34" charset="0"/>
                <a:ea typeface="Segoe UI" pitchFamily="34" charset="-122"/>
                <a:cs typeface="Segoe UI" pitchFamily="34" charset="-120"/>
              </a:rPr>
              <a:t xml:space="preserve"> βγάζει πολλές γραμμές. Με </a:t>
            </a:r>
            <a:r>
              <a:rPr lang="el-GR" sz="1150" b="1" dirty="0">
                <a:solidFill>
                  <a:srgbClr val="2F4BD8"/>
                </a:solidFill>
                <a:latin typeface="Consolas" pitchFamily="34" charset="0"/>
                <a:ea typeface="Consolas" pitchFamily="34" charset="-122"/>
                <a:cs typeface="Consolas" pitchFamily="34" charset="-120"/>
              </a:rPr>
              <a:t>systeminfo | find "Memory"</a:t>
            </a:r>
            <a:r>
              <a:rPr lang="el-GR" sz="1200" dirty="0">
                <a:solidFill>
                  <a:srgbClr val="4A5265"/>
                </a:solidFill>
                <a:latin typeface="Segoe UI" pitchFamily="34" charset="0"/>
                <a:ea typeface="Segoe UI" pitchFamily="34" charset="-122"/>
                <a:cs typeface="Segoe UI" pitchFamily="34" charset="-120"/>
              </a:rPr>
              <a:t xml:space="preserve"> βλέπεις μόνο τις γραμμές της μνήμης. Το find ξεχωρίζει κεφαλαία και πεζά.</a:t>
            </a:r>
            <a:endParaRPr lang="el-GR"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Εργαστήριο 1 — Τι είναι το Λειτουργικό Σύστημα</dc:title>
  <dc:subject>PptxGenJS Presentation</dc:subject>
  <dc:creator>Λαμπρόπουλος Χρήστος</dc:creator>
  <cp:lastModifiedBy>Λαμπρόπουλος Χρήστος</cp:lastModifiedBy>
  <cp:revision>1</cp:revision>
  <dcterms:created xsi:type="dcterms:W3CDTF">2026-10-05T21:05:12Z</dcterms:created>
  <dcterms:modified xsi:type="dcterms:W3CDTF">2026-10-05T21:05:12Z</dcterms:modified>
</cp:coreProperties>
</file>