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1, λεπτά 0–3. Σήμερα δουλεύουμε κυρίως στον υπολογιστή: λίγη εξήγηση, πολλή πράξη. Ο στόχος της μέρας: κάθε εκπαιδευόμενος να βρει μόνος του τι κάνει το ΛΣ στον δικό του υπολογιστή.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1, λεπτά 3–8. Γρήγορη παρουσίαση. Η βαθμολόγηση θα ανακοινωθεί σύμφωνα με τον Κανονισμό Λειτουργίας της ΣΑΕΚ. Ζητήστε να φτιάξουν ήδη τον φάκελο LS_Eponymo στα Έγγραφα.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1, λεπτά 8–15. Η μόνη «θεωρία» πριν τις αποστολές. Τονίστε: οι εφαρμογές δεν αγγίζουν το υλικό απευθείας, περνούν πάντα από το ΛΣ. Τα υπόλοιπα θα τα ανακαλύψουν στις αποστολές.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1, λεπτά 15–40. Δείξτε τα 4 εργαλεία στον προβολέα (5΄) και μετά δουλεύουν μόνοι τους συμπληρώνοντας την κάρτα της επόμενης διαφάνειας.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Συνέχεια της αποστολής 1. Όποιος τελειώσει, βοηθά τον διπλανό.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2, λεπτά 0–20. Την τρίτη στήλη τη γράφουν με δικά τους στοιχεία, τα παραδείγματα είναι για καθοδήγηση. Στο devmgmt.msc μόνο κοιτάμε, δεν αλλάζουμε τίποτα. Στο τέλος ρωτήστε: ποια δουλειά του ΛΣ σάς έκανε εντύπωση;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2, λεπτά 20–35. Πρώτη επαφή με cmd: πληκτρολογούν αργά, γράμμα-γράμμα. Αν κάποιος έχει τον φάκελο αλλού, προσαρμόζει το cd. Θα επανέλθουμε στο cmd αναλυτικά στο εργαστήριο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2, λεπτά 35–45. Η αλυσίδα εκκίνησης εξηγεί γιατί χωρίς ΛΣ ο υπολογιστής σταματά στο UEFI. Δεν απενεργοποιούμε προγράμματα εκκίνησης στους υπολογιστές του εργαστηρίου. Διάλειμμα μετά.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3, λεπτά 0–5. Δεν απομνημονεύουμε χρονολογίες, κρατάμε τι άλλαξε σε κάθε γενιά.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3, λεπτά 5–20. Στην ενεργοποίηση μόνο κοιτάμε. Καλά παραδείγματα για σύγκριση: Chrome (δωρεάν αλλά όχι ανοιχτού κώδικα) και Firefox (ανοιχτού κώδικα). «Δωρεάν» δεν σημαίνει πάντα «ελεύθερο».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3, λεπτά 20–35. Αν το site είναι μπλοκαρισμένο στο δίκτυο της ΣΑΕΚ, κάντε το ως επίδειξη από τον υπολογιστή του εκπαιδευτή. Σε δύο μήνες θα εγκαταστήσουμε κανονικό Ubuntu σε εικονική μηχανή.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3, λεπτά 35–40. Προφορικά, δείχνοντας πρώτα μόνο τους τίτλους. Δεχόμαστε κάθε απάντηση με λογική αιτιολόγηση.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Ώρα 3, λεπτά 40–45. Έλεγχος του φακέλου από θέση σε θέση. Όποιος δεν τελείωσε, ολοκληρώνει την αρχή του επόμενου εργαστηρίου.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prak/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2148840"/>
            <a:ext cx="9144000" cy="274320"/>
          </a:xfrm>
          <a:prstGeom prst="rect">
            <a:avLst/>
          </a:prstGeom>
          <a:noFill/>
          <a:ln/>
        </p:spPr>
        <p:txBody>
          <a:bodyPr wrap="square" lIns="0" tIns="0" rIns="0" bIns="0" rtlCol="0" anchor="ctr"/>
          <a:lstStyle/>
          <a:p>
            <a:pPr indent="0" marL="0">
              <a:buNone/>
            </a:pPr>
            <a:r>
              <a:rPr lang="en-US" sz="1200" spc="240" kern="0" dirty="0">
                <a:solidFill>
                  <a:srgbClr val="2F4BD8"/>
                </a:solidFill>
                <a:latin typeface="Consolas" pitchFamily="34" charset="0"/>
                <a:ea typeface="Consolas" pitchFamily="34" charset="-122"/>
                <a:cs typeface="Consolas" pitchFamily="34" charset="-120"/>
              </a:rPr>
              <a:t>ΕΡΓΑΣΤΗΡΙΟ 1 · ΕΝΟΤΗΤΑ 2.1.Β.1 · ΤΡΙΤΗ 06/10/2026</a:t>
            </a:r>
            <a:endParaRPr lang="en-US" sz="1200" dirty="0"/>
          </a:p>
        </p:txBody>
      </p:sp>
      <p:sp>
        <p:nvSpPr>
          <p:cNvPr id="7" name="Text 4"/>
          <p:cNvSpPr txBox="1"/>
          <p:nvPr/>
        </p:nvSpPr>
        <p:spPr>
          <a:xfrm>
            <a:off x="512064" y="2487168"/>
            <a:ext cx="10058400" cy="1691640"/>
          </a:xfrm>
          <a:prstGeom prst="rect">
            <a:avLst/>
          </a:prstGeom>
          <a:noFill/>
          <a:ln/>
        </p:spPr>
        <p:txBody>
          <a:bodyPr wrap="square" lIns="0" tIns="0" rIns="0" bIns="0" rtlCol="0" anchor="ctr"/>
          <a:lstStyle/>
          <a:p>
            <a:pPr indent="0" marL="0">
              <a:lnSpc>
                <a:spcPct val="92000"/>
              </a:lnSpc>
              <a:buNone/>
            </a:pPr>
            <a:r>
              <a:rPr lang="en-US" sz="5000" b="1" dirty="0">
                <a:solidFill>
                  <a:srgbClr val="171B26"/>
                </a:solidFill>
                <a:latin typeface="Segoe UI" pitchFamily="34" charset="0"/>
                <a:ea typeface="Segoe UI" pitchFamily="34" charset="-122"/>
                <a:cs typeface="Segoe UI" pitchFamily="34" charset="-120"/>
              </a:rPr>
              <a:t>Τι είναι το</a:t>
            </a:r>
            <a:endParaRPr lang="en-US" sz="5000" dirty="0"/>
          </a:p>
          <a:p>
            <a:pPr indent="0" marL="0">
              <a:lnSpc>
                <a:spcPct val="92000"/>
              </a:lnSpc>
              <a:buNone/>
            </a:pPr>
            <a:r>
              <a:rPr lang="en-US" sz="5000" b="1" dirty="0">
                <a:solidFill>
                  <a:srgbClr val="171B26"/>
                </a:solidFill>
                <a:latin typeface="Segoe UI" pitchFamily="34" charset="0"/>
                <a:ea typeface="Segoe UI" pitchFamily="34" charset="-122"/>
                <a:cs typeface="Segoe UI" pitchFamily="34" charset="-120"/>
              </a:rPr>
              <a:t>Λειτουργικό Σύστημα</a:t>
            </a:r>
            <a:endParaRPr lang="en-US" sz="5000" dirty="0"/>
          </a:p>
        </p:txBody>
      </p:sp>
      <p:sp>
        <p:nvSpPr>
          <p:cNvPr id="8" name="Text 5"/>
          <p:cNvSpPr txBox="1"/>
          <p:nvPr/>
        </p:nvSpPr>
        <p:spPr>
          <a:xfrm>
            <a:off x="566928" y="4224528"/>
            <a:ext cx="10058400" cy="365760"/>
          </a:xfrm>
          <a:prstGeom prst="rect">
            <a:avLst/>
          </a:prstGeom>
          <a:noFill/>
          <a:ln/>
        </p:spPr>
        <p:txBody>
          <a:bodyPr wrap="square" lIns="0" tIns="0" rIns="0" bIns="0" rtlCol="0" anchor="ctr"/>
          <a:lstStyle/>
          <a:p>
            <a:pPr indent="0" marL="0">
              <a:buNone/>
            </a:pPr>
            <a:r>
              <a:rPr lang="en-US" sz="1800" dirty="0">
                <a:solidFill>
                  <a:srgbClr val="4A5265"/>
                </a:solidFill>
                <a:latin typeface="Segoe UI" pitchFamily="34" charset="0"/>
                <a:ea typeface="Segoe UI" pitchFamily="34" charset="-122"/>
                <a:cs typeface="Segoe UI" pitchFamily="34" charset="-120"/>
              </a:rPr>
              <a:t>Το ανακαλύπτουμε μέσα από τον ίδιο μας τον υπολογιστή</a:t>
            </a:r>
            <a:endParaRPr lang="en-US" sz="1800" dirty="0"/>
          </a:p>
        </p:txBody>
      </p:sp>
      <p:sp>
        <p:nvSpPr>
          <p:cNvPr id="9" name="Text 6"/>
          <p:cNvSpPr txBox="1"/>
          <p:nvPr/>
        </p:nvSpPr>
        <p:spPr>
          <a:xfrm>
            <a:off x="566928" y="4800600"/>
            <a:ext cx="10515600" cy="274320"/>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6 αποστολές στο PC · κάρτα συστήματος · cmd · BIOS/UEFI · άδειες χρήσης · πρώτη γνωριμία με Linux</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prak/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01  </a:t>
            </a:r>
            <a:pPr indent="0" marL="0">
              <a:buNone/>
            </a:pPr>
            <a:r>
              <a:rPr lang="en-US" sz="1000" spc="140" kern="0" dirty="0">
                <a:solidFill>
                  <a:srgbClr val="8A91A3"/>
                </a:solidFill>
                <a:latin typeface="Consolas" pitchFamily="34" charset="0"/>
                <a:ea typeface="Consolas" pitchFamily="34" charset="-122"/>
                <a:cs typeface="Consolas" pitchFamily="34" charset="-120"/>
              </a:rPr>
              <a:t>ΓΝΩΡΙΜΙΑ ΜΕ ΤΟ ΜΑΘΗΜΑ</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Πώς δουλεύουμε κάθε Τρίτη</a:t>
            </a:r>
            <a:endParaRPr lang="en-US" sz="3000" dirty="0"/>
          </a:p>
        </p:txBody>
      </p:sp>
      <p:sp>
        <p:nvSpPr>
          <p:cNvPr id="8" name="Shape 5"/>
          <p:cNvSpPr/>
          <p:nvPr/>
        </p:nvSpPr>
        <p:spPr>
          <a:xfrm>
            <a:off x="566928" y="1463040"/>
            <a:ext cx="3502152" cy="2011680"/>
          </a:xfrm>
          <a:prstGeom prst="roundRect">
            <a:avLst>
              <a:gd name="adj" fmla="val 2727"/>
            </a:avLst>
          </a:prstGeom>
          <a:solidFill>
            <a:srgbClr val="FBFCFE"/>
          </a:solidFill>
          <a:ln w="9525">
            <a:solidFill>
              <a:srgbClr val="D3D9E4"/>
            </a:solidFill>
            <a:prstDash val="solid"/>
          </a:ln>
        </p:spPr>
      </p:sp>
      <p:sp>
        <p:nvSpPr>
          <p:cNvPr id="9" name="Text 6"/>
          <p:cNvSpPr txBox="1"/>
          <p:nvPr/>
        </p:nvSpPr>
        <p:spPr>
          <a:xfrm>
            <a:off x="731520" y="1591056"/>
            <a:ext cx="3172968"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15΄</a:t>
            </a:r>
            <a:endParaRPr lang="en-US" sz="900" dirty="0"/>
          </a:p>
        </p:txBody>
      </p:sp>
      <p:sp>
        <p:nvSpPr>
          <p:cNvPr id="10" name="Text 7"/>
          <p:cNvSpPr txBox="1"/>
          <p:nvPr/>
        </p:nvSpPr>
        <p:spPr>
          <a:xfrm>
            <a:off x="731520" y="1847088"/>
            <a:ext cx="3172968" cy="290576"/>
          </a:xfrm>
          <a:prstGeom prst="rect">
            <a:avLst/>
          </a:prstGeom>
          <a:noFill/>
          <a:ln/>
        </p:spPr>
        <p:txBody>
          <a:bodyPr wrap="square" lIns="0" tIns="0" rIns="0" bIns="0" rtlCol="0" anchor="t"/>
          <a:lstStyle/>
          <a:p>
            <a:pPr indent="0" marL="0">
              <a:buNone/>
            </a:pPr>
            <a:r>
              <a:rPr lang="en-US" sz="1600" b="1" dirty="0">
                <a:solidFill>
                  <a:srgbClr val="171B26"/>
                </a:solidFill>
                <a:latin typeface="Segoe UI" pitchFamily="34" charset="0"/>
                <a:ea typeface="Segoe UI" pitchFamily="34" charset="-122"/>
                <a:cs typeface="Segoe UI" pitchFamily="34" charset="-120"/>
              </a:rPr>
              <a:t>Σύντομη εξήγηση</a:t>
            </a:r>
            <a:endParaRPr lang="en-US" sz="1600" dirty="0"/>
          </a:p>
        </p:txBody>
      </p:sp>
      <p:sp>
        <p:nvSpPr>
          <p:cNvPr id="11" name="Text 8"/>
          <p:cNvSpPr txBox="1"/>
          <p:nvPr/>
        </p:nvSpPr>
        <p:spPr>
          <a:xfrm>
            <a:off x="731520" y="2229104"/>
            <a:ext cx="3172968" cy="1154176"/>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Μόνο όσα χρειάζονται για να καταλάβεις τι θα κάνεις.</a:t>
            </a:r>
            <a:endParaRPr lang="en-US" sz="1250" dirty="0"/>
          </a:p>
        </p:txBody>
      </p:sp>
      <p:sp>
        <p:nvSpPr>
          <p:cNvPr id="12" name="Shape 9"/>
          <p:cNvSpPr/>
          <p:nvPr/>
        </p:nvSpPr>
        <p:spPr>
          <a:xfrm>
            <a:off x="4251960" y="1463040"/>
            <a:ext cx="3502152" cy="2011680"/>
          </a:xfrm>
          <a:prstGeom prst="roundRect">
            <a:avLst>
              <a:gd name="adj" fmla="val 2727"/>
            </a:avLst>
          </a:prstGeom>
          <a:solidFill>
            <a:srgbClr val="E4E8FB"/>
          </a:solidFill>
          <a:ln w="12700">
            <a:solidFill>
              <a:srgbClr val="E4E8FB"/>
            </a:solidFill>
            <a:prstDash val="solid"/>
          </a:ln>
        </p:spPr>
      </p:sp>
      <p:sp>
        <p:nvSpPr>
          <p:cNvPr id="13" name="Text 10"/>
          <p:cNvSpPr txBox="1"/>
          <p:nvPr/>
        </p:nvSpPr>
        <p:spPr>
          <a:xfrm>
            <a:off x="4416552" y="1591056"/>
            <a:ext cx="3172968"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 2 ώρες</a:t>
            </a:r>
            <a:endParaRPr lang="en-US" sz="900" dirty="0"/>
          </a:p>
        </p:txBody>
      </p:sp>
      <p:sp>
        <p:nvSpPr>
          <p:cNvPr id="14" name="Text 11"/>
          <p:cNvSpPr txBox="1"/>
          <p:nvPr/>
        </p:nvSpPr>
        <p:spPr>
          <a:xfrm>
            <a:off x="4416552" y="1847088"/>
            <a:ext cx="3172968" cy="290576"/>
          </a:xfrm>
          <a:prstGeom prst="rect">
            <a:avLst/>
          </a:prstGeom>
          <a:noFill/>
          <a:ln/>
        </p:spPr>
        <p:txBody>
          <a:bodyPr wrap="square" lIns="0" tIns="0" rIns="0" bIns="0" rtlCol="0" anchor="t"/>
          <a:lstStyle/>
          <a:p>
            <a:pPr indent="0" marL="0">
              <a:buNone/>
            </a:pPr>
            <a:r>
              <a:rPr lang="en-US" sz="1600" b="1" dirty="0">
                <a:solidFill>
                  <a:srgbClr val="171B26"/>
                </a:solidFill>
                <a:latin typeface="Segoe UI" pitchFamily="34" charset="0"/>
                <a:ea typeface="Segoe UI" pitchFamily="34" charset="-122"/>
                <a:cs typeface="Segoe UI" pitchFamily="34" charset="-120"/>
              </a:rPr>
              <a:t>Αποστολές στο PC</a:t>
            </a:r>
            <a:endParaRPr lang="en-US" sz="1600" dirty="0"/>
          </a:p>
        </p:txBody>
      </p:sp>
      <p:sp>
        <p:nvSpPr>
          <p:cNvPr id="15" name="Text 12"/>
          <p:cNvSpPr txBox="1"/>
          <p:nvPr/>
        </p:nvSpPr>
        <p:spPr>
          <a:xfrm>
            <a:off x="4416552" y="2229104"/>
            <a:ext cx="3172968" cy="1154176"/>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Βήμα-βήμα στον δικό σου υπολογιστή, με αυξανόμενη δυσκολία.</a:t>
            </a:r>
            <a:endParaRPr lang="en-US" sz="1250" dirty="0"/>
          </a:p>
        </p:txBody>
      </p:sp>
      <p:sp>
        <p:nvSpPr>
          <p:cNvPr id="16" name="Shape 13"/>
          <p:cNvSpPr/>
          <p:nvPr/>
        </p:nvSpPr>
        <p:spPr>
          <a:xfrm>
            <a:off x="7936992" y="1463040"/>
            <a:ext cx="3502152" cy="2011680"/>
          </a:xfrm>
          <a:prstGeom prst="roundRect">
            <a:avLst>
              <a:gd name="adj" fmla="val 2727"/>
            </a:avLst>
          </a:prstGeom>
          <a:solidFill>
            <a:srgbClr val="FBFCFE"/>
          </a:solidFill>
          <a:ln w="9525">
            <a:solidFill>
              <a:srgbClr val="D3D9E4"/>
            </a:solidFill>
            <a:prstDash val="solid"/>
          </a:ln>
        </p:spPr>
      </p:sp>
      <p:sp>
        <p:nvSpPr>
          <p:cNvPr id="17" name="Text 14"/>
          <p:cNvSpPr txBox="1"/>
          <p:nvPr/>
        </p:nvSpPr>
        <p:spPr>
          <a:xfrm>
            <a:off x="8101584" y="1591056"/>
            <a:ext cx="3172968"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10΄</a:t>
            </a:r>
            <a:endParaRPr lang="en-US" sz="900" dirty="0"/>
          </a:p>
        </p:txBody>
      </p:sp>
      <p:sp>
        <p:nvSpPr>
          <p:cNvPr id="18" name="Text 15"/>
          <p:cNvSpPr txBox="1"/>
          <p:nvPr/>
        </p:nvSpPr>
        <p:spPr>
          <a:xfrm>
            <a:off x="8101584" y="1847088"/>
            <a:ext cx="3172968" cy="290576"/>
          </a:xfrm>
          <a:prstGeom prst="rect">
            <a:avLst/>
          </a:prstGeom>
          <a:noFill/>
          <a:ln/>
        </p:spPr>
        <p:txBody>
          <a:bodyPr wrap="square" lIns="0" tIns="0" rIns="0" bIns="0" rtlCol="0" anchor="t"/>
          <a:lstStyle/>
          <a:p>
            <a:pPr indent="0" marL="0">
              <a:buNone/>
            </a:pPr>
            <a:r>
              <a:rPr lang="en-US" sz="1600" b="1" dirty="0">
                <a:solidFill>
                  <a:srgbClr val="171B26"/>
                </a:solidFill>
                <a:latin typeface="Segoe UI" pitchFamily="34" charset="0"/>
                <a:ea typeface="Segoe UI" pitchFamily="34" charset="-122"/>
                <a:cs typeface="Segoe UI" pitchFamily="34" charset="-120"/>
              </a:rPr>
              <a:t>Παραδοτέο</a:t>
            </a:r>
            <a:endParaRPr lang="en-US" sz="1600" dirty="0"/>
          </a:p>
        </p:txBody>
      </p:sp>
      <p:sp>
        <p:nvSpPr>
          <p:cNvPr id="19" name="Text 16"/>
          <p:cNvSpPr txBox="1"/>
          <p:nvPr/>
        </p:nvSpPr>
        <p:spPr>
          <a:xfrm>
            <a:off x="8101584" y="2229104"/>
            <a:ext cx="3172968" cy="1154176"/>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Κάθε εργαστήριο κλείνει με κάτι που αποθηκεύεις στον φάκελό σου.</a:t>
            </a:r>
            <a:endParaRPr lang="en-US" sz="1250" dirty="0"/>
          </a:p>
        </p:txBody>
      </p:sp>
      <p:sp>
        <p:nvSpPr>
          <p:cNvPr id="20" name="Shape 17"/>
          <p:cNvSpPr/>
          <p:nvPr/>
        </p:nvSpPr>
        <p:spPr>
          <a:xfrm>
            <a:off x="566928" y="3703320"/>
            <a:ext cx="5349240" cy="2240280"/>
          </a:xfrm>
          <a:prstGeom prst="roundRect">
            <a:avLst>
              <a:gd name="adj" fmla="val 2449"/>
            </a:avLst>
          </a:prstGeom>
          <a:solidFill>
            <a:srgbClr val="FBFCFE"/>
          </a:solidFill>
          <a:ln w="9525">
            <a:solidFill>
              <a:srgbClr val="D3D9E4"/>
            </a:solidFill>
            <a:prstDash val="solid"/>
          </a:ln>
        </p:spPr>
      </p:sp>
      <p:sp>
        <p:nvSpPr>
          <p:cNvPr id="21" name="Text 18"/>
          <p:cNvSpPr txBox="1"/>
          <p:nvPr/>
        </p:nvSpPr>
        <p:spPr>
          <a:xfrm>
            <a:off x="731520" y="3831336"/>
            <a:ext cx="502005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Τι θα κάνουμε στο εξάμηνο</a:t>
            </a:r>
            <a:endParaRPr lang="en-US" sz="1400" dirty="0"/>
          </a:p>
        </p:txBody>
      </p:sp>
      <p:sp>
        <p:nvSpPr>
          <p:cNvPr id="22" name="Text 19"/>
          <p:cNvSpPr txBox="1"/>
          <p:nvPr/>
        </p:nvSpPr>
        <p:spPr>
          <a:xfrm>
            <a:off x="731520" y="4181602"/>
            <a:ext cx="5020056" cy="1670558"/>
          </a:xfrm>
          <a:prstGeom prst="rect">
            <a:avLst/>
          </a:prstGeom>
          <a:noFill/>
          <a:ln/>
        </p:spPr>
        <p:txBody>
          <a:bodyPr wrap="square" lIns="0" tIns="0" rIns="0" bIns="0" rtlCol="0" anchor="t"/>
          <a:lstStyle/>
          <a:p>
            <a:pPr marL="177800" indent="-177800">
              <a:lnSpc>
                <a:spcPct val="112000"/>
              </a:lnSpc>
              <a:spcAft>
                <a:spcPts val="400"/>
              </a:spcAft>
              <a:buSzPct val="100000"/>
              <a:buChar char="•"/>
            </a:pPr>
            <a:r>
              <a:rPr lang="en-US" sz="1250" dirty="0">
                <a:solidFill>
                  <a:srgbClr val="4A5265"/>
                </a:solidFill>
                <a:latin typeface="Segoe UI" pitchFamily="34" charset="0"/>
                <a:ea typeface="Segoe UI" pitchFamily="34" charset="-122"/>
                <a:cs typeface="Segoe UI" pitchFamily="34" charset="-120"/>
              </a:rPr>
              <a:t>Πώς δουλεύει ένα ΛΣ και πώς μοιράζει τον επεξεργαστή</a:t>
            </a:r>
            <a:endParaRPr lang="en-US" sz="1250" dirty="0"/>
          </a:p>
          <a:p>
            <a:pPr marL="177800" indent="-177800">
              <a:lnSpc>
                <a:spcPct val="112000"/>
              </a:lnSpc>
              <a:spcAft>
                <a:spcPts val="400"/>
              </a:spcAft>
              <a:buSzPct val="100000"/>
              <a:buChar char="•"/>
            </a:pPr>
            <a:r>
              <a:rPr lang="en-US" sz="1250" dirty="0">
                <a:solidFill>
                  <a:srgbClr val="4A5265"/>
                </a:solidFill>
                <a:latin typeface="Segoe UI" pitchFamily="34" charset="0"/>
                <a:ea typeface="Segoe UI" pitchFamily="34" charset="-122"/>
                <a:cs typeface="Segoe UI" pitchFamily="34" charset="-120"/>
              </a:rPr>
              <a:t>Windows: γραμμή εντολών, ρυθμίσεις, βλάβες</a:t>
            </a:r>
            <a:endParaRPr lang="en-US" sz="1250" dirty="0"/>
          </a:p>
          <a:p>
            <a:pPr marL="177800" indent="-177800">
              <a:lnSpc>
                <a:spcPct val="112000"/>
              </a:lnSpc>
              <a:spcAft>
                <a:spcPts val="400"/>
              </a:spcAft>
              <a:buSzPct val="100000"/>
              <a:buChar char="•"/>
            </a:pPr>
            <a:r>
              <a:rPr lang="en-US" sz="1250" dirty="0">
                <a:solidFill>
                  <a:srgbClr val="4A5265"/>
                </a:solidFill>
                <a:latin typeface="Segoe UI" pitchFamily="34" charset="0"/>
                <a:ea typeface="Segoe UI" pitchFamily="34" charset="-122"/>
                <a:cs typeface="Segoe UI" pitchFamily="34" charset="-120"/>
              </a:rPr>
              <a:t>Linux σε εικονική μηχανή: τερματικό, δικαιώματα</a:t>
            </a:r>
            <a:endParaRPr lang="en-US" sz="1250" dirty="0"/>
          </a:p>
          <a:p>
            <a:pPr marL="177800" indent="-177800">
              <a:lnSpc>
                <a:spcPct val="112000"/>
              </a:lnSpc>
              <a:spcAft>
                <a:spcPts val="400"/>
              </a:spcAft>
              <a:buSzPct val="100000"/>
              <a:buChar char="•"/>
            </a:pPr>
            <a:r>
              <a:rPr lang="en-US" sz="1250" dirty="0">
                <a:solidFill>
                  <a:srgbClr val="4A5265"/>
                </a:solidFill>
                <a:latin typeface="Segoe UI" pitchFamily="34" charset="0"/>
                <a:ea typeface="Segoe UI" pitchFamily="34" charset="-122"/>
                <a:cs typeface="Segoe UI" pitchFamily="34" charset="-120"/>
              </a:rPr>
              <a:t>VirtualBox, Docker, macOS, Android, iOS</a:t>
            </a:r>
            <a:endParaRPr lang="en-US" sz="1250" dirty="0"/>
          </a:p>
        </p:txBody>
      </p:sp>
      <p:sp>
        <p:nvSpPr>
          <p:cNvPr id="23" name="Shape 20"/>
          <p:cNvSpPr/>
          <p:nvPr/>
        </p:nvSpPr>
        <p:spPr>
          <a:xfrm>
            <a:off x="6099048" y="3703320"/>
            <a:ext cx="5349240" cy="2240280"/>
          </a:xfrm>
          <a:prstGeom prst="roundRect">
            <a:avLst>
              <a:gd name="adj" fmla="val 2449"/>
            </a:avLst>
          </a:prstGeom>
          <a:solidFill>
            <a:srgbClr val="F6EDD6"/>
          </a:solidFill>
          <a:ln w="12700">
            <a:solidFill>
              <a:srgbClr val="F6EDD6"/>
            </a:solidFill>
            <a:prstDash val="solid"/>
          </a:ln>
        </p:spPr>
      </p:sp>
      <p:sp>
        <p:nvSpPr>
          <p:cNvPr id="24" name="Text 21"/>
          <p:cNvSpPr txBox="1"/>
          <p:nvPr/>
        </p:nvSpPr>
        <p:spPr>
          <a:xfrm>
            <a:off x="6263640" y="3831336"/>
            <a:ext cx="502005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Κανόνες εργαστηρίου</a:t>
            </a:r>
            <a:endParaRPr lang="en-US" sz="1400" dirty="0"/>
          </a:p>
        </p:txBody>
      </p:sp>
      <p:sp>
        <p:nvSpPr>
          <p:cNvPr id="25" name="Text 22"/>
          <p:cNvSpPr txBox="1"/>
          <p:nvPr/>
        </p:nvSpPr>
        <p:spPr>
          <a:xfrm>
            <a:off x="6263640" y="4181602"/>
            <a:ext cx="5020056" cy="1670558"/>
          </a:xfrm>
          <a:prstGeom prst="rect">
            <a:avLst/>
          </a:prstGeom>
          <a:noFill/>
          <a:ln/>
        </p:spPr>
        <p:txBody>
          <a:bodyPr wrap="square" lIns="0" tIns="0" rIns="0" bIns="0" rtlCol="0" anchor="t"/>
          <a:lstStyle/>
          <a:p>
            <a:pPr marL="177800" indent="-177800">
              <a:lnSpc>
                <a:spcPct val="112000"/>
              </a:lnSpc>
              <a:spcAft>
                <a:spcPts val="400"/>
              </a:spcAft>
              <a:buSzPct val="100000"/>
              <a:buChar char="•"/>
            </a:pPr>
            <a:r>
              <a:rPr lang="en-US" sz="1250" dirty="0">
                <a:solidFill>
                  <a:srgbClr val="4A5265"/>
                </a:solidFill>
                <a:latin typeface="Segoe UI" pitchFamily="34" charset="0"/>
                <a:ea typeface="Segoe UI" pitchFamily="34" charset="-122"/>
                <a:cs typeface="Segoe UI" pitchFamily="34" charset="-120"/>
              </a:rPr>
              <a:t>Φτιάχνεις σήμερα τον φάκελο LS_Eponymo στα Έγγραφα. Εκεί μπαίνουν όλα.</a:t>
            </a:r>
            <a:endParaRPr lang="en-US" sz="1250" dirty="0"/>
          </a:p>
          <a:p>
            <a:pPr marL="177800" indent="-177800">
              <a:lnSpc>
                <a:spcPct val="112000"/>
              </a:lnSpc>
              <a:spcAft>
                <a:spcPts val="400"/>
              </a:spcAft>
              <a:buSzPct val="100000"/>
              <a:buChar char="•"/>
            </a:pPr>
            <a:r>
              <a:rPr lang="en-US" sz="1250" dirty="0">
                <a:solidFill>
                  <a:srgbClr val="4A5265"/>
                </a:solidFill>
                <a:latin typeface="Segoe UI" pitchFamily="34" charset="0"/>
                <a:ea typeface="Segoe UI" pitchFamily="34" charset="-122"/>
                <a:cs typeface="Segoe UI" pitchFamily="34" charset="-120"/>
              </a:rPr>
              <a:t>Δεν αλλάζεις ρυθμίσεις χωρίς οδηγία.</a:t>
            </a:r>
            <a:endParaRPr lang="en-US" sz="1250" dirty="0"/>
          </a:p>
          <a:p>
            <a:pPr marL="177800" indent="-177800">
              <a:lnSpc>
                <a:spcPct val="112000"/>
              </a:lnSpc>
              <a:spcAft>
                <a:spcPts val="400"/>
              </a:spcAft>
              <a:buSzPct val="100000"/>
              <a:buChar char="•"/>
            </a:pPr>
            <a:r>
              <a:rPr lang="en-US" sz="1250" dirty="0">
                <a:solidFill>
                  <a:srgbClr val="4A5265"/>
                </a:solidFill>
                <a:latin typeface="Segoe UI" pitchFamily="34" charset="0"/>
                <a:ea typeface="Segoe UI" pitchFamily="34" charset="-122"/>
                <a:cs typeface="Segoe UI" pitchFamily="34" charset="-120"/>
              </a:rPr>
              <a:t>Κολλάς; Ρωτάς πρώτα τον διπλανό, μετά εμένα.</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prak/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02  </a:t>
            </a:r>
            <a:pPr indent="0" marL="0">
              <a:buNone/>
            </a:pPr>
            <a:r>
              <a:rPr lang="en-US" sz="1000" spc="140" kern="0" dirty="0">
                <a:solidFill>
                  <a:srgbClr val="8A91A3"/>
                </a:solidFill>
                <a:latin typeface="Consolas" pitchFamily="34" charset="0"/>
                <a:ea typeface="Consolas" pitchFamily="34" charset="-122"/>
                <a:cs typeface="Consolas" pitchFamily="34" charset="-120"/>
              </a:rPr>
              <a:t>ΕΝΝΟΙΕΣ · 10 ΛΕΠΤΑ</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Το ΛΣ είναι ο «μεσάζων»</a:t>
            </a:r>
            <a:endParaRPr lang="en-US" sz="3000" dirty="0"/>
          </a:p>
        </p:txBody>
      </p:sp>
      <p:sp>
        <p:nvSpPr>
          <p:cNvPr id="8" name="Shape 5"/>
          <p:cNvSpPr/>
          <p:nvPr/>
        </p:nvSpPr>
        <p:spPr>
          <a:xfrm>
            <a:off x="566928" y="1508760"/>
            <a:ext cx="5120640" cy="841248"/>
          </a:xfrm>
          <a:prstGeom prst="roundRect">
            <a:avLst>
              <a:gd name="adj" fmla="val 6522"/>
            </a:avLst>
          </a:prstGeom>
          <a:solidFill>
            <a:srgbClr val="FBFCFE"/>
          </a:solidFill>
          <a:ln w="9525">
            <a:solidFill>
              <a:srgbClr val="D3D9E4"/>
            </a:solidFill>
            <a:prstDash val="solid"/>
          </a:ln>
        </p:spPr>
      </p:sp>
      <p:sp>
        <p:nvSpPr>
          <p:cNvPr id="9" name="Text 6"/>
          <p:cNvSpPr txBox="1"/>
          <p:nvPr/>
        </p:nvSpPr>
        <p:spPr>
          <a:xfrm>
            <a:off x="777240" y="1508760"/>
            <a:ext cx="4754880" cy="841248"/>
          </a:xfrm>
          <a:prstGeom prst="rect">
            <a:avLst/>
          </a:prstGeom>
          <a:noFill/>
          <a:ln/>
        </p:spPr>
        <p:txBody>
          <a:bodyPr wrap="square" lIns="0" tIns="0" rIns="0" bIns="0" rtlCol="0" anchor="ctr"/>
          <a:lstStyle/>
          <a:p>
            <a:pPr indent="0" marL="0">
              <a:buNone/>
            </a:pPr>
            <a:r>
              <a:rPr lang="en-US" sz="1500" b="1" dirty="0">
                <a:solidFill>
                  <a:srgbClr val="171B26"/>
                </a:solidFill>
                <a:latin typeface="Segoe UI" pitchFamily="34" charset="0"/>
                <a:ea typeface="Segoe UI" pitchFamily="34" charset="-122"/>
                <a:cs typeface="Segoe UI" pitchFamily="34" charset="-120"/>
              </a:rPr>
              <a:t>Χρήστης</a:t>
            </a:r>
            <a:endParaRPr lang="en-US" sz="1500" dirty="0"/>
          </a:p>
          <a:p>
            <a:pPr indent="0" marL="0">
              <a:buNone/>
            </a:pPr>
            <a:r>
              <a:rPr lang="en-US" sz="1100" dirty="0">
                <a:solidFill>
                  <a:srgbClr val="171B26"/>
                </a:solidFill>
                <a:latin typeface="Segoe UI" pitchFamily="34" charset="0"/>
                <a:ea typeface="Segoe UI" pitchFamily="34" charset="-122"/>
                <a:cs typeface="Segoe UI" pitchFamily="34" charset="-120"/>
              </a:rPr>
              <a:t>εσύ</a:t>
            </a:r>
            <a:endParaRPr lang="en-US" sz="1500" dirty="0"/>
          </a:p>
        </p:txBody>
      </p:sp>
      <p:sp>
        <p:nvSpPr>
          <p:cNvPr id="10" name="Shape 7"/>
          <p:cNvSpPr/>
          <p:nvPr/>
        </p:nvSpPr>
        <p:spPr>
          <a:xfrm>
            <a:off x="566928" y="2532888"/>
            <a:ext cx="5120640" cy="841248"/>
          </a:xfrm>
          <a:prstGeom prst="roundRect">
            <a:avLst>
              <a:gd name="adj" fmla="val 6522"/>
            </a:avLst>
          </a:prstGeom>
          <a:solidFill>
            <a:srgbClr val="FBFCFE"/>
          </a:solidFill>
          <a:ln w="9525">
            <a:solidFill>
              <a:srgbClr val="D3D9E4"/>
            </a:solidFill>
            <a:prstDash val="solid"/>
          </a:ln>
        </p:spPr>
      </p:sp>
      <p:sp>
        <p:nvSpPr>
          <p:cNvPr id="11" name="Text 8"/>
          <p:cNvSpPr txBox="1"/>
          <p:nvPr/>
        </p:nvSpPr>
        <p:spPr>
          <a:xfrm>
            <a:off x="777240" y="2532888"/>
            <a:ext cx="4754880" cy="841248"/>
          </a:xfrm>
          <a:prstGeom prst="rect">
            <a:avLst/>
          </a:prstGeom>
          <a:noFill/>
          <a:ln/>
        </p:spPr>
        <p:txBody>
          <a:bodyPr wrap="square" lIns="0" tIns="0" rIns="0" bIns="0" rtlCol="0" anchor="ctr"/>
          <a:lstStyle/>
          <a:p>
            <a:pPr indent="0" marL="0">
              <a:buNone/>
            </a:pPr>
            <a:r>
              <a:rPr lang="en-US" sz="1500" b="1" dirty="0">
                <a:solidFill>
                  <a:srgbClr val="171B26"/>
                </a:solidFill>
                <a:latin typeface="Segoe UI" pitchFamily="34" charset="0"/>
                <a:ea typeface="Segoe UI" pitchFamily="34" charset="-122"/>
                <a:cs typeface="Segoe UI" pitchFamily="34" charset="-120"/>
              </a:rPr>
              <a:t>Εφαρμογές</a:t>
            </a:r>
            <a:endParaRPr lang="en-US" sz="1500" dirty="0"/>
          </a:p>
          <a:p>
            <a:pPr indent="0" marL="0">
              <a:buNone/>
            </a:pPr>
            <a:r>
              <a:rPr lang="en-US" sz="1100" dirty="0">
                <a:solidFill>
                  <a:srgbClr val="171B26"/>
                </a:solidFill>
                <a:latin typeface="Segoe UI" pitchFamily="34" charset="0"/>
                <a:ea typeface="Segoe UI" pitchFamily="34" charset="-122"/>
                <a:cs typeface="Segoe UI" pitchFamily="34" charset="-120"/>
              </a:rPr>
              <a:t>Chrome, Word, Steam, VS Code</a:t>
            </a:r>
            <a:endParaRPr lang="en-US" sz="1500" dirty="0"/>
          </a:p>
        </p:txBody>
      </p:sp>
      <p:sp>
        <p:nvSpPr>
          <p:cNvPr id="12" name="Shape 9"/>
          <p:cNvSpPr/>
          <p:nvPr/>
        </p:nvSpPr>
        <p:spPr>
          <a:xfrm>
            <a:off x="566928" y="3557016"/>
            <a:ext cx="5120640" cy="841248"/>
          </a:xfrm>
          <a:prstGeom prst="roundRect">
            <a:avLst>
              <a:gd name="adj" fmla="val 6522"/>
            </a:avLst>
          </a:prstGeom>
          <a:solidFill>
            <a:srgbClr val="2F4BD8"/>
          </a:solidFill>
          <a:ln w="12700">
            <a:solidFill>
              <a:srgbClr val="2F4BD8"/>
            </a:solidFill>
            <a:prstDash val="solid"/>
          </a:ln>
        </p:spPr>
      </p:sp>
      <p:sp>
        <p:nvSpPr>
          <p:cNvPr id="13" name="Text 10"/>
          <p:cNvSpPr txBox="1"/>
          <p:nvPr/>
        </p:nvSpPr>
        <p:spPr>
          <a:xfrm>
            <a:off x="777240" y="3557016"/>
            <a:ext cx="4754880" cy="841248"/>
          </a:xfrm>
          <a:prstGeom prst="rect">
            <a:avLst/>
          </a:prstGeom>
          <a:noFill/>
          <a:ln/>
        </p:spPr>
        <p:txBody>
          <a:bodyPr wrap="square" lIns="0" tIns="0" rIns="0" bIns="0" rtlCol="0" anchor="ctr"/>
          <a:lstStyle/>
          <a:p>
            <a:pPr indent="0" marL="0">
              <a:buNone/>
            </a:pPr>
            <a:r>
              <a:rPr lang="en-US" sz="1500" b="1" dirty="0">
                <a:solidFill>
                  <a:srgbClr val="FFFFFF"/>
                </a:solidFill>
                <a:latin typeface="Segoe UI" pitchFamily="34" charset="0"/>
                <a:ea typeface="Segoe UI" pitchFamily="34" charset="-122"/>
                <a:cs typeface="Segoe UI" pitchFamily="34" charset="-120"/>
              </a:rPr>
              <a:t>Λειτουργικό Σύστημα</a:t>
            </a:r>
            <a:endParaRPr lang="en-US" sz="1500" dirty="0"/>
          </a:p>
          <a:p>
            <a:pPr indent="0" marL="0">
              <a:buNone/>
            </a:pPr>
            <a:r>
              <a:rPr lang="en-US" sz="1100" dirty="0">
                <a:solidFill>
                  <a:srgbClr val="FFFFFF"/>
                </a:solidFill>
                <a:latin typeface="Segoe UI" pitchFamily="34" charset="0"/>
                <a:ea typeface="Segoe UI" pitchFamily="34" charset="-122"/>
                <a:cs typeface="Segoe UI" pitchFamily="34" charset="-120"/>
              </a:rPr>
              <a:t>Windows, Linux, macOS, Android</a:t>
            </a:r>
            <a:endParaRPr lang="en-US" sz="1500" dirty="0"/>
          </a:p>
        </p:txBody>
      </p:sp>
      <p:sp>
        <p:nvSpPr>
          <p:cNvPr id="14" name="Shape 11"/>
          <p:cNvSpPr/>
          <p:nvPr/>
        </p:nvSpPr>
        <p:spPr>
          <a:xfrm>
            <a:off x="566928" y="4581144"/>
            <a:ext cx="5120640" cy="841248"/>
          </a:xfrm>
          <a:prstGeom prst="roundRect">
            <a:avLst>
              <a:gd name="adj" fmla="val 6522"/>
            </a:avLst>
          </a:prstGeom>
          <a:solidFill>
            <a:srgbClr val="E4E8FB"/>
          </a:solidFill>
          <a:ln w="12700">
            <a:solidFill>
              <a:srgbClr val="E4E8FB"/>
            </a:solidFill>
            <a:prstDash val="solid"/>
          </a:ln>
        </p:spPr>
      </p:sp>
      <p:sp>
        <p:nvSpPr>
          <p:cNvPr id="15" name="Text 12"/>
          <p:cNvSpPr txBox="1"/>
          <p:nvPr/>
        </p:nvSpPr>
        <p:spPr>
          <a:xfrm>
            <a:off x="777240" y="4581144"/>
            <a:ext cx="4754880" cy="841248"/>
          </a:xfrm>
          <a:prstGeom prst="rect">
            <a:avLst/>
          </a:prstGeom>
          <a:noFill/>
          <a:ln/>
        </p:spPr>
        <p:txBody>
          <a:bodyPr wrap="square" lIns="0" tIns="0" rIns="0" bIns="0" rtlCol="0" anchor="ctr"/>
          <a:lstStyle/>
          <a:p>
            <a:pPr indent="0" marL="0">
              <a:buNone/>
            </a:pPr>
            <a:r>
              <a:rPr lang="en-US" sz="1500" b="1" dirty="0">
                <a:solidFill>
                  <a:srgbClr val="171B26"/>
                </a:solidFill>
                <a:latin typeface="Segoe UI" pitchFamily="34" charset="0"/>
                <a:ea typeface="Segoe UI" pitchFamily="34" charset="-122"/>
                <a:cs typeface="Segoe UI" pitchFamily="34" charset="-120"/>
              </a:rPr>
              <a:t>Υλικό (hardware)</a:t>
            </a:r>
            <a:endParaRPr lang="en-US" sz="1500" dirty="0"/>
          </a:p>
          <a:p>
            <a:pPr indent="0" marL="0">
              <a:buNone/>
            </a:pPr>
            <a:r>
              <a:rPr lang="en-US" sz="1100" dirty="0">
                <a:solidFill>
                  <a:srgbClr val="171B26"/>
                </a:solidFill>
                <a:latin typeface="Segoe UI" pitchFamily="34" charset="0"/>
                <a:ea typeface="Segoe UI" pitchFamily="34" charset="-122"/>
                <a:cs typeface="Segoe UI" pitchFamily="34" charset="-120"/>
              </a:rPr>
              <a:t>CPU, RAM, δίσκος, οθόνη, δίκτυο</a:t>
            </a:r>
            <a:endParaRPr lang="en-US" sz="1500" dirty="0"/>
          </a:p>
        </p:txBody>
      </p:sp>
      <p:sp>
        <p:nvSpPr>
          <p:cNvPr id="16" name="Shape 13"/>
          <p:cNvSpPr/>
          <p:nvPr/>
        </p:nvSpPr>
        <p:spPr>
          <a:xfrm>
            <a:off x="6263640" y="1508760"/>
            <a:ext cx="5184648" cy="1325880"/>
          </a:xfrm>
          <a:prstGeom prst="rect">
            <a:avLst/>
          </a:prstGeom>
          <a:solidFill>
            <a:srgbClr val="E4E8FB"/>
          </a:solidFill>
          <a:ln w="12700">
            <a:solidFill>
              <a:srgbClr val="E4E8FB"/>
            </a:solidFill>
            <a:prstDash val="solid"/>
          </a:ln>
        </p:spPr>
      </p:sp>
      <p:sp>
        <p:nvSpPr>
          <p:cNvPr id="17" name="Shape 14"/>
          <p:cNvSpPr/>
          <p:nvPr/>
        </p:nvSpPr>
        <p:spPr>
          <a:xfrm>
            <a:off x="6263640" y="1508760"/>
            <a:ext cx="41148" cy="1325880"/>
          </a:xfrm>
          <a:prstGeom prst="rect">
            <a:avLst/>
          </a:prstGeom>
          <a:solidFill>
            <a:srgbClr val="2F4BD8"/>
          </a:solidFill>
          <a:ln w="12700">
            <a:solidFill>
              <a:srgbClr val="2F4BD8"/>
            </a:solidFill>
            <a:prstDash val="solid"/>
          </a:ln>
        </p:spPr>
      </p:sp>
      <p:sp>
        <p:nvSpPr>
          <p:cNvPr id="18" name="Text 15"/>
          <p:cNvSpPr txBox="1"/>
          <p:nvPr/>
        </p:nvSpPr>
        <p:spPr>
          <a:xfrm>
            <a:off x="6428232" y="1600200"/>
            <a:ext cx="4572000"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ΟΡΙΣΜΟΣ</a:t>
            </a:r>
            <a:endParaRPr lang="en-US" sz="900" dirty="0"/>
          </a:p>
        </p:txBody>
      </p:sp>
      <p:sp>
        <p:nvSpPr>
          <p:cNvPr id="19" name="Text 16"/>
          <p:cNvSpPr txBox="1"/>
          <p:nvPr/>
        </p:nvSpPr>
        <p:spPr>
          <a:xfrm>
            <a:off x="6428232" y="1819656"/>
            <a:ext cx="4855464" cy="941832"/>
          </a:xfrm>
          <a:prstGeom prst="rect">
            <a:avLst/>
          </a:prstGeom>
          <a:noFill/>
          <a:ln/>
        </p:spPr>
        <p:txBody>
          <a:bodyPr wrap="square" lIns="0" tIns="0" rIns="0" bIns="0" rtlCol="0" anchor="t"/>
          <a:lstStyle/>
          <a:p>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Λειτουργικό σύστημα είναι το </a:t>
            </a:r>
            <a:pPr indent="0" marL="0">
              <a:lnSpc>
                <a:spcPct val="112000"/>
              </a:lnSpc>
              <a:buNone/>
            </a:pPr>
            <a:r>
              <a:rPr lang="en-US" sz="1200" b="1" dirty="0">
                <a:solidFill>
                  <a:srgbClr val="171B26"/>
                </a:solidFill>
                <a:latin typeface="Segoe UI" pitchFamily="34" charset="0"/>
                <a:ea typeface="Segoe UI" pitchFamily="34" charset="-122"/>
                <a:cs typeface="Segoe UI" pitchFamily="34" charset="-120"/>
              </a:rPr>
              <a:t>βασικό λογισμικό</a:t>
            </a:r>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 που </a:t>
            </a:r>
            <a:pPr indent="0" marL="0">
              <a:lnSpc>
                <a:spcPct val="112000"/>
              </a:lnSpc>
              <a:buNone/>
            </a:pPr>
            <a:r>
              <a:rPr lang="en-US" sz="1200" b="1" dirty="0">
                <a:solidFill>
                  <a:srgbClr val="171B26"/>
                </a:solidFill>
                <a:latin typeface="Segoe UI" pitchFamily="34" charset="0"/>
                <a:ea typeface="Segoe UI" pitchFamily="34" charset="-122"/>
                <a:cs typeface="Segoe UI" pitchFamily="34" charset="-120"/>
              </a:rPr>
              <a:t>διαχειρίζεται το υλικό</a:t>
            </a:r>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 του υπολογιστή και </a:t>
            </a:r>
            <a:pPr indent="0" marL="0">
              <a:lnSpc>
                <a:spcPct val="112000"/>
              </a:lnSpc>
              <a:buNone/>
            </a:pPr>
            <a:r>
              <a:rPr lang="en-US" sz="1200" b="1" dirty="0">
                <a:solidFill>
                  <a:srgbClr val="171B26"/>
                </a:solidFill>
                <a:latin typeface="Segoe UI" pitchFamily="34" charset="0"/>
                <a:ea typeface="Segoe UI" pitchFamily="34" charset="-122"/>
                <a:cs typeface="Segoe UI" pitchFamily="34" charset="-120"/>
              </a:rPr>
              <a:t>παρέχει υπηρεσίες</a:t>
            </a:r>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 στις εφαρμογές και στον χρήστη.</a:t>
            </a:r>
            <a:endParaRPr lang="en-US" sz="1200" dirty="0"/>
          </a:p>
        </p:txBody>
      </p:sp>
      <p:sp>
        <p:nvSpPr>
          <p:cNvPr id="20" name="Shape 17"/>
          <p:cNvSpPr/>
          <p:nvPr/>
        </p:nvSpPr>
        <p:spPr>
          <a:xfrm>
            <a:off x="6263640" y="3017520"/>
            <a:ext cx="5184648" cy="1325880"/>
          </a:xfrm>
          <a:prstGeom prst="roundRect">
            <a:avLst>
              <a:gd name="adj" fmla="val 4138"/>
            </a:avLst>
          </a:prstGeom>
          <a:solidFill>
            <a:srgbClr val="FBFCFE"/>
          </a:solidFill>
          <a:ln w="9525">
            <a:solidFill>
              <a:srgbClr val="D3D9E4"/>
            </a:solidFill>
            <a:prstDash val="solid"/>
          </a:ln>
        </p:spPr>
      </p:sp>
      <p:sp>
        <p:nvSpPr>
          <p:cNvPr id="21" name="Text 18"/>
          <p:cNvSpPr txBox="1"/>
          <p:nvPr/>
        </p:nvSpPr>
        <p:spPr>
          <a:xfrm>
            <a:off x="6428232" y="3145536"/>
            <a:ext cx="4855464"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Πυρήνας (kernel)</a:t>
            </a:r>
            <a:endParaRPr lang="en-US" sz="1400" dirty="0"/>
          </a:p>
        </p:txBody>
      </p:sp>
      <p:sp>
        <p:nvSpPr>
          <p:cNvPr id="22" name="Text 19"/>
          <p:cNvSpPr txBox="1"/>
          <p:nvPr/>
        </p:nvSpPr>
        <p:spPr>
          <a:xfrm>
            <a:off x="6428232" y="3495802"/>
            <a:ext cx="4855464" cy="756158"/>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Η καρδιά του ΛΣ: μιλά απευθείας με το υλικό.</a:t>
            </a:r>
            <a:endParaRPr lang="en-US" sz="1200" dirty="0"/>
          </a:p>
        </p:txBody>
      </p:sp>
      <p:sp>
        <p:nvSpPr>
          <p:cNvPr id="23" name="Shape 20"/>
          <p:cNvSpPr/>
          <p:nvPr/>
        </p:nvSpPr>
        <p:spPr>
          <a:xfrm>
            <a:off x="6263640" y="4526280"/>
            <a:ext cx="5184648" cy="1417320"/>
          </a:xfrm>
          <a:prstGeom prst="roundRect">
            <a:avLst>
              <a:gd name="adj" fmla="val 3871"/>
            </a:avLst>
          </a:prstGeom>
          <a:solidFill>
            <a:srgbClr val="F6EDD6"/>
          </a:solidFill>
          <a:ln w="12700">
            <a:solidFill>
              <a:srgbClr val="F6EDD6"/>
            </a:solidFill>
            <a:prstDash val="solid"/>
          </a:ln>
        </p:spPr>
      </p:sp>
      <p:sp>
        <p:nvSpPr>
          <p:cNvPr id="24" name="Text 21"/>
          <p:cNvSpPr txBox="1"/>
          <p:nvPr/>
        </p:nvSpPr>
        <p:spPr>
          <a:xfrm>
            <a:off x="6428232" y="4654296"/>
            <a:ext cx="4855464"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Κέλυφος (shell)</a:t>
            </a:r>
            <a:endParaRPr lang="en-US" sz="1400" dirty="0"/>
          </a:p>
        </p:txBody>
      </p:sp>
      <p:sp>
        <p:nvSpPr>
          <p:cNvPr id="25" name="Text 22"/>
          <p:cNvSpPr txBox="1"/>
          <p:nvPr/>
        </p:nvSpPr>
        <p:spPr>
          <a:xfrm>
            <a:off x="6428232" y="5004562"/>
            <a:ext cx="4855464" cy="847598"/>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Αυτό που βλέπεις: γραφικό περιβάλλον (GUI) ή γραμμή εντολών (CLI).</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prak/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03  </a:t>
            </a:r>
            <a:pPr indent="0" marL="0">
              <a:buNone/>
            </a:pPr>
            <a:r>
              <a:rPr lang="en-US" sz="1000" spc="140" kern="0" dirty="0">
                <a:solidFill>
                  <a:srgbClr val="8A91A3"/>
                </a:solidFill>
                <a:latin typeface="Consolas" pitchFamily="34" charset="0"/>
                <a:ea typeface="Consolas" pitchFamily="34" charset="-122"/>
                <a:cs typeface="Consolas" pitchFamily="34" charset="-120"/>
              </a:rPr>
              <a:t>ΑΠΟΣΤΟΛΗ 1 · ΣΤΟ PC</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Γνώρισε τον υπολογιστή σου</a:t>
            </a:r>
            <a:endParaRPr lang="en-US" sz="3000" dirty="0"/>
          </a:p>
        </p:txBody>
      </p:sp>
      <p:sp>
        <p:nvSpPr>
          <p:cNvPr id="8" name="Text 5"/>
          <p:cNvSpPr txBox="1"/>
          <p:nvPr/>
        </p:nvSpPr>
        <p:spPr>
          <a:xfrm>
            <a:off x="8138160" y="749808"/>
            <a:ext cx="2743200" cy="274320"/>
          </a:xfrm>
          <a:prstGeom prst="rect">
            <a:avLst/>
          </a:prstGeom>
          <a:noFill/>
          <a:ln/>
        </p:spPr>
        <p:txBody>
          <a:bodyPr wrap="square" rtlCol="0" anchor="ctr"/>
          <a:lstStyle/>
          <a:p>
            <a:pPr algn="r" indent="0" marL="0">
              <a:buNone/>
            </a:pPr>
            <a:r>
              <a:rPr lang="en-US" sz="1100" b="1" spc="100" kern="0" dirty="0">
                <a:solidFill>
                  <a:srgbClr val="1B6B52"/>
                </a:solidFill>
                <a:latin typeface="Consolas" pitchFamily="34" charset="0"/>
                <a:ea typeface="Consolas" pitchFamily="34" charset="-122"/>
                <a:cs typeface="Consolas" pitchFamily="34" charset="-120"/>
              </a:rPr>
              <a:t>▶ 25΄ ΣΤΟ PC</a:t>
            </a:r>
            <a:endParaRPr lang="en-US" sz="1100" dirty="0"/>
          </a:p>
        </p:txBody>
      </p:sp>
      <p:sp>
        <p:nvSpPr>
          <p:cNvPr id="9" name="Shape 6"/>
          <p:cNvSpPr/>
          <p:nvPr/>
        </p:nvSpPr>
        <p:spPr>
          <a:xfrm>
            <a:off x="566928" y="1709928"/>
            <a:ext cx="457200" cy="457200"/>
          </a:xfrm>
          <a:prstGeom prst="ellipse">
            <a:avLst/>
          </a:prstGeom>
          <a:solidFill>
            <a:srgbClr val="2F4BD8"/>
          </a:solidFill>
          <a:ln w="12700">
            <a:solidFill>
              <a:srgbClr val="2F4BD8"/>
            </a:solidFill>
            <a:prstDash val="solid"/>
          </a:ln>
        </p:spPr>
      </p:sp>
      <p:sp>
        <p:nvSpPr>
          <p:cNvPr id="10" name="Text 7"/>
          <p:cNvSpPr txBox="1"/>
          <p:nvPr/>
        </p:nvSpPr>
        <p:spPr>
          <a:xfrm>
            <a:off x="566928" y="17099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1" name="Shape 8"/>
          <p:cNvSpPr/>
          <p:nvPr/>
        </p:nvSpPr>
        <p:spPr>
          <a:xfrm>
            <a:off x="1207008" y="1463040"/>
            <a:ext cx="10241280" cy="950976"/>
          </a:xfrm>
          <a:prstGeom prst="roundRect">
            <a:avLst>
              <a:gd name="adj" fmla="val 5769"/>
            </a:avLst>
          </a:prstGeom>
          <a:solidFill>
            <a:srgbClr val="FBFCFE"/>
          </a:solidFill>
          <a:ln w="9525">
            <a:solidFill>
              <a:srgbClr val="D3D9E4"/>
            </a:solidFill>
            <a:prstDash val="solid"/>
          </a:ln>
        </p:spPr>
      </p:sp>
      <p:sp>
        <p:nvSpPr>
          <p:cNvPr id="12" name="Text 9"/>
          <p:cNvSpPr txBox="1"/>
          <p:nvPr/>
        </p:nvSpPr>
        <p:spPr>
          <a:xfrm>
            <a:off x="1389888" y="1536192"/>
            <a:ext cx="3657600" cy="310896"/>
          </a:xfrm>
          <a:prstGeom prst="rect">
            <a:avLst/>
          </a:prstGeom>
          <a:noFill/>
          <a:ln/>
        </p:spPr>
        <p:txBody>
          <a:bodyPr wrap="square" lIns="0" tIns="0" rIns="0" bIns="0" rtlCol="0" anchor="ctr"/>
          <a:lstStyle/>
          <a:p>
            <a:pPr indent="0" marL="0">
              <a:buNone/>
            </a:pPr>
            <a:r>
              <a:rPr lang="en-US" sz="1350" b="1" dirty="0">
                <a:solidFill>
                  <a:srgbClr val="171B26"/>
                </a:solidFill>
                <a:latin typeface="Segoe UI" pitchFamily="34" charset="0"/>
                <a:ea typeface="Segoe UI" pitchFamily="34" charset="-122"/>
                <a:cs typeface="Segoe UI" pitchFamily="34" charset="-120"/>
              </a:rPr>
              <a:t>Ρυθμίσεις</a:t>
            </a:r>
            <a:endParaRPr lang="en-US" sz="1350" dirty="0"/>
          </a:p>
        </p:txBody>
      </p:sp>
      <p:sp>
        <p:nvSpPr>
          <p:cNvPr id="13" name="Text 10"/>
          <p:cNvSpPr txBox="1"/>
          <p:nvPr/>
        </p:nvSpPr>
        <p:spPr>
          <a:xfrm>
            <a:off x="1389888" y="2029968"/>
            <a:ext cx="3840480" cy="292608"/>
          </a:xfrm>
          <a:prstGeom prst="rect">
            <a:avLst/>
          </a:prstGeom>
          <a:noFill/>
          <a:ln/>
        </p:spPr>
        <p:txBody>
          <a:bodyPr wrap="square" lIns="0" tIns="0" rIns="0" bIns="0" rtlCol="0" anchor="ctr"/>
          <a:lstStyle/>
          <a:p>
            <a:pPr indent="0" marL="0">
              <a:buNone/>
            </a:pPr>
            <a:r>
              <a:rPr lang="en-US" sz="1050" dirty="0">
                <a:solidFill>
                  <a:srgbClr val="2F4BD8"/>
                </a:solidFill>
                <a:latin typeface="Consolas" pitchFamily="34" charset="0"/>
                <a:ea typeface="Consolas" pitchFamily="34" charset="-122"/>
                <a:cs typeface="Consolas" pitchFamily="34" charset="-120"/>
              </a:rPr>
              <a:t>Win + I → Σύστημα → Πληροφορίες</a:t>
            </a:r>
            <a:endParaRPr lang="en-US" sz="1050" dirty="0"/>
          </a:p>
        </p:txBody>
      </p:sp>
      <p:sp>
        <p:nvSpPr>
          <p:cNvPr id="14" name="Text 11"/>
          <p:cNvSpPr txBox="1"/>
          <p:nvPr/>
        </p:nvSpPr>
        <p:spPr>
          <a:xfrm>
            <a:off x="5394960" y="1463040"/>
            <a:ext cx="5897880" cy="950976"/>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Όνομα συσκευής, επεξεργαστής, RAM, τύπος συστήματος (64-bit), έκδοση Windows.</a:t>
            </a:r>
            <a:endParaRPr lang="en-US" sz="1200" dirty="0"/>
          </a:p>
        </p:txBody>
      </p:sp>
      <p:sp>
        <p:nvSpPr>
          <p:cNvPr id="15" name="Shape 12"/>
          <p:cNvSpPr/>
          <p:nvPr/>
        </p:nvSpPr>
        <p:spPr>
          <a:xfrm>
            <a:off x="566928" y="2825496"/>
            <a:ext cx="457200" cy="457200"/>
          </a:xfrm>
          <a:prstGeom prst="ellipse">
            <a:avLst/>
          </a:prstGeom>
          <a:solidFill>
            <a:srgbClr val="2F4BD8"/>
          </a:solidFill>
          <a:ln w="12700">
            <a:solidFill>
              <a:srgbClr val="2F4BD8"/>
            </a:solidFill>
            <a:prstDash val="solid"/>
          </a:ln>
        </p:spPr>
      </p:sp>
      <p:sp>
        <p:nvSpPr>
          <p:cNvPr id="16" name="Text 13"/>
          <p:cNvSpPr txBox="1"/>
          <p:nvPr/>
        </p:nvSpPr>
        <p:spPr>
          <a:xfrm>
            <a:off x="566928" y="28254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17" name="Shape 14"/>
          <p:cNvSpPr/>
          <p:nvPr/>
        </p:nvSpPr>
        <p:spPr>
          <a:xfrm>
            <a:off x="1207008" y="2578608"/>
            <a:ext cx="10241280" cy="950976"/>
          </a:xfrm>
          <a:prstGeom prst="roundRect">
            <a:avLst>
              <a:gd name="adj" fmla="val 5769"/>
            </a:avLst>
          </a:prstGeom>
          <a:solidFill>
            <a:srgbClr val="E4E8FB"/>
          </a:solidFill>
          <a:ln w="12700">
            <a:solidFill>
              <a:srgbClr val="E4E8FB"/>
            </a:solidFill>
            <a:prstDash val="solid"/>
          </a:ln>
        </p:spPr>
      </p:sp>
      <p:sp>
        <p:nvSpPr>
          <p:cNvPr id="18" name="Text 15"/>
          <p:cNvSpPr txBox="1"/>
          <p:nvPr/>
        </p:nvSpPr>
        <p:spPr>
          <a:xfrm>
            <a:off x="1389888" y="2651760"/>
            <a:ext cx="3657600" cy="310896"/>
          </a:xfrm>
          <a:prstGeom prst="rect">
            <a:avLst/>
          </a:prstGeom>
          <a:noFill/>
          <a:ln/>
        </p:spPr>
        <p:txBody>
          <a:bodyPr wrap="square" lIns="0" tIns="0" rIns="0" bIns="0" rtlCol="0" anchor="ctr"/>
          <a:lstStyle/>
          <a:p>
            <a:pPr indent="0" marL="0">
              <a:buNone/>
            </a:pPr>
            <a:r>
              <a:rPr lang="en-US" sz="1350" b="1" dirty="0">
                <a:solidFill>
                  <a:srgbClr val="171B26"/>
                </a:solidFill>
                <a:latin typeface="Segoe UI" pitchFamily="34" charset="0"/>
                <a:ea typeface="Segoe UI" pitchFamily="34" charset="-122"/>
                <a:cs typeface="Segoe UI" pitchFamily="34" charset="-120"/>
              </a:rPr>
              <a:t>winver</a:t>
            </a:r>
            <a:endParaRPr lang="en-US" sz="1350" dirty="0"/>
          </a:p>
        </p:txBody>
      </p:sp>
      <p:sp>
        <p:nvSpPr>
          <p:cNvPr id="19" name="Text 16"/>
          <p:cNvSpPr txBox="1"/>
          <p:nvPr/>
        </p:nvSpPr>
        <p:spPr>
          <a:xfrm>
            <a:off x="1389888" y="3145536"/>
            <a:ext cx="3840480" cy="292608"/>
          </a:xfrm>
          <a:prstGeom prst="rect">
            <a:avLst/>
          </a:prstGeom>
          <a:noFill/>
          <a:ln/>
        </p:spPr>
        <p:txBody>
          <a:bodyPr wrap="square" lIns="0" tIns="0" rIns="0" bIns="0" rtlCol="0" anchor="ctr"/>
          <a:lstStyle/>
          <a:p>
            <a:pPr indent="0" marL="0">
              <a:buNone/>
            </a:pPr>
            <a:r>
              <a:rPr lang="en-US" sz="1050" dirty="0">
                <a:solidFill>
                  <a:srgbClr val="2F4BD8"/>
                </a:solidFill>
                <a:latin typeface="Consolas" pitchFamily="34" charset="0"/>
                <a:ea typeface="Consolas" pitchFamily="34" charset="-122"/>
                <a:cs typeface="Consolas" pitchFamily="34" charset="-120"/>
              </a:rPr>
              <a:t>Win + R → winver → Enter</a:t>
            </a:r>
            <a:endParaRPr lang="en-US" sz="1050" dirty="0"/>
          </a:p>
        </p:txBody>
      </p:sp>
      <p:sp>
        <p:nvSpPr>
          <p:cNvPr id="20" name="Text 17"/>
          <p:cNvSpPr txBox="1"/>
          <p:nvPr/>
        </p:nvSpPr>
        <p:spPr>
          <a:xfrm>
            <a:off x="5394960" y="2578608"/>
            <a:ext cx="5897880" cy="950976"/>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Η ακριβής έκδοση και το build του ΛΣ.</a:t>
            </a:r>
            <a:endParaRPr lang="en-US" sz="1200" dirty="0"/>
          </a:p>
        </p:txBody>
      </p:sp>
      <p:sp>
        <p:nvSpPr>
          <p:cNvPr id="21" name="Shape 18"/>
          <p:cNvSpPr/>
          <p:nvPr/>
        </p:nvSpPr>
        <p:spPr>
          <a:xfrm>
            <a:off x="566928" y="3941064"/>
            <a:ext cx="457200" cy="457200"/>
          </a:xfrm>
          <a:prstGeom prst="ellipse">
            <a:avLst/>
          </a:prstGeom>
          <a:solidFill>
            <a:srgbClr val="2F4BD8"/>
          </a:solidFill>
          <a:ln w="12700">
            <a:solidFill>
              <a:srgbClr val="2F4BD8"/>
            </a:solidFill>
            <a:prstDash val="solid"/>
          </a:ln>
        </p:spPr>
      </p:sp>
      <p:sp>
        <p:nvSpPr>
          <p:cNvPr id="22" name="Text 19"/>
          <p:cNvSpPr txBox="1"/>
          <p:nvPr/>
        </p:nvSpPr>
        <p:spPr>
          <a:xfrm>
            <a:off x="566928" y="394106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23" name="Shape 20"/>
          <p:cNvSpPr/>
          <p:nvPr/>
        </p:nvSpPr>
        <p:spPr>
          <a:xfrm>
            <a:off x="1207008" y="3694176"/>
            <a:ext cx="10241280" cy="950976"/>
          </a:xfrm>
          <a:prstGeom prst="roundRect">
            <a:avLst>
              <a:gd name="adj" fmla="val 5769"/>
            </a:avLst>
          </a:prstGeom>
          <a:solidFill>
            <a:srgbClr val="FBFCFE"/>
          </a:solidFill>
          <a:ln w="9525">
            <a:solidFill>
              <a:srgbClr val="D3D9E4"/>
            </a:solidFill>
            <a:prstDash val="solid"/>
          </a:ln>
        </p:spPr>
      </p:sp>
      <p:sp>
        <p:nvSpPr>
          <p:cNvPr id="24" name="Text 21"/>
          <p:cNvSpPr txBox="1"/>
          <p:nvPr/>
        </p:nvSpPr>
        <p:spPr>
          <a:xfrm>
            <a:off x="1389888" y="3767328"/>
            <a:ext cx="3657600" cy="310896"/>
          </a:xfrm>
          <a:prstGeom prst="rect">
            <a:avLst/>
          </a:prstGeom>
          <a:noFill/>
          <a:ln/>
        </p:spPr>
        <p:txBody>
          <a:bodyPr wrap="square" lIns="0" tIns="0" rIns="0" bIns="0" rtlCol="0" anchor="ctr"/>
          <a:lstStyle/>
          <a:p>
            <a:pPr indent="0" marL="0">
              <a:buNone/>
            </a:pPr>
            <a:r>
              <a:rPr lang="en-US" sz="1350" b="1" dirty="0">
                <a:solidFill>
                  <a:srgbClr val="171B26"/>
                </a:solidFill>
                <a:latin typeface="Segoe UI" pitchFamily="34" charset="0"/>
                <a:ea typeface="Segoe UI" pitchFamily="34" charset="-122"/>
                <a:cs typeface="Segoe UI" pitchFamily="34" charset="-120"/>
              </a:rPr>
              <a:t>Πληροφορίες συστήματος</a:t>
            </a:r>
            <a:endParaRPr lang="en-US" sz="1350" dirty="0"/>
          </a:p>
        </p:txBody>
      </p:sp>
      <p:sp>
        <p:nvSpPr>
          <p:cNvPr id="25" name="Text 22"/>
          <p:cNvSpPr txBox="1"/>
          <p:nvPr/>
        </p:nvSpPr>
        <p:spPr>
          <a:xfrm>
            <a:off x="1389888" y="4261104"/>
            <a:ext cx="3840480" cy="292608"/>
          </a:xfrm>
          <a:prstGeom prst="rect">
            <a:avLst/>
          </a:prstGeom>
          <a:noFill/>
          <a:ln/>
        </p:spPr>
        <p:txBody>
          <a:bodyPr wrap="square" lIns="0" tIns="0" rIns="0" bIns="0" rtlCol="0" anchor="ctr"/>
          <a:lstStyle/>
          <a:p>
            <a:pPr indent="0" marL="0">
              <a:buNone/>
            </a:pPr>
            <a:r>
              <a:rPr lang="en-US" sz="1050" dirty="0">
                <a:solidFill>
                  <a:srgbClr val="2F4BD8"/>
                </a:solidFill>
                <a:latin typeface="Consolas" pitchFamily="34" charset="0"/>
                <a:ea typeface="Consolas" pitchFamily="34" charset="-122"/>
                <a:cs typeface="Consolas" pitchFamily="34" charset="-120"/>
              </a:rPr>
              <a:t>Win + R → msinfo32 → Enter</a:t>
            </a:r>
            <a:endParaRPr lang="en-US" sz="1050" dirty="0"/>
          </a:p>
        </p:txBody>
      </p:sp>
      <p:sp>
        <p:nvSpPr>
          <p:cNvPr id="26" name="Text 23"/>
          <p:cNvSpPr txBox="1"/>
          <p:nvPr/>
        </p:nvSpPr>
        <p:spPr>
          <a:xfrm>
            <a:off x="5394960" y="3694176"/>
            <a:ext cx="5897880" cy="950976"/>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Κατασκευαστής, μοντέλο, όλα τα στοιχεία σε μία λίστα.</a:t>
            </a:r>
            <a:endParaRPr lang="en-US" sz="1200" dirty="0"/>
          </a:p>
        </p:txBody>
      </p:sp>
      <p:sp>
        <p:nvSpPr>
          <p:cNvPr id="27" name="Shape 24"/>
          <p:cNvSpPr/>
          <p:nvPr/>
        </p:nvSpPr>
        <p:spPr>
          <a:xfrm>
            <a:off x="566928" y="5056632"/>
            <a:ext cx="457200" cy="457200"/>
          </a:xfrm>
          <a:prstGeom prst="ellipse">
            <a:avLst/>
          </a:prstGeom>
          <a:solidFill>
            <a:srgbClr val="2F4BD8"/>
          </a:solidFill>
          <a:ln w="12700">
            <a:solidFill>
              <a:srgbClr val="2F4BD8"/>
            </a:solidFill>
            <a:prstDash val="solid"/>
          </a:ln>
        </p:spPr>
      </p:sp>
      <p:sp>
        <p:nvSpPr>
          <p:cNvPr id="28" name="Text 25"/>
          <p:cNvSpPr txBox="1"/>
          <p:nvPr/>
        </p:nvSpPr>
        <p:spPr>
          <a:xfrm>
            <a:off x="566928" y="50566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4</a:t>
            </a:r>
            <a:endParaRPr lang="en-US" sz="1500" dirty="0"/>
          </a:p>
        </p:txBody>
      </p:sp>
      <p:sp>
        <p:nvSpPr>
          <p:cNvPr id="29" name="Shape 26"/>
          <p:cNvSpPr/>
          <p:nvPr/>
        </p:nvSpPr>
        <p:spPr>
          <a:xfrm>
            <a:off x="1207008" y="4809744"/>
            <a:ext cx="10241280" cy="950976"/>
          </a:xfrm>
          <a:prstGeom prst="roundRect">
            <a:avLst>
              <a:gd name="adj" fmla="val 5769"/>
            </a:avLst>
          </a:prstGeom>
          <a:solidFill>
            <a:srgbClr val="E4E8FB"/>
          </a:solidFill>
          <a:ln w="12700">
            <a:solidFill>
              <a:srgbClr val="E4E8FB"/>
            </a:solidFill>
            <a:prstDash val="solid"/>
          </a:ln>
        </p:spPr>
      </p:sp>
      <p:sp>
        <p:nvSpPr>
          <p:cNvPr id="30" name="Text 27"/>
          <p:cNvSpPr txBox="1"/>
          <p:nvPr/>
        </p:nvSpPr>
        <p:spPr>
          <a:xfrm>
            <a:off x="1389888" y="4882896"/>
            <a:ext cx="3657600" cy="310896"/>
          </a:xfrm>
          <a:prstGeom prst="rect">
            <a:avLst/>
          </a:prstGeom>
          <a:noFill/>
          <a:ln/>
        </p:spPr>
        <p:txBody>
          <a:bodyPr wrap="square" lIns="0" tIns="0" rIns="0" bIns="0" rtlCol="0" anchor="ctr"/>
          <a:lstStyle/>
          <a:p>
            <a:pPr indent="0" marL="0">
              <a:buNone/>
            </a:pPr>
            <a:r>
              <a:rPr lang="en-US" sz="1350" b="1" dirty="0">
                <a:solidFill>
                  <a:srgbClr val="171B26"/>
                </a:solidFill>
                <a:latin typeface="Segoe UI" pitchFamily="34" charset="0"/>
                <a:ea typeface="Segoe UI" pitchFamily="34" charset="-122"/>
                <a:cs typeface="Segoe UI" pitchFamily="34" charset="-120"/>
              </a:rPr>
              <a:t>Διαχείριση εργασιών</a:t>
            </a:r>
            <a:endParaRPr lang="en-US" sz="1350" dirty="0"/>
          </a:p>
        </p:txBody>
      </p:sp>
      <p:sp>
        <p:nvSpPr>
          <p:cNvPr id="31" name="Text 28"/>
          <p:cNvSpPr txBox="1"/>
          <p:nvPr/>
        </p:nvSpPr>
        <p:spPr>
          <a:xfrm>
            <a:off x="1389888" y="5376672"/>
            <a:ext cx="3840480" cy="292608"/>
          </a:xfrm>
          <a:prstGeom prst="rect">
            <a:avLst/>
          </a:prstGeom>
          <a:noFill/>
          <a:ln/>
        </p:spPr>
        <p:txBody>
          <a:bodyPr wrap="square" lIns="0" tIns="0" rIns="0" bIns="0" rtlCol="0" anchor="ctr"/>
          <a:lstStyle/>
          <a:p>
            <a:pPr indent="0" marL="0">
              <a:buNone/>
            </a:pPr>
            <a:r>
              <a:rPr lang="en-US" sz="1050" dirty="0">
                <a:solidFill>
                  <a:srgbClr val="2F4BD8"/>
                </a:solidFill>
                <a:latin typeface="Consolas" pitchFamily="34" charset="0"/>
                <a:ea typeface="Consolas" pitchFamily="34" charset="-122"/>
                <a:cs typeface="Consolas" pitchFamily="34" charset="-120"/>
              </a:rPr>
              <a:t>Ctrl + Shift + Esc → Επιδόσεις</a:t>
            </a:r>
            <a:endParaRPr lang="en-US" sz="1050" dirty="0"/>
          </a:p>
        </p:txBody>
      </p:sp>
      <p:sp>
        <p:nvSpPr>
          <p:cNvPr id="32" name="Text 29"/>
          <p:cNvSpPr txBox="1"/>
          <p:nvPr/>
        </p:nvSpPr>
        <p:spPr>
          <a:xfrm>
            <a:off x="5394960" y="4809744"/>
            <a:ext cx="5897880" cy="950976"/>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Πυρήνες, λογικοί επεξεργαστές, τύπος δίσκου (HDD/SSD).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prak/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04  </a:t>
            </a:r>
            <a:pPr indent="0" marL="0">
              <a:buNone/>
            </a:pPr>
            <a:r>
              <a:rPr lang="en-US" sz="1000" spc="140" kern="0" dirty="0">
                <a:solidFill>
                  <a:srgbClr val="8A91A3"/>
                </a:solidFill>
                <a:latin typeface="Consolas" pitchFamily="34" charset="0"/>
                <a:ea typeface="Consolas" pitchFamily="34" charset="-122"/>
                <a:cs typeface="Consolas" pitchFamily="34" charset="-120"/>
              </a:rPr>
              <a:t>ΑΠΟΣΤΟΛΗ 1 · ΣΤΟ PC</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Η κάρτα συστήματος</a:t>
            </a:r>
            <a:endParaRPr lang="en-US" sz="3000" dirty="0"/>
          </a:p>
        </p:txBody>
      </p:sp>
      <p:sp>
        <p:nvSpPr>
          <p:cNvPr id="8" name="Text 5"/>
          <p:cNvSpPr txBox="1"/>
          <p:nvPr/>
        </p:nvSpPr>
        <p:spPr>
          <a:xfrm>
            <a:off x="8138160" y="749808"/>
            <a:ext cx="2743200" cy="274320"/>
          </a:xfrm>
          <a:prstGeom prst="rect">
            <a:avLst/>
          </a:prstGeom>
          <a:noFill/>
          <a:ln/>
        </p:spPr>
        <p:txBody>
          <a:bodyPr wrap="square" rtlCol="0" anchor="ctr"/>
          <a:lstStyle/>
          <a:p>
            <a:pPr algn="r" indent="0" marL="0">
              <a:buNone/>
            </a:pPr>
            <a:r>
              <a:rPr lang="en-US" sz="1100" b="1" spc="100" kern="0" dirty="0">
                <a:solidFill>
                  <a:srgbClr val="1B6B52"/>
                </a:solidFill>
                <a:latin typeface="Consolas" pitchFamily="34" charset="0"/>
                <a:ea typeface="Consolas" pitchFamily="34" charset="-122"/>
                <a:cs typeface="Consolas" pitchFamily="34" charset="-120"/>
              </a:rPr>
              <a:t>▶ 25΄ ΣΤΟ PC</a:t>
            </a:r>
            <a:endParaRPr lang="en-US" sz="1100" dirty="0"/>
          </a:p>
        </p:txBody>
      </p:sp>
      <p:sp>
        <p:nvSpPr>
          <p:cNvPr id="9" name="Shape 6"/>
          <p:cNvSpPr/>
          <p:nvPr/>
        </p:nvSpPr>
        <p:spPr>
          <a:xfrm>
            <a:off x="566928" y="1463040"/>
            <a:ext cx="10881360" cy="914400"/>
          </a:xfrm>
          <a:prstGeom prst="rect">
            <a:avLst/>
          </a:prstGeom>
          <a:solidFill>
            <a:srgbClr val="E4E8FB"/>
          </a:solidFill>
          <a:ln w="12700">
            <a:solidFill>
              <a:srgbClr val="E4E8FB"/>
            </a:solidFill>
            <a:prstDash val="solid"/>
          </a:ln>
        </p:spPr>
      </p:sp>
      <p:sp>
        <p:nvSpPr>
          <p:cNvPr id="10" name="Shape 7"/>
          <p:cNvSpPr/>
          <p:nvPr/>
        </p:nvSpPr>
        <p:spPr>
          <a:xfrm>
            <a:off x="566928" y="1463040"/>
            <a:ext cx="41148" cy="914400"/>
          </a:xfrm>
          <a:prstGeom prst="rect">
            <a:avLst/>
          </a:prstGeom>
          <a:solidFill>
            <a:srgbClr val="2F4BD8"/>
          </a:solidFill>
          <a:ln w="12700">
            <a:solidFill>
              <a:srgbClr val="2F4BD8"/>
            </a:solidFill>
            <a:prstDash val="solid"/>
          </a:ln>
        </p:spPr>
      </p:sp>
      <p:sp>
        <p:nvSpPr>
          <p:cNvPr id="11" name="Text 8"/>
          <p:cNvSpPr txBox="1"/>
          <p:nvPr/>
        </p:nvSpPr>
        <p:spPr>
          <a:xfrm>
            <a:off x="731520" y="1554480"/>
            <a:ext cx="4572000"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ΤΙ ΚΑΝΕΙΣ</a:t>
            </a:r>
            <a:endParaRPr lang="en-US" sz="900" dirty="0"/>
          </a:p>
        </p:txBody>
      </p:sp>
      <p:sp>
        <p:nvSpPr>
          <p:cNvPr id="12" name="Text 9"/>
          <p:cNvSpPr txBox="1"/>
          <p:nvPr/>
        </p:nvSpPr>
        <p:spPr>
          <a:xfrm>
            <a:off x="731520" y="1773936"/>
            <a:ext cx="10552176" cy="530352"/>
          </a:xfrm>
          <a:prstGeom prst="rect">
            <a:avLst/>
          </a:prstGeom>
          <a:noFill/>
          <a:ln/>
        </p:spPr>
        <p:txBody>
          <a:bodyPr wrap="square" lIns="0" tIns="0" rIns="0" bIns="0" rtlCol="0" anchor="t"/>
          <a:lstStyle/>
          <a:p>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Συμπλήρωσε την κάρτα σε Word και αποθήκευσέ τη ως </a:t>
            </a:r>
            <a:pPr indent="0" marL="0">
              <a:lnSpc>
                <a:spcPct val="112000"/>
              </a:lnSpc>
              <a:buNone/>
            </a:pPr>
            <a:r>
              <a:rPr lang="en-US" sz="1200" b="1" dirty="0">
                <a:solidFill>
                  <a:srgbClr val="171B26"/>
                </a:solidFill>
                <a:latin typeface="Segoe UI" pitchFamily="34" charset="0"/>
                <a:ea typeface="Segoe UI" pitchFamily="34" charset="-122"/>
                <a:cs typeface="Segoe UI" pitchFamily="34" charset="-120"/>
              </a:rPr>
              <a:t>Karta_Systimatos.docx</a:t>
            </a:r>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 στον φάκελο LS_Eponymo. Βάλε και ένα στιγμιότυπο από το msinfo32 (Win + Shift + 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2560320"/>
          <a:ext cx="10881360" cy="914400"/>
        </p:xfrm>
        <a:graphic>
          <a:graphicData uri="http://schemas.openxmlformats.org/drawingml/2006/table">
            <a:tbl>
              <a:tblPr/>
              <a:tblGrid>
                <a:gridCol w="4023360"/>
                <a:gridCol w="3931920"/>
                <a:gridCol w="2926080"/>
              </a:tblGrid>
              <a:tr h="457200">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ΣΤΟΙΧΕΙΟ</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ΠΟΥ ΤΟ ΒΡΙΣΚΩ</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Η ΤΙΜΗ ΣΤΟ ΔΙΚΟ ΜΟΥ PC</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Όνομα υπολογιστή</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Ρυθμίσεις → Πληροφορίες</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ΛΣ, έκδοση και build</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winver</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Τύπος συστήματος (32/64-bit)</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Ρυθμίσεις → Πληροφορίες</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Επεξεργαστής, πυρήνες, λογικοί επεξεργαστές</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Διαχείριση εργασιών → Επιδόσεις → CPU</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Εγκατεστημένη RAM</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msinfo32</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b="1" dirty="0">
                          <a:solidFill>
                            <a:srgbClr val="171B26"/>
                          </a:solidFill>
                          <a:latin typeface="Segoe UI" pitchFamily="34" charset="0"/>
                          <a:ea typeface="Segoe UI" pitchFamily="34" charset="-122"/>
                          <a:cs typeface="Segoe UI" pitchFamily="34" charset="-120"/>
                        </a:rPr>
                        <a:t>Χωρητικότητα και τύπος δίσκου (HDD/SSD)</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Διαχείριση εργασιών → Επιδόσεις → Δίσκος</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prak/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05  </a:t>
            </a:r>
            <a:pPr indent="0" marL="0">
              <a:buNone/>
            </a:pPr>
            <a:r>
              <a:rPr lang="en-US" sz="1000" spc="140" kern="0" dirty="0">
                <a:solidFill>
                  <a:srgbClr val="8A91A3"/>
                </a:solidFill>
                <a:latin typeface="Consolas" pitchFamily="34" charset="0"/>
                <a:ea typeface="Consolas" pitchFamily="34" charset="-122"/>
                <a:cs typeface="Consolas" pitchFamily="34" charset="-120"/>
              </a:rPr>
              <a:t>ΑΠΟΣΤΟΛΗ 2 · ΣΤΟ PC</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Βρες τις 6 δουλειές του ΛΣ</a:t>
            </a:r>
            <a:endParaRPr lang="en-US" sz="3000" dirty="0"/>
          </a:p>
        </p:txBody>
      </p:sp>
      <p:sp>
        <p:nvSpPr>
          <p:cNvPr id="8" name="Text 5"/>
          <p:cNvSpPr txBox="1"/>
          <p:nvPr/>
        </p:nvSpPr>
        <p:spPr>
          <a:xfrm>
            <a:off x="8138160" y="749808"/>
            <a:ext cx="2743200" cy="274320"/>
          </a:xfrm>
          <a:prstGeom prst="rect">
            <a:avLst/>
          </a:prstGeom>
          <a:noFill/>
          <a:ln/>
        </p:spPr>
        <p:txBody>
          <a:bodyPr wrap="square" rtlCol="0" anchor="ctr"/>
          <a:lstStyle/>
          <a:p>
            <a:pPr algn="r" indent="0" marL="0">
              <a:buNone/>
            </a:pPr>
            <a:r>
              <a:rPr lang="en-US" sz="1100" b="1" spc="100" kern="0" dirty="0">
                <a:solidFill>
                  <a:srgbClr val="1B6B52"/>
                </a:solidFill>
                <a:latin typeface="Consolas" pitchFamily="34" charset="0"/>
                <a:ea typeface="Consolas" pitchFamily="34" charset="-122"/>
                <a:cs typeface="Consolas" pitchFamily="34" charset="-120"/>
              </a:rPr>
              <a:t>▶ 20΄ ΣΤΟ PC</a:t>
            </a:r>
            <a:endParaRPr lang="en-US" sz="1100" dirty="0"/>
          </a:p>
        </p:txBody>
      </p:sp>
      <p:sp>
        <p:nvSpPr>
          <p:cNvPr id="9" name="Shape 6"/>
          <p:cNvSpPr/>
          <p:nvPr/>
        </p:nvSpPr>
        <p:spPr>
          <a:xfrm>
            <a:off x="566928" y="1463040"/>
            <a:ext cx="10881360" cy="914400"/>
          </a:xfrm>
          <a:prstGeom prst="rect">
            <a:avLst/>
          </a:prstGeom>
          <a:solidFill>
            <a:srgbClr val="E4E8FB"/>
          </a:solidFill>
          <a:ln w="12700">
            <a:solidFill>
              <a:srgbClr val="E4E8FB"/>
            </a:solidFill>
            <a:prstDash val="solid"/>
          </a:ln>
        </p:spPr>
      </p:sp>
      <p:sp>
        <p:nvSpPr>
          <p:cNvPr id="10" name="Shape 7"/>
          <p:cNvSpPr/>
          <p:nvPr/>
        </p:nvSpPr>
        <p:spPr>
          <a:xfrm>
            <a:off x="566928" y="1463040"/>
            <a:ext cx="41148" cy="914400"/>
          </a:xfrm>
          <a:prstGeom prst="rect">
            <a:avLst/>
          </a:prstGeom>
          <a:solidFill>
            <a:srgbClr val="2F4BD8"/>
          </a:solidFill>
          <a:ln w="12700">
            <a:solidFill>
              <a:srgbClr val="2F4BD8"/>
            </a:solidFill>
            <a:prstDash val="solid"/>
          </a:ln>
        </p:spPr>
      </p:sp>
      <p:sp>
        <p:nvSpPr>
          <p:cNvPr id="11" name="Text 8"/>
          <p:cNvSpPr txBox="1"/>
          <p:nvPr/>
        </p:nvSpPr>
        <p:spPr>
          <a:xfrm>
            <a:off x="731520" y="1554480"/>
            <a:ext cx="4572000"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ΤΙ ΚΑΝΕΙΣ</a:t>
            </a:r>
            <a:endParaRPr lang="en-US" sz="900" dirty="0"/>
          </a:p>
        </p:txBody>
      </p:sp>
      <p:sp>
        <p:nvSpPr>
          <p:cNvPr id="12" name="Text 9"/>
          <p:cNvSpPr txBox="1"/>
          <p:nvPr/>
        </p:nvSpPr>
        <p:spPr>
          <a:xfrm>
            <a:off x="731520" y="1773936"/>
            <a:ext cx="10552176" cy="530352"/>
          </a:xfrm>
          <a:prstGeom prst="rect">
            <a:avLst/>
          </a:prstGeom>
          <a:noFill/>
          <a:ln/>
        </p:spPr>
        <p:txBody>
          <a:bodyPr wrap="square" lIns="0" tIns="0" rIns="0" bIns="0" rtlCol="0" anchor="t"/>
          <a:lstStyle/>
          <a:p>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Το ΛΣ έχει 6 βασικές δουλειές. Για καθεμία, άνοιξε το εργαλείο των Windows όπου «φαίνεται» και γράψε </a:t>
            </a:r>
            <a:pPr indent="0" marL="0">
              <a:lnSpc>
                <a:spcPct val="112000"/>
              </a:lnSpc>
              <a:buNone/>
            </a:pPr>
            <a:r>
              <a:rPr lang="en-US" sz="1200" b="1" dirty="0">
                <a:solidFill>
                  <a:srgbClr val="171B26"/>
                </a:solidFill>
                <a:latin typeface="Segoe UI" pitchFamily="34" charset="0"/>
                <a:ea typeface="Segoe UI" pitchFamily="34" charset="-122"/>
                <a:cs typeface="Segoe UI" pitchFamily="34" charset="-120"/>
              </a:rPr>
              <a:t>ένα στοιχείο που βρήκες</a:t>
            </a:r>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 (αριθμό, όνομα, ρύθμιση).</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2560320"/>
          <a:ext cx="10881360" cy="914400"/>
        </p:xfrm>
        <a:graphic>
          <a:graphicData uri="http://schemas.openxmlformats.org/drawingml/2006/table">
            <a:tbl>
              <a:tblPr/>
              <a:tblGrid>
                <a:gridCol w="2834640"/>
                <a:gridCol w="4480560"/>
                <a:gridCol w="3566160"/>
              </a:tblGrid>
              <a:tr h="475488">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ΔΟΥΛΕΙΑ ΤΟΥ ΛΣ</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ΠΟΥ ΤΗ ΒΛΕΠΩ ΣΤΑ WINDOWS</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ΤΙ ΒΡΗΚΑ (ΠΑΡΑΔΕΙΓΜΑ)</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75488">
                <a:tc>
                  <a:txBody>
                    <a:bodyPr/>
                    <a:lstStyle/>
                    <a:p>
                      <a:pPr indent="0" marL="0">
                        <a:buNone/>
                      </a:pPr>
                      <a:r>
                        <a:rPr lang="en-US" sz="1150" b="1" dirty="0">
                          <a:solidFill>
                            <a:srgbClr val="171B26"/>
                          </a:solidFill>
                          <a:latin typeface="Segoe UI" pitchFamily="34" charset="0"/>
                          <a:ea typeface="Segoe UI" pitchFamily="34" charset="-122"/>
                          <a:cs typeface="Segoe UI" pitchFamily="34" charset="-120"/>
                        </a:rPr>
                        <a:t>Διεργασίες &amp; επεξεργαστής</a:t>
                      </a:r>
                      <a:endParaRPr lang="en-US" sz="115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150" dirty="0">
                          <a:solidFill>
                            <a:srgbClr val="2F4BD8"/>
                          </a:solidFill>
                          <a:latin typeface="Consolas" pitchFamily="34" charset="0"/>
                          <a:ea typeface="Consolas" pitchFamily="34" charset="-122"/>
                          <a:cs typeface="Consolas" pitchFamily="34" charset="-120"/>
                        </a:rPr>
                        <a:t>Διαχείριση εργασιών → Διεργασίες</a:t>
                      </a:r>
                      <a:endParaRPr lang="en-US" sz="115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150" dirty="0">
                          <a:solidFill>
                            <a:srgbClr val="171B26"/>
                          </a:solidFill>
                          <a:latin typeface="Segoe UI" pitchFamily="34" charset="0"/>
                          <a:ea typeface="Segoe UI" pitchFamily="34" charset="-122"/>
                          <a:cs typeface="Segoe UI" pitchFamily="34" charset="-120"/>
                        </a:rPr>
                        <a:t>Ποια εφαρμογή τρώει την περισσότερη CPU;</a:t>
                      </a:r>
                      <a:endParaRPr lang="en-US" sz="115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75488">
                <a:tc>
                  <a:txBody>
                    <a:bodyPr/>
                    <a:lstStyle/>
                    <a:p>
                      <a:pPr indent="0" marL="0">
                        <a:buNone/>
                      </a:pPr>
                      <a:r>
                        <a:rPr lang="en-US" sz="1150" b="1" dirty="0">
                          <a:solidFill>
                            <a:srgbClr val="171B26"/>
                          </a:solidFill>
                          <a:latin typeface="Segoe UI" pitchFamily="34" charset="0"/>
                          <a:ea typeface="Segoe UI" pitchFamily="34" charset="-122"/>
                          <a:cs typeface="Segoe UI" pitchFamily="34" charset="-120"/>
                        </a:rPr>
                        <a:t>Κύρια μνήμη (RAM)</a:t>
                      </a:r>
                      <a:endParaRPr lang="en-US" sz="115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150" dirty="0">
                          <a:solidFill>
                            <a:srgbClr val="2F4BD8"/>
                          </a:solidFill>
                          <a:latin typeface="Consolas" pitchFamily="34" charset="0"/>
                          <a:ea typeface="Consolas" pitchFamily="34" charset="-122"/>
                          <a:cs typeface="Consolas" pitchFamily="34" charset="-120"/>
                        </a:rPr>
                        <a:t>Διαχείριση εργασιών → Επιδόσεις → Μνήμη</a:t>
                      </a:r>
                      <a:endParaRPr lang="en-US" sz="115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150" dirty="0">
                          <a:solidFill>
                            <a:srgbClr val="171B26"/>
                          </a:solidFill>
                          <a:latin typeface="Segoe UI" pitchFamily="34" charset="0"/>
                          <a:ea typeface="Segoe UI" pitchFamily="34" charset="-122"/>
                          <a:cs typeface="Segoe UI" pitchFamily="34" charset="-120"/>
                        </a:rPr>
                        <a:t>Πόση RAM είναι σε χρήση τώρα;</a:t>
                      </a:r>
                      <a:endParaRPr lang="en-US" sz="115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75488">
                <a:tc>
                  <a:txBody>
                    <a:bodyPr/>
                    <a:lstStyle/>
                    <a:p>
                      <a:pPr indent="0" marL="0">
                        <a:buNone/>
                      </a:pPr>
                      <a:r>
                        <a:rPr lang="en-US" sz="1150" b="1" dirty="0">
                          <a:solidFill>
                            <a:srgbClr val="171B26"/>
                          </a:solidFill>
                          <a:latin typeface="Segoe UI" pitchFamily="34" charset="0"/>
                          <a:ea typeface="Segoe UI" pitchFamily="34" charset="-122"/>
                          <a:cs typeface="Segoe UI" pitchFamily="34" charset="-120"/>
                        </a:rPr>
                        <a:t>Αρχεία &amp; δίσκος</a:t>
                      </a:r>
                      <a:endParaRPr lang="en-US" sz="115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150" dirty="0">
                          <a:solidFill>
                            <a:srgbClr val="2F4BD8"/>
                          </a:solidFill>
                          <a:latin typeface="Consolas" pitchFamily="34" charset="0"/>
                          <a:ea typeface="Consolas" pitchFamily="34" charset="-122"/>
                          <a:cs typeface="Consolas" pitchFamily="34" charset="-120"/>
                        </a:rPr>
                        <a:t>Αυτός ο υπολογιστής → δεξί κλικ στο C: → Ιδιότητες</a:t>
                      </a:r>
                      <a:endParaRPr lang="en-US" sz="115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150" dirty="0">
                          <a:solidFill>
                            <a:srgbClr val="171B26"/>
                          </a:solidFill>
                          <a:latin typeface="Segoe UI" pitchFamily="34" charset="0"/>
                          <a:ea typeface="Segoe UI" pitchFamily="34" charset="-122"/>
                          <a:cs typeface="Segoe UI" pitchFamily="34" charset="-120"/>
                        </a:rPr>
                        <a:t>Σύστημα αρχείων: NTFS</a:t>
                      </a:r>
                      <a:endParaRPr lang="en-US" sz="115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75488">
                <a:tc>
                  <a:txBody>
                    <a:bodyPr/>
                    <a:lstStyle/>
                    <a:p>
                      <a:pPr indent="0" marL="0">
                        <a:buNone/>
                      </a:pPr>
                      <a:r>
                        <a:rPr lang="en-US" sz="1150" b="1" dirty="0">
                          <a:solidFill>
                            <a:srgbClr val="171B26"/>
                          </a:solidFill>
                          <a:latin typeface="Segoe UI" pitchFamily="34" charset="0"/>
                          <a:ea typeface="Segoe UI" pitchFamily="34" charset="-122"/>
                          <a:cs typeface="Segoe UI" pitchFamily="34" charset="-120"/>
                        </a:rPr>
                        <a:t>Συσκευές Ε/Ε</a:t>
                      </a:r>
                      <a:endParaRPr lang="en-US" sz="115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150" dirty="0">
                          <a:solidFill>
                            <a:srgbClr val="2F4BD8"/>
                          </a:solidFill>
                          <a:latin typeface="Consolas" pitchFamily="34" charset="0"/>
                          <a:ea typeface="Consolas" pitchFamily="34" charset="-122"/>
                          <a:cs typeface="Consolas" pitchFamily="34" charset="-120"/>
                        </a:rPr>
                        <a:t>Win + R → devmgmt.msc</a:t>
                      </a:r>
                      <a:endParaRPr lang="en-US" sz="115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150" dirty="0">
                          <a:solidFill>
                            <a:srgbClr val="171B26"/>
                          </a:solidFill>
                          <a:latin typeface="Segoe UI" pitchFamily="34" charset="0"/>
                          <a:ea typeface="Segoe UI" pitchFamily="34" charset="-122"/>
                          <a:cs typeface="Segoe UI" pitchFamily="34" charset="-120"/>
                        </a:rPr>
                        <a:t>Όνομα κάρτας γραφικών / δικτύου</a:t>
                      </a:r>
                      <a:endParaRPr lang="en-US" sz="115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75488">
                <a:tc>
                  <a:txBody>
                    <a:bodyPr/>
                    <a:lstStyle/>
                    <a:p>
                      <a:pPr indent="0" marL="0">
                        <a:buNone/>
                      </a:pPr>
                      <a:r>
                        <a:rPr lang="en-US" sz="1150" b="1" dirty="0">
                          <a:solidFill>
                            <a:srgbClr val="171B26"/>
                          </a:solidFill>
                          <a:latin typeface="Segoe UI" pitchFamily="34" charset="0"/>
                          <a:ea typeface="Segoe UI" pitchFamily="34" charset="-122"/>
                          <a:cs typeface="Segoe UI" pitchFamily="34" charset="-120"/>
                        </a:rPr>
                        <a:t>Ασφάλεια &amp; χρήστες</a:t>
                      </a:r>
                      <a:endParaRPr lang="en-US" sz="115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150" dirty="0">
                          <a:solidFill>
                            <a:srgbClr val="2F4BD8"/>
                          </a:solidFill>
                          <a:latin typeface="Consolas" pitchFamily="34" charset="0"/>
                          <a:ea typeface="Consolas" pitchFamily="34" charset="-122"/>
                          <a:cs typeface="Consolas" pitchFamily="34" charset="-120"/>
                        </a:rPr>
                        <a:t>Ρυθμίσεις → Λογαριασμοί · Ασφάλεια των Windows</a:t>
                      </a:r>
                      <a:endParaRPr lang="en-US" sz="115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150" dirty="0">
                          <a:solidFill>
                            <a:srgbClr val="171B26"/>
                          </a:solidFill>
                          <a:latin typeface="Segoe UI" pitchFamily="34" charset="0"/>
                          <a:ea typeface="Segoe UI" pitchFamily="34" charset="-122"/>
                          <a:cs typeface="Segoe UI" pitchFamily="34" charset="-120"/>
                        </a:rPr>
                        <a:t>Είναι ενεργή η προστασία από ιούς;</a:t>
                      </a:r>
                      <a:endParaRPr lang="en-US" sz="115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75488">
                <a:tc>
                  <a:txBody>
                    <a:bodyPr/>
                    <a:lstStyle/>
                    <a:p>
                      <a:pPr indent="0" marL="0">
                        <a:buNone/>
                      </a:pPr>
                      <a:r>
                        <a:rPr lang="en-US" sz="1150" b="1" dirty="0">
                          <a:solidFill>
                            <a:srgbClr val="171B26"/>
                          </a:solidFill>
                          <a:latin typeface="Segoe UI" pitchFamily="34" charset="0"/>
                          <a:ea typeface="Segoe UI" pitchFamily="34" charset="-122"/>
                          <a:cs typeface="Segoe UI" pitchFamily="34" charset="-120"/>
                        </a:rPr>
                        <a:t>Διεπαφή με τον χρήστη</a:t>
                      </a:r>
                      <a:endParaRPr lang="en-US" sz="115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150" dirty="0">
                          <a:solidFill>
                            <a:srgbClr val="2F4BD8"/>
                          </a:solidFill>
                          <a:latin typeface="Consolas" pitchFamily="34" charset="0"/>
                          <a:ea typeface="Consolas" pitchFamily="34" charset="-122"/>
                          <a:cs typeface="Consolas" pitchFamily="34" charset="-120"/>
                        </a:rPr>
                        <a:t>Επιφάνεια εργασίας (GUI) · Win + R → cmd (CLI)</a:t>
                      </a:r>
                      <a:endParaRPr lang="en-US" sz="115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150" dirty="0">
                          <a:solidFill>
                            <a:srgbClr val="171B26"/>
                          </a:solidFill>
                          <a:latin typeface="Segoe UI" pitchFamily="34" charset="0"/>
                          <a:ea typeface="Segoe UI" pitchFamily="34" charset="-122"/>
                          <a:cs typeface="Segoe UI" pitchFamily="34" charset="-120"/>
                        </a:rPr>
                        <a:t>Δύο τρόποι να δώσω εντολές</a:t>
                      </a:r>
                      <a:endParaRPr lang="en-US" sz="115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prak/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06  </a:t>
            </a:r>
            <a:pPr indent="0" marL="0">
              <a:buNone/>
            </a:pPr>
            <a:r>
              <a:rPr lang="en-US" sz="1000" spc="140" kern="0" dirty="0">
                <a:solidFill>
                  <a:srgbClr val="8A91A3"/>
                </a:solidFill>
                <a:latin typeface="Consolas" pitchFamily="34" charset="0"/>
                <a:ea typeface="Consolas" pitchFamily="34" charset="-122"/>
                <a:cs typeface="Consolas" pitchFamily="34" charset="-120"/>
              </a:rPr>
              <a:t>ΑΠΟΣΤΟΛΗ 3 · ΣΤΟ PC</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Ίδια δουλειά, δύο κελύφη</a:t>
            </a:r>
            <a:endParaRPr lang="en-US" sz="3000" dirty="0"/>
          </a:p>
        </p:txBody>
      </p:sp>
      <p:sp>
        <p:nvSpPr>
          <p:cNvPr id="8" name="Text 5"/>
          <p:cNvSpPr txBox="1"/>
          <p:nvPr/>
        </p:nvSpPr>
        <p:spPr>
          <a:xfrm>
            <a:off x="8138160" y="749808"/>
            <a:ext cx="2743200" cy="274320"/>
          </a:xfrm>
          <a:prstGeom prst="rect">
            <a:avLst/>
          </a:prstGeom>
          <a:noFill/>
          <a:ln/>
        </p:spPr>
        <p:txBody>
          <a:bodyPr wrap="square" rtlCol="0" anchor="ctr"/>
          <a:lstStyle/>
          <a:p>
            <a:pPr algn="r" indent="0" marL="0">
              <a:buNone/>
            </a:pPr>
            <a:r>
              <a:rPr lang="en-US" sz="1100" b="1" spc="100" kern="0" dirty="0">
                <a:solidFill>
                  <a:srgbClr val="1B6B52"/>
                </a:solidFill>
                <a:latin typeface="Consolas" pitchFamily="34" charset="0"/>
                <a:ea typeface="Consolas" pitchFamily="34" charset="-122"/>
                <a:cs typeface="Consolas" pitchFamily="34" charset="-120"/>
              </a:rPr>
              <a:t>▶ 15΄ ΣΤΟ PC</a:t>
            </a:r>
            <a:endParaRPr lang="en-US" sz="1100" dirty="0"/>
          </a:p>
        </p:txBody>
      </p:sp>
      <p:sp>
        <p:nvSpPr>
          <p:cNvPr id="9" name="Shape 6"/>
          <p:cNvSpPr/>
          <p:nvPr/>
        </p:nvSpPr>
        <p:spPr>
          <a:xfrm>
            <a:off x="566928" y="1463040"/>
            <a:ext cx="5349240" cy="3154680"/>
          </a:xfrm>
          <a:prstGeom prst="roundRect">
            <a:avLst>
              <a:gd name="adj" fmla="val 1739"/>
            </a:avLst>
          </a:prstGeom>
          <a:solidFill>
            <a:srgbClr val="FBFCFE"/>
          </a:solidFill>
          <a:ln w="9525">
            <a:solidFill>
              <a:srgbClr val="D3D9E4"/>
            </a:solidFill>
            <a:prstDash val="solid"/>
          </a:ln>
        </p:spPr>
      </p:sp>
      <p:sp>
        <p:nvSpPr>
          <p:cNvPr id="10" name="Text 7"/>
          <p:cNvSpPr txBox="1"/>
          <p:nvPr/>
        </p:nvSpPr>
        <p:spPr>
          <a:xfrm>
            <a:off x="731520" y="1591056"/>
            <a:ext cx="5020056" cy="274701"/>
          </a:xfrm>
          <a:prstGeom prst="rect">
            <a:avLst/>
          </a:prstGeom>
          <a:noFill/>
          <a:ln/>
        </p:spPr>
        <p:txBody>
          <a:bodyPr wrap="square" lIns="0" tIns="0" rIns="0" bIns="0" rtlCol="0" anchor="t"/>
          <a:lstStyle/>
          <a:p>
            <a:pPr indent="0" marL="0">
              <a:buNone/>
            </a:pPr>
            <a:r>
              <a:rPr lang="en-US" sz="1500" b="1" dirty="0">
                <a:solidFill>
                  <a:srgbClr val="171B26"/>
                </a:solidFill>
                <a:latin typeface="Segoe UI" pitchFamily="34" charset="0"/>
                <a:ea typeface="Segoe UI" pitchFamily="34" charset="-122"/>
                <a:cs typeface="Segoe UI" pitchFamily="34" charset="-120"/>
              </a:rPr>
              <a:t>Α · Με το γραφικό περιβάλλον (GUI)</a:t>
            </a:r>
            <a:endParaRPr lang="en-US" sz="1500" dirty="0"/>
          </a:p>
        </p:txBody>
      </p:sp>
      <p:sp>
        <p:nvSpPr>
          <p:cNvPr id="11" name="Text 8"/>
          <p:cNvSpPr txBox="1"/>
          <p:nvPr/>
        </p:nvSpPr>
        <p:spPr>
          <a:xfrm>
            <a:off x="731520" y="1957197"/>
            <a:ext cx="5020056" cy="2569083"/>
          </a:xfrm>
          <a:prstGeom prst="rect">
            <a:avLst/>
          </a:prstGeom>
          <a:noFill/>
          <a:ln/>
        </p:spPr>
        <p:txBody>
          <a:bodyPr wrap="square" lIns="0" tIns="0" rIns="0" bIns="0" rtlCol="0" anchor="t"/>
          <a:lstStyle/>
          <a:p>
            <a:pPr marL="177800" indent="-177800">
              <a:lnSpc>
                <a:spcPct val="112000"/>
              </a:lnSpc>
              <a:spcAft>
                <a:spcPts val="600"/>
              </a:spcAft>
              <a:buSzPct val="100000"/>
              <a:buChar char="•"/>
            </a:pPr>
            <a:r>
              <a:rPr lang="en-US" sz="1250" dirty="0">
                <a:solidFill>
                  <a:srgbClr val="4A5265"/>
                </a:solidFill>
                <a:latin typeface="Segoe UI" pitchFamily="34" charset="0"/>
                <a:ea typeface="Segoe UI" pitchFamily="34" charset="-122"/>
                <a:cs typeface="Segoe UI" pitchFamily="34" charset="-120"/>
              </a:rPr>
              <a:t>Άνοιξε τον φάκελο LS_Eponymo στα Έγγραφα</a:t>
            </a:r>
            <a:endParaRPr lang="en-US" sz="1250" dirty="0"/>
          </a:p>
          <a:p>
            <a:pPr marL="177800" indent="-177800">
              <a:lnSpc>
                <a:spcPct val="112000"/>
              </a:lnSpc>
              <a:spcAft>
                <a:spcPts val="600"/>
              </a:spcAft>
              <a:buSzPct val="100000"/>
              <a:buChar char="•"/>
            </a:pPr>
            <a:r>
              <a:rPr lang="en-US" sz="1250" dirty="0">
                <a:solidFill>
                  <a:srgbClr val="4A5265"/>
                </a:solidFill>
                <a:latin typeface="Segoe UI" pitchFamily="34" charset="0"/>
                <a:ea typeface="Segoe UI" pitchFamily="34" charset="-122"/>
                <a:cs typeface="Segoe UI" pitchFamily="34" charset="-120"/>
              </a:rPr>
              <a:t>Δεξί κλικ → Δημιουργία → Φάκελος: gui_test</a:t>
            </a:r>
            <a:endParaRPr lang="en-US" sz="1250" dirty="0"/>
          </a:p>
          <a:p>
            <a:pPr marL="177800" indent="-177800">
              <a:lnSpc>
                <a:spcPct val="112000"/>
              </a:lnSpc>
              <a:spcAft>
                <a:spcPts val="600"/>
              </a:spcAft>
              <a:buSzPct val="100000"/>
              <a:buChar char="•"/>
            </a:pPr>
            <a:r>
              <a:rPr lang="en-US" sz="1250" dirty="0">
                <a:solidFill>
                  <a:srgbClr val="4A5265"/>
                </a:solidFill>
                <a:latin typeface="Segoe UI" pitchFamily="34" charset="0"/>
                <a:ea typeface="Segoe UI" pitchFamily="34" charset="-122"/>
                <a:cs typeface="Segoe UI" pitchFamily="34" charset="-120"/>
              </a:rPr>
              <a:t>Μέσα: δεξί κλικ → Δημιουργία → Έγγραφο κειμένου: hello.txt</a:t>
            </a:r>
            <a:endParaRPr lang="en-US" sz="1250" dirty="0"/>
          </a:p>
          <a:p>
            <a:pPr marL="177800" indent="-177800">
              <a:lnSpc>
                <a:spcPct val="112000"/>
              </a:lnSpc>
              <a:spcAft>
                <a:spcPts val="600"/>
              </a:spcAft>
              <a:buSzPct val="100000"/>
              <a:buChar char="•"/>
            </a:pPr>
            <a:r>
              <a:rPr lang="en-US" sz="1250" dirty="0">
                <a:solidFill>
                  <a:srgbClr val="4A5265"/>
                </a:solidFill>
                <a:latin typeface="Segoe UI" pitchFamily="34" charset="0"/>
                <a:ea typeface="Segoe UI" pitchFamily="34" charset="-122"/>
                <a:cs typeface="Segoe UI" pitchFamily="34" charset="-120"/>
              </a:rPr>
              <a:t>Γράψε μέσα «hello» και αποθήκευσε</a:t>
            </a:r>
            <a:endParaRPr lang="en-US" sz="1250" dirty="0"/>
          </a:p>
        </p:txBody>
      </p:sp>
      <p:sp>
        <p:nvSpPr>
          <p:cNvPr id="12" name="Shape 9"/>
          <p:cNvSpPr/>
          <p:nvPr/>
        </p:nvSpPr>
        <p:spPr>
          <a:xfrm>
            <a:off x="6099048" y="1463040"/>
            <a:ext cx="5349240" cy="3154680"/>
          </a:xfrm>
          <a:prstGeom prst="roundRect">
            <a:avLst>
              <a:gd name="adj" fmla="val 1739"/>
            </a:avLst>
          </a:prstGeom>
          <a:solidFill>
            <a:srgbClr val="FBFCFE"/>
          </a:solidFill>
          <a:ln w="9525">
            <a:solidFill>
              <a:srgbClr val="D3D9E4"/>
            </a:solidFill>
            <a:prstDash val="solid"/>
          </a:ln>
        </p:spPr>
      </p:sp>
      <p:sp>
        <p:nvSpPr>
          <p:cNvPr id="13" name="Text 10"/>
          <p:cNvSpPr txBox="1"/>
          <p:nvPr/>
        </p:nvSpPr>
        <p:spPr>
          <a:xfrm>
            <a:off x="6263640" y="1591056"/>
            <a:ext cx="5020056"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Β · ΜΕ ΤΗ ΓΡΑΜΜΗ ΕΝΤΟΛΩΝ (WIN + R → CMD)</a:t>
            </a:r>
            <a:endParaRPr lang="en-US" sz="900" dirty="0"/>
          </a:p>
        </p:txBody>
      </p:sp>
      <p:sp>
        <p:nvSpPr>
          <p:cNvPr id="14" name="Text 11"/>
          <p:cNvSpPr txBox="1"/>
          <p:nvPr/>
        </p:nvSpPr>
        <p:spPr>
          <a:xfrm>
            <a:off x="6263640" y="1874520"/>
            <a:ext cx="5020056" cy="2651760"/>
          </a:xfrm>
          <a:prstGeom prst="rect">
            <a:avLst/>
          </a:prstGeom>
          <a:noFill/>
          <a:ln/>
        </p:spPr>
        <p:txBody>
          <a:bodyPr wrap="square" lIns="0" tIns="0" rIns="0" bIns="0" rtlCol="0" anchor="t"/>
          <a:lstStyle/>
          <a:p>
            <a:pPr indent="0" marL="0">
              <a:lnSpc>
                <a:spcPct val="125000"/>
              </a:lnSpc>
              <a:buNone/>
            </a:pPr>
            <a:r>
              <a:rPr lang="en-US" sz="1150" b="1" dirty="0">
                <a:solidFill>
                  <a:srgbClr val="171B26"/>
                </a:solidFill>
                <a:latin typeface="Consolas" pitchFamily="34" charset="0"/>
                <a:ea typeface="Consolas" pitchFamily="34" charset="-122"/>
                <a:cs typeface="Consolas" pitchFamily="34" charset="-120"/>
              </a:rPr>
              <a:t>cd %USERPROFILE%\Documents\LS_Eponymo</a:t>
            </a:r>
            <a:pPr indent="0" marL="0">
              <a:lnSpc>
                <a:spcPct val="125000"/>
              </a:lnSpc>
              <a:buNone/>
            </a:pPr>
            <a:r>
              <a:rPr lang="en-US" sz="1150" dirty="0">
                <a:solidFill>
                  <a:srgbClr val="8A91A3"/>
                </a:solidFill>
                <a:latin typeface="Consolas" pitchFamily="34" charset="0"/>
                <a:ea typeface="Consolas" pitchFamily="34" charset="-122"/>
                <a:cs typeface="Consolas" pitchFamily="34" charset="-120"/>
              </a:rPr>
              <a:t>   </a:t>
            </a:r>
            <a:endParaRPr lang="en-US" sz="1150" dirty="0"/>
          </a:p>
          <a:p>
            <a:pPr indent="0" marL="0">
              <a:lnSpc>
                <a:spcPct val="125000"/>
              </a:lnSpc>
              <a:buNone/>
            </a:pPr>
            <a:r>
              <a:rPr lang="en-US" sz="1150" b="1" dirty="0">
                <a:solidFill>
                  <a:srgbClr val="171B26"/>
                </a:solidFill>
                <a:latin typeface="Consolas" pitchFamily="34" charset="0"/>
                <a:ea typeface="Consolas" pitchFamily="34" charset="-122"/>
                <a:cs typeface="Consolas" pitchFamily="34" charset="-120"/>
              </a:rPr>
              <a:t>mkdir cli_test</a:t>
            </a:r>
            <a:pPr indent="0" marL="0">
              <a:lnSpc>
                <a:spcPct val="125000"/>
              </a:lnSpc>
              <a:buNone/>
            </a:pPr>
            <a:r>
              <a:rPr lang="en-US" sz="1150" dirty="0">
                <a:solidFill>
                  <a:srgbClr val="8A91A3"/>
                </a:solidFill>
                <a:latin typeface="Consolas" pitchFamily="34" charset="0"/>
                <a:ea typeface="Consolas" pitchFamily="34" charset="-122"/>
                <a:cs typeface="Consolas" pitchFamily="34" charset="-120"/>
              </a:rPr>
              <a:t>   φτιάξε φάκελο</a:t>
            </a:r>
            <a:endParaRPr lang="en-US" sz="1150" dirty="0"/>
          </a:p>
          <a:p>
            <a:pPr indent="0" marL="0">
              <a:lnSpc>
                <a:spcPct val="125000"/>
              </a:lnSpc>
              <a:buNone/>
            </a:pPr>
            <a:r>
              <a:rPr lang="en-US" sz="1150" b="1" dirty="0">
                <a:solidFill>
                  <a:srgbClr val="171B26"/>
                </a:solidFill>
                <a:latin typeface="Consolas" pitchFamily="34" charset="0"/>
                <a:ea typeface="Consolas" pitchFamily="34" charset="-122"/>
                <a:cs typeface="Consolas" pitchFamily="34" charset="-120"/>
              </a:rPr>
              <a:t>cd cli_test</a:t>
            </a:r>
            <a:pPr indent="0" marL="0">
              <a:lnSpc>
                <a:spcPct val="125000"/>
              </a:lnSpc>
              <a:buNone/>
            </a:pPr>
            <a:r>
              <a:rPr lang="en-US" sz="1150" dirty="0">
                <a:solidFill>
                  <a:srgbClr val="8A91A3"/>
                </a:solidFill>
                <a:latin typeface="Consolas" pitchFamily="34" charset="0"/>
                <a:ea typeface="Consolas" pitchFamily="34" charset="-122"/>
                <a:cs typeface="Consolas" pitchFamily="34" charset="-120"/>
              </a:rPr>
              <a:t>   μπες μέσα</a:t>
            </a:r>
            <a:endParaRPr lang="en-US" sz="1150" dirty="0"/>
          </a:p>
          <a:p>
            <a:pPr indent="0" marL="0">
              <a:lnSpc>
                <a:spcPct val="125000"/>
              </a:lnSpc>
              <a:buNone/>
            </a:pPr>
            <a:r>
              <a:rPr lang="en-US" sz="1150" b="1" dirty="0">
                <a:solidFill>
                  <a:srgbClr val="171B26"/>
                </a:solidFill>
                <a:latin typeface="Consolas" pitchFamily="34" charset="0"/>
                <a:ea typeface="Consolas" pitchFamily="34" charset="-122"/>
                <a:cs typeface="Consolas" pitchFamily="34" charset="-120"/>
              </a:rPr>
              <a:t>echo hello &gt; hello.txt</a:t>
            </a:r>
            <a:pPr indent="0" marL="0">
              <a:lnSpc>
                <a:spcPct val="125000"/>
              </a:lnSpc>
              <a:buNone/>
            </a:pPr>
            <a:r>
              <a:rPr lang="en-US" sz="1150" dirty="0">
                <a:solidFill>
                  <a:srgbClr val="8A91A3"/>
                </a:solidFill>
                <a:latin typeface="Consolas" pitchFamily="34" charset="0"/>
                <a:ea typeface="Consolas" pitchFamily="34" charset="-122"/>
                <a:cs typeface="Consolas" pitchFamily="34" charset="-120"/>
              </a:rPr>
              <a:t>   φτιάξε αρχείο</a:t>
            </a:r>
            <a:endParaRPr lang="en-US" sz="1150" dirty="0"/>
          </a:p>
          <a:p>
            <a:pPr indent="0" marL="0">
              <a:lnSpc>
                <a:spcPct val="125000"/>
              </a:lnSpc>
              <a:buNone/>
            </a:pPr>
            <a:r>
              <a:rPr lang="en-US" sz="1150" b="1" dirty="0">
                <a:solidFill>
                  <a:srgbClr val="171B26"/>
                </a:solidFill>
                <a:latin typeface="Consolas" pitchFamily="34" charset="0"/>
                <a:ea typeface="Consolas" pitchFamily="34" charset="-122"/>
                <a:cs typeface="Consolas" pitchFamily="34" charset="-120"/>
              </a:rPr>
              <a:t>dir</a:t>
            </a:r>
            <a:pPr indent="0" marL="0">
              <a:lnSpc>
                <a:spcPct val="125000"/>
              </a:lnSpc>
              <a:buNone/>
            </a:pPr>
            <a:r>
              <a:rPr lang="en-US" sz="1150" dirty="0">
                <a:solidFill>
                  <a:srgbClr val="8A91A3"/>
                </a:solidFill>
                <a:latin typeface="Consolas" pitchFamily="34" charset="0"/>
                <a:ea typeface="Consolas" pitchFamily="34" charset="-122"/>
                <a:cs typeface="Consolas" pitchFamily="34" charset="-120"/>
              </a:rPr>
              <a:t>   δες τι υπάρχει</a:t>
            </a:r>
            <a:endParaRPr lang="en-US" sz="1150" dirty="0"/>
          </a:p>
          <a:p>
            <a:pPr indent="0" marL="0">
              <a:lnSpc>
                <a:spcPct val="125000"/>
              </a:lnSpc>
              <a:buNone/>
            </a:pPr>
            <a:r>
              <a:rPr lang="en-US" sz="1150" b="1" dirty="0">
                <a:solidFill>
                  <a:srgbClr val="171B26"/>
                </a:solidFill>
                <a:latin typeface="Consolas" pitchFamily="34" charset="0"/>
                <a:ea typeface="Consolas" pitchFamily="34" charset="-122"/>
                <a:cs typeface="Consolas" pitchFamily="34" charset="-120"/>
              </a:rPr>
              <a:t>type hello.txt</a:t>
            </a:r>
            <a:pPr indent="0" marL="0">
              <a:lnSpc>
                <a:spcPct val="125000"/>
              </a:lnSpc>
              <a:buNone/>
            </a:pPr>
            <a:r>
              <a:rPr lang="en-US" sz="1150" dirty="0">
                <a:solidFill>
                  <a:srgbClr val="8A91A3"/>
                </a:solidFill>
                <a:latin typeface="Consolas" pitchFamily="34" charset="0"/>
                <a:ea typeface="Consolas" pitchFamily="34" charset="-122"/>
                <a:cs typeface="Consolas" pitchFamily="34" charset="-120"/>
              </a:rPr>
              <a:t>   δες το περιεχόμενο</a:t>
            </a:r>
            <a:endParaRPr lang="en-US" sz="1150" dirty="0"/>
          </a:p>
        </p:txBody>
      </p:sp>
      <p:sp>
        <p:nvSpPr>
          <p:cNvPr id="15" name="Shape 12"/>
          <p:cNvSpPr/>
          <p:nvPr/>
        </p:nvSpPr>
        <p:spPr>
          <a:xfrm>
            <a:off x="566928" y="4846320"/>
            <a:ext cx="10881360" cy="1097280"/>
          </a:xfrm>
          <a:prstGeom prst="roundRect">
            <a:avLst>
              <a:gd name="adj" fmla="val 5000"/>
            </a:avLst>
          </a:prstGeom>
          <a:solidFill>
            <a:srgbClr val="F6EDD6"/>
          </a:solidFill>
          <a:ln w="12700">
            <a:solidFill>
              <a:srgbClr val="F6EDD6"/>
            </a:solidFill>
            <a:prstDash val="solid"/>
          </a:ln>
        </p:spPr>
      </p:sp>
      <p:sp>
        <p:nvSpPr>
          <p:cNvPr id="16" name="Text 13"/>
          <p:cNvSpPr txBox="1"/>
          <p:nvPr/>
        </p:nvSpPr>
        <p:spPr>
          <a:xfrm>
            <a:off x="731520" y="4974336"/>
            <a:ext cx="1055217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Τι κατάλαβες;</a:t>
            </a:r>
            <a:endParaRPr lang="en-US" sz="1400" dirty="0"/>
          </a:p>
        </p:txBody>
      </p:sp>
      <p:sp>
        <p:nvSpPr>
          <p:cNvPr id="17" name="Text 14"/>
          <p:cNvSpPr txBox="1"/>
          <p:nvPr/>
        </p:nvSpPr>
        <p:spPr>
          <a:xfrm>
            <a:off x="731520" y="5324602"/>
            <a:ext cx="10552176" cy="527558"/>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Δύο διαφορετικά </a:t>
            </a:r>
            <a:pPr indent="0" marL="0">
              <a:lnSpc>
                <a:spcPct val="112000"/>
              </a:lnSpc>
              <a:buNone/>
            </a:pPr>
            <a:r>
              <a:rPr lang="en-US" sz="1250" b="1" dirty="0">
                <a:solidFill>
                  <a:srgbClr val="4A5265"/>
                </a:solidFill>
                <a:latin typeface="Segoe UI" pitchFamily="34" charset="0"/>
                <a:ea typeface="Segoe UI" pitchFamily="34" charset="-122"/>
                <a:cs typeface="Segoe UI" pitchFamily="34" charset="-120"/>
              </a:rPr>
              <a:t>κελύφη</a:t>
            </a:r>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 (Εξερεύνηση αρχείων και cmd), ίδιο αποτέλεσμα στον δίσκο. Από κάτω δουλεύει ο ίδιος </a:t>
            </a:r>
            <a:pPr indent="0" marL="0">
              <a:lnSpc>
                <a:spcPct val="112000"/>
              </a:lnSpc>
              <a:buNone/>
            </a:pPr>
            <a:r>
              <a:rPr lang="en-US" sz="1250" b="1" dirty="0">
                <a:solidFill>
                  <a:srgbClr val="4A5265"/>
                </a:solidFill>
                <a:latin typeface="Segoe UI" pitchFamily="34" charset="0"/>
                <a:ea typeface="Segoe UI" pitchFamily="34" charset="-122"/>
                <a:cs typeface="Segoe UI" pitchFamily="34" charset="-120"/>
              </a:rPr>
              <a:t>πυρήνας</a:t>
            </a:r>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 Άνοιξε τον φάκελο cli_test από την Εξερεύνηση: το hello.txt είναι εκεί.</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prak/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07  </a:t>
            </a:r>
            <a:pPr indent="0" marL="0">
              <a:buNone/>
            </a:pPr>
            <a:r>
              <a:rPr lang="en-US" sz="1000" spc="140" kern="0" dirty="0">
                <a:solidFill>
                  <a:srgbClr val="8A91A3"/>
                </a:solidFill>
                <a:latin typeface="Consolas" pitchFamily="34" charset="0"/>
                <a:ea typeface="Consolas" pitchFamily="34" charset="-122"/>
                <a:cs typeface="Consolas" pitchFamily="34" charset="-120"/>
              </a:rPr>
              <a:t>ΑΠΟΣΤΟΛΗ 4 · ΣΤΟ PC</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Πώς ξεκινά ο υπολογιστής</a:t>
            </a:r>
            <a:endParaRPr lang="en-US" sz="3000" dirty="0"/>
          </a:p>
        </p:txBody>
      </p:sp>
      <p:sp>
        <p:nvSpPr>
          <p:cNvPr id="8" name="Text 5"/>
          <p:cNvSpPr txBox="1"/>
          <p:nvPr/>
        </p:nvSpPr>
        <p:spPr>
          <a:xfrm>
            <a:off x="8138160" y="749808"/>
            <a:ext cx="2743200" cy="274320"/>
          </a:xfrm>
          <a:prstGeom prst="rect">
            <a:avLst/>
          </a:prstGeom>
          <a:noFill/>
          <a:ln/>
        </p:spPr>
        <p:txBody>
          <a:bodyPr wrap="square" rtlCol="0" anchor="ctr"/>
          <a:lstStyle/>
          <a:p>
            <a:pPr algn="r" indent="0" marL="0">
              <a:buNone/>
            </a:pPr>
            <a:r>
              <a:rPr lang="en-US" sz="1100" b="1" spc="100" kern="0" dirty="0">
                <a:solidFill>
                  <a:srgbClr val="1B6B52"/>
                </a:solidFill>
                <a:latin typeface="Consolas" pitchFamily="34" charset="0"/>
                <a:ea typeface="Consolas" pitchFamily="34" charset="-122"/>
                <a:cs typeface="Consolas" pitchFamily="34" charset="-120"/>
              </a:rPr>
              <a:t>▶ 10΄ ΣΤΟ PC</a:t>
            </a:r>
            <a:endParaRPr lang="en-US" sz="1100" dirty="0"/>
          </a:p>
        </p:txBody>
      </p:sp>
      <p:sp>
        <p:nvSpPr>
          <p:cNvPr id="9" name="Shape 6"/>
          <p:cNvSpPr/>
          <p:nvPr/>
        </p:nvSpPr>
        <p:spPr>
          <a:xfrm>
            <a:off x="566928" y="1508760"/>
            <a:ext cx="2011680" cy="914400"/>
          </a:xfrm>
          <a:prstGeom prst="roundRect">
            <a:avLst>
              <a:gd name="adj" fmla="val 6000"/>
            </a:avLst>
          </a:prstGeom>
          <a:solidFill>
            <a:srgbClr val="FBFCFE"/>
          </a:solidFill>
          <a:ln w="9525">
            <a:solidFill>
              <a:srgbClr val="D3D9E4"/>
            </a:solidFill>
            <a:prstDash val="solid"/>
          </a:ln>
        </p:spPr>
      </p:sp>
      <p:sp>
        <p:nvSpPr>
          <p:cNvPr id="10" name="Text 7"/>
          <p:cNvSpPr txBox="1"/>
          <p:nvPr/>
        </p:nvSpPr>
        <p:spPr>
          <a:xfrm>
            <a:off x="676656" y="1508760"/>
            <a:ext cx="1792224" cy="914400"/>
          </a:xfrm>
          <a:prstGeom prst="rect">
            <a:avLst/>
          </a:prstGeom>
          <a:noFill/>
          <a:ln/>
        </p:spPr>
        <p:txBody>
          <a:bodyPr wrap="square" lIns="0" tIns="0" rIns="0" bIns="0" rtlCol="0" anchor="ctr"/>
          <a:lstStyle/>
          <a:p>
            <a:pPr algn="ctr" indent="0" marL="0">
              <a:buNone/>
            </a:pPr>
            <a:r>
              <a:rPr lang="en-US" sz="1200" b="1" dirty="0">
                <a:solidFill>
                  <a:srgbClr val="171B26"/>
                </a:solidFill>
                <a:latin typeface="Segoe UI" pitchFamily="34" charset="0"/>
                <a:ea typeface="Segoe UI" pitchFamily="34" charset="-122"/>
                <a:cs typeface="Segoe UI" pitchFamily="34" charset="-120"/>
              </a:rPr>
              <a:t>Κουμπί λειτουργίας</a:t>
            </a:r>
            <a:endParaRPr lang="en-US" sz="1200" dirty="0"/>
          </a:p>
        </p:txBody>
      </p:sp>
      <p:sp>
        <p:nvSpPr>
          <p:cNvPr id="11" name="Shape 8"/>
          <p:cNvSpPr/>
          <p:nvPr/>
        </p:nvSpPr>
        <p:spPr>
          <a:xfrm>
            <a:off x="2606040" y="1965960"/>
            <a:ext cx="150876" cy="914"/>
          </a:xfrm>
          <a:prstGeom prst="line">
            <a:avLst/>
          </a:prstGeom>
          <a:noFill/>
          <a:ln w="22225">
            <a:solidFill>
              <a:srgbClr val="2F4BD8"/>
            </a:solidFill>
            <a:prstDash val="solid"/>
            <a:tailEnd type="triangle"/>
          </a:ln>
        </p:spPr>
      </p:sp>
      <p:sp>
        <p:nvSpPr>
          <p:cNvPr id="12" name="Shape 9"/>
          <p:cNvSpPr/>
          <p:nvPr/>
        </p:nvSpPr>
        <p:spPr>
          <a:xfrm>
            <a:off x="2784348" y="1508760"/>
            <a:ext cx="2011680" cy="914400"/>
          </a:xfrm>
          <a:prstGeom prst="roundRect">
            <a:avLst>
              <a:gd name="adj" fmla="val 6000"/>
            </a:avLst>
          </a:prstGeom>
          <a:solidFill>
            <a:srgbClr val="E4E8FB"/>
          </a:solidFill>
          <a:ln w="12700">
            <a:solidFill>
              <a:srgbClr val="E4E8FB"/>
            </a:solidFill>
            <a:prstDash val="solid"/>
          </a:ln>
        </p:spPr>
      </p:sp>
      <p:sp>
        <p:nvSpPr>
          <p:cNvPr id="13" name="Text 10"/>
          <p:cNvSpPr txBox="1"/>
          <p:nvPr/>
        </p:nvSpPr>
        <p:spPr>
          <a:xfrm>
            <a:off x="2894076" y="1508760"/>
            <a:ext cx="1792224" cy="914400"/>
          </a:xfrm>
          <a:prstGeom prst="rect">
            <a:avLst/>
          </a:prstGeom>
          <a:noFill/>
          <a:ln/>
        </p:spPr>
        <p:txBody>
          <a:bodyPr wrap="square" lIns="0" tIns="0" rIns="0" bIns="0" rtlCol="0" anchor="ctr"/>
          <a:lstStyle/>
          <a:p>
            <a:pPr algn="ctr" indent="0" marL="0">
              <a:buNone/>
            </a:pPr>
            <a:r>
              <a:rPr lang="en-US" sz="1200" b="1" dirty="0">
                <a:solidFill>
                  <a:srgbClr val="171B26"/>
                </a:solidFill>
                <a:latin typeface="Segoe UI" pitchFamily="34" charset="0"/>
                <a:ea typeface="Segoe UI" pitchFamily="34" charset="-122"/>
                <a:cs typeface="Segoe UI" pitchFamily="34" charset="-120"/>
              </a:rPr>
              <a:t>UEFI / BIOS: έλεγχος υλικού</a:t>
            </a:r>
            <a:endParaRPr lang="en-US" sz="1200" dirty="0"/>
          </a:p>
        </p:txBody>
      </p:sp>
      <p:sp>
        <p:nvSpPr>
          <p:cNvPr id="14" name="Shape 11"/>
          <p:cNvSpPr/>
          <p:nvPr/>
        </p:nvSpPr>
        <p:spPr>
          <a:xfrm>
            <a:off x="4823460" y="1965960"/>
            <a:ext cx="150876" cy="914"/>
          </a:xfrm>
          <a:prstGeom prst="line">
            <a:avLst/>
          </a:prstGeom>
          <a:noFill/>
          <a:ln w="22225">
            <a:solidFill>
              <a:srgbClr val="2F4BD8"/>
            </a:solidFill>
            <a:prstDash val="solid"/>
            <a:tailEnd type="triangle"/>
          </a:ln>
        </p:spPr>
      </p:sp>
      <p:sp>
        <p:nvSpPr>
          <p:cNvPr id="15" name="Shape 12"/>
          <p:cNvSpPr/>
          <p:nvPr/>
        </p:nvSpPr>
        <p:spPr>
          <a:xfrm>
            <a:off x="5001768" y="1508760"/>
            <a:ext cx="2011680" cy="914400"/>
          </a:xfrm>
          <a:prstGeom prst="roundRect">
            <a:avLst>
              <a:gd name="adj" fmla="val 6000"/>
            </a:avLst>
          </a:prstGeom>
          <a:solidFill>
            <a:srgbClr val="FBFCFE"/>
          </a:solidFill>
          <a:ln w="9525">
            <a:solidFill>
              <a:srgbClr val="D3D9E4"/>
            </a:solidFill>
            <a:prstDash val="solid"/>
          </a:ln>
        </p:spPr>
      </p:sp>
      <p:sp>
        <p:nvSpPr>
          <p:cNvPr id="16" name="Text 13"/>
          <p:cNvSpPr txBox="1"/>
          <p:nvPr/>
        </p:nvSpPr>
        <p:spPr>
          <a:xfrm>
            <a:off x="5111496" y="1508760"/>
            <a:ext cx="1792224" cy="914400"/>
          </a:xfrm>
          <a:prstGeom prst="rect">
            <a:avLst/>
          </a:prstGeom>
          <a:noFill/>
          <a:ln/>
        </p:spPr>
        <p:txBody>
          <a:bodyPr wrap="square" lIns="0" tIns="0" rIns="0" bIns="0" rtlCol="0" anchor="ctr"/>
          <a:lstStyle/>
          <a:p>
            <a:pPr algn="ctr" indent="0" marL="0">
              <a:buNone/>
            </a:pPr>
            <a:r>
              <a:rPr lang="en-US" sz="1200" b="1" dirty="0">
                <a:solidFill>
                  <a:srgbClr val="171B26"/>
                </a:solidFill>
                <a:latin typeface="Segoe UI" pitchFamily="34" charset="0"/>
                <a:ea typeface="Segoe UI" pitchFamily="34" charset="-122"/>
                <a:cs typeface="Segoe UI" pitchFamily="34" charset="-120"/>
              </a:rPr>
              <a:t>Φορτωτής εκκίνησης (boot manager)</a:t>
            </a:r>
            <a:endParaRPr lang="en-US" sz="1200" dirty="0"/>
          </a:p>
        </p:txBody>
      </p:sp>
      <p:sp>
        <p:nvSpPr>
          <p:cNvPr id="17" name="Shape 14"/>
          <p:cNvSpPr/>
          <p:nvPr/>
        </p:nvSpPr>
        <p:spPr>
          <a:xfrm>
            <a:off x="7040880" y="1965960"/>
            <a:ext cx="150876" cy="914"/>
          </a:xfrm>
          <a:prstGeom prst="line">
            <a:avLst/>
          </a:prstGeom>
          <a:noFill/>
          <a:ln w="22225">
            <a:solidFill>
              <a:srgbClr val="2F4BD8"/>
            </a:solidFill>
            <a:prstDash val="solid"/>
            <a:tailEnd type="triangle"/>
          </a:ln>
        </p:spPr>
      </p:sp>
      <p:sp>
        <p:nvSpPr>
          <p:cNvPr id="18" name="Shape 15"/>
          <p:cNvSpPr/>
          <p:nvPr/>
        </p:nvSpPr>
        <p:spPr>
          <a:xfrm>
            <a:off x="7219188" y="1508760"/>
            <a:ext cx="2011680" cy="914400"/>
          </a:xfrm>
          <a:prstGeom prst="roundRect">
            <a:avLst>
              <a:gd name="adj" fmla="val 6000"/>
            </a:avLst>
          </a:prstGeom>
          <a:solidFill>
            <a:srgbClr val="2F4BD8"/>
          </a:solidFill>
          <a:ln w="12700">
            <a:solidFill>
              <a:srgbClr val="2F4BD8"/>
            </a:solidFill>
            <a:prstDash val="solid"/>
          </a:ln>
        </p:spPr>
      </p:sp>
      <p:sp>
        <p:nvSpPr>
          <p:cNvPr id="19" name="Text 16"/>
          <p:cNvSpPr txBox="1"/>
          <p:nvPr/>
        </p:nvSpPr>
        <p:spPr>
          <a:xfrm>
            <a:off x="7328916" y="1508760"/>
            <a:ext cx="1792224"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Φορτώνεται ο πυρήνας</a:t>
            </a:r>
            <a:endParaRPr lang="en-US" sz="1200" dirty="0"/>
          </a:p>
        </p:txBody>
      </p:sp>
      <p:sp>
        <p:nvSpPr>
          <p:cNvPr id="20" name="Shape 17"/>
          <p:cNvSpPr/>
          <p:nvPr/>
        </p:nvSpPr>
        <p:spPr>
          <a:xfrm>
            <a:off x="9258300" y="1965960"/>
            <a:ext cx="150876" cy="914"/>
          </a:xfrm>
          <a:prstGeom prst="line">
            <a:avLst/>
          </a:prstGeom>
          <a:noFill/>
          <a:ln w="22225">
            <a:solidFill>
              <a:srgbClr val="2F4BD8"/>
            </a:solidFill>
            <a:prstDash val="solid"/>
            <a:tailEnd type="triangle"/>
          </a:ln>
        </p:spPr>
      </p:sp>
      <p:sp>
        <p:nvSpPr>
          <p:cNvPr id="21" name="Shape 18"/>
          <p:cNvSpPr/>
          <p:nvPr/>
        </p:nvSpPr>
        <p:spPr>
          <a:xfrm>
            <a:off x="9436608" y="1508760"/>
            <a:ext cx="2011680" cy="914400"/>
          </a:xfrm>
          <a:prstGeom prst="roundRect">
            <a:avLst>
              <a:gd name="adj" fmla="val 6000"/>
            </a:avLst>
          </a:prstGeom>
          <a:solidFill>
            <a:srgbClr val="FBFCFE"/>
          </a:solidFill>
          <a:ln w="9525">
            <a:solidFill>
              <a:srgbClr val="D3D9E4"/>
            </a:solidFill>
            <a:prstDash val="solid"/>
          </a:ln>
        </p:spPr>
      </p:sp>
      <p:sp>
        <p:nvSpPr>
          <p:cNvPr id="22" name="Text 19"/>
          <p:cNvSpPr txBox="1"/>
          <p:nvPr/>
        </p:nvSpPr>
        <p:spPr>
          <a:xfrm>
            <a:off x="9546336" y="1508760"/>
            <a:ext cx="1792224" cy="914400"/>
          </a:xfrm>
          <a:prstGeom prst="rect">
            <a:avLst/>
          </a:prstGeom>
          <a:noFill/>
          <a:ln/>
        </p:spPr>
        <p:txBody>
          <a:bodyPr wrap="square" lIns="0" tIns="0" rIns="0" bIns="0" rtlCol="0" anchor="ctr"/>
          <a:lstStyle/>
          <a:p>
            <a:pPr algn="ctr" indent="0" marL="0">
              <a:buNone/>
            </a:pPr>
            <a:r>
              <a:rPr lang="en-US" sz="1200" b="1" dirty="0">
                <a:solidFill>
                  <a:srgbClr val="171B26"/>
                </a:solidFill>
                <a:latin typeface="Segoe UI" pitchFamily="34" charset="0"/>
                <a:ea typeface="Segoe UI" pitchFamily="34" charset="-122"/>
                <a:cs typeface="Segoe UI" pitchFamily="34" charset="-120"/>
              </a:rPr>
              <a:t>Οθόνη σύνδεσης</a:t>
            </a:r>
            <a:endParaRPr lang="en-US" sz="1200" dirty="0"/>
          </a:p>
        </p:txBody>
      </p:sp>
      <p:sp>
        <p:nvSpPr>
          <p:cNvPr id="23" name="Shape 20"/>
          <p:cNvSpPr/>
          <p:nvPr/>
        </p:nvSpPr>
        <p:spPr>
          <a:xfrm>
            <a:off x="566928" y="2971800"/>
            <a:ext cx="457200" cy="457200"/>
          </a:xfrm>
          <a:prstGeom prst="ellipse">
            <a:avLst/>
          </a:prstGeom>
          <a:solidFill>
            <a:srgbClr val="2F4BD8"/>
          </a:solidFill>
          <a:ln w="12700">
            <a:solidFill>
              <a:srgbClr val="2F4BD8"/>
            </a:solidFill>
            <a:prstDash val="solid"/>
          </a:ln>
        </p:spPr>
      </p:sp>
      <p:sp>
        <p:nvSpPr>
          <p:cNvPr id="24" name="Text 21"/>
          <p:cNvSpPr txBox="1"/>
          <p:nvPr/>
        </p:nvSpPr>
        <p:spPr>
          <a:xfrm>
            <a:off x="566928" y="2971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25" name="Shape 22"/>
          <p:cNvSpPr/>
          <p:nvPr/>
        </p:nvSpPr>
        <p:spPr>
          <a:xfrm>
            <a:off x="1207008" y="2743200"/>
            <a:ext cx="10241280" cy="914400"/>
          </a:xfrm>
          <a:prstGeom prst="roundRect">
            <a:avLst>
              <a:gd name="adj" fmla="val 6000"/>
            </a:avLst>
          </a:prstGeom>
          <a:solidFill>
            <a:srgbClr val="FBFCFE"/>
          </a:solidFill>
          <a:ln w="9525">
            <a:solidFill>
              <a:srgbClr val="D3D9E4"/>
            </a:solidFill>
            <a:prstDash val="solid"/>
          </a:ln>
        </p:spPr>
      </p:sp>
      <p:sp>
        <p:nvSpPr>
          <p:cNvPr id="26" name="Text 23"/>
          <p:cNvSpPr txBox="1"/>
          <p:nvPr/>
        </p:nvSpPr>
        <p:spPr>
          <a:xfrm>
            <a:off x="1389888" y="2816352"/>
            <a:ext cx="3657600" cy="310896"/>
          </a:xfrm>
          <a:prstGeom prst="rect">
            <a:avLst/>
          </a:prstGeom>
          <a:noFill/>
          <a:ln/>
        </p:spPr>
        <p:txBody>
          <a:bodyPr wrap="square" lIns="0" tIns="0" rIns="0" bIns="0" rtlCol="0" anchor="ctr"/>
          <a:lstStyle/>
          <a:p>
            <a:pPr indent="0" marL="0">
              <a:buNone/>
            </a:pPr>
            <a:r>
              <a:rPr lang="en-US" sz="1350" b="1" dirty="0">
                <a:solidFill>
                  <a:srgbClr val="171B26"/>
                </a:solidFill>
                <a:latin typeface="Segoe UI" pitchFamily="34" charset="0"/>
                <a:ea typeface="Segoe UI" pitchFamily="34" charset="-122"/>
                <a:cs typeface="Segoe UI" pitchFamily="34" charset="-120"/>
              </a:rPr>
              <a:t>BIOS ή UEFI;</a:t>
            </a:r>
            <a:endParaRPr lang="en-US" sz="1350" dirty="0"/>
          </a:p>
        </p:txBody>
      </p:sp>
      <p:sp>
        <p:nvSpPr>
          <p:cNvPr id="27" name="Text 24"/>
          <p:cNvSpPr txBox="1"/>
          <p:nvPr/>
        </p:nvSpPr>
        <p:spPr>
          <a:xfrm>
            <a:off x="1389888" y="3273552"/>
            <a:ext cx="3840480" cy="292608"/>
          </a:xfrm>
          <a:prstGeom prst="rect">
            <a:avLst/>
          </a:prstGeom>
          <a:noFill/>
          <a:ln/>
        </p:spPr>
        <p:txBody>
          <a:bodyPr wrap="square" lIns="0" tIns="0" rIns="0" bIns="0" rtlCol="0" anchor="ctr"/>
          <a:lstStyle/>
          <a:p>
            <a:pPr indent="0" marL="0">
              <a:buNone/>
            </a:pPr>
            <a:r>
              <a:rPr lang="en-US" sz="1050" dirty="0">
                <a:solidFill>
                  <a:srgbClr val="2F4BD8"/>
                </a:solidFill>
                <a:latin typeface="Consolas" pitchFamily="34" charset="0"/>
                <a:ea typeface="Consolas" pitchFamily="34" charset="-122"/>
                <a:cs typeface="Consolas" pitchFamily="34" charset="-120"/>
              </a:rPr>
              <a:t>msinfo32 → Λειτουργία BIOS</a:t>
            </a:r>
            <a:endParaRPr lang="en-US" sz="1050" dirty="0"/>
          </a:p>
        </p:txBody>
      </p:sp>
      <p:sp>
        <p:nvSpPr>
          <p:cNvPr id="28" name="Text 25"/>
          <p:cNvSpPr txBox="1"/>
          <p:nvPr/>
        </p:nvSpPr>
        <p:spPr>
          <a:xfrm>
            <a:off x="5394960" y="2743200"/>
            <a:ext cx="5897880" cy="914400"/>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Γράψε αν είναι UEFI ή Legacy (παλιό BIOS).</a:t>
            </a:r>
            <a:endParaRPr lang="en-US" sz="1200" dirty="0"/>
          </a:p>
        </p:txBody>
      </p:sp>
      <p:sp>
        <p:nvSpPr>
          <p:cNvPr id="29" name="Shape 26"/>
          <p:cNvSpPr/>
          <p:nvPr/>
        </p:nvSpPr>
        <p:spPr>
          <a:xfrm>
            <a:off x="566928" y="4023360"/>
            <a:ext cx="457200" cy="457200"/>
          </a:xfrm>
          <a:prstGeom prst="ellipse">
            <a:avLst/>
          </a:prstGeom>
          <a:solidFill>
            <a:srgbClr val="2F4BD8"/>
          </a:solidFill>
          <a:ln w="12700">
            <a:solidFill>
              <a:srgbClr val="2F4BD8"/>
            </a:solidFill>
            <a:prstDash val="solid"/>
          </a:ln>
        </p:spPr>
      </p:sp>
      <p:sp>
        <p:nvSpPr>
          <p:cNvPr id="30" name="Text 27"/>
          <p:cNvSpPr txBox="1"/>
          <p:nvPr/>
        </p:nvSpPr>
        <p:spPr>
          <a:xfrm>
            <a:off x="566928" y="4023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31" name="Shape 28"/>
          <p:cNvSpPr/>
          <p:nvPr/>
        </p:nvSpPr>
        <p:spPr>
          <a:xfrm>
            <a:off x="1207008" y="3794760"/>
            <a:ext cx="10241280" cy="914400"/>
          </a:xfrm>
          <a:prstGeom prst="roundRect">
            <a:avLst>
              <a:gd name="adj" fmla="val 6000"/>
            </a:avLst>
          </a:prstGeom>
          <a:solidFill>
            <a:srgbClr val="E4E8FB"/>
          </a:solidFill>
          <a:ln w="12700">
            <a:solidFill>
              <a:srgbClr val="E4E8FB"/>
            </a:solidFill>
            <a:prstDash val="solid"/>
          </a:ln>
        </p:spPr>
      </p:sp>
      <p:sp>
        <p:nvSpPr>
          <p:cNvPr id="32" name="Text 29"/>
          <p:cNvSpPr txBox="1"/>
          <p:nvPr/>
        </p:nvSpPr>
        <p:spPr>
          <a:xfrm>
            <a:off x="1389888" y="3867912"/>
            <a:ext cx="3657600" cy="310896"/>
          </a:xfrm>
          <a:prstGeom prst="rect">
            <a:avLst/>
          </a:prstGeom>
          <a:noFill/>
          <a:ln/>
        </p:spPr>
        <p:txBody>
          <a:bodyPr wrap="square" lIns="0" tIns="0" rIns="0" bIns="0" rtlCol="0" anchor="ctr"/>
          <a:lstStyle/>
          <a:p>
            <a:pPr indent="0" marL="0">
              <a:buNone/>
            </a:pPr>
            <a:r>
              <a:rPr lang="en-US" sz="1350" b="1" dirty="0">
                <a:solidFill>
                  <a:srgbClr val="171B26"/>
                </a:solidFill>
                <a:latin typeface="Segoe UI" pitchFamily="34" charset="0"/>
                <a:ea typeface="Segoe UI" pitchFamily="34" charset="-122"/>
                <a:cs typeface="Segoe UI" pitchFamily="34" charset="-120"/>
              </a:rPr>
              <a:t>Ασφαλής εκκίνηση</a:t>
            </a:r>
            <a:endParaRPr lang="en-US" sz="1350" dirty="0"/>
          </a:p>
        </p:txBody>
      </p:sp>
      <p:sp>
        <p:nvSpPr>
          <p:cNvPr id="33" name="Text 30"/>
          <p:cNvSpPr txBox="1"/>
          <p:nvPr/>
        </p:nvSpPr>
        <p:spPr>
          <a:xfrm>
            <a:off x="1389888" y="4325112"/>
            <a:ext cx="3840480" cy="292608"/>
          </a:xfrm>
          <a:prstGeom prst="rect">
            <a:avLst/>
          </a:prstGeom>
          <a:noFill/>
          <a:ln/>
        </p:spPr>
        <p:txBody>
          <a:bodyPr wrap="square" lIns="0" tIns="0" rIns="0" bIns="0" rtlCol="0" anchor="ctr"/>
          <a:lstStyle/>
          <a:p>
            <a:pPr indent="0" marL="0">
              <a:buNone/>
            </a:pPr>
            <a:r>
              <a:rPr lang="en-US" sz="1050" dirty="0">
                <a:solidFill>
                  <a:srgbClr val="2F4BD8"/>
                </a:solidFill>
                <a:latin typeface="Consolas" pitchFamily="34" charset="0"/>
                <a:ea typeface="Consolas" pitchFamily="34" charset="-122"/>
                <a:cs typeface="Consolas" pitchFamily="34" charset="-120"/>
              </a:rPr>
              <a:t>msinfo32 → Κατάσταση ασφαλούς εκκίνησης</a:t>
            </a:r>
            <a:endParaRPr lang="en-US" sz="1050" dirty="0"/>
          </a:p>
        </p:txBody>
      </p:sp>
      <p:sp>
        <p:nvSpPr>
          <p:cNvPr id="34" name="Text 31"/>
          <p:cNvSpPr txBox="1"/>
          <p:nvPr/>
        </p:nvSpPr>
        <p:spPr>
          <a:xfrm>
            <a:off x="5394960" y="3794760"/>
            <a:ext cx="5897880" cy="914400"/>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Ενεργή ή όχι; Εμποδίζει κακόβουλο λογισμικό να φορτωθεί πριν το ΛΣ.</a:t>
            </a:r>
            <a:endParaRPr lang="en-US" sz="1200" dirty="0"/>
          </a:p>
        </p:txBody>
      </p:sp>
      <p:sp>
        <p:nvSpPr>
          <p:cNvPr id="35" name="Shape 32"/>
          <p:cNvSpPr/>
          <p:nvPr/>
        </p:nvSpPr>
        <p:spPr>
          <a:xfrm>
            <a:off x="566928" y="5074920"/>
            <a:ext cx="457200" cy="457200"/>
          </a:xfrm>
          <a:prstGeom prst="ellipse">
            <a:avLst/>
          </a:prstGeom>
          <a:solidFill>
            <a:srgbClr val="2F4BD8"/>
          </a:solidFill>
          <a:ln w="12700">
            <a:solidFill>
              <a:srgbClr val="2F4BD8"/>
            </a:solidFill>
            <a:prstDash val="solid"/>
          </a:ln>
        </p:spPr>
      </p:sp>
      <p:sp>
        <p:nvSpPr>
          <p:cNvPr id="36" name="Text 33"/>
          <p:cNvSpPr txBox="1"/>
          <p:nvPr/>
        </p:nvSpPr>
        <p:spPr>
          <a:xfrm>
            <a:off x="566928" y="5074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3</a:t>
            </a:r>
            <a:endParaRPr lang="en-US" sz="1500" dirty="0"/>
          </a:p>
        </p:txBody>
      </p:sp>
      <p:sp>
        <p:nvSpPr>
          <p:cNvPr id="37" name="Shape 34"/>
          <p:cNvSpPr/>
          <p:nvPr/>
        </p:nvSpPr>
        <p:spPr>
          <a:xfrm>
            <a:off x="1207008" y="4846320"/>
            <a:ext cx="10241280" cy="914400"/>
          </a:xfrm>
          <a:prstGeom prst="roundRect">
            <a:avLst>
              <a:gd name="adj" fmla="val 6000"/>
            </a:avLst>
          </a:prstGeom>
          <a:solidFill>
            <a:srgbClr val="FBFCFE"/>
          </a:solidFill>
          <a:ln w="9525">
            <a:solidFill>
              <a:srgbClr val="D3D9E4"/>
            </a:solidFill>
            <a:prstDash val="solid"/>
          </a:ln>
        </p:spPr>
      </p:sp>
      <p:sp>
        <p:nvSpPr>
          <p:cNvPr id="38" name="Text 35"/>
          <p:cNvSpPr txBox="1"/>
          <p:nvPr/>
        </p:nvSpPr>
        <p:spPr>
          <a:xfrm>
            <a:off x="1389888" y="4919472"/>
            <a:ext cx="3657600" cy="310896"/>
          </a:xfrm>
          <a:prstGeom prst="rect">
            <a:avLst/>
          </a:prstGeom>
          <a:noFill/>
          <a:ln/>
        </p:spPr>
        <p:txBody>
          <a:bodyPr wrap="square" lIns="0" tIns="0" rIns="0" bIns="0" rtlCol="0" anchor="ctr"/>
          <a:lstStyle/>
          <a:p>
            <a:pPr indent="0" marL="0">
              <a:buNone/>
            </a:pPr>
            <a:r>
              <a:rPr lang="en-US" sz="1350" b="1" dirty="0">
                <a:solidFill>
                  <a:srgbClr val="171B26"/>
                </a:solidFill>
                <a:latin typeface="Segoe UI" pitchFamily="34" charset="0"/>
                <a:ea typeface="Segoe UI" pitchFamily="34" charset="-122"/>
                <a:cs typeface="Segoe UI" pitchFamily="34" charset="-120"/>
              </a:rPr>
              <a:t>Τι ξεκινά μαζί;</a:t>
            </a:r>
            <a:endParaRPr lang="en-US" sz="1350" dirty="0"/>
          </a:p>
        </p:txBody>
      </p:sp>
      <p:sp>
        <p:nvSpPr>
          <p:cNvPr id="39" name="Text 36"/>
          <p:cNvSpPr txBox="1"/>
          <p:nvPr/>
        </p:nvSpPr>
        <p:spPr>
          <a:xfrm>
            <a:off x="1389888" y="5376672"/>
            <a:ext cx="3840480" cy="292608"/>
          </a:xfrm>
          <a:prstGeom prst="rect">
            <a:avLst/>
          </a:prstGeom>
          <a:noFill/>
          <a:ln/>
        </p:spPr>
        <p:txBody>
          <a:bodyPr wrap="square" lIns="0" tIns="0" rIns="0" bIns="0" rtlCol="0" anchor="ctr"/>
          <a:lstStyle/>
          <a:p>
            <a:pPr indent="0" marL="0">
              <a:buNone/>
            </a:pPr>
            <a:r>
              <a:rPr lang="en-US" sz="1050" dirty="0">
                <a:solidFill>
                  <a:srgbClr val="2F4BD8"/>
                </a:solidFill>
                <a:latin typeface="Consolas" pitchFamily="34" charset="0"/>
                <a:ea typeface="Consolas" pitchFamily="34" charset="-122"/>
                <a:cs typeface="Consolas" pitchFamily="34" charset="-120"/>
              </a:rPr>
              <a:t>Διαχείριση εργασιών → Εφαρμογές εκκίνησης</a:t>
            </a:r>
            <a:endParaRPr lang="en-US" sz="1050" dirty="0"/>
          </a:p>
        </p:txBody>
      </p:sp>
      <p:sp>
        <p:nvSpPr>
          <p:cNvPr id="40" name="Text 37"/>
          <p:cNvSpPr txBox="1"/>
          <p:nvPr/>
        </p:nvSpPr>
        <p:spPr>
          <a:xfrm>
            <a:off x="5394960" y="4846320"/>
            <a:ext cx="5897880" cy="914400"/>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Δες ποια προγράμματα ξεκινούν μαζί με τα Windows (μόνο κοιτάμε).</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prak/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08  </a:t>
            </a:r>
            <a:pPr indent="0" marL="0">
              <a:buNone/>
            </a:pPr>
            <a:r>
              <a:rPr lang="en-US" sz="1000" spc="140" kern="0" dirty="0">
                <a:solidFill>
                  <a:srgbClr val="8A91A3"/>
                </a:solidFill>
                <a:latin typeface="Consolas" pitchFamily="34" charset="0"/>
                <a:ea typeface="Consolas" pitchFamily="34" charset="-122"/>
                <a:cs typeface="Consolas" pitchFamily="34" charset="-120"/>
              </a:rPr>
              <a:t>ΕΝΝΟΙΕΣ · 5 ΛΕΠΤΑ</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Πέντε γενιές σε 80 χρόνια</a:t>
            </a:r>
            <a:endParaRPr lang="en-US" sz="3000" dirty="0"/>
          </a:p>
        </p:txBody>
      </p:sp>
      <p:sp>
        <p:nvSpPr>
          <p:cNvPr id="8" name="Shape 5"/>
          <p:cNvSpPr/>
          <p:nvPr/>
        </p:nvSpPr>
        <p:spPr>
          <a:xfrm>
            <a:off x="1581912" y="1965960"/>
            <a:ext cx="8851392" cy="0"/>
          </a:xfrm>
          <a:prstGeom prst="line">
            <a:avLst/>
          </a:prstGeom>
          <a:noFill/>
          <a:ln w="25400">
            <a:solidFill>
              <a:srgbClr val="D3D9E4"/>
            </a:solidFill>
            <a:prstDash val="solid"/>
          </a:ln>
        </p:spPr>
      </p:sp>
      <p:sp>
        <p:nvSpPr>
          <p:cNvPr id="9" name="Shape 6"/>
          <p:cNvSpPr/>
          <p:nvPr/>
        </p:nvSpPr>
        <p:spPr>
          <a:xfrm>
            <a:off x="1325880" y="1709928"/>
            <a:ext cx="512064" cy="512064"/>
          </a:xfrm>
          <a:prstGeom prst="ellipse">
            <a:avLst/>
          </a:prstGeom>
          <a:solidFill>
            <a:srgbClr val="FBFCFE"/>
          </a:solidFill>
          <a:ln w="19050">
            <a:solidFill>
              <a:srgbClr val="2F4BD8"/>
            </a:solidFill>
            <a:prstDash val="solid"/>
          </a:ln>
        </p:spPr>
      </p:sp>
      <p:sp>
        <p:nvSpPr>
          <p:cNvPr id="10" name="Text 7"/>
          <p:cNvSpPr txBox="1"/>
          <p:nvPr/>
        </p:nvSpPr>
        <p:spPr>
          <a:xfrm>
            <a:off x="1325880" y="1709928"/>
            <a:ext cx="512064" cy="512064"/>
          </a:xfrm>
          <a:prstGeom prst="rect">
            <a:avLst/>
          </a:prstGeom>
          <a:noFill/>
          <a:ln/>
        </p:spPr>
        <p:txBody>
          <a:bodyPr wrap="square" lIns="0" tIns="0" rIns="0" bIns="0" rtlCol="0" anchor="ctr"/>
          <a:lstStyle/>
          <a:p>
            <a:pPr algn="ctr" indent="0" marL="0">
              <a:buNone/>
            </a:pPr>
            <a:r>
              <a:rPr lang="en-US" sz="1200" b="1" dirty="0">
                <a:solidFill>
                  <a:srgbClr val="2F4BD8"/>
                </a:solidFill>
                <a:latin typeface="Segoe UI" pitchFamily="34" charset="0"/>
                <a:ea typeface="Segoe UI" pitchFamily="34" charset="-122"/>
                <a:cs typeface="Segoe UI" pitchFamily="34" charset="-120"/>
              </a:rPr>
              <a:t>1η</a:t>
            </a:r>
            <a:endParaRPr lang="en-US" sz="1200" dirty="0"/>
          </a:p>
        </p:txBody>
      </p:sp>
      <p:sp>
        <p:nvSpPr>
          <p:cNvPr id="11" name="Text 8"/>
          <p:cNvSpPr txBox="1"/>
          <p:nvPr/>
        </p:nvSpPr>
        <p:spPr>
          <a:xfrm>
            <a:off x="566928" y="2331720"/>
            <a:ext cx="2029968" cy="274320"/>
          </a:xfrm>
          <a:prstGeom prst="rect">
            <a:avLst/>
          </a:prstGeom>
          <a:noFill/>
          <a:ln/>
        </p:spPr>
        <p:txBody>
          <a:bodyPr wrap="square" lIns="0" tIns="0" rIns="0" bIns="0" rtlCol="0" anchor="ctr"/>
          <a:lstStyle/>
          <a:p>
            <a:pPr algn="ctr" indent="0" marL="0">
              <a:buNone/>
            </a:pPr>
            <a:r>
              <a:rPr lang="en-US" sz="1100" b="1" dirty="0">
                <a:solidFill>
                  <a:srgbClr val="2F4BD8"/>
                </a:solidFill>
                <a:latin typeface="Consolas" pitchFamily="34" charset="0"/>
                <a:ea typeface="Consolas" pitchFamily="34" charset="-122"/>
                <a:cs typeface="Consolas" pitchFamily="34" charset="-120"/>
              </a:rPr>
              <a:t>1945–55</a:t>
            </a:r>
            <a:endParaRPr lang="en-US" sz="1100" dirty="0"/>
          </a:p>
        </p:txBody>
      </p:sp>
      <p:sp>
        <p:nvSpPr>
          <p:cNvPr id="12" name="Shape 9"/>
          <p:cNvSpPr/>
          <p:nvPr/>
        </p:nvSpPr>
        <p:spPr>
          <a:xfrm>
            <a:off x="566928" y="2697480"/>
            <a:ext cx="2029968" cy="1828800"/>
          </a:xfrm>
          <a:prstGeom prst="roundRect">
            <a:avLst>
              <a:gd name="adj" fmla="val 3000"/>
            </a:avLst>
          </a:prstGeom>
          <a:solidFill>
            <a:srgbClr val="FBFCFE"/>
          </a:solidFill>
          <a:ln w="9525">
            <a:solidFill>
              <a:srgbClr val="D3D9E4"/>
            </a:solidFill>
            <a:prstDash val="solid"/>
          </a:ln>
        </p:spPr>
      </p:sp>
      <p:sp>
        <p:nvSpPr>
          <p:cNvPr id="13" name="Text 10"/>
          <p:cNvSpPr txBox="1"/>
          <p:nvPr/>
        </p:nvSpPr>
        <p:spPr>
          <a:xfrm>
            <a:off x="731520" y="2825496"/>
            <a:ext cx="1700784" cy="242951"/>
          </a:xfrm>
          <a:prstGeom prst="rect">
            <a:avLst/>
          </a:prstGeom>
          <a:noFill/>
          <a:ln/>
        </p:spPr>
        <p:txBody>
          <a:bodyPr wrap="square" lIns="0" tIns="0" rIns="0" bIns="0" rtlCol="0" anchor="t"/>
          <a:lstStyle/>
          <a:p>
            <a:pPr indent="0" marL="0">
              <a:buNone/>
            </a:pPr>
            <a:r>
              <a:rPr lang="en-US" sz="1300" b="1" dirty="0">
                <a:solidFill>
                  <a:srgbClr val="171B26"/>
                </a:solidFill>
                <a:latin typeface="Segoe UI" pitchFamily="34" charset="0"/>
                <a:ea typeface="Segoe UI" pitchFamily="34" charset="-122"/>
                <a:cs typeface="Segoe UI" pitchFamily="34" charset="-120"/>
              </a:rPr>
              <a:t>Λυχνίες</a:t>
            </a:r>
            <a:endParaRPr lang="en-US" sz="1300" dirty="0"/>
          </a:p>
        </p:txBody>
      </p:sp>
      <p:sp>
        <p:nvSpPr>
          <p:cNvPr id="14" name="Text 11"/>
          <p:cNvSpPr txBox="1"/>
          <p:nvPr/>
        </p:nvSpPr>
        <p:spPr>
          <a:xfrm>
            <a:off x="731520" y="3159887"/>
            <a:ext cx="1700784" cy="1274953"/>
          </a:xfrm>
          <a:prstGeom prst="rect">
            <a:avLst/>
          </a:prstGeom>
          <a:noFill/>
          <a:ln/>
        </p:spPr>
        <p:txBody>
          <a:bodyPr wrap="square" lIns="0" tIns="0" rIns="0" bIns="0" rtlCol="0" anchor="t"/>
          <a:lstStyle/>
          <a:p>
            <a:pPr indent="0" marL="0">
              <a:lnSpc>
                <a:spcPct val="112000"/>
              </a:lnSpc>
              <a:buNone/>
            </a:pPr>
            <a:r>
              <a:rPr lang="en-US" sz="1150" dirty="0">
                <a:solidFill>
                  <a:srgbClr val="4A5265"/>
                </a:solidFill>
                <a:latin typeface="Segoe UI" pitchFamily="34" charset="0"/>
                <a:ea typeface="Segoe UI" pitchFamily="34" charset="-122"/>
                <a:cs typeface="Segoe UI" pitchFamily="34" charset="-120"/>
              </a:rPr>
              <a:t>Χωρίς ΛΣ. Διακόπτες και καλώδια.</a:t>
            </a:r>
            <a:endParaRPr lang="en-US" sz="1150" dirty="0"/>
          </a:p>
        </p:txBody>
      </p:sp>
      <p:sp>
        <p:nvSpPr>
          <p:cNvPr id="15" name="Shape 12"/>
          <p:cNvSpPr/>
          <p:nvPr/>
        </p:nvSpPr>
        <p:spPr>
          <a:xfrm>
            <a:off x="3538728" y="1709928"/>
            <a:ext cx="512064" cy="512064"/>
          </a:xfrm>
          <a:prstGeom prst="ellipse">
            <a:avLst/>
          </a:prstGeom>
          <a:solidFill>
            <a:srgbClr val="FBFCFE"/>
          </a:solidFill>
          <a:ln w="19050">
            <a:solidFill>
              <a:srgbClr val="2F4BD8"/>
            </a:solidFill>
            <a:prstDash val="solid"/>
          </a:ln>
        </p:spPr>
      </p:sp>
      <p:sp>
        <p:nvSpPr>
          <p:cNvPr id="16" name="Text 13"/>
          <p:cNvSpPr txBox="1"/>
          <p:nvPr/>
        </p:nvSpPr>
        <p:spPr>
          <a:xfrm>
            <a:off x="3538728" y="1709928"/>
            <a:ext cx="512064" cy="512064"/>
          </a:xfrm>
          <a:prstGeom prst="rect">
            <a:avLst/>
          </a:prstGeom>
          <a:noFill/>
          <a:ln/>
        </p:spPr>
        <p:txBody>
          <a:bodyPr wrap="square" lIns="0" tIns="0" rIns="0" bIns="0" rtlCol="0" anchor="ctr"/>
          <a:lstStyle/>
          <a:p>
            <a:pPr algn="ctr" indent="0" marL="0">
              <a:buNone/>
            </a:pPr>
            <a:r>
              <a:rPr lang="en-US" sz="1200" b="1" dirty="0">
                <a:solidFill>
                  <a:srgbClr val="2F4BD8"/>
                </a:solidFill>
                <a:latin typeface="Segoe UI" pitchFamily="34" charset="0"/>
                <a:ea typeface="Segoe UI" pitchFamily="34" charset="-122"/>
                <a:cs typeface="Segoe UI" pitchFamily="34" charset="-120"/>
              </a:rPr>
              <a:t>2η</a:t>
            </a:r>
            <a:endParaRPr lang="en-US" sz="1200" dirty="0"/>
          </a:p>
        </p:txBody>
      </p:sp>
      <p:sp>
        <p:nvSpPr>
          <p:cNvPr id="17" name="Text 14"/>
          <p:cNvSpPr txBox="1"/>
          <p:nvPr/>
        </p:nvSpPr>
        <p:spPr>
          <a:xfrm>
            <a:off x="2779776" y="2331720"/>
            <a:ext cx="2029968" cy="274320"/>
          </a:xfrm>
          <a:prstGeom prst="rect">
            <a:avLst/>
          </a:prstGeom>
          <a:noFill/>
          <a:ln/>
        </p:spPr>
        <p:txBody>
          <a:bodyPr wrap="square" lIns="0" tIns="0" rIns="0" bIns="0" rtlCol="0" anchor="ctr"/>
          <a:lstStyle/>
          <a:p>
            <a:pPr algn="ctr" indent="0" marL="0">
              <a:buNone/>
            </a:pPr>
            <a:r>
              <a:rPr lang="en-US" sz="1100" b="1" dirty="0">
                <a:solidFill>
                  <a:srgbClr val="2F4BD8"/>
                </a:solidFill>
                <a:latin typeface="Consolas" pitchFamily="34" charset="0"/>
                <a:ea typeface="Consolas" pitchFamily="34" charset="-122"/>
                <a:cs typeface="Consolas" pitchFamily="34" charset="-120"/>
              </a:rPr>
              <a:t>1955–65</a:t>
            </a:r>
            <a:endParaRPr lang="en-US" sz="1100" dirty="0"/>
          </a:p>
        </p:txBody>
      </p:sp>
      <p:sp>
        <p:nvSpPr>
          <p:cNvPr id="18" name="Shape 15"/>
          <p:cNvSpPr/>
          <p:nvPr/>
        </p:nvSpPr>
        <p:spPr>
          <a:xfrm>
            <a:off x="2779776" y="2697480"/>
            <a:ext cx="2029968" cy="1828800"/>
          </a:xfrm>
          <a:prstGeom prst="roundRect">
            <a:avLst>
              <a:gd name="adj" fmla="val 3000"/>
            </a:avLst>
          </a:prstGeom>
          <a:solidFill>
            <a:srgbClr val="E4E8FB"/>
          </a:solidFill>
          <a:ln w="12700">
            <a:solidFill>
              <a:srgbClr val="E4E8FB"/>
            </a:solidFill>
            <a:prstDash val="solid"/>
          </a:ln>
        </p:spPr>
      </p:sp>
      <p:sp>
        <p:nvSpPr>
          <p:cNvPr id="19" name="Text 16"/>
          <p:cNvSpPr txBox="1"/>
          <p:nvPr/>
        </p:nvSpPr>
        <p:spPr>
          <a:xfrm>
            <a:off x="2944368" y="2825496"/>
            <a:ext cx="1700784" cy="242951"/>
          </a:xfrm>
          <a:prstGeom prst="rect">
            <a:avLst/>
          </a:prstGeom>
          <a:noFill/>
          <a:ln/>
        </p:spPr>
        <p:txBody>
          <a:bodyPr wrap="square" lIns="0" tIns="0" rIns="0" bIns="0" rtlCol="0" anchor="t"/>
          <a:lstStyle/>
          <a:p>
            <a:pPr indent="0" marL="0">
              <a:buNone/>
            </a:pPr>
            <a:r>
              <a:rPr lang="en-US" sz="1300" b="1" dirty="0">
                <a:solidFill>
                  <a:srgbClr val="171B26"/>
                </a:solidFill>
                <a:latin typeface="Segoe UI" pitchFamily="34" charset="0"/>
                <a:ea typeface="Segoe UI" pitchFamily="34" charset="-122"/>
                <a:cs typeface="Segoe UI" pitchFamily="34" charset="-120"/>
              </a:rPr>
              <a:t>Τρανζίστορ</a:t>
            </a:r>
            <a:endParaRPr lang="en-US" sz="1300" dirty="0"/>
          </a:p>
        </p:txBody>
      </p:sp>
      <p:sp>
        <p:nvSpPr>
          <p:cNvPr id="20" name="Text 17"/>
          <p:cNvSpPr txBox="1"/>
          <p:nvPr/>
        </p:nvSpPr>
        <p:spPr>
          <a:xfrm>
            <a:off x="2944368" y="3159887"/>
            <a:ext cx="1700784" cy="1274953"/>
          </a:xfrm>
          <a:prstGeom prst="rect">
            <a:avLst/>
          </a:prstGeom>
          <a:noFill/>
          <a:ln/>
        </p:spPr>
        <p:txBody>
          <a:bodyPr wrap="square" lIns="0" tIns="0" rIns="0" bIns="0" rtlCol="0" anchor="t"/>
          <a:lstStyle/>
          <a:p>
            <a:pPr indent="0" marL="0">
              <a:lnSpc>
                <a:spcPct val="112000"/>
              </a:lnSpc>
              <a:buNone/>
            </a:pPr>
            <a:r>
              <a:rPr lang="en-US" sz="1150" dirty="0">
                <a:solidFill>
                  <a:srgbClr val="4A5265"/>
                </a:solidFill>
                <a:latin typeface="Segoe UI" pitchFamily="34" charset="0"/>
                <a:ea typeface="Segoe UI" pitchFamily="34" charset="-122"/>
                <a:cs typeface="Segoe UI" pitchFamily="34" charset="-120"/>
              </a:rPr>
              <a:t>Ομαδική επεξεργασία (batch).</a:t>
            </a:r>
            <a:endParaRPr lang="en-US" sz="1150" dirty="0"/>
          </a:p>
        </p:txBody>
      </p:sp>
      <p:sp>
        <p:nvSpPr>
          <p:cNvPr id="21" name="Shape 18"/>
          <p:cNvSpPr/>
          <p:nvPr/>
        </p:nvSpPr>
        <p:spPr>
          <a:xfrm>
            <a:off x="5751576" y="1709928"/>
            <a:ext cx="512064" cy="512064"/>
          </a:xfrm>
          <a:prstGeom prst="ellipse">
            <a:avLst/>
          </a:prstGeom>
          <a:solidFill>
            <a:srgbClr val="FBFCFE"/>
          </a:solidFill>
          <a:ln w="19050">
            <a:solidFill>
              <a:srgbClr val="2F4BD8"/>
            </a:solidFill>
            <a:prstDash val="solid"/>
          </a:ln>
        </p:spPr>
      </p:sp>
      <p:sp>
        <p:nvSpPr>
          <p:cNvPr id="22" name="Text 19"/>
          <p:cNvSpPr txBox="1"/>
          <p:nvPr/>
        </p:nvSpPr>
        <p:spPr>
          <a:xfrm>
            <a:off x="5751576" y="1709928"/>
            <a:ext cx="512064" cy="512064"/>
          </a:xfrm>
          <a:prstGeom prst="rect">
            <a:avLst/>
          </a:prstGeom>
          <a:noFill/>
          <a:ln/>
        </p:spPr>
        <p:txBody>
          <a:bodyPr wrap="square" lIns="0" tIns="0" rIns="0" bIns="0" rtlCol="0" anchor="ctr"/>
          <a:lstStyle/>
          <a:p>
            <a:pPr algn="ctr" indent="0" marL="0">
              <a:buNone/>
            </a:pPr>
            <a:r>
              <a:rPr lang="en-US" sz="1200" b="1" dirty="0">
                <a:solidFill>
                  <a:srgbClr val="2F4BD8"/>
                </a:solidFill>
                <a:latin typeface="Segoe UI" pitchFamily="34" charset="0"/>
                <a:ea typeface="Segoe UI" pitchFamily="34" charset="-122"/>
                <a:cs typeface="Segoe UI" pitchFamily="34" charset="-120"/>
              </a:rPr>
              <a:t>3η</a:t>
            </a:r>
            <a:endParaRPr lang="en-US" sz="1200" dirty="0"/>
          </a:p>
        </p:txBody>
      </p:sp>
      <p:sp>
        <p:nvSpPr>
          <p:cNvPr id="23" name="Text 20"/>
          <p:cNvSpPr txBox="1"/>
          <p:nvPr/>
        </p:nvSpPr>
        <p:spPr>
          <a:xfrm>
            <a:off x="4992624" y="2331720"/>
            <a:ext cx="2029968" cy="274320"/>
          </a:xfrm>
          <a:prstGeom prst="rect">
            <a:avLst/>
          </a:prstGeom>
          <a:noFill/>
          <a:ln/>
        </p:spPr>
        <p:txBody>
          <a:bodyPr wrap="square" lIns="0" tIns="0" rIns="0" bIns="0" rtlCol="0" anchor="ctr"/>
          <a:lstStyle/>
          <a:p>
            <a:pPr algn="ctr" indent="0" marL="0">
              <a:buNone/>
            </a:pPr>
            <a:r>
              <a:rPr lang="en-US" sz="1100" b="1" dirty="0">
                <a:solidFill>
                  <a:srgbClr val="2F4BD8"/>
                </a:solidFill>
                <a:latin typeface="Consolas" pitchFamily="34" charset="0"/>
                <a:ea typeface="Consolas" pitchFamily="34" charset="-122"/>
                <a:cs typeface="Consolas" pitchFamily="34" charset="-120"/>
              </a:rPr>
              <a:t>1965–80</a:t>
            </a:r>
            <a:endParaRPr lang="en-US" sz="1100" dirty="0"/>
          </a:p>
        </p:txBody>
      </p:sp>
      <p:sp>
        <p:nvSpPr>
          <p:cNvPr id="24" name="Shape 21"/>
          <p:cNvSpPr/>
          <p:nvPr/>
        </p:nvSpPr>
        <p:spPr>
          <a:xfrm>
            <a:off x="4992624" y="2697480"/>
            <a:ext cx="2029968" cy="1828800"/>
          </a:xfrm>
          <a:prstGeom prst="roundRect">
            <a:avLst>
              <a:gd name="adj" fmla="val 3000"/>
            </a:avLst>
          </a:prstGeom>
          <a:solidFill>
            <a:srgbClr val="FBFCFE"/>
          </a:solidFill>
          <a:ln w="9525">
            <a:solidFill>
              <a:srgbClr val="D3D9E4"/>
            </a:solidFill>
            <a:prstDash val="solid"/>
          </a:ln>
        </p:spPr>
      </p:sp>
      <p:sp>
        <p:nvSpPr>
          <p:cNvPr id="25" name="Text 22"/>
          <p:cNvSpPr txBox="1"/>
          <p:nvPr/>
        </p:nvSpPr>
        <p:spPr>
          <a:xfrm>
            <a:off x="5157216" y="2825496"/>
            <a:ext cx="1700784" cy="242951"/>
          </a:xfrm>
          <a:prstGeom prst="rect">
            <a:avLst/>
          </a:prstGeom>
          <a:noFill/>
          <a:ln/>
        </p:spPr>
        <p:txBody>
          <a:bodyPr wrap="square" lIns="0" tIns="0" rIns="0" bIns="0" rtlCol="0" anchor="t"/>
          <a:lstStyle/>
          <a:p>
            <a:pPr indent="0" marL="0">
              <a:buNone/>
            </a:pPr>
            <a:r>
              <a:rPr lang="en-US" sz="1300" b="1" dirty="0">
                <a:solidFill>
                  <a:srgbClr val="171B26"/>
                </a:solidFill>
                <a:latin typeface="Segoe UI" pitchFamily="34" charset="0"/>
                <a:ea typeface="Segoe UI" pitchFamily="34" charset="-122"/>
                <a:cs typeface="Segoe UI" pitchFamily="34" charset="-120"/>
              </a:rPr>
              <a:t>Ολοκληρωμένα</a:t>
            </a:r>
            <a:endParaRPr lang="en-US" sz="1300" dirty="0"/>
          </a:p>
        </p:txBody>
      </p:sp>
      <p:sp>
        <p:nvSpPr>
          <p:cNvPr id="26" name="Text 23"/>
          <p:cNvSpPr txBox="1"/>
          <p:nvPr/>
        </p:nvSpPr>
        <p:spPr>
          <a:xfrm>
            <a:off x="5157216" y="3159887"/>
            <a:ext cx="1700784" cy="1274953"/>
          </a:xfrm>
          <a:prstGeom prst="rect">
            <a:avLst/>
          </a:prstGeom>
          <a:noFill/>
          <a:ln/>
        </p:spPr>
        <p:txBody>
          <a:bodyPr wrap="square" lIns="0" tIns="0" rIns="0" bIns="0" rtlCol="0" anchor="t"/>
          <a:lstStyle/>
          <a:p>
            <a:pPr indent="0" marL="0">
              <a:lnSpc>
                <a:spcPct val="112000"/>
              </a:lnSpc>
              <a:buNone/>
            </a:pPr>
            <a:r>
              <a:rPr lang="en-US" sz="1150" dirty="0">
                <a:solidFill>
                  <a:srgbClr val="4A5265"/>
                </a:solidFill>
                <a:latin typeface="Segoe UI" pitchFamily="34" charset="0"/>
                <a:ea typeface="Segoe UI" pitchFamily="34" charset="-122"/>
                <a:cs typeface="Segoe UI" pitchFamily="34" charset="-120"/>
              </a:rPr>
              <a:t>Πολυπρογραμματισμός, UNIX (1969).</a:t>
            </a:r>
            <a:endParaRPr lang="en-US" sz="1150" dirty="0"/>
          </a:p>
        </p:txBody>
      </p:sp>
      <p:sp>
        <p:nvSpPr>
          <p:cNvPr id="27" name="Shape 24"/>
          <p:cNvSpPr/>
          <p:nvPr/>
        </p:nvSpPr>
        <p:spPr>
          <a:xfrm>
            <a:off x="7964424" y="1709928"/>
            <a:ext cx="512064" cy="512064"/>
          </a:xfrm>
          <a:prstGeom prst="ellipse">
            <a:avLst/>
          </a:prstGeom>
          <a:solidFill>
            <a:srgbClr val="FBFCFE"/>
          </a:solidFill>
          <a:ln w="19050">
            <a:solidFill>
              <a:srgbClr val="2F4BD8"/>
            </a:solidFill>
            <a:prstDash val="solid"/>
          </a:ln>
        </p:spPr>
      </p:sp>
      <p:sp>
        <p:nvSpPr>
          <p:cNvPr id="28" name="Text 25"/>
          <p:cNvSpPr txBox="1"/>
          <p:nvPr/>
        </p:nvSpPr>
        <p:spPr>
          <a:xfrm>
            <a:off x="7964424" y="1709928"/>
            <a:ext cx="512064" cy="512064"/>
          </a:xfrm>
          <a:prstGeom prst="rect">
            <a:avLst/>
          </a:prstGeom>
          <a:noFill/>
          <a:ln/>
        </p:spPr>
        <p:txBody>
          <a:bodyPr wrap="square" lIns="0" tIns="0" rIns="0" bIns="0" rtlCol="0" anchor="ctr"/>
          <a:lstStyle/>
          <a:p>
            <a:pPr algn="ctr" indent="0" marL="0">
              <a:buNone/>
            </a:pPr>
            <a:r>
              <a:rPr lang="en-US" sz="1200" b="1" dirty="0">
                <a:solidFill>
                  <a:srgbClr val="2F4BD8"/>
                </a:solidFill>
                <a:latin typeface="Segoe UI" pitchFamily="34" charset="0"/>
                <a:ea typeface="Segoe UI" pitchFamily="34" charset="-122"/>
                <a:cs typeface="Segoe UI" pitchFamily="34" charset="-120"/>
              </a:rPr>
              <a:t>4η</a:t>
            </a:r>
            <a:endParaRPr lang="en-US" sz="1200" dirty="0"/>
          </a:p>
        </p:txBody>
      </p:sp>
      <p:sp>
        <p:nvSpPr>
          <p:cNvPr id="29" name="Text 26"/>
          <p:cNvSpPr txBox="1"/>
          <p:nvPr/>
        </p:nvSpPr>
        <p:spPr>
          <a:xfrm>
            <a:off x="7205472" y="2331720"/>
            <a:ext cx="2029968" cy="274320"/>
          </a:xfrm>
          <a:prstGeom prst="rect">
            <a:avLst/>
          </a:prstGeom>
          <a:noFill/>
          <a:ln/>
        </p:spPr>
        <p:txBody>
          <a:bodyPr wrap="square" lIns="0" tIns="0" rIns="0" bIns="0" rtlCol="0" anchor="ctr"/>
          <a:lstStyle/>
          <a:p>
            <a:pPr algn="ctr" indent="0" marL="0">
              <a:buNone/>
            </a:pPr>
            <a:r>
              <a:rPr lang="en-US" sz="1100" b="1" dirty="0">
                <a:solidFill>
                  <a:srgbClr val="2F4BD8"/>
                </a:solidFill>
                <a:latin typeface="Consolas" pitchFamily="34" charset="0"/>
                <a:ea typeface="Consolas" pitchFamily="34" charset="-122"/>
                <a:cs typeface="Consolas" pitchFamily="34" charset="-120"/>
              </a:rPr>
              <a:t>1980–</a:t>
            </a:r>
            <a:endParaRPr lang="en-US" sz="1100" dirty="0"/>
          </a:p>
        </p:txBody>
      </p:sp>
      <p:sp>
        <p:nvSpPr>
          <p:cNvPr id="30" name="Shape 27"/>
          <p:cNvSpPr/>
          <p:nvPr/>
        </p:nvSpPr>
        <p:spPr>
          <a:xfrm>
            <a:off x="7205472" y="2697480"/>
            <a:ext cx="2029968" cy="1828800"/>
          </a:xfrm>
          <a:prstGeom prst="roundRect">
            <a:avLst>
              <a:gd name="adj" fmla="val 3000"/>
            </a:avLst>
          </a:prstGeom>
          <a:solidFill>
            <a:srgbClr val="E4E8FB"/>
          </a:solidFill>
          <a:ln w="12700">
            <a:solidFill>
              <a:srgbClr val="E4E8FB"/>
            </a:solidFill>
            <a:prstDash val="solid"/>
          </a:ln>
        </p:spPr>
      </p:sp>
      <p:sp>
        <p:nvSpPr>
          <p:cNvPr id="31" name="Text 28"/>
          <p:cNvSpPr txBox="1"/>
          <p:nvPr/>
        </p:nvSpPr>
        <p:spPr>
          <a:xfrm>
            <a:off x="7370064" y="2825496"/>
            <a:ext cx="1700784" cy="242951"/>
          </a:xfrm>
          <a:prstGeom prst="rect">
            <a:avLst/>
          </a:prstGeom>
          <a:noFill/>
          <a:ln/>
        </p:spPr>
        <p:txBody>
          <a:bodyPr wrap="square" lIns="0" tIns="0" rIns="0" bIns="0" rtlCol="0" anchor="t"/>
          <a:lstStyle/>
          <a:p>
            <a:pPr indent="0" marL="0">
              <a:buNone/>
            </a:pPr>
            <a:r>
              <a:rPr lang="en-US" sz="1300" b="1" dirty="0">
                <a:solidFill>
                  <a:srgbClr val="171B26"/>
                </a:solidFill>
                <a:latin typeface="Segoe UI" pitchFamily="34" charset="0"/>
                <a:ea typeface="Segoe UI" pitchFamily="34" charset="-122"/>
                <a:cs typeface="Segoe UI" pitchFamily="34" charset="-120"/>
              </a:rPr>
              <a:t>Προσωπικοί Η/Υ</a:t>
            </a:r>
            <a:endParaRPr lang="en-US" sz="1300" dirty="0"/>
          </a:p>
        </p:txBody>
      </p:sp>
      <p:sp>
        <p:nvSpPr>
          <p:cNvPr id="32" name="Text 29"/>
          <p:cNvSpPr txBox="1"/>
          <p:nvPr/>
        </p:nvSpPr>
        <p:spPr>
          <a:xfrm>
            <a:off x="7370064" y="3159887"/>
            <a:ext cx="1700784" cy="1274953"/>
          </a:xfrm>
          <a:prstGeom prst="rect">
            <a:avLst/>
          </a:prstGeom>
          <a:noFill/>
          <a:ln/>
        </p:spPr>
        <p:txBody>
          <a:bodyPr wrap="square" lIns="0" tIns="0" rIns="0" bIns="0" rtlCol="0" anchor="t"/>
          <a:lstStyle/>
          <a:p>
            <a:pPr indent="0" marL="0">
              <a:lnSpc>
                <a:spcPct val="112000"/>
              </a:lnSpc>
              <a:buNone/>
            </a:pPr>
            <a:r>
              <a:rPr lang="en-US" sz="1150" dirty="0">
                <a:solidFill>
                  <a:srgbClr val="4A5265"/>
                </a:solidFill>
                <a:latin typeface="Segoe UI" pitchFamily="34" charset="0"/>
                <a:ea typeface="Segoe UI" pitchFamily="34" charset="-122"/>
                <a:cs typeface="Segoe UI" pitchFamily="34" charset="-120"/>
              </a:rPr>
              <a:t>MS-DOS, Windows, Mac, Linux (1991).</a:t>
            </a:r>
            <a:endParaRPr lang="en-US" sz="1150" dirty="0"/>
          </a:p>
        </p:txBody>
      </p:sp>
      <p:sp>
        <p:nvSpPr>
          <p:cNvPr id="33" name="Shape 30"/>
          <p:cNvSpPr/>
          <p:nvPr/>
        </p:nvSpPr>
        <p:spPr>
          <a:xfrm>
            <a:off x="10177272" y="1709928"/>
            <a:ext cx="512064" cy="512064"/>
          </a:xfrm>
          <a:prstGeom prst="ellipse">
            <a:avLst/>
          </a:prstGeom>
          <a:solidFill>
            <a:srgbClr val="2F4BD8"/>
          </a:solidFill>
          <a:ln w="19050">
            <a:solidFill>
              <a:srgbClr val="2F4BD8"/>
            </a:solidFill>
            <a:prstDash val="solid"/>
          </a:ln>
        </p:spPr>
      </p:sp>
      <p:sp>
        <p:nvSpPr>
          <p:cNvPr id="34" name="Text 31"/>
          <p:cNvSpPr txBox="1"/>
          <p:nvPr/>
        </p:nvSpPr>
        <p:spPr>
          <a:xfrm>
            <a:off x="10177272" y="1709928"/>
            <a:ext cx="512064" cy="512064"/>
          </a:xfrm>
          <a:prstGeom prst="rect">
            <a:avLst/>
          </a:prstGeom>
          <a:noFill/>
          <a:ln/>
        </p:spPr>
        <p:txBody>
          <a:bodyPr wrap="square" lIns="0" tIns="0" rIns="0" bIns="0" rtlCol="0" anchor="ctr"/>
          <a:lstStyle/>
          <a:p>
            <a:pPr algn="ctr" indent="0" marL="0">
              <a:buNone/>
            </a:pPr>
            <a:r>
              <a:rPr lang="en-US" sz="1200" b="1" dirty="0">
                <a:solidFill>
                  <a:srgbClr val="FFFFFF"/>
                </a:solidFill>
                <a:latin typeface="Segoe UI" pitchFamily="34" charset="0"/>
                <a:ea typeface="Segoe UI" pitchFamily="34" charset="-122"/>
                <a:cs typeface="Segoe UI" pitchFamily="34" charset="-120"/>
              </a:rPr>
              <a:t>5η</a:t>
            </a:r>
            <a:endParaRPr lang="en-US" sz="1200" dirty="0"/>
          </a:p>
        </p:txBody>
      </p:sp>
      <p:sp>
        <p:nvSpPr>
          <p:cNvPr id="35" name="Text 32"/>
          <p:cNvSpPr txBox="1"/>
          <p:nvPr/>
        </p:nvSpPr>
        <p:spPr>
          <a:xfrm>
            <a:off x="9418320" y="2331720"/>
            <a:ext cx="2029968" cy="274320"/>
          </a:xfrm>
          <a:prstGeom prst="rect">
            <a:avLst/>
          </a:prstGeom>
          <a:noFill/>
          <a:ln/>
        </p:spPr>
        <p:txBody>
          <a:bodyPr wrap="square" lIns="0" tIns="0" rIns="0" bIns="0" rtlCol="0" anchor="ctr"/>
          <a:lstStyle/>
          <a:p>
            <a:pPr algn="ctr" indent="0" marL="0">
              <a:buNone/>
            </a:pPr>
            <a:r>
              <a:rPr lang="en-US" sz="1100" b="1" dirty="0">
                <a:solidFill>
                  <a:srgbClr val="2F4BD8"/>
                </a:solidFill>
                <a:latin typeface="Consolas" pitchFamily="34" charset="0"/>
                <a:ea typeface="Consolas" pitchFamily="34" charset="-122"/>
                <a:cs typeface="Consolas" pitchFamily="34" charset="-120"/>
              </a:rPr>
              <a:t>2007–</a:t>
            </a:r>
            <a:endParaRPr lang="en-US" sz="1100" dirty="0"/>
          </a:p>
        </p:txBody>
      </p:sp>
      <p:sp>
        <p:nvSpPr>
          <p:cNvPr id="36" name="Shape 33"/>
          <p:cNvSpPr/>
          <p:nvPr/>
        </p:nvSpPr>
        <p:spPr>
          <a:xfrm>
            <a:off x="9418320" y="2697480"/>
            <a:ext cx="2029968" cy="1828800"/>
          </a:xfrm>
          <a:prstGeom prst="roundRect">
            <a:avLst>
              <a:gd name="adj" fmla="val 3000"/>
            </a:avLst>
          </a:prstGeom>
          <a:solidFill>
            <a:srgbClr val="FBFCFE"/>
          </a:solidFill>
          <a:ln w="9525">
            <a:solidFill>
              <a:srgbClr val="D3D9E4"/>
            </a:solidFill>
            <a:prstDash val="solid"/>
          </a:ln>
        </p:spPr>
      </p:sp>
      <p:sp>
        <p:nvSpPr>
          <p:cNvPr id="37" name="Text 34"/>
          <p:cNvSpPr txBox="1"/>
          <p:nvPr/>
        </p:nvSpPr>
        <p:spPr>
          <a:xfrm>
            <a:off x="9582912" y="2825496"/>
            <a:ext cx="1700784" cy="242951"/>
          </a:xfrm>
          <a:prstGeom prst="rect">
            <a:avLst/>
          </a:prstGeom>
          <a:noFill/>
          <a:ln/>
        </p:spPr>
        <p:txBody>
          <a:bodyPr wrap="square" lIns="0" tIns="0" rIns="0" bIns="0" rtlCol="0" anchor="t"/>
          <a:lstStyle/>
          <a:p>
            <a:pPr indent="0" marL="0">
              <a:buNone/>
            </a:pPr>
            <a:r>
              <a:rPr lang="en-US" sz="1300" b="1" dirty="0">
                <a:solidFill>
                  <a:srgbClr val="171B26"/>
                </a:solidFill>
                <a:latin typeface="Segoe UI" pitchFamily="34" charset="0"/>
                <a:ea typeface="Segoe UI" pitchFamily="34" charset="-122"/>
                <a:cs typeface="Segoe UI" pitchFamily="34" charset="-120"/>
              </a:rPr>
              <a:t>Κινητά &amp; cloud</a:t>
            </a:r>
            <a:endParaRPr lang="en-US" sz="1300" dirty="0"/>
          </a:p>
        </p:txBody>
      </p:sp>
      <p:sp>
        <p:nvSpPr>
          <p:cNvPr id="38" name="Text 35"/>
          <p:cNvSpPr txBox="1"/>
          <p:nvPr/>
        </p:nvSpPr>
        <p:spPr>
          <a:xfrm>
            <a:off x="9582912" y="3159887"/>
            <a:ext cx="1700784" cy="1274953"/>
          </a:xfrm>
          <a:prstGeom prst="rect">
            <a:avLst/>
          </a:prstGeom>
          <a:noFill/>
          <a:ln/>
        </p:spPr>
        <p:txBody>
          <a:bodyPr wrap="square" lIns="0" tIns="0" rIns="0" bIns="0" rtlCol="0" anchor="t"/>
          <a:lstStyle/>
          <a:p>
            <a:pPr indent="0" marL="0">
              <a:lnSpc>
                <a:spcPct val="112000"/>
              </a:lnSpc>
              <a:buNone/>
            </a:pPr>
            <a:r>
              <a:rPr lang="en-US" sz="1150" dirty="0">
                <a:solidFill>
                  <a:srgbClr val="4A5265"/>
                </a:solidFill>
                <a:latin typeface="Segoe UI" pitchFamily="34" charset="0"/>
                <a:ea typeface="Segoe UI" pitchFamily="34" charset="-122"/>
                <a:cs typeface="Segoe UI" pitchFamily="34" charset="-120"/>
              </a:rPr>
              <a:t>iOS, Android, εικονικές μηχανές.</a:t>
            </a:r>
            <a:endParaRPr lang="en-US" sz="1150" dirty="0"/>
          </a:p>
        </p:txBody>
      </p:sp>
      <p:sp>
        <p:nvSpPr>
          <p:cNvPr id="39" name="Shape 36"/>
          <p:cNvSpPr/>
          <p:nvPr/>
        </p:nvSpPr>
        <p:spPr>
          <a:xfrm>
            <a:off x="566928" y="4800600"/>
            <a:ext cx="10881360" cy="1143000"/>
          </a:xfrm>
          <a:prstGeom prst="roundRect">
            <a:avLst>
              <a:gd name="adj" fmla="val 4800"/>
            </a:avLst>
          </a:prstGeom>
          <a:solidFill>
            <a:srgbClr val="F6EDD6"/>
          </a:solidFill>
          <a:ln w="12700">
            <a:solidFill>
              <a:srgbClr val="F6EDD6"/>
            </a:solidFill>
            <a:prstDash val="solid"/>
          </a:ln>
        </p:spPr>
      </p:sp>
      <p:sp>
        <p:nvSpPr>
          <p:cNvPr id="40" name="Text 37"/>
          <p:cNvSpPr txBox="1"/>
          <p:nvPr/>
        </p:nvSpPr>
        <p:spPr>
          <a:xfrm>
            <a:off x="731520" y="4928616"/>
            <a:ext cx="1055217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Μίνι αποστολή (2΄)</a:t>
            </a:r>
            <a:endParaRPr lang="en-US" sz="1400" dirty="0"/>
          </a:p>
        </p:txBody>
      </p:sp>
      <p:sp>
        <p:nvSpPr>
          <p:cNvPr id="41" name="Text 38"/>
          <p:cNvSpPr txBox="1"/>
          <p:nvPr/>
        </p:nvSpPr>
        <p:spPr>
          <a:xfrm>
            <a:off x="731520" y="5278882"/>
            <a:ext cx="10552176" cy="573278"/>
          </a:xfrm>
          <a:prstGeom prst="rect">
            <a:avLst/>
          </a:prstGeom>
          <a:noFill/>
          <a:ln/>
        </p:spPr>
        <p:txBody>
          <a:bodyPr wrap="square" lIns="0" tIns="0" rIns="0" bIns="0" rtlCol="0" anchor="t"/>
          <a:lstStyle/>
          <a:p>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Τρέξε ξανά </a:t>
            </a:r>
            <a:pPr indent="0" marL="0">
              <a:lnSpc>
                <a:spcPct val="112000"/>
              </a:lnSpc>
              <a:buNone/>
            </a:pPr>
            <a:r>
              <a:rPr lang="en-US" sz="1250" dirty="0">
                <a:solidFill>
                  <a:srgbClr val="2F4BD8"/>
                </a:solidFill>
                <a:latin typeface="Consolas" pitchFamily="34" charset="0"/>
                <a:ea typeface="Consolas" pitchFamily="34" charset="-122"/>
                <a:cs typeface="Consolas" pitchFamily="34" charset="-120"/>
              </a:rPr>
              <a:t>winver</a:t>
            </a:r>
            <a:pPr indent="0" marL="0">
              <a:lnSpc>
                <a:spcPct val="112000"/>
              </a:lnSpc>
              <a:buNone/>
            </a:pPr>
            <a:r>
              <a:rPr lang="en-US" sz="1250" dirty="0">
                <a:solidFill>
                  <a:srgbClr val="4A5265"/>
                </a:solidFill>
                <a:latin typeface="Segoe UI" pitchFamily="34" charset="0"/>
                <a:ea typeface="Segoe UI" pitchFamily="34" charset="-122"/>
                <a:cs typeface="Segoe UI" pitchFamily="34" charset="-120"/>
              </a:rPr>
              <a:t>. Σε ποια γενιά ανήκει το ΛΣ σου; Ποιο είναι το παλαιότερο ΛΣ που έχεις χρησιμοποιήσει;</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prak/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09  </a:t>
            </a:r>
            <a:pPr indent="0" marL="0">
              <a:buNone/>
            </a:pPr>
            <a:r>
              <a:rPr lang="en-US" sz="1000" spc="140" kern="0" dirty="0">
                <a:solidFill>
                  <a:srgbClr val="8A91A3"/>
                </a:solidFill>
                <a:latin typeface="Consolas" pitchFamily="34" charset="0"/>
                <a:ea typeface="Consolas" pitchFamily="34" charset="-122"/>
                <a:cs typeface="Consolas" pitchFamily="34" charset="-120"/>
              </a:rPr>
              <a:t>ΑΠΟΣΤΟΛΗ 5 · ΣΤΟ PC</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Εμπορικό ή ελεύθερο;</a:t>
            </a:r>
            <a:endParaRPr lang="en-US" sz="3000" dirty="0"/>
          </a:p>
        </p:txBody>
      </p:sp>
      <p:sp>
        <p:nvSpPr>
          <p:cNvPr id="8" name="Text 5"/>
          <p:cNvSpPr txBox="1"/>
          <p:nvPr/>
        </p:nvSpPr>
        <p:spPr>
          <a:xfrm>
            <a:off x="8138160" y="749808"/>
            <a:ext cx="2743200" cy="274320"/>
          </a:xfrm>
          <a:prstGeom prst="rect">
            <a:avLst/>
          </a:prstGeom>
          <a:noFill/>
          <a:ln/>
        </p:spPr>
        <p:txBody>
          <a:bodyPr wrap="square" rtlCol="0" anchor="ctr"/>
          <a:lstStyle/>
          <a:p>
            <a:pPr algn="r" indent="0" marL="0">
              <a:buNone/>
            </a:pPr>
            <a:r>
              <a:rPr lang="en-US" sz="1100" b="1" spc="100" kern="0" dirty="0">
                <a:solidFill>
                  <a:srgbClr val="1B6B52"/>
                </a:solidFill>
                <a:latin typeface="Consolas" pitchFamily="34" charset="0"/>
                <a:ea typeface="Consolas" pitchFamily="34" charset="-122"/>
                <a:cs typeface="Consolas" pitchFamily="34" charset="-120"/>
              </a:rPr>
              <a:t>▶ 15΄ ΣΤΟ PC</a:t>
            </a:r>
            <a:endParaRPr lang="en-US" sz="1100" dirty="0"/>
          </a:p>
        </p:txBody>
      </p:sp>
      <p:sp>
        <p:nvSpPr>
          <p:cNvPr id="9" name="Shape 6"/>
          <p:cNvSpPr/>
          <p:nvPr/>
        </p:nvSpPr>
        <p:spPr>
          <a:xfrm>
            <a:off x="566928" y="1463040"/>
            <a:ext cx="3502152" cy="1737360"/>
          </a:xfrm>
          <a:prstGeom prst="roundRect">
            <a:avLst>
              <a:gd name="adj" fmla="val 3158"/>
            </a:avLst>
          </a:prstGeom>
          <a:solidFill>
            <a:srgbClr val="FBFCFE"/>
          </a:solidFill>
          <a:ln w="9525">
            <a:solidFill>
              <a:srgbClr val="D3D9E4"/>
            </a:solidFill>
            <a:prstDash val="solid"/>
          </a:ln>
        </p:spPr>
      </p:sp>
      <p:sp>
        <p:nvSpPr>
          <p:cNvPr id="10" name="Text 7"/>
          <p:cNvSpPr txBox="1"/>
          <p:nvPr/>
        </p:nvSpPr>
        <p:spPr>
          <a:xfrm>
            <a:off x="731520" y="1591056"/>
            <a:ext cx="3172968"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Εμπορικό (με άδεια)</a:t>
            </a:r>
            <a:endParaRPr lang="en-US" sz="1400" dirty="0"/>
          </a:p>
        </p:txBody>
      </p:sp>
      <p:sp>
        <p:nvSpPr>
          <p:cNvPr id="11" name="Text 8"/>
          <p:cNvSpPr txBox="1"/>
          <p:nvPr/>
        </p:nvSpPr>
        <p:spPr>
          <a:xfrm>
            <a:off x="731520" y="1941322"/>
            <a:ext cx="3172968" cy="1167638"/>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Πληρώνεις άδεια, ο κώδικας είναι κλειστός. Π.χ. Windows, macOS, Office.</a:t>
            </a:r>
            <a:endParaRPr lang="en-US" sz="1200" dirty="0"/>
          </a:p>
        </p:txBody>
      </p:sp>
      <p:sp>
        <p:nvSpPr>
          <p:cNvPr id="12" name="Shape 9"/>
          <p:cNvSpPr/>
          <p:nvPr/>
        </p:nvSpPr>
        <p:spPr>
          <a:xfrm>
            <a:off x="4251960" y="1463040"/>
            <a:ext cx="3502152" cy="1737360"/>
          </a:xfrm>
          <a:prstGeom prst="roundRect">
            <a:avLst>
              <a:gd name="adj" fmla="val 3158"/>
            </a:avLst>
          </a:prstGeom>
          <a:solidFill>
            <a:srgbClr val="E4E8FB"/>
          </a:solidFill>
          <a:ln w="12700">
            <a:solidFill>
              <a:srgbClr val="E4E8FB"/>
            </a:solidFill>
            <a:prstDash val="solid"/>
          </a:ln>
        </p:spPr>
      </p:sp>
      <p:sp>
        <p:nvSpPr>
          <p:cNvPr id="13" name="Text 10"/>
          <p:cNvSpPr txBox="1"/>
          <p:nvPr/>
        </p:nvSpPr>
        <p:spPr>
          <a:xfrm>
            <a:off x="4416552" y="1591056"/>
            <a:ext cx="3172968"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ΕΛ/ΛΑΚ</a:t>
            </a:r>
            <a:endParaRPr lang="en-US" sz="1400" dirty="0"/>
          </a:p>
        </p:txBody>
      </p:sp>
      <p:sp>
        <p:nvSpPr>
          <p:cNvPr id="14" name="Text 11"/>
          <p:cNvSpPr txBox="1"/>
          <p:nvPr/>
        </p:nvSpPr>
        <p:spPr>
          <a:xfrm>
            <a:off x="4416552" y="1941322"/>
            <a:ext cx="3172968" cy="1167638"/>
          </a:xfrm>
          <a:prstGeom prst="rect">
            <a:avLst/>
          </a:prstGeom>
          <a:noFill/>
          <a:ln/>
        </p:spPr>
        <p:txBody>
          <a:bodyPr wrap="square" lIns="0" tIns="0" rIns="0" bIns="0" rtlCol="0" anchor="t"/>
          <a:lstStyle/>
          <a:p>
            <a:pPr indent="0" marL="0">
              <a:lnSpc>
                <a:spcPct val="112000"/>
              </a:lnSpc>
              <a:buNone/>
            </a:pPr>
            <a:r>
              <a:rPr lang="en-US" sz="1150" dirty="0">
                <a:solidFill>
                  <a:srgbClr val="4A5265"/>
                </a:solidFill>
                <a:latin typeface="Segoe UI" pitchFamily="34" charset="0"/>
                <a:ea typeface="Segoe UI" pitchFamily="34" charset="-122"/>
                <a:cs typeface="Segoe UI" pitchFamily="34" charset="-120"/>
              </a:rPr>
              <a:t>Ελεύθερο λογισμικό / λογισμικό ανοιχτού κώδικα: τον κώδικα τον βλέπεις, τον αλλάζεις, τον μοιράζεσαι. Π.χ. Linux, Firefox, 7-Zip.</a:t>
            </a:r>
            <a:endParaRPr lang="en-US" sz="1150" dirty="0"/>
          </a:p>
        </p:txBody>
      </p:sp>
      <p:sp>
        <p:nvSpPr>
          <p:cNvPr id="15" name="Shape 12"/>
          <p:cNvSpPr/>
          <p:nvPr/>
        </p:nvSpPr>
        <p:spPr>
          <a:xfrm>
            <a:off x="566928" y="3680460"/>
            <a:ext cx="457200" cy="457200"/>
          </a:xfrm>
          <a:prstGeom prst="ellipse">
            <a:avLst/>
          </a:prstGeom>
          <a:solidFill>
            <a:srgbClr val="2F4BD8"/>
          </a:solidFill>
          <a:ln w="12700">
            <a:solidFill>
              <a:srgbClr val="2F4BD8"/>
            </a:solidFill>
            <a:prstDash val="solid"/>
          </a:ln>
        </p:spPr>
      </p:sp>
      <p:sp>
        <p:nvSpPr>
          <p:cNvPr id="16" name="Text 13"/>
          <p:cNvSpPr txBox="1"/>
          <p:nvPr/>
        </p:nvSpPr>
        <p:spPr>
          <a:xfrm>
            <a:off x="566928" y="36804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1</a:t>
            </a:r>
            <a:endParaRPr lang="en-US" sz="1500" dirty="0"/>
          </a:p>
        </p:txBody>
      </p:sp>
      <p:sp>
        <p:nvSpPr>
          <p:cNvPr id="17" name="Shape 14"/>
          <p:cNvSpPr/>
          <p:nvPr/>
        </p:nvSpPr>
        <p:spPr>
          <a:xfrm>
            <a:off x="1207008" y="3429000"/>
            <a:ext cx="10241280" cy="960120"/>
          </a:xfrm>
          <a:prstGeom prst="roundRect">
            <a:avLst>
              <a:gd name="adj" fmla="val 5714"/>
            </a:avLst>
          </a:prstGeom>
          <a:solidFill>
            <a:srgbClr val="FBFCFE"/>
          </a:solidFill>
          <a:ln w="9525">
            <a:solidFill>
              <a:srgbClr val="D3D9E4"/>
            </a:solidFill>
            <a:prstDash val="solid"/>
          </a:ln>
        </p:spPr>
      </p:sp>
      <p:sp>
        <p:nvSpPr>
          <p:cNvPr id="18" name="Text 15"/>
          <p:cNvSpPr txBox="1"/>
          <p:nvPr/>
        </p:nvSpPr>
        <p:spPr>
          <a:xfrm>
            <a:off x="1389888" y="3502152"/>
            <a:ext cx="3657600" cy="310896"/>
          </a:xfrm>
          <a:prstGeom prst="rect">
            <a:avLst/>
          </a:prstGeom>
          <a:noFill/>
          <a:ln/>
        </p:spPr>
        <p:txBody>
          <a:bodyPr wrap="square" lIns="0" tIns="0" rIns="0" bIns="0" rtlCol="0" anchor="ctr"/>
          <a:lstStyle/>
          <a:p>
            <a:pPr indent="0" marL="0">
              <a:buNone/>
            </a:pPr>
            <a:r>
              <a:rPr lang="en-US" sz="1350" b="1" dirty="0">
                <a:solidFill>
                  <a:srgbClr val="171B26"/>
                </a:solidFill>
                <a:latin typeface="Segoe UI" pitchFamily="34" charset="0"/>
                <a:ea typeface="Segoe UI" pitchFamily="34" charset="-122"/>
                <a:cs typeface="Segoe UI" pitchFamily="34" charset="-120"/>
              </a:rPr>
              <a:t>Η άδεια των Windows</a:t>
            </a:r>
            <a:endParaRPr lang="en-US" sz="1350" dirty="0"/>
          </a:p>
        </p:txBody>
      </p:sp>
      <p:sp>
        <p:nvSpPr>
          <p:cNvPr id="19" name="Text 16"/>
          <p:cNvSpPr txBox="1"/>
          <p:nvPr/>
        </p:nvSpPr>
        <p:spPr>
          <a:xfrm>
            <a:off x="1389888" y="4005072"/>
            <a:ext cx="3840480" cy="292608"/>
          </a:xfrm>
          <a:prstGeom prst="rect">
            <a:avLst/>
          </a:prstGeom>
          <a:noFill/>
          <a:ln/>
        </p:spPr>
        <p:txBody>
          <a:bodyPr wrap="square" lIns="0" tIns="0" rIns="0" bIns="0" rtlCol="0" anchor="ctr"/>
          <a:lstStyle/>
          <a:p>
            <a:pPr indent="0" marL="0">
              <a:buNone/>
            </a:pPr>
            <a:r>
              <a:rPr lang="en-US" sz="1050" dirty="0">
                <a:solidFill>
                  <a:srgbClr val="2F4BD8"/>
                </a:solidFill>
                <a:latin typeface="Consolas" pitchFamily="34" charset="0"/>
                <a:ea typeface="Consolas" pitchFamily="34" charset="-122"/>
                <a:cs typeface="Consolas" pitchFamily="34" charset="-120"/>
              </a:rPr>
              <a:t>Ρυθμίσεις → Σύστημα → Ενεργοποίηση</a:t>
            </a:r>
            <a:endParaRPr lang="en-US" sz="1050" dirty="0"/>
          </a:p>
        </p:txBody>
      </p:sp>
      <p:sp>
        <p:nvSpPr>
          <p:cNvPr id="20" name="Text 17"/>
          <p:cNvSpPr txBox="1"/>
          <p:nvPr/>
        </p:nvSpPr>
        <p:spPr>
          <a:xfrm>
            <a:off x="5394960" y="3429000"/>
            <a:ext cx="5897880" cy="960120"/>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Είναι ενεργοποιημένα; Τι έκδοση (Home / Pro / Education);</a:t>
            </a:r>
            <a:endParaRPr lang="en-US" sz="1200" dirty="0"/>
          </a:p>
        </p:txBody>
      </p:sp>
      <p:sp>
        <p:nvSpPr>
          <p:cNvPr id="21" name="Shape 18"/>
          <p:cNvSpPr/>
          <p:nvPr/>
        </p:nvSpPr>
        <p:spPr>
          <a:xfrm>
            <a:off x="566928" y="4777740"/>
            <a:ext cx="457200" cy="457200"/>
          </a:xfrm>
          <a:prstGeom prst="ellipse">
            <a:avLst/>
          </a:prstGeom>
          <a:solidFill>
            <a:srgbClr val="2F4BD8"/>
          </a:solidFill>
          <a:ln w="12700">
            <a:solidFill>
              <a:srgbClr val="2F4BD8"/>
            </a:solidFill>
            <a:prstDash val="solid"/>
          </a:ln>
        </p:spPr>
      </p:sp>
      <p:sp>
        <p:nvSpPr>
          <p:cNvPr id="22" name="Text 19"/>
          <p:cNvSpPr txBox="1"/>
          <p:nvPr/>
        </p:nvSpPr>
        <p:spPr>
          <a:xfrm>
            <a:off x="566928" y="47777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Segoe UI" pitchFamily="34" charset="0"/>
                <a:ea typeface="Segoe UI" pitchFamily="34" charset="-122"/>
                <a:cs typeface="Segoe UI" pitchFamily="34" charset="-120"/>
              </a:rPr>
              <a:t>2</a:t>
            </a:r>
            <a:endParaRPr lang="en-US" sz="1500" dirty="0"/>
          </a:p>
        </p:txBody>
      </p:sp>
      <p:sp>
        <p:nvSpPr>
          <p:cNvPr id="23" name="Shape 20"/>
          <p:cNvSpPr/>
          <p:nvPr/>
        </p:nvSpPr>
        <p:spPr>
          <a:xfrm>
            <a:off x="1207008" y="4526280"/>
            <a:ext cx="10241280" cy="960120"/>
          </a:xfrm>
          <a:prstGeom prst="roundRect">
            <a:avLst>
              <a:gd name="adj" fmla="val 5714"/>
            </a:avLst>
          </a:prstGeom>
          <a:solidFill>
            <a:srgbClr val="E4E8FB"/>
          </a:solidFill>
          <a:ln w="12700">
            <a:solidFill>
              <a:srgbClr val="E4E8FB"/>
            </a:solidFill>
            <a:prstDash val="solid"/>
          </a:ln>
        </p:spPr>
      </p:sp>
      <p:sp>
        <p:nvSpPr>
          <p:cNvPr id="24" name="Text 21"/>
          <p:cNvSpPr txBox="1"/>
          <p:nvPr/>
        </p:nvSpPr>
        <p:spPr>
          <a:xfrm>
            <a:off x="1389888" y="4599432"/>
            <a:ext cx="3657600" cy="310896"/>
          </a:xfrm>
          <a:prstGeom prst="rect">
            <a:avLst/>
          </a:prstGeom>
          <a:noFill/>
          <a:ln/>
        </p:spPr>
        <p:txBody>
          <a:bodyPr wrap="square" lIns="0" tIns="0" rIns="0" bIns="0" rtlCol="0" anchor="ctr"/>
          <a:lstStyle/>
          <a:p>
            <a:pPr indent="0" marL="0">
              <a:buNone/>
            </a:pPr>
            <a:r>
              <a:rPr lang="en-US" sz="1350" b="1" dirty="0">
                <a:solidFill>
                  <a:srgbClr val="171B26"/>
                </a:solidFill>
                <a:latin typeface="Segoe UI" pitchFamily="34" charset="0"/>
                <a:ea typeface="Segoe UI" pitchFamily="34" charset="-122"/>
                <a:cs typeface="Segoe UI" pitchFamily="34" charset="-120"/>
              </a:rPr>
              <a:t>Τα προγράμματά σου</a:t>
            </a:r>
            <a:endParaRPr lang="en-US" sz="1350" dirty="0"/>
          </a:p>
        </p:txBody>
      </p:sp>
      <p:sp>
        <p:nvSpPr>
          <p:cNvPr id="25" name="Text 22"/>
          <p:cNvSpPr txBox="1"/>
          <p:nvPr/>
        </p:nvSpPr>
        <p:spPr>
          <a:xfrm>
            <a:off x="1389888" y="5102352"/>
            <a:ext cx="3840480" cy="292608"/>
          </a:xfrm>
          <a:prstGeom prst="rect">
            <a:avLst/>
          </a:prstGeom>
          <a:noFill/>
          <a:ln/>
        </p:spPr>
        <p:txBody>
          <a:bodyPr wrap="square" lIns="0" tIns="0" rIns="0" bIns="0" rtlCol="0" anchor="ctr"/>
          <a:lstStyle/>
          <a:p>
            <a:pPr indent="0" marL="0">
              <a:buNone/>
            </a:pPr>
            <a:r>
              <a:rPr lang="en-US" sz="1050" dirty="0">
                <a:solidFill>
                  <a:srgbClr val="2F4BD8"/>
                </a:solidFill>
                <a:latin typeface="Consolas" pitchFamily="34" charset="0"/>
                <a:ea typeface="Consolas" pitchFamily="34" charset="-122"/>
                <a:cs typeface="Consolas" pitchFamily="34" charset="-120"/>
              </a:rPr>
              <a:t>Ρυθμίσεις → Εφαρμογές → Εγκατεστημένες εφαρμογές</a:t>
            </a:r>
            <a:endParaRPr lang="en-US" sz="1050" dirty="0"/>
          </a:p>
        </p:txBody>
      </p:sp>
      <p:sp>
        <p:nvSpPr>
          <p:cNvPr id="26" name="Text 23"/>
          <p:cNvSpPr txBox="1"/>
          <p:nvPr/>
        </p:nvSpPr>
        <p:spPr>
          <a:xfrm>
            <a:off x="5394960" y="4526280"/>
            <a:ext cx="5897880" cy="960120"/>
          </a:xfrm>
          <a:prstGeom prst="rect">
            <a:avLst/>
          </a:prstGeom>
          <a:noFill/>
          <a:ln/>
        </p:spPr>
        <p:txBody>
          <a:bodyPr wrap="square" lIns="0" tIns="0" rIns="0" bIns="0" rtlCol="0" anchor="ctr"/>
          <a:lstStyle/>
          <a:p>
            <a:pPr indent="0" marL="0">
              <a:buNone/>
            </a:pPr>
            <a:r>
              <a:rPr lang="en-US" sz="1200" dirty="0">
                <a:solidFill>
                  <a:srgbClr val="4A5265"/>
                </a:solidFill>
                <a:latin typeface="Segoe UI" pitchFamily="34" charset="0"/>
                <a:ea typeface="Segoe UI" pitchFamily="34" charset="-122"/>
                <a:cs typeface="Segoe UI" pitchFamily="34" charset="-120"/>
              </a:rPr>
              <a:t>Διάλεξε 5 προγράμματα. Για καθένα ψάξε στο διαδίκτυο: εμπορικό ή ΕΛ/ΛΑΚ;</a:t>
            </a:r>
            <a:endParaRPr lang="en-US" sz="1200" dirty="0"/>
          </a:p>
        </p:txBody>
      </p:sp>
      <p:sp>
        <p:nvSpPr>
          <p:cNvPr id="27" name="Shape 24"/>
          <p:cNvSpPr/>
          <p:nvPr/>
        </p:nvSpPr>
        <p:spPr>
          <a:xfrm>
            <a:off x="7946136" y="1463040"/>
            <a:ext cx="3502152" cy="1737360"/>
          </a:xfrm>
          <a:prstGeom prst="roundRect">
            <a:avLst>
              <a:gd name="adj" fmla="val 3158"/>
            </a:avLst>
          </a:prstGeom>
          <a:solidFill>
            <a:srgbClr val="F6EDD6"/>
          </a:solidFill>
          <a:ln w="12700">
            <a:solidFill>
              <a:srgbClr val="F6EDD6"/>
            </a:solidFill>
            <a:prstDash val="solid"/>
          </a:ln>
        </p:spPr>
      </p:sp>
      <p:sp>
        <p:nvSpPr>
          <p:cNvPr id="28" name="Text 25"/>
          <p:cNvSpPr txBox="1"/>
          <p:nvPr/>
        </p:nvSpPr>
        <p:spPr>
          <a:xfrm>
            <a:off x="8110728" y="1591056"/>
            <a:ext cx="3172968"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Παραδοτέο</a:t>
            </a:r>
            <a:endParaRPr lang="en-US" sz="1400" dirty="0"/>
          </a:p>
        </p:txBody>
      </p:sp>
      <p:sp>
        <p:nvSpPr>
          <p:cNvPr id="29" name="Text 26"/>
          <p:cNvSpPr txBox="1"/>
          <p:nvPr/>
        </p:nvSpPr>
        <p:spPr>
          <a:xfrm>
            <a:off x="8110728" y="1941322"/>
            <a:ext cx="3172968" cy="1167638"/>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Πίνακας </a:t>
            </a:r>
            <a:pPr indent="0" marL="0">
              <a:lnSpc>
                <a:spcPct val="112000"/>
              </a:lnSpc>
              <a:buNone/>
            </a:pPr>
            <a:r>
              <a:rPr lang="en-US" sz="1200" b="1" dirty="0">
                <a:solidFill>
                  <a:srgbClr val="4A5265"/>
                </a:solidFill>
                <a:latin typeface="Segoe UI" pitchFamily="34" charset="0"/>
                <a:ea typeface="Segoe UI" pitchFamily="34" charset="-122"/>
                <a:cs typeface="Segoe UI" pitchFamily="34" charset="-120"/>
              </a:rPr>
              <a:t>Adeies.docx</a:t>
            </a:r>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 Πρόγραμμα · Εταιρεία/κοινότητα · Εμπορικό ή ΕΛ/ΛΑΚ · Πηγή.</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prak/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10  </a:t>
            </a:r>
            <a:pPr indent="0" marL="0">
              <a:buNone/>
            </a:pPr>
            <a:r>
              <a:rPr lang="en-US" sz="1000" spc="140" kern="0" dirty="0">
                <a:solidFill>
                  <a:srgbClr val="8A91A3"/>
                </a:solidFill>
                <a:latin typeface="Consolas" pitchFamily="34" charset="0"/>
                <a:ea typeface="Consolas" pitchFamily="34" charset="-122"/>
                <a:cs typeface="Consolas" pitchFamily="34" charset="-120"/>
              </a:rPr>
              <a:t>ΑΠΟΣΤΟΛΗ 6 · ΣΤΟ PC</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Linux μέσα στον browser</a:t>
            </a:r>
            <a:endParaRPr lang="en-US" sz="3000" dirty="0"/>
          </a:p>
        </p:txBody>
      </p:sp>
      <p:sp>
        <p:nvSpPr>
          <p:cNvPr id="8" name="Text 5"/>
          <p:cNvSpPr txBox="1"/>
          <p:nvPr/>
        </p:nvSpPr>
        <p:spPr>
          <a:xfrm>
            <a:off x="8138160" y="749808"/>
            <a:ext cx="2743200" cy="274320"/>
          </a:xfrm>
          <a:prstGeom prst="rect">
            <a:avLst/>
          </a:prstGeom>
          <a:noFill/>
          <a:ln/>
        </p:spPr>
        <p:txBody>
          <a:bodyPr wrap="square" rtlCol="0" anchor="ctr"/>
          <a:lstStyle/>
          <a:p>
            <a:pPr algn="r" indent="0" marL="0">
              <a:buNone/>
            </a:pPr>
            <a:r>
              <a:rPr lang="en-US" sz="1100" b="1" spc="100" kern="0" dirty="0">
                <a:solidFill>
                  <a:srgbClr val="1B6B52"/>
                </a:solidFill>
                <a:latin typeface="Consolas" pitchFamily="34" charset="0"/>
                <a:ea typeface="Consolas" pitchFamily="34" charset="-122"/>
                <a:cs typeface="Consolas" pitchFamily="34" charset="-120"/>
              </a:rPr>
              <a:t>▶ 15΄ ΣΤΟ PC</a:t>
            </a:r>
            <a:endParaRPr lang="en-US" sz="1100" dirty="0"/>
          </a:p>
        </p:txBody>
      </p:sp>
      <p:sp>
        <p:nvSpPr>
          <p:cNvPr id="9" name="Shape 6"/>
          <p:cNvSpPr/>
          <p:nvPr/>
        </p:nvSpPr>
        <p:spPr>
          <a:xfrm>
            <a:off x="566928" y="1463040"/>
            <a:ext cx="10881360" cy="1051560"/>
          </a:xfrm>
          <a:prstGeom prst="rect">
            <a:avLst/>
          </a:prstGeom>
          <a:solidFill>
            <a:srgbClr val="E4E8FB"/>
          </a:solidFill>
          <a:ln w="12700">
            <a:solidFill>
              <a:srgbClr val="E4E8FB"/>
            </a:solidFill>
            <a:prstDash val="solid"/>
          </a:ln>
        </p:spPr>
      </p:sp>
      <p:sp>
        <p:nvSpPr>
          <p:cNvPr id="10" name="Shape 7"/>
          <p:cNvSpPr/>
          <p:nvPr/>
        </p:nvSpPr>
        <p:spPr>
          <a:xfrm>
            <a:off x="566928" y="1463040"/>
            <a:ext cx="41148" cy="1051560"/>
          </a:xfrm>
          <a:prstGeom prst="rect">
            <a:avLst/>
          </a:prstGeom>
          <a:solidFill>
            <a:srgbClr val="2F4BD8"/>
          </a:solidFill>
          <a:ln w="12700">
            <a:solidFill>
              <a:srgbClr val="2F4BD8"/>
            </a:solidFill>
            <a:prstDash val="solid"/>
          </a:ln>
        </p:spPr>
      </p:sp>
      <p:sp>
        <p:nvSpPr>
          <p:cNvPr id="11" name="Text 8"/>
          <p:cNvSpPr txBox="1"/>
          <p:nvPr/>
        </p:nvSpPr>
        <p:spPr>
          <a:xfrm>
            <a:off x="731520" y="1554480"/>
            <a:ext cx="4572000" cy="201168"/>
          </a:xfrm>
          <a:prstGeom prst="rect">
            <a:avLst/>
          </a:prstGeom>
          <a:noFill/>
          <a:ln/>
        </p:spPr>
        <p:txBody>
          <a:bodyPr wrap="square" lIns="0" tIns="0" rIns="0" bIns="0" rtlCol="0" anchor="ctr"/>
          <a:lstStyle/>
          <a:p>
            <a:pPr indent="0" marL="0">
              <a:buNone/>
            </a:pPr>
            <a:r>
              <a:rPr lang="en-US" sz="900" b="1" spc="120" kern="0" dirty="0">
                <a:solidFill>
                  <a:srgbClr val="2F4BD8"/>
                </a:solidFill>
                <a:latin typeface="Consolas" pitchFamily="34" charset="0"/>
                <a:ea typeface="Consolas" pitchFamily="34" charset="-122"/>
                <a:cs typeface="Consolas" pitchFamily="34" charset="-120"/>
              </a:rPr>
              <a:t>ΤΙ ΚΑΝΕΙΣ</a:t>
            </a:r>
            <a:endParaRPr lang="en-US" sz="900" dirty="0"/>
          </a:p>
        </p:txBody>
      </p:sp>
      <p:sp>
        <p:nvSpPr>
          <p:cNvPr id="12" name="Text 9"/>
          <p:cNvSpPr txBox="1"/>
          <p:nvPr/>
        </p:nvSpPr>
        <p:spPr>
          <a:xfrm>
            <a:off x="731520" y="1773936"/>
            <a:ext cx="10552176" cy="667512"/>
          </a:xfrm>
          <a:prstGeom prst="rect">
            <a:avLst/>
          </a:prstGeom>
          <a:noFill/>
          <a:ln/>
        </p:spPr>
        <p:txBody>
          <a:bodyPr wrap="square" lIns="0" tIns="0" rIns="0" bIns="0" rtlCol="0" anchor="t"/>
          <a:lstStyle/>
          <a:p>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Άνοιξε στον browser το </a:t>
            </a:r>
            <a:pPr indent="0" marL="0">
              <a:lnSpc>
                <a:spcPct val="112000"/>
              </a:lnSpc>
              <a:buNone/>
            </a:pPr>
            <a:r>
              <a:rPr lang="en-US" sz="1200" b="1" dirty="0">
                <a:solidFill>
                  <a:srgbClr val="2F4BD8"/>
                </a:solidFill>
                <a:latin typeface="Consolas" pitchFamily="34" charset="0"/>
                <a:ea typeface="Consolas" pitchFamily="34" charset="-122"/>
                <a:cs typeface="Consolas" pitchFamily="34" charset="-120"/>
              </a:rPr>
              <a:t>bellard.org/jslinux</a:t>
            </a:r>
            <a:pPr indent="0" marL="0">
              <a:lnSpc>
                <a:spcPct val="112000"/>
              </a:lnSpc>
              <a:buNone/>
            </a:pPr>
            <a:r>
              <a:rPr lang="en-US" sz="1200" dirty="0">
                <a:solidFill>
                  <a:srgbClr val="171B26"/>
                </a:solidFill>
                <a:latin typeface="Segoe UI" pitchFamily="34" charset="0"/>
                <a:ea typeface="Segoe UI" pitchFamily="34" charset="-122"/>
                <a:cs typeface="Segoe UI" pitchFamily="34" charset="-120"/>
              </a:rPr>
              <a:t> και διάλεξε ένα Linux με κονσόλα. Τρέχει μέσα στον browser, χωρίς να αλλάξει τίποτα στον υπολογιστή. Δοκίμασε τις εντολές και σύγκρινε με τα Windows.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2697480"/>
          <a:ext cx="10881360" cy="914400"/>
        </p:xfrm>
        <a:graphic>
          <a:graphicData uri="http://schemas.openxmlformats.org/drawingml/2006/table">
            <a:tbl>
              <a:tblPr/>
              <a:tblGrid>
                <a:gridCol w="3017520"/>
                <a:gridCol w="4206240"/>
                <a:gridCol w="3657600"/>
              </a:tblGrid>
              <a:tr h="457200">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ΕΝΤΟΛΗ LINUX</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ΤΙ ΔΕΙΧΝΕΙ</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900" b="1" dirty="0">
                          <a:solidFill>
                            <a:srgbClr val="8A91A3"/>
                          </a:solidFill>
                          <a:latin typeface="Consolas" pitchFamily="34" charset="0"/>
                          <a:ea typeface="Consolas" pitchFamily="34" charset="-122"/>
                          <a:cs typeface="Consolas" pitchFamily="34" charset="-120"/>
                        </a:rPr>
                        <a:t>ΑΝΤΙΣΤΟΙΧΟ ΣΤΑ WINDOWS</a:t>
                      </a:r>
                      <a:endParaRPr lang="en-US" sz="9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uname -a</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Όνομα και έκδοση του πυρήνα</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winver</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cat /etc/os-release</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Ποια διανομή Linux είναι</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Ρυθμίσεις → Πληροφορίες</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whoami</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Με ποιον χρήστη είσαι συνδεδεμένος</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whoami (και στο cmd!)</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pwd</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Σε ποιον φάκελο βρίσκεσαι</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cd (χωρίς τίποτα άλλο)</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r h="457200">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ls -l</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171B26"/>
                          </a:solidFill>
                          <a:latin typeface="Segoe UI" pitchFamily="34" charset="0"/>
                          <a:ea typeface="Segoe UI" pitchFamily="34" charset="-122"/>
                          <a:cs typeface="Segoe UI" pitchFamily="34" charset="-120"/>
                        </a:rPr>
                        <a:t>Τα αρχεία του φακέλου</a:t>
                      </a:r>
                      <a:endParaRPr lang="en-US" sz="1200" dirty="0">
                        <a:latin typeface="Segoe UI" charset="0"/>
                        <a:ea typeface="Segoe UI" charset="0"/>
                        <a:cs typeface="Segoe UI"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c>
                  <a:txBody>
                    <a:bodyPr/>
                    <a:lstStyle/>
                    <a:p>
                      <a:pPr indent="0" marL="0">
                        <a:buNone/>
                      </a:pPr>
                      <a:r>
                        <a:rPr lang="en-US" sz="1200" dirty="0">
                          <a:solidFill>
                            <a:srgbClr val="2F4BD8"/>
                          </a:solidFill>
                          <a:latin typeface="Consolas" pitchFamily="34" charset="0"/>
                          <a:ea typeface="Consolas" pitchFamily="34" charset="-122"/>
                          <a:cs typeface="Consolas" pitchFamily="34" charset="-120"/>
                        </a:rPr>
                        <a:t>dir</a:t>
                      </a:r>
                      <a:endParaRPr lang="en-US" sz="1200" dirty="0">
                        <a:latin typeface="Consolas" charset="0"/>
                        <a:ea typeface="Consolas" charset="0"/>
                        <a:cs typeface="Consolas" charset="0"/>
                      </a:endParaRPr>
                    </a:p>
                  </a:txBody>
                  <a:tcPr marL="91440" marR="91440" marT="45720" marB="45720" anchor="ctr">
                    <a:lnL w="9525" cap="flat" cmpd="sng" algn="ctr">
                      <a:solidFill>
                        <a:srgbClr val="D3D9E4"/>
                      </a:solidFill>
                      <a:prstDash val="solid"/>
                      <a:round/>
                      <a:headEnd type="none" w="med" len="med"/>
                      <a:tailEnd type="none" w="med" len="med"/>
                    </a:lnL>
                    <a:lnR w="9525" cap="flat" cmpd="sng" algn="ctr">
                      <a:solidFill>
                        <a:srgbClr val="D3D9E4"/>
                      </a:solidFill>
                      <a:prstDash val="solid"/>
                      <a:round/>
                      <a:headEnd type="none" w="med" len="med"/>
                      <a:tailEnd type="none" w="med" len="med"/>
                    </a:lnR>
                    <a:lnT w="9525" cap="flat" cmpd="sng" algn="ctr">
                      <a:solidFill>
                        <a:srgbClr val="D3D9E4"/>
                      </a:solidFill>
                      <a:prstDash val="solid"/>
                      <a:round/>
                      <a:headEnd type="none" w="med" len="med"/>
                      <a:tailEnd type="none" w="med" len="med"/>
                    </a:lnT>
                    <a:lnB w="9525" cap="flat" cmpd="sng" algn="ctr">
                      <a:solidFill>
                        <a:srgbClr val="D3D9E4"/>
                      </a:solidFill>
                      <a:prstDash val="solid"/>
                      <a:round/>
                      <a:headEnd type="none" w="med" len="med"/>
                      <a:tailEnd type="none" w="med" len="med"/>
                    </a:lnB>
                    <a:solidFill>
                      <a:srgbClr val="FBFCFE"/>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prak/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11  </a:t>
            </a:r>
            <a:pPr indent="0" marL="0">
              <a:buNone/>
            </a:pPr>
            <a:r>
              <a:rPr lang="en-US" sz="1000" spc="140" kern="0" dirty="0">
                <a:solidFill>
                  <a:srgbClr val="8A91A3"/>
                </a:solidFill>
                <a:latin typeface="Consolas" pitchFamily="34" charset="0"/>
                <a:ea typeface="Consolas" pitchFamily="34" charset="-122"/>
                <a:cs typeface="Consolas" pitchFamily="34" charset="-120"/>
              </a:rPr>
              <a:t>ΣΥΖΗΤΗΣΗ · 5 ΛΕΠΤΑ</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Ποιο ΛΣ θα πρότεινες;</a:t>
            </a:r>
            <a:endParaRPr lang="en-US" sz="3000" dirty="0"/>
          </a:p>
        </p:txBody>
      </p:sp>
      <p:sp>
        <p:nvSpPr>
          <p:cNvPr id="8" name="Text 5"/>
          <p:cNvSpPr txBox="1"/>
          <p:nvPr/>
        </p:nvSpPr>
        <p:spPr>
          <a:xfrm>
            <a:off x="8138160" y="749808"/>
            <a:ext cx="2743200" cy="274320"/>
          </a:xfrm>
          <a:prstGeom prst="rect">
            <a:avLst/>
          </a:prstGeom>
          <a:noFill/>
          <a:ln/>
        </p:spPr>
        <p:txBody>
          <a:bodyPr wrap="square" rtlCol="0" anchor="ctr"/>
          <a:lstStyle/>
          <a:p>
            <a:pPr algn="r" indent="0" marL="0">
              <a:buNone/>
            </a:pPr>
            <a:r>
              <a:rPr lang="en-US" sz="1100" b="1" spc="100" kern="0" dirty="0">
                <a:solidFill>
                  <a:srgbClr val="9A6B0C"/>
                </a:solidFill>
                <a:latin typeface="Consolas" pitchFamily="34" charset="0"/>
                <a:ea typeface="Consolas" pitchFamily="34" charset="-122"/>
                <a:cs typeface="Consolas" pitchFamily="34" charset="-120"/>
              </a:rPr>
              <a:t>●●○  ΜΕΤΡΙΑ</a:t>
            </a:r>
            <a:endParaRPr lang="en-US" sz="1100" dirty="0"/>
          </a:p>
        </p:txBody>
      </p:sp>
      <p:sp>
        <p:nvSpPr>
          <p:cNvPr id="9" name="Text 6"/>
          <p:cNvSpPr txBox="1"/>
          <p:nvPr/>
        </p:nvSpPr>
        <p:spPr>
          <a:xfrm>
            <a:off x="566928" y="1417320"/>
            <a:ext cx="10881360" cy="201168"/>
          </a:xfrm>
          <a:prstGeom prst="rect">
            <a:avLst/>
          </a:prstGeom>
          <a:noFill/>
          <a:ln/>
        </p:spPr>
        <p:txBody>
          <a:bodyPr wrap="square" lIns="0" tIns="0" rIns="0" bIns="0" rtlCol="0" anchor="ctr"/>
          <a:lstStyle/>
          <a:p>
            <a:pPr indent="0" marL="0">
              <a:buNone/>
            </a:pPr>
            <a:r>
              <a:rPr lang="en-US" sz="900" b="1" spc="120" kern="0" dirty="0">
                <a:solidFill>
                  <a:srgbClr val="9A6B0C"/>
                </a:solidFill>
                <a:latin typeface="Consolas" pitchFamily="34" charset="0"/>
                <a:ea typeface="Consolas" pitchFamily="34" charset="-122"/>
                <a:cs typeface="Consolas" pitchFamily="34" charset="-120"/>
              </a:rPr>
              <a:t>ΕΝΔΕΙΚΤΙΚΗ ΛΥΣΗ · ΜΕΤΡΑΕΙ Η ΑΙΤΙΟΛΟΓΗΣΗ</a:t>
            </a:r>
            <a:endParaRPr lang="en-US" sz="900" dirty="0"/>
          </a:p>
        </p:txBody>
      </p:sp>
      <p:sp>
        <p:nvSpPr>
          <p:cNvPr id="10" name="Shape 7"/>
          <p:cNvSpPr/>
          <p:nvPr/>
        </p:nvSpPr>
        <p:spPr>
          <a:xfrm>
            <a:off x="566928" y="1737360"/>
            <a:ext cx="5349240" cy="1645920"/>
          </a:xfrm>
          <a:prstGeom prst="roundRect">
            <a:avLst>
              <a:gd name="adj" fmla="val 3333"/>
            </a:avLst>
          </a:prstGeom>
          <a:solidFill>
            <a:srgbClr val="FBFCFE"/>
          </a:solidFill>
          <a:ln w="9525">
            <a:solidFill>
              <a:srgbClr val="D3D9E4"/>
            </a:solidFill>
            <a:prstDash val="solid"/>
          </a:ln>
        </p:spPr>
      </p:sp>
      <p:sp>
        <p:nvSpPr>
          <p:cNvPr id="11" name="Text 8"/>
          <p:cNvSpPr txBox="1"/>
          <p:nvPr/>
        </p:nvSpPr>
        <p:spPr>
          <a:xfrm>
            <a:off x="731520" y="1865376"/>
            <a:ext cx="5020056" cy="465201"/>
          </a:xfrm>
          <a:prstGeom prst="rect">
            <a:avLst/>
          </a:prstGeom>
          <a:noFill/>
          <a:ln/>
        </p:spPr>
        <p:txBody>
          <a:bodyPr wrap="square" lIns="0" tIns="0" rIns="0" bIns="0" rtlCol="0" anchor="t"/>
          <a:lstStyle/>
          <a:p>
            <a:pPr indent="0" marL="0">
              <a:buNone/>
            </a:pPr>
            <a:r>
              <a:rPr lang="en-US" sz="1350" b="1" dirty="0">
                <a:solidFill>
                  <a:srgbClr val="171B26"/>
                </a:solidFill>
                <a:latin typeface="Segoe UI" pitchFamily="34" charset="0"/>
                <a:ea typeface="Segoe UI" pitchFamily="34" charset="-122"/>
                <a:cs typeface="Segoe UI" pitchFamily="34" charset="-120"/>
              </a:rPr>
              <a:t>α · Εργαστήριο με παλιούς υπολογιστές και μηδέν budget</a:t>
            </a:r>
            <a:endParaRPr lang="en-US" sz="1350" dirty="0"/>
          </a:p>
        </p:txBody>
      </p:sp>
      <p:sp>
        <p:nvSpPr>
          <p:cNvPr id="12" name="Text 9"/>
          <p:cNvSpPr txBox="1"/>
          <p:nvPr/>
        </p:nvSpPr>
        <p:spPr>
          <a:xfrm>
            <a:off x="731520" y="2422017"/>
            <a:ext cx="5020056" cy="869823"/>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Linux (π.χ. Linux Mint, Lubuntu): δωρεάν, ελαφρύ, τρέχει σε παλιό υλικό.</a:t>
            </a:r>
            <a:endParaRPr lang="en-US" sz="1200" dirty="0"/>
          </a:p>
        </p:txBody>
      </p:sp>
      <p:sp>
        <p:nvSpPr>
          <p:cNvPr id="13" name="Shape 10"/>
          <p:cNvSpPr/>
          <p:nvPr/>
        </p:nvSpPr>
        <p:spPr>
          <a:xfrm>
            <a:off x="6099048" y="1737360"/>
            <a:ext cx="5349240" cy="1645920"/>
          </a:xfrm>
          <a:prstGeom prst="roundRect">
            <a:avLst>
              <a:gd name="adj" fmla="val 3333"/>
            </a:avLst>
          </a:prstGeom>
          <a:solidFill>
            <a:srgbClr val="E4E8FB"/>
          </a:solidFill>
          <a:ln w="12700">
            <a:solidFill>
              <a:srgbClr val="E4E8FB"/>
            </a:solidFill>
            <a:prstDash val="solid"/>
          </a:ln>
        </p:spPr>
      </p:sp>
      <p:sp>
        <p:nvSpPr>
          <p:cNvPr id="14" name="Text 11"/>
          <p:cNvSpPr txBox="1"/>
          <p:nvPr/>
        </p:nvSpPr>
        <p:spPr>
          <a:xfrm>
            <a:off x="6263640" y="1865376"/>
            <a:ext cx="5020056" cy="250888"/>
          </a:xfrm>
          <a:prstGeom prst="rect">
            <a:avLst/>
          </a:prstGeom>
          <a:noFill/>
          <a:ln/>
        </p:spPr>
        <p:txBody>
          <a:bodyPr wrap="square" lIns="0" tIns="0" rIns="0" bIns="0" rtlCol="0" anchor="t"/>
          <a:lstStyle/>
          <a:p>
            <a:pPr indent="0" marL="0">
              <a:buNone/>
            </a:pPr>
            <a:r>
              <a:rPr lang="en-US" sz="1350" b="1" dirty="0">
                <a:solidFill>
                  <a:srgbClr val="171B26"/>
                </a:solidFill>
                <a:latin typeface="Segoe UI" pitchFamily="34" charset="0"/>
                <a:ea typeface="Segoe UI" pitchFamily="34" charset="-122"/>
                <a:cs typeface="Segoe UI" pitchFamily="34" charset="-120"/>
              </a:rPr>
              <a:t>β · Γραφίστας με Adobe και Final Cut</a:t>
            </a:r>
            <a:endParaRPr lang="en-US" sz="1350" dirty="0"/>
          </a:p>
        </p:txBody>
      </p:sp>
      <p:sp>
        <p:nvSpPr>
          <p:cNvPr id="15" name="Text 12"/>
          <p:cNvSpPr txBox="1"/>
          <p:nvPr/>
        </p:nvSpPr>
        <p:spPr>
          <a:xfrm>
            <a:off x="6263640" y="2207705"/>
            <a:ext cx="5020056" cy="1084136"/>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macOS: το Final Cut υπάρχει μόνο εκεί και η Adobe υποστηρίζεται πλήρως.</a:t>
            </a:r>
            <a:endParaRPr lang="en-US" sz="1200" dirty="0"/>
          </a:p>
        </p:txBody>
      </p:sp>
      <p:sp>
        <p:nvSpPr>
          <p:cNvPr id="16" name="Shape 13"/>
          <p:cNvSpPr/>
          <p:nvPr/>
        </p:nvSpPr>
        <p:spPr>
          <a:xfrm>
            <a:off x="566928" y="3566160"/>
            <a:ext cx="5349240" cy="1645920"/>
          </a:xfrm>
          <a:prstGeom prst="roundRect">
            <a:avLst>
              <a:gd name="adj" fmla="val 3333"/>
            </a:avLst>
          </a:prstGeom>
          <a:solidFill>
            <a:srgbClr val="E4E8FB"/>
          </a:solidFill>
          <a:ln w="12700">
            <a:solidFill>
              <a:srgbClr val="E4E8FB"/>
            </a:solidFill>
            <a:prstDash val="solid"/>
          </a:ln>
        </p:spPr>
      </p:sp>
      <p:sp>
        <p:nvSpPr>
          <p:cNvPr id="17" name="Text 14"/>
          <p:cNvSpPr txBox="1"/>
          <p:nvPr/>
        </p:nvSpPr>
        <p:spPr>
          <a:xfrm>
            <a:off x="731520" y="3694176"/>
            <a:ext cx="5020056" cy="250888"/>
          </a:xfrm>
          <a:prstGeom prst="rect">
            <a:avLst/>
          </a:prstGeom>
          <a:noFill/>
          <a:ln/>
        </p:spPr>
        <p:txBody>
          <a:bodyPr wrap="square" lIns="0" tIns="0" rIns="0" bIns="0" rtlCol="0" anchor="t"/>
          <a:lstStyle/>
          <a:p>
            <a:pPr indent="0" marL="0">
              <a:buNone/>
            </a:pPr>
            <a:r>
              <a:rPr lang="en-US" sz="1350" b="1" dirty="0">
                <a:solidFill>
                  <a:srgbClr val="171B26"/>
                </a:solidFill>
                <a:latin typeface="Segoe UI" pitchFamily="34" charset="0"/>
                <a:ea typeface="Segoe UI" pitchFamily="34" charset="-122"/>
                <a:cs typeface="Segoe UI" pitchFamily="34" charset="-120"/>
              </a:rPr>
              <a:t>γ · Web server για ένα site</a:t>
            </a:r>
            <a:endParaRPr lang="en-US" sz="1350" dirty="0"/>
          </a:p>
        </p:txBody>
      </p:sp>
      <p:sp>
        <p:nvSpPr>
          <p:cNvPr id="18" name="Text 15"/>
          <p:cNvSpPr txBox="1"/>
          <p:nvPr/>
        </p:nvSpPr>
        <p:spPr>
          <a:xfrm>
            <a:off x="731520" y="4036504"/>
            <a:ext cx="5020056" cy="1084136"/>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Linux (π.χ. Ubuntu Server): σταθερό, δωρεάν, το πιο διαδεδομένο σε web servers.</a:t>
            </a:r>
            <a:endParaRPr lang="en-US" sz="1200" dirty="0"/>
          </a:p>
        </p:txBody>
      </p:sp>
      <p:sp>
        <p:nvSpPr>
          <p:cNvPr id="19" name="Shape 16"/>
          <p:cNvSpPr/>
          <p:nvPr/>
        </p:nvSpPr>
        <p:spPr>
          <a:xfrm>
            <a:off x="6099048" y="3566160"/>
            <a:ext cx="5349240" cy="1645920"/>
          </a:xfrm>
          <a:prstGeom prst="roundRect">
            <a:avLst>
              <a:gd name="adj" fmla="val 3333"/>
            </a:avLst>
          </a:prstGeom>
          <a:solidFill>
            <a:srgbClr val="FBFCFE"/>
          </a:solidFill>
          <a:ln w="9525">
            <a:solidFill>
              <a:srgbClr val="D3D9E4"/>
            </a:solidFill>
            <a:prstDash val="solid"/>
          </a:ln>
        </p:spPr>
      </p:sp>
      <p:sp>
        <p:nvSpPr>
          <p:cNvPr id="20" name="Text 17"/>
          <p:cNvSpPr txBox="1"/>
          <p:nvPr/>
        </p:nvSpPr>
        <p:spPr>
          <a:xfrm>
            <a:off x="6263640" y="3694176"/>
            <a:ext cx="5020056" cy="250888"/>
          </a:xfrm>
          <a:prstGeom prst="rect">
            <a:avLst/>
          </a:prstGeom>
          <a:noFill/>
          <a:ln/>
        </p:spPr>
        <p:txBody>
          <a:bodyPr wrap="square" lIns="0" tIns="0" rIns="0" bIns="0" rtlCol="0" anchor="t"/>
          <a:lstStyle/>
          <a:p>
            <a:pPr indent="0" marL="0">
              <a:buNone/>
            </a:pPr>
            <a:r>
              <a:rPr lang="en-US" sz="1350" b="1" dirty="0">
                <a:solidFill>
                  <a:srgbClr val="171B26"/>
                </a:solidFill>
                <a:latin typeface="Segoe UI" pitchFamily="34" charset="0"/>
                <a:ea typeface="Segoe UI" pitchFamily="34" charset="-122"/>
                <a:cs typeface="Segoe UI" pitchFamily="34" charset="-120"/>
              </a:rPr>
              <a:t>δ · Λογιστήριο με ελληνικό λογιστικό πρόγραμμα</a:t>
            </a:r>
            <a:endParaRPr lang="en-US" sz="1350" dirty="0"/>
          </a:p>
        </p:txBody>
      </p:sp>
      <p:sp>
        <p:nvSpPr>
          <p:cNvPr id="21" name="Text 18"/>
          <p:cNvSpPr txBox="1"/>
          <p:nvPr/>
        </p:nvSpPr>
        <p:spPr>
          <a:xfrm>
            <a:off x="6263640" y="4036504"/>
            <a:ext cx="5020056" cy="1084136"/>
          </a:xfrm>
          <a:prstGeom prst="rect">
            <a:avLst/>
          </a:prstGeom>
          <a:noFill/>
          <a:ln/>
        </p:spPr>
        <p:txBody>
          <a:bodyPr wrap="square" lIns="0" tIns="0" rIns="0" bIns="0" rtlCol="0" anchor="t"/>
          <a:lstStyle/>
          <a:p>
            <a:pPr indent="0" marL="0">
              <a:lnSpc>
                <a:spcPct val="112000"/>
              </a:lnSpc>
              <a:buNone/>
            </a:pPr>
            <a:r>
              <a:rPr lang="en-US" sz="1200" dirty="0">
                <a:solidFill>
                  <a:srgbClr val="4A5265"/>
                </a:solidFill>
                <a:latin typeface="Segoe UI" pitchFamily="34" charset="0"/>
                <a:ea typeface="Segoe UI" pitchFamily="34" charset="-122"/>
                <a:cs typeface="Segoe UI" pitchFamily="34" charset="-120"/>
              </a:rPr>
              <a:t>Windows: τα περισσότερα ελληνικά λογιστικά προγράμματα τρέχουν μόνο εκεί.</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CFE"/>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F4BD8"/>
          </a:solidFill>
          <a:ln w="12700">
            <a:solidFill>
              <a:srgbClr val="2F4BD8"/>
            </a:solidFill>
            <a:prstDash val="solid"/>
          </a:ln>
        </p:spPr>
      </p:sp>
      <p:pic>
        <p:nvPicPr>
          <p:cNvPr id="3" name="Image 0" descr="/tmp/claude-0/-home-claude/8f07f1d1-9bfe-540b-b195-992cdc902b9e/scratchpad/prak/logo_os.png">    </p:cNvPr>
          <p:cNvPicPr>
            <a:picLocks noChangeAspect="1"/>
          </p:cNvPicPr>
          <p:nvPr/>
        </p:nvPicPr>
        <p:blipFill>
          <a:blip r:embed="rId1"/>
          <a:stretch>
            <a:fillRect/>
          </a:stretch>
        </p:blipFill>
        <p:spPr>
          <a:xfrm>
            <a:off x="9189720" y="274320"/>
            <a:ext cx="310896" cy="310896"/>
          </a:xfrm>
          <a:prstGeom prst="rect">
            <a:avLst/>
          </a:prstGeom>
        </p:spPr>
      </p:pic>
      <p:sp>
        <p:nvSpPr>
          <p:cNvPr id="4" name="Text 1"/>
          <p:cNvSpPr txBox="1"/>
          <p:nvPr/>
        </p:nvSpPr>
        <p:spPr>
          <a:xfrm>
            <a:off x="9573768" y="246888"/>
            <a:ext cx="2468880" cy="365760"/>
          </a:xfrm>
          <a:prstGeom prst="rect">
            <a:avLst/>
          </a:prstGeom>
          <a:noFill/>
          <a:ln/>
        </p:spPr>
        <p:txBody>
          <a:bodyPr wrap="square" lIns="0" tIns="0" rIns="0" bIns="0" rtlCol="0" anchor="ctr"/>
          <a:lstStyle/>
          <a:p>
            <a:pPr indent="0" marL="0">
              <a:buNone/>
            </a:pPr>
            <a:r>
              <a:rPr lang="en-US" sz="950" b="1" dirty="0">
                <a:solidFill>
                  <a:srgbClr val="4A5265"/>
                </a:solidFill>
                <a:latin typeface="Segoe UI" pitchFamily="34" charset="0"/>
                <a:ea typeface="Segoe UI" pitchFamily="34" charset="-122"/>
                <a:cs typeface="Segoe UI" pitchFamily="34" charset="-120"/>
              </a:rPr>
              <a:t>ΣΑΕΚ Μαρκοπούλου</a:t>
            </a:r>
            <a:endParaRPr lang="en-US" sz="950" dirty="0"/>
          </a:p>
          <a:p>
            <a:pPr indent="0" marL="0">
              <a:buNone/>
            </a:pPr>
            <a:r>
              <a:rPr lang="en-US" sz="950" b="1" dirty="0">
                <a:solidFill>
                  <a:srgbClr val="4A5265"/>
                </a:solidFill>
                <a:latin typeface="Segoe UI" pitchFamily="34" charset="0"/>
                <a:ea typeface="Segoe UI" pitchFamily="34" charset="-122"/>
                <a:cs typeface="Segoe UI" pitchFamily="34" charset="-120"/>
              </a:rPr>
              <a:t>Σύγχρονα Λειτουργικά Συστήματα</a:t>
            </a:r>
            <a:endParaRPr lang="en-US" sz="950" dirty="0"/>
          </a:p>
        </p:txBody>
      </p:sp>
      <p:sp>
        <p:nvSpPr>
          <p:cNvPr id="5" name="Text 2"/>
          <p:cNvSpPr txBox="1"/>
          <p:nvPr/>
        </p:nvSpPr>
        <p:spPr>
          <a:xfrm>
            <a:off x="8503920" y="6419088"/>
            <a:ext cx="3154680" cy="237744"/>
          </a:xfrm>
          <a:prstGeom prst="rect">
            <a:avLst/>
          </a:prstGeom>
          <a:noFill/>
          <a:ln/>
        </p:spPr>
        <p:txBody>
          <a:bodyPr wrap="square" rtlCol="0" anchor="ctr"/>
          <a:lstStyle/>
          <a:p>
            <a:pPr algn="r" indent="0" marL="0">
              <a:buNone/>
            </a:pPr>
            <a:r>
              <a:rPr lang="en-US" sz="900" dirty="0">
                <a:solidFill>
                  <a:srgbClr val="8A91A3"/>
                </a:solidFill>
                <a:latin typeface="Consolas" pitchFamily="34" charset="0"/>
                <a:ea typeface="Consolas" pitchFamily="34" charset="-122"/>
                <a:cs typeface="Consolas" pitchFamily="34" charset="-120"/>
              </a:rPr>
              <a:t>Λαμπρόπουλος Χρήστος</a:t>
            </a:r>
            <a:endParaRPr lang="en-US" sz="900" dirty="0"/>
          </a:p>
        </p:txBody>
      </p:sp>
      <p:sp>
        <p:nvSpPr>
          <p:cNvPr id="6" name="Text 3"/>
          <p:cNvSpPr txBox="1"/>
          <p:nvPr/>
        </p:nvSpPr>
        <p:spPr>
          <a:xfrm>
            <a:off x="566928" y="384048"/>
            <a:ext cx="8412480" cy="237744"/>
          </a:xfrm>
          <a:prstGeom prst="rect">
            <a:avLst/>
          </a:prstGeom>
          <a:noFill/>
          <a:ln/>
        </p:spPr>
        <p:txBody>
          <a:bodyPr wrap="square" lIns="0" tIns="0" rIns="0" bIns="0" rtlCol="0" anchor="ctr"/>
          <a:lstStyle/>
          <a:p>
            <a:pPr indent="0" marL="0">
              <a:buNone/>
            </a:pPr>
            <a:r>
              <a:rPr lang="en-US" sz="1000" spc="140" kern="0" dirty="0">
                <a:solidFill>
                  <a:srgbClr val="2F4BD8"/>
                </a:solidFill>
                <a:latin typeface="Consolas" pitchFamily="34" charset="0"/>
                <a:ea typeface="Consolas" pitchFamily="34" charset="-122"/>
                <a:cs typeface="Consolas" pitchFamily="34" charset="-120"/>
              </a:rPr>
              <a:t>12  </a:t>
            </a:r>
            <a:pPr indent="0" marL="0">
              <a:buNone/>
            </a:pPr>
            <a:r>
              <a:rPr lang="en-US" sz="1000" spc="140" kern="0" dirty="0">
                <a:solidFill>
                  <a:srgbClr val="8A91A3"/>
                </a:solidFill>
                <a:latin typeface="Consolas" pitchFamily="34" charset="0"/>
                <a:ea typeface="Consolas" pitchFamily="34" charset="-122"/>
                <a:cs typeface="Consolas" pitchFamily="34" charset="-120"/>
              </a:rPr>
              <a:t>ΠΑΡΑΔΟΤΕΟ &amp; ΣΥΝΟΨΗ</a:t>
            </a:r>
            <a:endParaRPr lang="en-US" sz="1000" dirty="0"/>
          </a:p>
        </p:txBody>
      </p:sp>
      <p:sp>
        <p:nvSpPr>
          <p:cNvPr id="7" name="Text 4"/>
          <p:cNvSpPr txBox="1"/>
          <p:nvPr/>
        </p:nvSpPr>
        <p:spPr>
          <a:xfrm>
            <a:off x="530352" y="658368"/>
            <a:ext cx="8595360" cy="566928"/>
          </a:xfrm>
          <a:prstGeom prst="rect">
            <a:avLst/>
          </a:prstGeom>
          <a:noFill/>
          <a:ln/>
        </p:spPr>
        <p:txBody>
          <a:bodyPr wrap="square" lIns="0" tIns="0" rIns="0" bIns="0" rtlCol="0" anchor="t"/>
          <a:lstStyle/>
          <a:p>
            <a:pPr indent="0" marL="0">
              <a:buNone/>
            </a:pPr>
            <a:r>
              <a:rPr lang="en-US" sz="3000" b="1" dirty="0">
                <a:solidFill>
                  <a:srgbClr val="171B26"/>
                </a:solidFill>
                <a:latin typeface="Segoe UI" pitchFamily="34" charset="0"/>
                <a:ea typeface="Segoe UI" pitchFamily="34" charset="-122"/>
                <a:cs typeface="Segoe UI" pitchFamily="34" charset="-120"/>
              </a:rPr>
              <a:t>Πριν φύγεις</a:t>
            </a:r>
            <a:endParaRPr lang="en-US" sz="3000" dirty="0"/>
          </a:p>
        </p:txBody>
      </p:sp>
      <p:sp>
        <p:nvSpPr>
          <p:cNvPr id="8" name="Shape 5"/>
          <p:cNvSpPr/>
          <p:nvPr/>
        </p:nvSpPr>
        <p:spPr>
          <a:xfrm>
            <a:off x="566928" y="1463040"/>
            <a:ext cx="5349240" cy="2743200"/>
          </a:xfrm>
          <a:prstGeom prst="roundRect">
            <a:avLst>
              <a:gd name="adj" fmla="val 2000"/>
            </a:avLst>
          </a:prstGeom>
          <a:solidFill>
            <a:srgbClr val="FBFCFE"/>
          </a:solidFill>
          <a:ln w="9525">
            <a:solidFill>
              <a:srgbClr val="D3D9E4"/>
            </a:solidFill>
            <a:prstDash val="solid"/>
          </a:ln>
        </p:spPr>
      </p:sp>
      <p:sp>
        <p:nvSpPr>
          <p:cNvPr id="9" name="Text 6"/>
          <p:cNvSpPr txBox="1"/>
          <p:nvPr/>
        </p:nvSpPr>
        <p:spPr>
          <a:xfrm>
            <a:off x="731520" y="1591056"/>
            <a:ext cx="5020056" cy="274701"/>
          </a:xfrm>
          <a:prstGeom prst="rect">
            <a:avLst/>
          </a:prstGeom>
          <a:noFill/>
          <a:ln/>
        </p:spPr>
        <p:txBody>
          <a:bodyPr wrap="square" lIns="0" tIns="0" rIns="0" bIns="0" rtlCol="0" anchor="t"/>
          <a:lstStyle/>
          <a:p>
            <a:pPr indent="0" marL="0">
              <a:buNone/>
            </a:pPr>
            <a:r>
              <a:rPr lang="en-US" sz="1500" b="1" dirty="0">
                <a:solidFill>
                  <a:srgbClr val="171B26"/>
                </a:solidFill>
                <a:latin typeface="Segoe UI" pitchFamily="34" charset="0"/>
                <a:ea typeface="Segoe UI" pitchFamily="34" charset="-122"/>
                <a:cs typeface="Segoe UI" pitchFamily="34" charset="-120"/>
              </a:rPr>
              <a:t>Στον φάκελο LS_Eponymo πρέπει να υπάρχουν</a:t>
            </a:r>
            <a:endParaRPr lang="en-US" sz="1500" dirty="0"/>
          </a:p>
        </p:txBody>
      </p:sp>
      <p:sp>
        <p:nvSpPr>
          <p:cNvPr id="10" name="Text 7"/>
          <p:cNvSpPr txBox="1"/>
          <p:nvPr/>
        </p:nvSpPr>
        <p:spPr>
          <a:xfrm>
            <a:off x="731520" y="1957197"/>
            <a:ext cx="5020056" cy="2157603"/>
          </a:xfrm>
          <a:prstGeom prst="rect">
            <a:avLst/>
          </a:prstGeom>
          <a:noFill/>
          <a:ln/>
        </p:spPr>
        <p:txBody>
          <a:bodyPr wrap="square" lIns="0" tIns="0" rIns="0" bIns="0" rtlCol="0" anchor="t"/>
          <a:lstStyle/>
          <a:p>
            <a:pPr indent="0" marL="0">
              <a:lnSpc>
                <a:spcPct val="112000"/>
              </a:lnSpc>
              <a:buNone/>
            </a:pPr>
            <a:r>
              <a:rPr lang="en-US" sz="1300" dirty="0">
                <a:solidFill>
                  <a:srgbClr val="4A5265"/>
                </a:solidFill>
                <a:latin typeface="Segoe UI" pitchFamily="34" charset="0"/>
                <a:ea typeface="Segoe UI" pitchFamily="34" charset="-122"/>
                <a:cs typeface="Segoe UI" pitchFamily="34" charset="-120"/>
              </a:rPr>
              <a:t>☐  Karta_Systimatos.docx (με στιγμιότυπο)</a:t>
            </a:r>
            <a:endParaRPr lang="en-US" sz="1300" dirty="0"/>
          </a:p>
          <a:p>
            <a:pPr indent="0" marL="0">
              <a:lnSpc>
                <a:spcPct val="112000"/>
              </a:lnSpc>
              <a:buNone/>
            </a:pPr>
            <a:r>
              <a:rPr lang="en-US" sz="1300" dirty="0">
                <a:solidFill>
                  <a:srgbClr val="4A5265"/>
                </a:solidFill>
                <a:latin typeface="Segoe UI" pitchFamily="34" charset="0"/>
                <a:ea typeface="Segoe UI" pitchFamily="34" charset="-122"/>
                <a:cs typeface="Segoe UI" pitchFamily="34" charset="-120"/>
              </a:rPr>
              <a:t>☐  Ο πίνακας «6 δουλειές του ΛΣ»</a:t>
            </a:r>
            <a:endParaRPr lang="en-US" sz="1300" dirty="0"/>
          </a:p>
          <a:p>
            <a:pPr indent="0" marL="0">
              <a:lnSpc>
                <a:spcPct val="112000"/>
              </a:lnSpc>
              <a:buNone/>
            </a:pPr>
            <a:r>
              <a:rPr lang="en-US" sz="1300" dirty="0">
                <a:solidFill>
                  <a:srgbClr val="4A5265"/>
                </a:solidFill>
                <a:latin typeface="Segoe UI" pitchFamily="34" charset="0"/>
                <a:ea typeface="Segoe UI" pitchFamily="34" charset="-122"/>
                <a:cs typeface="Segoe UI" pitchFamily="34" charset="-120"/>
              </a:rPr>
              <a:t>☐  Φάκελοι gui_test και cli_test με το hello.txt</a:t>
            </a:r>
            <a:endParaRPr lang="en-US" sz="1300" dirty="0"/>
          </a:p>
          <a:p>
            <a:pPr indent="0" marL="0">
              <a:lnSpc>
                <a:spcPct val="112000"/>
              </a:lnSpc>
              <a:buNone/>
            </a:pPr>
            <a:r>
              <a:rPr lang="en-US" sz="1300" dirty="0">
                <a:solidFill>
                  <a:srgbClr val="4A5265"/>
                </a:solidFill>
                <a:latin typeface="Segoe UI" pitchFamily="34" charset="0"/>
                <a:ea typeface="Segoe UI" pitchFamily="34" charset="-122"/>
                <a:cs typeface="Segoe UI" pitchFamily="34" charset="-120"/>
              </a:rPr>
              <a:t>☐  Adeies.docx</a:t>
            </a:r>
            <a:endParaRPr lang="en-US" sz="1300" dirty="0"/>
          </a:p>
        </p:txBody>
      </p:sp>
      <p:sp>
        <p:nvSpPr>
          <p:cNvPr id="11" name="Shape 8"/>
          <p:cNvSpPr/>
          <p:nvPr/>
        </p:nvSpPr>
        <p:spPr>
          <a:xfrm>
            <a:off x="6099048" y="1463040"/>
            <a:ext cx="5349240" cy="2743200"/>
          </a:xfrm>
          <a:prstGeom prst="roundRect">
            <a:avLst>
              <a:gd name="adj" fmla="val 2000"/>
            </a:avLst>
          </a:prstGeom>
          <a:solidFill>
            <a:srgbClr val="E4E8FB"/>
          </a:solidFill>
          <a:ln w="12700">
            <a:solidFill>
              <a:srgbClr val="E4E8FB"/>
            </a:solidFill>
            <a:prstDash val="solid"/>
          </a:ln>
        </p:spPr>
      </p:sp>
      <p:sp>
        <p:nvSpPr>
          <p:cNvPr id="12" name="Text 9"/>
          <p:cNvSpPr txBox="1"/>
          <p:nvPr/>
        </p:nvSpPr>
        <p:spPr>
          <a:xfrm>
            <a:off x="6263640" y="1591056"/>
            <a:ext cx="5020056" cy="274701"/>
          </a:xfrm>
          <a:prstGeom prst="rect">
            <a:avLst/>
          </a:prstGeom>
          <a:noFill/>
          <a:ln/>
        </p:spPr>
        <p:txBody>
          <a:bodyPr wrap="square" lIns="0" tIns="0" rIns="0" bIns="0" rtlCol="0" anchor="t"/>
          <a:lstStyle/>
          <a:p>
            <a:pPr indent="0" marL="0">
              <a:buNone/>
            </a:pPr>
            <a:r>
              <a:rPr lang="en-US" sz="1500" b="1" dirty="0">
                <a:solidFill>
                  <a:srgbClr val="171B26"/>
                </a:solidFill>
                <a:latin typeface="Segoe UI" pitchFamily="34" charset="0"/>
                <a:ea typeface="Segoe UI" pitchFamily="34" charset="-122"/>
                <a:cs typeface="Segoe UI" pitchFamily="34" charset="-120"/>
              </a:rPr>
              <a:t>Τι κρατάμε</a:t>
            </a:r>
            <a:endParaRPr lang="en-US" sz="1500" dirty="0"/>
          </a:p>
        </p:txBody>
      </p:sp>
      <p:sp>
        <p:nvSpPr>
          <p:cNvPr id="13" name="Text 10"/>
          <p:cNvSpPr txBox="1"/>
          <p:nvPr/>
        </p:nvSpPr>
        <p:spPr>
          <a:xfrm>
            <a:off x="6263640" y="1957197"/>
            <a:ext cx="5020056" cy="2157603"/>
          </a:xfrm>
          <a:prstGeom prst="rect">
            <a:avLst/>
          </a:prstGeom>
          <a:noFill/>
          <a:ln/>
        </p:spPr>
        <p:txBody>
          <a:bodyPr wrap="square" lIns="0" tIns="0" rIns="0" bIns="0" rtlCol="0" anchor="t"/>
          <a:lstStyle/>
          <a:p>
            <a:pPr marL="177800" indent="-177800">
              <a:lnSpc>
                <a:spcPct val="112000"/>
              </a:lnSpc>
              <a:spcAft>
                <a:spcPts val="500"/>
              </a:spcAft>
              <a:buSzPct val="100000"/>
              <a:buChar char="•"/>
            </a:pPr>
            <a:r>
              <a:rPr lang="en-US" sz="1250" dirty="0">
                <a:solidFill>
                  <a:srgbClr val="4A5265"/>
                </a:solidFill>
                <a:latin typeface="Segoe UI" pitchFamily="34" charset="0"/>
                <a:ea typeface="Segoe UI" pitchFamily="34" charset="-122"/>
                <a:cs typeface="Segoe UI" pitchFamily="34" charset="-120"/>
              </a:rPr>
              <a:t>Το ΛΣ στέκεται ανάμεσα σε εφαρμογές και υλικό.</a:t>
            </a:r>
            <a:endParaRPr lang="en-US" sz="1250" dirty="0"/>
          </a:p>
          <a:p>
            <a:pPr marL="177800" indent="-177800">
              <a:lnSpc>
                <a:spcPct val="112000"/>
              </a:lnSpc>
              <a:spcAft>
                <a:spcPts val="500"/>
              </a:spcAft>
              <a:buSzPct val="100000"/>
              <a:buChar char="•"/>
            </a:pPr>
            <a:r>
              <a:rPr lang="en-US" sz="1250" dirty="0">
                <a:solidFill>
                  <a:srgbClr val="4A5265"/>
                </a:solidFill>
                <a:latin typeface="Segoe UI" pitchFamily="34" charset="0"/>
                <a:ea typeface="Segoe UI" pitchFamily="34" charset="-122"/>
                <a:cs typeface="Segoe UI" pitchFamily="34" charset="-120"/>
              </a:rPr>
              <a:t>Κάνει 6 δουλειές: τις βρήκες όλες στα Windows.</a:t>
            </a:r>
            <a:endParaRPr lang="en-US" sz="1250" dirty="0"/>
          </a:p>
          <a:p>
            <a:pPr marL="177800" indent="-177800">
              <a:lnSpc>
                <a:spcPct val="112000"/>
              </a:lnSpc>
              <a:spcAft>
                <a:spcPts val="500"/>
              </a:spcAft>
              <a:buSzPct val="100000"/>
              <a:buChar char="•"/>
            </a:pPr>
            <a:r>
              <a:rPr lang="en-US" sz="1250" dirty="0">
                <a:solidFill>
                  <a:srgbClr val="4A5265"/>
                </a:solidFill>
                <a:latin typeface="Segoe UI" pitchFamily="34" charset="0"/>
                <a:ea typeface="Segoe UI" pitchFamily="34" charset="-122"/>
                <a:cs typeface="Segoe UI" pitchFamily="34" charset="-120"/>
              </a:rPr>
              <a:t>Πυρήνας από κάτω, κέλυφος (GUI ή CLI) από πάνω.</a:t>
            </a:r>
            <a:endParaRPr lang="en-US" sz="1250" dirty="0"/>
          </a:p>
          <a:p>
            <a:pPr marL="177800" indent="-177800">
              <a:lnSpc>
                <a:spcPct val="112000"/>
              </a:lnSpc>
              <a:spcAft>
                <a:spcPts val="500"/>
              </a:spcAft>
              <a:buSzPct val="100000"/>
              <a:buChar char="•"/>
            </a:pPr>
            <a:r>
              <a:rPr lang="en-US" sz="1250" dirty="0">
                <a:solidFill>
                  <a:srgbClr val="4A5265"/>
                </a:solidFill>
                <a:latin typeface="Segoe UI" pitchFamily="34" charset="0"/>
                <a:ea typeface="Segoe UI" pitchFamily="34" charset="-122"/>
                <a:cs typeface="Segoe UI" pitchFamily="34" charset="-120"/>
              </a:rPr>
              <a:t>Εμπορικό ή ΕΛ/ΛΑΚ: διαλέγεις ανάλογα με τη χρήση.</a:t>
            </a:r>
            <a:endParaRPr lang="en-US" sz="1250" dirty="0"/>
          </a:p>
        </p:txBody>
      </p:sp>
      <p:sp>
        <p:nvSpPr>
          <p:cNvPr id="14" name="Shape 11"/>
          <p:cNvSpPr/>
          <p:nvPr/>
        </p:nvSpPr>
        <p:spPr>
          <a:xfrm>
            <a:off x="566928" y="4434840"/>
            <a:ext cx="10881360" cy="1508760"/>
          </a:xfrm>
          <a:prstGeom prst="roundRect">
            <a:avLst>
              <a:gd name="adj" fmla="val 3636"/>
            </a:avLst>
          </a:prstGeom>
          <a:solidFill>
            <a:srgbClr val="F6EDD6"/>
          </a:solidFill>
          <a:ln w="12700">
            <a:solidFill>
              <a:srgbClr val="F6EDD6"/>
            </a:solidFill>
            <a:prstDash val="solid"/>
          </a:ln>
        </p:spPr>
      </p:sp>
      <p:sp>
        <p:nvSpPr>
          <p:cNvPr id="15" name="Text 12"/>
          <p:cNvSpPr txBox="1"/>
          <p:nvPr/>
        </p:nvSpPr>
        <p:spPr>
          <a:xfrm>
            <a:off x="731520" y="4562856"/>
            <a:ext cx="10552176" cy="258826"/>
          </a:xfrm>
          <a:prstGeom prst="rect">
            <a:avLst/>
          </a:prstGeom>
          <a:noFill/>
          <a:ln/>
        </p:spPr>
        <p:txBody>
          <a:bodyPr wrap="square" lIns="0" tIns="0" rIns="0" bIns="0" rtlCol="0" anchor="t"/>
          <a:lstStyle/>
          <a:p>
            <a:pPr indent="0" marL="0">
              <a:buNone/>
            </a:pPr>
            <a:r>
              <a:rPr lang="en-US" sz="1400" b="1" dirty="0">
                <a:solidFill>
                  <a:srgbClr val="171B26"/>
                </a:solidFill>
                <a:latin typeface="Segoe UI" pitchFamily="34" charset="0"/>
                <a:ea typeface="Segoe UI" pitchFamily="34" charset="-122"/>
                <a:cs typeface="Segoe UI" pitchFamily="34" charset="-120"/>
              </a:rPr>
              <a:t>Επόμενο εργαστήριο · Τρίτη 13/10</a:t>
            </a:r>
            <a:endParaRPr lang="en-US" sz="1400" dirty="0"/>
          </a:p>
        </p:txBody>
      </p:sp>
      <p:sp>
        <p:nvSpPr>
          <p:cNvPr id="16" name="Text 13"/>
          <p:cNvSpPr txBox="1"/>
          <p:nvPr/>
        </p:nvSpPr>
        <p:spPr>
          <a:xfrm>
            <a:off x="731520" y="4913122"/>
            <a:ext cx="10552176" cy="939038"/>
          </a:xfrm>
          <a:prstGeom prst="rect">
            <a:avLst/>
          </a:prstGeom>
          <a:noFill/>
          <a:ln/>
        </p:spPr>
        <p:txBody>
          <a:bodyPr wrap="square" lIns="0" tIns="0" rIns="0" bIns="0" rtlCol="0" anchor="t"/>
          <a:lstStyle/>
          <a:p>
            <a:pPr indent="0" marL="0">
              <a:lnSpc>
                <a:spcPct val="112000"/>
              </a:lnSpc>
              <a:buNone/>
            </a:pPr>
            <a:r>
              <a:rPr lang="en-US" sz="1300" dirty="0">
                <a:solidFill>
                  <a:srgbClr val="4A5265"/>
                </a:solidFill>
                <a:latin typeface="Segoe UI" pitchFamily="34" charset="0"/>
                <a:ea typeface="Segoe UI" pitchFamily="34" charset="-122"/>
                <a:cs typeface="Segoe UI" pitchFamily="34" charset="-120"/>
              </a:rPr>
              <a:t>Πώς τρέχουν 150 προγράμματα σε λίγους πυρήνες; Θα «κυνηγήσουμε» διεργασίες, θα τους αλλάξουμε προτεραιότητα και θα τις παγώσουμε.</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Εργαστήριο 1 — Τι είναι το Λειτουργικό Σύστημα</dc:title>
  <dc:subject>PptxGenJS Presentation</dc:subject>
  <dc:creator>Λαμπρόπουλος Χρήστος</dc:creator>
  <cp:lastModifiedBy>Λαμπρόπουλος Χρήστος</cp:lastModifiedBy>
  <cp:revision>1</cp:revision>
  <dcterms:created xsi:type="dcterms:W3CDTF">2026-10-05T21:05:12Z</dcterms:created>
  <dcterms:modified xsi:type="dcterms:W3CDTF">2026-10-05T21:05:12Z</dcterms:modified>
</cp:coreProperties>
</file>