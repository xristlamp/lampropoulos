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7"/>
    <p:sldId id="270" r:id="rId6"/>
    <p:sldId id="271" r:id="rId5"/>
    <p:sldId id="272" r:id="rId4"/>
    <p:sldId id="273" r:id="rId3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Σήμερα μαθαίνουμε πώς το ΛΣ αποφασίζει ποια διεργασία θα πάρει τον επεξεργαστή. Ξεκινάμε με παιχνίδι, μετά χαρτί και τέλος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ΕΡΓΑΣΤΗΡΙΟ 3 · ΕΝΟΤΗΤΑ 2.1.Β.2 · ΤΡΙΤΗ 20/10/2026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12064" y="2487168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Ποιος παίρνει πρώτος</a:t>
            </a:r>
            <a:endParaRPr lang="en-US" sz="5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τον επεξεργαστή;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Χρονοδρομολόγηση Ι: FCFS και SJF, με παιχνίδι, χαρτί και Excel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800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σε 9 μικρά βήματα + 15 ασκήσεις με λύσεις βήμα-βήμα · Excel · 34 διαφάνειες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ΠΩΣ ΔΟΥΛΕΥΟΥΜΕ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15 ασκήσεις του εργαστηρίου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ΠΩΣ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Διαβάζεις το βήμα → λύνεις στο site την άσκηση της ετικέτας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ΕΡΓΑΣΤΗΡΙΟ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→ ελέγχεις με τη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λύση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που ακολουθεί.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17320"/>
          <a:ext cx="5394960" cy="3465576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10515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Οι λέξεις που θα χρειαστούμε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 → 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FCFS με 3 διεργασίες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 → 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Τα ίδια δεδομένα με 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 → 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φαινόμενο συνοδείας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 → 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FCFS με διαφορετικές αφίξεις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16 → 17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SJF με διαφορετικές αφίξεις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Ο στόχος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18 → 19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Έλεγξε τον εαυτό σου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20 → 21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 επεξεργαστής κάθεται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22 → 23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1417320"/>
          <a:ext cx="5257800" cy="3072384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2651760"/>
                <a:gridCol w="1234440"/>
                <a:gridCol w="9144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ΆΣΚΗΣΗ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ΕΠΊΠΕΔΟ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ΔΙΑΦΆΝΕΙΑ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SJF με 4 διεργασίες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Για το σπίτι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24 → 25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Ποιος περιμένει τον επεξεργαστή;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26 → 27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σειρά άφιξης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7F4B"/>
                          </a:solidFill>
                          <a:latin typeface="Segoe UI"/>
                          <a:ea typeface="Segoe UI"/>
                          <a:cs typeface="Segoe UI"/>
                        </a:rPr>
                        <a:t>Εύκολο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26 → 27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FCFS και SJF με το sort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28 → 29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φορτηγό στο αρχείο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28 → 29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 πίνακας FCFS στα Windows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6B0C"/>
                          </a:solidFill>
                          <a:latin typeface="Segoe UI"/>
                          <a:ea typeface="Segoe UI"/>
                          <a:cs typeface="Segoe UI"/>
                        </a:rPr>
                        <a:t>Μέτριο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30 → 32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Βρες τους «φορτηγατζήδες»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42318"/>
                          </a:solidFill>
                          <a:latin typeface="Segoe UI"/>
                          <a:ea typeface="Segoe UI"/>
                          <a:cs typeface="Segoe UI"/>
                        </a:rPr>
                        <a:t>Δύσκολο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31 → 32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57784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Στήλη «Διαφάνεια»: </a:t>
            </a:r>
            <a:r>
              <a:rPr sz="110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εκφώνηση → λύση</a:t>
            </a:r>
            <a:r>
              <a:rPr sz="110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1 ΑΠΟ 9 · ΟΙ ΛΕΞΕΙΣ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Ποιος παίρνει τον επεξεργαστή;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Η ΙΔΕΑ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Πολλές διεργασίες θέλουν τον επεξεργαστή, αλλά κάθε πυρήνας τρέχει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μία τη φορά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Τις άλλες τις βάζει σε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ουρά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ο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χρονοδρομολογητής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(scheduler) του ΛΣ και αποφασίζει ποια τρέχει μετά.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22906"/>
            <a:ext cx="539496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32634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Χρόνος άφιξης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61818"/>
            <a:ext cx="50657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Πότε ήρθε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η διεργασία στην ουρά. 0 = από την αρχή.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97428"/>
            <a:ext cx="539496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0715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Χρόνος εκτέλεσης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36340"/>
            <a:ext cx="50657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Πόση ώρα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χρειάζεται τον επεξεργαστή για να τελειώσει.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42290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3263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Χρόνος αναμονής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6181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Πόση ώρα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περίμενε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στην ουρά χωρίς να τρέχει. Θέλουμε να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467862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7759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Διάγραμμα Gantt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06774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Μια λωρίδα χρόνου: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διεργασία έτρεξε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πότε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 |P1|P2|P3|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ΣΗΜΕΡΑ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Οι αλγόριθμοι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FCFS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SJF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είναι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μη προεκχωρητικοί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όποια διεργασία ξεκινήσει,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τελειώνει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λέξεις που θα χρειαστούμε: λύση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0927080" cy="4050792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2286000"/>
                <a:gridCol w="47091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ΕΡΏΤΗΣΗ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ΣΩΣΤΉ ΑΠΆΝΤΗΣΗ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κομμάτι του ΛΣ που αποφασίζει ποια διεργασία παίρνει τον επεξεργαστή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Χρονοδρομολογητής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Διαλέγει από την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ουρά των Έτοιμων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ποια θα τρέξει μετά.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Πότε έφτασε η διεργασία στην ουρά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Χρόνος άφιξης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«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πότε ήρθε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». Το 0 σημαίνει «από την αρχή».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Πόση ώρα χρειάζεται τον επεξεργαστή για να τελειώσει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Χρόνος εκτέλεσης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«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πόσο κρατά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» όταν πάρει τον επεξεργαστή.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Πόση ώρα περίμενε στην ουρά χωρίς να 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Χρόνος αναμονής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Μετράμε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μόνο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την ώρα στην ουρά, όχι την ώρα που τρέχει.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Λωρίδα χρόνου που δείχνει ποια διεργασία έτρεξε πότε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Διάγραμμα Gantt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Κάθε κουτάκι είναι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1 μονάδα χρόνου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: |P1|P2|P3|.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«Μη προεκχωρητικός» αλγόριθμος σημαίνει ότι…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όποια ξεκινήσει, 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Το ΛΣ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τη διακόπτει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στη μέση. Έτσι δουλεύουν FCFS και SJF.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αντίθετο,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προεκχωρητικός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σημαίνει ότι το ΛΣ μπορεί να διακόψει μια διεργασία: το βλέπουμε στο Εργαστήριο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ΣΤΗΝ ΤΑΞΗ · 15΄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Παιχνίδι: η ουρά στο κυλικείο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ΚΑΝΟΥΜΕ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 εκπαιδευόμενοι είναι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διεργασίες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με κάρτα χρόνου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8, 2, 4, 1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δευτερόλεπτα. 1 είναι ο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επεξεργαστής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μετράει δυνατά. Ο εκπαιδευτής γράφει στον πίνακα.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22906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32634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Γύρος 1 · Με τη σειρά που κάθονται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61818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«διεργασία» γράφει πόσα δευτερόλεπτα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περίμενε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σειρά 8, 2, 4, 1: αναμονές 0, 8, 10, 14 → μέσος όρος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8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422906"/>
            <a:ext cx="5257800" cy="13716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3263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Γύρος 2 · Ο πιο σύντομος πρώτα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6181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Ξαναμπαίνουν από 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κάρτα στη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μεγαλύτερη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Σειρά 1, 2, 4, 8: αναμονές 0, 1, 3, 7 → μέσος όρος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2,75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ΣΥΓΚΡΙΝΕ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Ο γύρος 1 είναι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FCFS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ο γύρος 2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SJF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Ο πιο σύντομος πρώτα δίνει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πολύ μικρότερη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αναμονή.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2 ΑΠΟ 9 · FCFS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FCFS: πρώτος ήρθε, πρώτος εξυπηρετείται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Η ΙΔΕΑ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διεργασίες τρέχουν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 τη σειρά που έφτασαν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, όπως η ουρά στο ταμείο.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244725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ΠΑΡΑΔΕΙΓΜΑ · P1 = 6, P2 = 2, P3 = 1 · ΟΛΕΣ ΦΤΑΝΟΥΝ ΣΤΟ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09901"/>
            <a:ext cx="7284720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1648" y="2509901"/>
            <a:ext cx="2428240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79888" y="2509901"/>
            <a:ext cx="1214120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876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00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1112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32861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42589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αναμονή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71773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Αναμονή =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πότε αρχίζει − πότε ήρθε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P1 = 0, P2 = 6, P3 =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332861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42589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μέσος όρος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71773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Άθροισμα αναμονών / πλήθος: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+ 6 + 8) / 3 =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4,67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ΤΩΡΑ ΕΣΥ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Άσκηση 2: τα ίδια με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P1 = 5, P2 = 3, P3 = 2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Πώς χρωματίζεις στο site: διαφάνεια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ΓΙΑ ΤΟ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Πώς λύνεις τις ασκήσεις Gantt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399032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Διάλεξε διεργασία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69164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Πάτα το κουμπί </a:t>
            </a:r>
            <a:r>
              <a:rPr sz="12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P1, P2, …</a:t>
            </a:r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πάνω από το Gantt. Κάθε μία έχει δικό της χρώμα.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2316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23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04872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Χρωμάτισε τα κουτάκια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69748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 κουτάκι = 1 μονάδα χρόνου.</a:t>
            </a:r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Πάτα ή σύρε με το ποντίκι. Άδειος επεξεργαστής = </a:t>
            </a:r>
            <a:r>
              <a:rPr sz="12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λευκό</a:t>
            </a:r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κουτάκι.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29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410712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Συμπλήρωσε τον πίνακα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332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Αρχίζει · Τελειώνει · Αναμονή</a:t>
            </a:r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(αναμονή = αρχίζει − άφιξη).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3484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434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416552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 → ✔ Έλεγχος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0916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Γράψε π.χ. </a:t>
            </a:r>
            <a:r>
              <a:rPr sz="12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4,33</a:t>
            </a:r>
            <a:r>
              <a:rPr sz="12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(κόμμα ή τελεία). Στο λάθος το site σου λέει ποιες περιμένουν εκείνη τη στιγμή.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ΙΣΧΥΕΙ ΓΙΑ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τις ασκήσεις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2, 3, 4, 5, 6, 8, 9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2 · ΕΥΚΟΛΟ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 με 3 διεργασίες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Όλες φτάνουν στο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0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τρέχουν με τη σειρά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P1 → P2 → P3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Χρωμάτισε το Gantt, συμπλήρωσε τον πίνακα και βρες τον μέσο χρόνο αναμονής.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900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82469"/>
          <a:ext cx="4480560" cy="128016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3991229"/>
            <a:ext cx="448056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00957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χρόνος αναμονής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0141"/>
            <a:ext cx="41513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 ___ + ___ + ___ ) / 3 =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199005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2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3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36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08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9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51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22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7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0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3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6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39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1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779008" y="3259709"/>
          <a:ext cx="5715000" cy="128016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P1 πιάνει τα πρώτα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5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κουτάκια, μετά έρχεται η P2.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09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2 · FCFS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 με 3 διεργασίες: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5463540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0468" y="1417320"/>
            <a:ext cx="3278124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08592" y="1417320"/>
            <a:ext cx="2185416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758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78024"/>
          <a:ext cx="6766560" cy="1389888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P1, P2, 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(0–5)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Ήρθαν μαζί: πάει 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πρώτη στη σειρά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P2, 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(5–8)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Ήρθαν μαζί: πάει 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πρώτη στη σειρά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(8–10)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607808" y="2478024"/>
          <a:ext cx="3886200" cy="128016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607808" y="389534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00507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33425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+ 5 + 8) / 3 = 13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4,33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P3 περιμένει 8 για να τρέξει μόλις 2: φταίει η μεγάλη P1 μπροστά.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Κάθε διεργασία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αρχίζει εκεί που τελειώνει η προηγούμενη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0 → 5 → 8 → 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3 ΑΠΟ 9 · SJF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SJF: ο πιο σύντομος πρώτα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Η ΙΔΕΑ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Από όσες περιμένουν, τρέχει πρώτη αυτή με τον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μικρότερο χρόνο εκτέλεσης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244725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ΤΟ ΙΔΙΟ ΠΑΡΑΔΕΙΓΜΑ (P1 = 6, P2 = 2, P3 = 1) ΜΕ SJF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09901"/>
            <a:ext cx="1214120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1048" y="2509901"/>
            <a:ext cx="2428240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288" y="2509901"/>
            <a:ext cx="7284720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816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640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11128" y="2994533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32861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42589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μέσος όρος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71773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P3 = 0, P2 = 1, P1 = 3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(3 + 1 + 0) / 3 =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1,33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 (με FCFS ήταν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4,67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332861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42589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μειονέκτημα: λιμοκτονία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71773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 έρχονται συνέχεια μικρές, η μεγάλη μπορεί να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περιμένει για πάντα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ΚΑΝΟΝΑΣ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Ταξινόμησε κατά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χρόνο εκτέλεσης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η μικρότερη πρώτη. Ισοπαλία → πρώτη όποια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ήρθε πρώτη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3 · ΕΥΚΟΛΟ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ίδια δεδομένα με SJF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δεδομένα της άσκησης 2, αλλά τώρα τρέχει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πρώτη η πιο σύντομη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Σύγκρινε τον μέσο όρο με την άσκηση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900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82469"/>
          <a:ext cx="4480560" cy="128016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3991229"/>
            <a:ext cx="448056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00957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χρόνος αναμονής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0141"/>
            <a:ext cx="41513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 ___ + ___ + ___ ) / 3 =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199005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2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3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36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08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9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51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22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7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0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3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6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39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1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779008" y="3259709"/>
          <a:ext cx="5715000" cy="128016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Σειρά: από τη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μικρότερη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εκτέλεση στη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μεγαλύτερη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3 · SJF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ίδια δεδομένα με SJF: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2185416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2344" y="1417320"/>
            <a:ext cx="3278124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0468" y="1417320"/>
            <a:ext cx="5463540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758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78024"/>
          <a:ext cx="6766560" cy="1389888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 (ΕΚΤΈΛΕΣΗ)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(5), P2 (3), P3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(0–2)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πιο σύντομη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από όσες περιμένουν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(5), P2 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(2–5)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πιο σύντομη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από όσες περιμένουν 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(5)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(5–10)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607808" y="2478024"/>
          <a:ext cx="3886200" cy="128016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607808" y="389534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00507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33425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(5 + 2 + 0) / 3 = 7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2,33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FCFS ήταν 4,33: απλώς αλλάζοντας σειρά, η αναμονή σχεδόν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μισό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Πρώτα ταξινομείς κατά εκτέλεση: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P3 (2) → P2 (3) → P1 (5)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Μετά λύνεις όπως στο FCFS.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4 ΑΠΟ 9 · ΦΑΙΝΟΜΕΝΟ ΣΥΝΟΔΕΙΑΣ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φορτηγό στον στενό δρόμο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Μια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μεγάλη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διεργασία μπαίνει πρώτη. Κάνε το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και δες πόσο περιμένουν οι μικρές πίσω της. Σύρε το ποντίκι για να χρωματίσεις πολλά κουτάκια μαζί.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377186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660650"/>
          <a:ext cx="4480560" cy="128016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4169410"/>
            <a:ext cx="448056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79138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Φαινόμενο συνοδείας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08322"/>
            <a:ext cx="41513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μια μεγάλη διεργασία μπροστά καθυστερεί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όλες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τις μικρές πίσω της, σαν φορτηγό σε στενό δρόμο.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377186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69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0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41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31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2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12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3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3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4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74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5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6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27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17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08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98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89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79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70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60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351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541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32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22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1130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03508" y="2660650"/>
            <a:ext cx="190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961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76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391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06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36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51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966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681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396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11128" y="314528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779008" y="3437890"/>
          <a:ext cx="5715000" cy="128016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3" name="Connector 6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Με SJF ο μέσος όρος εδώ θα ήταν μόλις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Πόσος βγαίνει με FCFS;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4 · FCFS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φαινόμενο συνοδείας: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8741664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308592" y="1417320"/>
            <a:ext cx="1092708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01300" y="1417320"/>
            <a:ext cx="1092708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8420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78024"/>
          <a:ext cx="6766560" cy="1389888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P1, P2, 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(0–24)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Ήρθαν μαζί: πάει 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πρώτη στη σειρά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P2, 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(24–27)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Ήρθαν μαζί: πάει 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πρώτη στη σειρά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(27–30)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607808" y="2478024"/>
          <a:ext cx="3886200" cy="128016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24 − 0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27 − 0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607808" y="389534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00507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33425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+ 24 + 27) / 3 = 51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17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SJF (P2, P3, P1): (0 + 3 + 6)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δηλαδή σχεδόν 6 φορές λιγότερο.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Οι P2 και P3 χρειάζονται μόλις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η καθεμία, αλλά περιμένουν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24 και 27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πίσω από το «φορτηγό» P1.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5 ΑΠΟ 9 · ΔΙΑΦΟΡΕΤΙΚΕΣ ΑΦΙΞΕΙΣ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Όταν δεν έρχονται όλες μαζί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5 ·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776986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776986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Ο ΚΑΝΟΝΑΣ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35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Μια διεργασία μπορεί να διαλεχτεί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μόνο αφού έχει φτάσει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Κάθε φορά που ελευθερώνεται ο επεξεργαστής κοιτάς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ποιες περιμένουν εκείνη τη στιγμή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377186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ΠΑΡΑΔΕΙΓΜΑ · P1 (άφιξη 0, εκτέλεση 3) · P2 (1, 4) · P3 (2,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42362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FCFS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07538"/>
            <a:ext cx="2023110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0038" y="2907538"/>
            <a:ext cx="2697480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87518" y="2907538"/>
            <a:ext cx="674370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715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463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84778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9450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 τη σειρά άφιξης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2369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Αναμονές: P1 = 0, P2 = 2, P3 = 5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Μέσος όρος = (0 + 2 + 5) / 3 =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2,33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642362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SJF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907538"/>
            <a:ext cx="1971675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7883" y="2907538"/>
            <a:ext cx="657225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5108" y="2907538"/>
            <a:ext cx="2628900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5003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222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11128" y="339217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684778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79450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Στο 3 περιμένουν P2 (4) και P3 (1) → πρώτα η P3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23690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Αναμονές: P1 = 0, P2 = 3, P3 = 1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Μέσος όρος = (0 + 3 + 1) / 3 =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1,33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ΠΡΟΣΟΧΗ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Αναμονή =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πότε αρχίζει − πότε ήρθε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όχι «πότε αρχίζει».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5 · ΜΕΤΡΙΟ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 με διαφορετικές αφίξεις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Οι διεργασίες δεν φτάνουν μαζί. Με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τρέχουν με τη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σειρά άφιξης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Αναμονή = αρχίζει − άφιξη.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900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82469"/>
          <a:ext cx="4480560" cy="160020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4311269"/>
            <a:ext cx="448056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0997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χρόνος αναμονής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0181"/>
            <a:ext cx="41513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 ___ + ___ + ___ + ___ ) / 4 =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199005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2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3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36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08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9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51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22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7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0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3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6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39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1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779008" y="3259709"/>
          <a:ext cx="5715000" cy="160020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P2 ήρθε στο 1 αλλά ξεκινά όταν τελειώσει η P1: αναμονή =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αρχίζει − 1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5 · FCFS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 με διαφορετικές αφίξεις: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370832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17320"/>
            <a:ext cx="3278124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15884" y="1417320"/>
            <a:ext cx="1092708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08592" y="1417320"/>
            <a:ext cx="2185416" cy="457200"/>
          </a:xfrm>
          <a:prstGeom prst="rect">
            <a:avLst/>
          </a:prstGeom>
          <a:solidFill>
            <a:srgbClr val="E8C77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3004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2478024"/>
          <a:ext cx="6766560" cy="1746504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(0–4)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Μόνη της: οι άλλες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έχουν φτάσει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ακόμα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(ήρθε 1), P3 (ήρθε 2), P4 (ήρθε 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(4–7)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Ήρθε πρώτη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(στο 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P3 (ήρθε 2), P4 (ήρθε 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(7–8)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Ήρθε πρώτη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(στο 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 (8–10)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07808" y="2478024"/>
          <a:ext cx="3886200" cy="160020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4 − 1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7 − 2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8 − 3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07808" y="421538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32511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5429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+ 3 + 5 + 5) / 4 = 13 / 4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3,25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συχνό λάθος: να γράψεις αναμονή P2 = 4 (πότε αρχίζει) αντί για 4 − 1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σειρά είναι πάντα η σειρά άφιξης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P1 → P2 → P3 → P4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Αλλάζει μόνο ότι αφαιρείς την άφιξη.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6 · Ο ΣΤΟΧΟΣ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 με διαφορετικές αφίξεις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Τα δεδομένα της άσκησης 5 με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 Όταν ελευθερώνεται ο επεξεργαστής, διαλέγεις τη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μικρότερη από όσες έχουν φτάσει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900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82469"/>
          <a:ext cx="4480560" cy="160020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4311269"/>
            <a:ext cx="448056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0997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χρόνος αναμονής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0181"/>
            <a:ext cx="41513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 ___ + ___ + ___ + ___ ) / 4 =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199005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2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3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36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08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9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510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22508" y="2482469"/>
            <a:ext cx="571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7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0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3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96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39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1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779008" y="3259709"/>
          <a:ext cx="5715000" cy="160020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0 έχει φτάσει μόνο η P1. Στο 4 περιμένουν P2 (3), P3 (1), P4 (2): ποια είναι η μικρότερη;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6 · SJF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 με διαφορετικές αφίξεις: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370832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17320"/>
            <a:ext cx="1092708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0468" y="1417320"/>
            <a:ext cx="2185416" cy="457200"/>
          </a:xfrm>
          <a:prstGeom prst="rect">
            <a:avLst/>
          </a:prstGeom>
          <a:solidFill>
            <a:srgbClr val="E8C77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5884" y="1417320"/>
            <a:ext cx="3278124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758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3004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2478024"/>
          <a:ext cx="6766560" cy="1746504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 (ΕΚΤΈΛΕΣΗ)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(0–4)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Μόνη της: οι άλλες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έχουν φτάσει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ακόμα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(3), P3 (1), P4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(4–5)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πιο σύντομη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από όσες περιμένουν (1)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(3), P4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 (5–7)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πιο σύντομη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από όσες περιμένουν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(7–10)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07808" y="2478024"/>
          <a:ext cx="3886200" cy="160020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7 − 1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4 − 2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5 − 3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07808" y="421538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32511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5429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+ 6 + 2 + 2) / 4 = 10 / 4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2,5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FCFS (άσκηση 5) ήταν 3,25. Κέρδισαν οι μικρές P3, P4, αλλά η P2 περίμενε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6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0 δεν διαλέγεις ανάμεσα σε όλες: έχει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φτάσει μόνο η P1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και αφού ξεκινήσει δεν διακόπτεται.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7 · ΜΕΤΡΙΟ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Έλεγξε τον εαυτό σου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417320"/>
          <a:ext cx="10927080" cy="3502152"/>
        </p:xfrm>
        <a:graphic>
          <a:graphicData uri="http://schemas.openxmlformats.org/drawingml/2006/table">
            <a:tbl>
              <a:tblPr firstRow="0" bandRow="0"/>
              <a:tblGrid>
                <a:gridCol w="6858000"/>
                <a:gridCol w="406908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ΕΡΏΤΗΣΗ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ΕΠΙΛΟΓΈΣ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Ποιος αλγόριθμος δίνει μικρότερο μέσο χρόνο αναμονής;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FCFS · 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Σε ποιον εμφανίζεται το φαινόμενο συνοδείας;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FCFS · 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Σε ποιον μια μεγάλη διεργασία κινδυνεύει να περιμένει για πάντα;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FCFS · 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Στην άσκηση 6, ποια διεργασία περίμενε περισσότερο;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· P2 · P3 · 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Τι δείχνει ένα διάγραμμα Gantt;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ποια διεργασία έτρεξε πότε · μνήμη · αρχεία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Πώς βρίσκω την αναμονή όταν δεν υπάρχει διακοπή;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αρχίζει − άφιξη · τελειώνει − 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ΒΟΗΘΕΙΑ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Ξαναδές τις λύσεις των ασκήσεων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2–6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Έλεγξε τον εαυτό σου: λύση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0927080" cy="4050792"/>
        </p:xfrm>
        <a:graphic>
          <a:graphicData uri="http://schemas.openxmlformats.org/drawingml/2006/table">
            <a:tbl>
              <a:tblPr firstRow="0" bandRow="0"/>
              <a:tblGrid>
                <a:gridCol w="3931920"/>
                <a:gridCol w="2286000"/>
                <a:gridCol w="470916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ΕΡΏΤΗΣΗ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ΣΩΣΤΉ ΑΠΆΝΤΗΣΗ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Ποιος δίνει μικρότερο μέσο χρόνο αναμονής;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Οι μικρές μπαίνουν μπροστά, άρα περιμένουν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λίγες για λίγο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(άσκ. 2: 4,33 → άσκ. 3: 2,33).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Σε ποιον εμφανίζεται το φαινόμενο συνοδείας;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FCFS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Τηρεί τη σειρά άφιξης, ακόμα κι αν μπροστά είναι ένα «φορτηγό» (άσκ. 4: μέσος όρος 17).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Σε ποιον μια μεγάλη κινδυνεύει να περιμένει για πάντα;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Αν έρχονται συνέχεια μικρές, η μεγάλη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διαλέγεται ποτέ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: λιμοκτονία.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Άσκηση 6: ποια περίμενε περισσότερο;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Ήρθε στο 1 αλλά ξεκίνησε στο 7 (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αναμονή 6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), γιατί P3 και P4 ήταν πιο σύντομες.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Τι δείχνει ένα διάγραμμα Gantt;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ποια διεργασία έτρεξε πότε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Είναι λωρίδα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χρόνου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: δεν λέει τίποτα για μνήμη ή αρχεία.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Πώς βρίσκω την αναμονή χωρίς διακοπή;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F4BD8"/>
                          </a:solidFill>
                          <a:latin typeface="Segoe UI"/>
                          <a:ea typeface="Segoe UI"/>
                          <a:cs typeface="Segoe UI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Από τη στιγμή που ήρθε ως τη στιγμή που ξεκίνησε, </a:t>
                      </a:r>
                      <a:r>
                        <a:rPr sz="105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περίμενε</a:t>
                      </a:r>
                      <a:r>
                        <a:rPr sz="105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. Μετά τρέχει ως το τέλος.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«τελειώνει − αρχίζει» δίνει τον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χρόνο εκτέλεσης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, όχι την αναμονή.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8 · ΔΥΣΚΟΛΟ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επεξεργαστής κάθεται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, αλλά υπάρχει στιγμή που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δεν έχει φτάσει καμία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διεργασία. Τότε ο επεξεργαστής μένει άδειος: άφησε εκείνα τα κουτάκια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λευκά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900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82469"/>
          <a:ext cx="4480560" cy="160020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4311269"/>
            <a:ext cx="448056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0997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χρόνος αναμονής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0181"/>
            <a:ext cx="41513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 ___ + ___ + ___ + ___ ) / 4 =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199005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525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3150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775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400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025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3650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1275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8900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6525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4150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17758" y="2482469"/>
            <a:ext cx="476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23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8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48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73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3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98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23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8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48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1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779008" y="3259709"/>
          <a:ext cx="5715000" cy="160020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7" name="Connector 46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Στο 3 τελειώνει η P1, η επόμενη φτάνει στο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5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Στο 5 έχει φτάσει μόνο η P2: ξεκινά, κι ας είναι μεγάλη.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8 · SJF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Ο επεξεργαστής κάθεται: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2731770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8698" y="1417320"/>
            <a:ext cx="1821180" cy="457200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άδειος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9878" y="1417320"/>
            <a:ext cx="3642360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2238" y="1417320"/>
            <a:ext cx="910590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72828" y="1417320"/>
            <a:ext cx="1821180" cy="457200"/>
          </a:xfrm>
          <a:prstGeom prst="rect">
            <a:avLst/>
          </a:prstGeom>
          <a:solidFill>
            <a:srgbClr val="E8C77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581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699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935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99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2478024"/>
          <a:ext cx="6766560" cy="2103120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 (ΕΚΤΈΛΕΣΗ)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(3)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(0–3)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Μόνη της: οι άλλες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έχουν φτάσει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ακόμα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καμία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—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έχει φτάσει καμία: ο επεξεργαστής μένει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άδειος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ως το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(5–9)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Μόνη της: οι άλλες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έχουν φτάσει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ακόμα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P3 (1), P4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(9–10)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πιο σύντομη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από όσες περιμένουν (1)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P4 (2)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 (10–12)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607808" y="2478024"/>
          <a:ext cx="3886200" cy="160020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5 − 5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9 − 6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10 − 6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607808" y="421538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32511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65429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+ 0 + 3 + 4) / 4 = 7 / 4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1,75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P2 έχει αναμονή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0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βρήκε τον επεξεργαστή ελεύθερο μόλις ήρθε.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κενό 3–5 μένει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λευκό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 Οι P3, P4 φτάνουν στο 6, όταν η P2 τρέχει ήδη, άρα την περιμένουν ως το 9.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ΑΣΚΗΣΗ 9 · ΓΙΑ ΤΟ ΣΠΙΤΙ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 με 4 διεργασίες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0927080" cy="598805"/>
          </a:xfrm>
          <a:prstGeom prst="rect">
            <a:avLst/>
          </a:prstGeom>
          <a:solidFill>
            <a:srgbClr val="E4E8FB"/>
          </a:solidFill>
          <a:ln w="9525">
            <a:solidFill>
              <a:srgbClr val="E4E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41148" cy="598805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1070762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ΕΚΦΩΝΗΣΗ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09928"/>
            <a:ext cx="10707624" cy="178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Λύσε τα με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(χωρίς διακοπή). Θα ξαναδούμε τα ίδια δεδομένα στο </a:t>
            </a:r>
            <a:r>
              <a:rPr sz="11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Εργαστήριο 4</a:t>
            </a:r>
            <a:r>
              <a:rPr sz="1150" b="0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 με αλγορίθμους που διακόπτουν.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99005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ΔΕΔΟΜΕΝΑ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2482469"/>
          <a:ext cx="4480560" cy="1600200"/>
        </p:xfrm>
        <a:graphic>
          <a:graphicData uri="http://schemas.openxmlformats.org/drawingml/2006/table">
            <a:tbl>
              <a:tblPr firstRow="0" bandRow="0"/>
              <a:tblGrid>
                <a:gridCol w="1493520"/>
                <a:gridCol w="1493520"/>
                <a:gridCol w="14935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ΕΚΤΈΛΕΣΗ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4311269"/>
            <a:ext cx="448056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0997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χρόνος αναμονής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0181"/>
            <a:ext cx="415137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 ___ + ___ + ___ + ___ ) / 4 = 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2199005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ΔΙΑΓΡΑΜΜΑ GANTT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9008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36195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3383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0570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7758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64945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22133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9320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36508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93695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50883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08070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65258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22445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79633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36820" y="2482469"/>
            <a:ext cx="3571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96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3315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0503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690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48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2065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9253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6440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36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10815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8003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5190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8237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9565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6753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53940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11128" y="296710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779008" y="3259709"/>
          <a:ext cx="5715000" cy="1600200"/>
        </p:xfrm>
        <a:graphic>
          <a:graphicData uri="http://schemas.openxmlformats.org/drawingml/2006/table">
            <a:tbl>
              <a:tblPr firstRow="0" bandRow="0"/>
              <a:tblGrid>
                <a:gridCol w="1428750"/>
                <a:gridCol w="1428750"/>
                <a:gridCol w="1428750"/>
                <a:gridCol w="142875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ΔΙΕΡΓΑΣΊΑ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ΤΕΛΕΙΏΝΕΙ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55" name="Connector 5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P1 κρατά ως το 7. Σε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ισοπαλία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κερδίζει όποια ήρθε πρώτη.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25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ΑΣΚΗΣΗΣ 9 · SJF · ΒΗΜΑ-ΒΗΜΑ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 με 4 διεργασίες: λύση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4780597" cy="457200"/>
          </a:xfrm>
          <a:prstGeom prst="rect">
            <a:avLst/>
          </a:prstGeom>
          <a:solidFill>
            <a:srgbClr val="2F4BD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7525" y="1417320"/>
            <a:ext cx="682942" cy="457200"/>
          </a:xfrm>
          <a:prstGeom prst="rect">
            <a:avLst/>
          </a:prstGeom>
          <a:solidFill>
            <a:srgbClr val="8EA0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0468" y="1417320"/>
            <a:ext cx="2731770" cy="457200"/>
          </a:xfrm>
          <a:prstGeom prst="rect">
            <a:avLst/>
          </a:prstGeom>
          <a:solidFill>
            <a:srgbClr val="5C7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2238" y="1417320"/>
            <a:ext cx="2731770" cy="457200"/>
          </a:xfrm>
          <a:prstGeom prst="rect">
            <a:avLst/>
          </a:prstGeom>
          <a:solidFill>
            <a:srgbClr val="E8C77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4645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758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935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1128" y="190195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9456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ΤΙ ΑΠΟΦΑΣΙΖΕΙ Ο ΧΡΟΝΟΔΡΟΜΟΛΟΓΗΤΗΣ ΚΑΘΕ ΦΟΡΑ ΠΟΥ ΑΔΕΙΑΖΕΙ Ο ΕΠΕΞΕΡΓΑΣΤΗΣ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2478024"/>
          <a:ext cx="6766560" cy="1746504"/>
        </p:xfrm>
        <a:graphic>
          <a:graphicData uri="http://schemas.openxmlformats.org/drawingml/2006/table">
            <a:tbl>
              <a:tblPr firstRow="0" bandRow="0"/>
              <a:tblGrid>
                <a:gridCol w="777240"/>
                <a:gridCol w="2011680"/>
                <a:gridCol w="1188720"/>
                <a:gridCol w="278892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ΣΤΙΓΜΉ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ΠΕΡΙΜΈΝΟΥΝ (ΕΚΤΈΛΕΣΗ)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ΤΡΈΧΕΙ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ΓΙΑΤΊ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P1 (7)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 (0–7)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Μόνη της: οι άλλες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δεν έχουν φτάσει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ακόμα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(4), P3 (1), P4 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 (7–8)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πιο σύντομη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από όσες περιμένουν (1)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P2 (4), P4 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 (8–12)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Ισοπαλία με P4 (4): πάει όποια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ήρθε νωρίτερα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P4 (4)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 (12–16)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Η </a:t>
                      </a:r>
                      <a:r>
                        <a:rPr sz="1000" b="1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τελευταία</a:t>
                      </a:r>
                      <a:r>
                        <a:rPr sz="10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 που έμεινε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07808" y="2194560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ΑΝΑΜΟΝΗ = ΑΡΧΙΖΕΙ − ΑΦΙΞΗ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07808" y="2478024"/>
          <a:ext cx="3886200" cy="160020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874520"/>
                <a:gridCol w="100584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ΔΙΕΡΓ.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ΑΡΧΊΖΕΙ − ΆΦΙΞΗ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ΑΝΑΜΟΝΉ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0 − 0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8 − 2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7 − 4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P4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12 − 5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07808" y="4215384"/>
            <a:ext cx="38862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325112"/>
            <a:ext cx="35570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Μέσος όρος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54296"/>
            <a:ext cx="35570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(0 + 6 + 3 + 7) / 4 = 16 / 4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SRTF (Εργαστήριο 4), που διακόπτει την P1, ο μέσος όρος πέφτει στο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P3 (1) ήρθε στο 4, αλλά πρέπει να περιμένει ως το 7: το SJF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δεν διακόπτει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την P1 που τρέχει.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26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6 ΑΠΟ 9 · ΣΤΟΝ ΑΛΗΘΙΝΟ ΥΠΟΛΟΓΙΣΤΗ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ουρά των Έτοιμων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10 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10 · LINUX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00784"/>
            <a:ext cx="5394960" cy="7406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00784"/>
            <a:ext cx="36576" cy="7406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480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nproc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πόσοι επεξεργαστές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uptime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load average: 1, 5, 15 λεπτά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top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ποια «τρώει» τον επεξεργαστή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11 · WINDOWS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700784"/>
            <a:ext cx="5257800" cy="9083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00784"/>
            <a:ext cx="36576" cy="9083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5010912" cy="725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notepad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1η άφιξη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calc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2η άφιξη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mspaint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3η άφιξη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tasklist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δες τα PID τους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791968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0169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Load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30880"/>
            <a:ext cx="5065776" cy="681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Πόσες διεργασίες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τρέχουν ή περιμένουν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κατά μέσο όρο. Αν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μικρότερο από τους επεξεργαστές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, δεν περιμένει κανείς.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Βρες: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πόσοι επεξεργαστές, το load του 1 λεπτού, αν περιμένει κάποια και ποια τρώει τη CPU.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2791968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0169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PID = σειρά άφιξης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30880"/>
            <a:ext cx="4928616" cy="681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Κάθε νέα διεργασία παίρνει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μεγαλύτερο PID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Το μικρότερο ήρθε πρώτο.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Βρες: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ποιο από τα τρία ήρθε πρώτο και ποιο θα έτρεχε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τελευταίο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FCFS.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SITE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Οι εντολές τρέχουν στον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εξομοιωτή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του site, όχι στον αληθινό σου υπολογιστή.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27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ΑΣΚΗΣΕΩΝ 10 ·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γράφεις και τι βλέπεις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10 · ΕΝΤΟΛΕΣ ($) ΚΑΙ ΕΞΟΔΟΣ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394960" cy="125120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36576" cy="125120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4807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nproc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uptime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10:15:02 up  1:12,  1 user,  load average: 1.12, 0.98, 0.87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top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PID USER    %CPU %MEM COMMAND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1203 user    99.7 11.4 paixnidi 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   # πρώτη γραμμή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89148"/>
            <a:ext cx="5394960" cy="121767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9887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Απαντήσεις άσκησης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8060"/>
            <a:ext cx="506577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12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επεξεργαστές · load 1 λεπτού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1,12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(ο 1ος αριθμός)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Περιμένει κάποια;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Όχι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1,12 &lt; 12, άρα υπάρχει ελεύθερος επεξεργαστής για όλες.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Τον επεξεργαστή τον τρώει το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paixnidi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(99,7%).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11 · ΕΝΤΟΛΕΣ (&gt;) ΚΑΙ ΕΞΟΔΟΣ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700784"/>
            <a:ext cx="5257800" cy="13959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00784"/>
            <a:ext cx="36576" cy="13959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5010912" cy="1213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notepad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calc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mspaint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tasklist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Image Name           PID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notepad.exe         5120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   # μικρότερο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CalculatorApp.exe   5384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mspaint.exe         5712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   # μεγαλύτερο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33928"/>
            <a:ext cx="5257800" cy="121767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4365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Απαντήσεις άσκησης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72840"/>
            <a:ext cx="492861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Πρώτο ήρθε το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notepad.exe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έχει το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μικρότερο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PID.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FCFS τελευταίο θα έτρεχε το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mspaint.exe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ήρθε τελευταίο, έχει το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μεγαλύτερο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PID.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Τα δικά σου PID θα είναι άλλα. Μετράει μόνο 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σειρά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τους.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load average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συγκρίνεται με 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nproc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μικρότερο → κανείς στην ουρά, μεγαλύτερο → κάποιες περιμένουν.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28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7 ΑΠΟ 9 · ΑΡΧΕΙΟ ΚΑΙ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 και SJF με μία εντολή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Ασκήσεις 12 ·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12 · BASH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00784"/>
            <a:ext cx="539496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00784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480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νέο αρχείο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προσθήκη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FCFS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SJF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wc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πόσες γραμμές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107823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σημαίνουν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-k3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με βάση την 3η στήλη (την εκτέλεση)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-n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αριθμητικά (αλλιώς το 10 μπαίνει πριν από το 9)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&gt;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νέο αρχείο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&gt;&gt;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προσθήκη στο τέλος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63271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4243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7162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Τα δεδομένα της άσκησης 2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procs.txt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Ποια τρέχει πρώτη με SJF; Μέσος όρος με FCFS και με SJF;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677666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8739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6578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Το ίδιο με το «φορτηγό» της άσκησης 4 (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24, 3, 3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) στο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convoy.txt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Πόσες φορές μικρότερη είναι η αναμονή με SJF;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ΙΔΕΑ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σειρά των γραμμών του αρχείου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είναι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 FCFS. Ταξινομημένο κατά εκτέλεση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είναι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 SJF.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29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ΑΣΚΗΣΕΩΝ 12 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γράφεις και τι βλέπεις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12 · ΕΝΤΟΛΕΣ ($) ΚΑΙ ΕΞΟΔΟΣ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394960" cy="18303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36576" cy="18303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48072" cy="1647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P1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P2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FCFS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P1 0 5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P3 0 2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procs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SJF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P3 0 2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P1 0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68268"/>
            <a:ext cx="539496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7799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Απαντήσεις άσκησης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07180"/>
            <a:ext cx="506577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SJF τρέχει πρώτη 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P3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(1η γραμμή του sort).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FCFS: αρχίζουν 0, 5, 8 → (0 + 5 + 8)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4,33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SJF: αρχίζουν 0, 2, 5 → (0 + 2 + 5)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2,33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13 · ΕΝΤΟΛΕΣ ($) ΚΑΙ ΕΞΟΔΟΣ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700784"/>
            <a:ext cx="5257800" cy="21198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00784"/>
            <a:ext cx="36576" cy="21198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5010912" cy="1937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P1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convoy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P2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convoy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convoy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convoy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FCFS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P1 0 24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P3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k3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convoy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9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SJF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P3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P1 0 24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wc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l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convoy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3 convoy.txt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957828"/>
            <a:ext cx="5257800" cy="1054989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755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Απαντήσεις άσκησης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96740"/>
            <a:ext cx="4928616" cy="488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FCFS: αρχίζουν 0, 24, 27 → (0 + 24 + 27)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17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SJF: αρχίζουν 0, 3, 6 → (0 + 3 + 6) / 3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3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17 / 3 ≈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5,67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φορές μικρότερη αναμονή με SJF.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Χωρίς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-n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το sort συγκρίνει σαν κείμενο: το «24» θα έμπαινε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πριν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από το «3», γιατί το 2 &lt; 3.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30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8 ΑΠΟ 9 · ΣΤΑ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ίδιο στη Γραμμή εντολών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14 · CMD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00784"/>
            <a:ext cx="5394960" cy="124358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00784"/>
            <a:ext cx="36576" cy="124358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480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P1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P3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FCFS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find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"P2"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μόνο μία γραμμή</a:t>
            </a:r>
          </a:p>
          <a:p>
            <a:pPr>
              <a:lnSpc>
                <a:spcPts val="1320"/>
              </a:lnSpc>
            </a:pP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1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σειρά SJF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17320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Linux → 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2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cat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type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grep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find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 -k3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→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sort /+6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291842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0157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είναι το /+6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30754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Ταξινόμησε ξεκινώντας από τον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6ο χαρακτήρα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της γραμμής: στο «P1 0 5» εκεί είναι ο χρόνος εκτέλεσης.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36798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4652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75710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Ποια είναι η σειρά του SJF; Πόση είναι η αναμονή της P1 με SJF;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Στη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find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η λέξη που ψάχνεις μπαίνει πάντα σε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εισαγωγικά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31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ΒΗΜΑ 9 ΑΠΟ 9 · ΤΟ PIPE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Ποιοι κρατούν τον επεξεργαστή;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694944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6648" y="694944"/>
            <a:ext cx="36576" cy="502920"/>
          </a:xfrm>
          <a:prstGeom prst="rect">
            <a:avLst/>
          </a:prstGeom>
          <a:solidFill>
            <a:srgbClr val="9A6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8" y="749808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spc="8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ΣΤΟ ΕΡΓΑΣΤΗΡΙΟ</a:t>
            </a:r>
          </a:p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17320"/>
            <a:ext cx="10927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15 · BASH · ΒΗΜΑ-ΒΗΜΑ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00784"/>
            <a:ext cx="10927080" cy="78638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00784"/>
            <a:ext cx="36576" cy="786381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10680192" cy="603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439"/>
              </a:lnSpc>
            </a:pP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ps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eo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pid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cpu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comm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             </a:t>
            </a:r>
            <a:r>
              <a:rPr sz="12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κάθε διεργασία με το %CPU της</a:t>
            </a:r>
          </a:p>
          <a:p>
            <a:pPr>
              <a:lnSpc>
                <a:spcPts val="1439"/>
              </a:lnSpc>
            </a:pP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ps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eo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pid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cpu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comm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k2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nr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2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από τη μεγαλύτερη χρήση</a:t>
            </a:r>
          </a:p>
          <a:p>
            <a:pPr>
              <a:lnSpc>
                <a:spcPts val="1439"/>
              </a:lnSpc>
            </a:pP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ps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eo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pid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cpu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comm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k2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nr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head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20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μόνο οι 3 πρώτες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715765"/>
            <a:ext cx="5394960" cy="107823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25493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Το | (pipe)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77"/>
            <a:ext cx="5065776" cy="5113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«Κολλάει» εντολές: 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έξοδος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της μιας γίνεται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είσοδος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της επόμενης.</a:t>
            </a:r>
          </a:p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-r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ανάποδα (από το μεγάλο στο μικρό) ·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head -3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οι 3 πρώτες γραμμές.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715765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25493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Άσκηση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77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Ποια διεργασία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πρώτη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και με πόσο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%CPU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; Ποια είναι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δεύτερη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;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ΦΟΡΤΗΓΑΤΖΗΣ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Η πρώτη γραμμή είναι η διεργασία που, με FCFS, θα έκανε όλες τις άλλες να περιμένουν.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32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ΛΥΣΗ ΑΣΚΗΣΕΩΝ 14 ·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γράφεις και τι βλέπεις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14 · ΕΝΤΟΛΕΣ (&gt;) ΚΑΙ ΕΞΟΔΟΣ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394960" cy="18303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36576" cy="18303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48072" cy="1647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P1 0 5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P3 0 2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find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"P2"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---------- FCFS.TXT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fcfs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txt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P3 0 2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P2 0 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P1 0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68268"/>
            <a:ext cx="5394960" cy="121767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7799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Απαντήσεις άσκησης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07180"/>
            <a:ext cx="5065776" cy="6507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Σειρά SJF: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P3 P2 P1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(η έξοδος του sort).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Η P1 τρέχει τελευταία: περιμένει την P3 (2) και την P2 (3) → αρχίζει στο 5 → αναμονή 5 − 0 =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5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«P1 0 5»: P=1, 1=2, κενό=3, 0=4, κενό=5,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5=6ος χαρακτήρας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417320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ΑΣΚΗΣΗ 15 · ΕΝΤΟΛΕΣ ($) ΚΑΙ ΕΞΟΔΟΣ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700784"/>
            <a:ext cx="5257800" cy="81686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00784"/>
            <a:ext cx="36576" cy="81686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5010912" cy="633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140"/>
              </a:lnSpc>
            </a:pP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$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ps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eo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pid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%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cpu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comm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sort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k2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nr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head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9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1203 99.7 paixnidi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877  4.8 firefox</a:t>
            </a:r>
          </a:p>
          <a:p>
            <a:pPr>
              <a:lnSpc>
                <a:spcPts val="1140"/>
              </a:lnSpc>
            </a:pPr>
            <a:r>
              <a:rPr sz="950" b="0">
                <a:solidFill>
                  <a:srgbClr val="4A5265"/>
                </a:solidFill>
                <a:latin typeface="Consolas"/>
                <a:ea typeface="Consolas"/>
                <a:cs typeface="Consolas"/>
              </a:rPr>
              <a:t>  812  2.1 gnome-shell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54808"/>
            <a:ext cx="5257800" cy="1380363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6453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Απαντήσεις άσκησης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93720"/>
            <a:ext cx="4928616" cy="8134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Πρώτη 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paixnidi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με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99,7%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CPU: σχεδόν όλος ο επεξεργαστής.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Δεύτερη 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firefox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(4,8%).</a:t>
            </a:r>
          </a:p>
          <a:p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-k2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2η στήλη (%CPU) 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-n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αριθμητικά 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-r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το μεγάλο στο μικρό · </a:t>
            </a:r>
            <a:r>
              <a:rPr sz="105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head -3</a:t>
            </a:r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κρατά τις 3 πρώτες.</a:t>
            </a:r>
          </a:p>
          <a:p>
            <a:r>
              <a:rPr sz="105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Τα PID στο δικό σου τερματικό θα είναι άλλα.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ΘΥΜΗΣΟΥ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Διάβαζε ένα pipe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από αριστερά προς τα δεξιά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: πάρε τη λίστα → ταξινόμησέ τη → κράτα την αρχή της.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33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ΣΤΟ PC · 25΄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Gantt στο Excel και παραδοτέο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XRONODROMOLOGISI.XLSX · ΑΣΚΗΣΗ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394960" cy="87782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36576" cy="877824"/>
          </a:xfrm>
          <a:prstGeom prst="rect">
            <a:avLst/>
          </a:prstGeom>
          <a:solidFill>
            <a:srgbClr val="2F4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Δ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ι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ε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ρ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γ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α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σ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ί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α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Ά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φ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ι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ξ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η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C1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Ε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κ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τ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έ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λ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ε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σ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η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D3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πότε αρχίζει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D2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B2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  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αναμονή (σύρε κάτω)</a:t>
            </a:r>
          </a:p>
          <a:p>
            <a:pPr>
              <a:lnSpc>
                <a:spcPts val="1260"/>
              </a:lnSpc>
            </a:pP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E5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AVERAGE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E2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E4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50" b="0">
                <a:solidFill>
                  <a:srgbClr val="171B26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050" b="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# μέσος όρος → 4,33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61488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71216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Η λωρίδα χρόνου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Γραμμή 6: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0 1 2 … 10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Στη γραμμή 7 χρωμάτισε (Κεντρική → Χρώμα γεμίσματος) P1 μπλε, P2 πράσινο, P3 κίτρινο.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36208" y="1417320"/>
          <a:ext cx="5257800" cy="3063240"/>
        </p:xfrm>
        <a:graphic>
          <a:graphicData uri="http://schemas.openxmlformats.org/drawingml/2006/table">
            <a:tbl>
              <a:tblPr firstRow="0" bandRow="0"/>
              <a:tblGrid>
                <a:gridCol w="457200"/>
                <a:gridCol w="4800600"/>
              </a:tblGrid>
              <a:tr h="320040"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 spc="60">
                          <a:solidFill>
                            <a:srgbClr val="8A91A3"/>
                          </a:solidFill>
                          <a:latin typeface="Consolas"/>
                          <a:ea typeface="Consolas"/>
                          <a:cs typeface="Consolas"/>
                        </a:rPr>
                        <a:t>ΠΑΡΑΔΟΤΈΟ: ΑΠΆΝΤΗΣΕ ΣΤΟ ΦΎΛΛΟ ΕΡΓΑΣΊΑΣ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Παιχνίδι: μέσος όρος γύρου FCFS και γύρου SJF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Ασκήσεις 2 και 3: μέσος χρόνος αναμονής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Δύο νέα φύλλα «FCFS» και «SJF» για τις ασκήσεις 5 και 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Ποιος αλγόριθμος κέρδισε και πόσο;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Τι είναι το φαινόμενο συνοδείας (με δικά σου λόγια);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1B26"/>
                          </a:solidFill>
                          <a:latin typeface="Segoe UI"/>
                          <a:ea typeface="Segoe UI"/>
                          <a:cs typeface="Segoe UI"/>
                        </a:rPr>
                        <a:t>Γιατί το SJF μπορεί να είναι άδικο;</a:t>
                      </a:r>
                    </a:p>
                  </a:txBody>
                  <a:tcPr marL="76200" marR="7620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ΑΝΕΒΑΣΕ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το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Xronodromologisi.xlsx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 (τουλάχιστον 2 φύλλα) στον φάκελό σου. Οι σωστοί μέσοι όροι είναι στις λύσεις.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12700">
            <a:solidFill>
              <a:srgbClr val="2F4BD8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tmp/claude-0/-home-claude/8f07f1d1-9bfe-540b-b195-992cdc902b9e/scratchpad/rest/logo_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73768" y="246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Μαρκοπούλου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Σύγχρονα Λειτουργικά Συστήματα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spc="140">
                <a:solidFill>
                  <a:srgbClr val="2F4BD8"/>
                </a:solidFill>
                <a:latin typeface="Consolas"/>
                <a:ea typeface="Consolas"/>
                <a:cs typeface="Consolas"/>
              </a:rPr>
              <a:t>34  </a:t>
            </a:r>
            <a:r>
              <a:rPr sz="1000" b="0" spc="140">
                <a:solidFill>
                  <a:srgbClr val="8A91A3"/>
                </a:solidFill>
                <a:latin typeface="Consolas"/>
                <a:ea typeface="Consolas"/>
                <a:cs typeface="Consolas"/>
              </a:rPr>
              <a:t>ΣΥΝΟΨΗ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Τι κρατάμε από σήμερα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FCFS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Με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σειρά άφιξης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Απλός, αλλά οι μικρές περιμένουν πίσω από τις μεγάλες (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φαινόμενο συνοδείας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2276"/>
            <a:ext cx="5394960" cy="907796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2004"/>
            <a:ext cx="50657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SJF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1188"/>
            <a:ext cx="506577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Πρώτα ο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πιο σύντομος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από όσους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έχουν φτάσει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 Μικρότερη μέση αναμονή, αλλά κίνδυνος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λιμοκτονίας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907796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Αναμονή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56232"/>
            <a:ext cx="4928616" cy="340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Αρχίζει − άφιξη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 (όταν δεν διακόπτεται).</a:t>
            </a:r>
          </a:p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Μέσος όρος = άθροισμα / πλήθος.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462276"/>
            <a:ext cx="5257800" cy="737362"/>
          </a:xfrm>
          <a:prstGeom prst="roundRect">
            <a:avLst>
              <a:gd name="adj" fmla="val 5000"/>
            </a:avLst>
          </a:prstGeom>
          <a:solidFill>
            <a:srgbClr val="F6E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2004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Επόμενο εργαστήριο · Τρίτη 27/10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01188"/>
            <a:ext cx="4928616" cy="1704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Αλγόριθμοι που </a:t>
            </a:r>
            <a:r>
              <a:rPr sz="1100" b="1">
                <a:solidFill>
                  <a:srgbClr val="171B26"/>
                </a:solidFill>
                <a:latin typeface="Segoe UI"/>
                <a:ea typeface="Segoe UI"/>
                <a:cs typeface="Segoe UI"/>
              </a:rPr>
              <a:t>διακόπτουν</a:t>
            </a:r>
            <a:r>
              <a:rPr sz="1100" b="0">
                <a:solidFill>
                  <a:srgbClr val="4A5265"/>
                </a:solidFill>
                <a:latin typeface="Segoe UI"/>
                <a:ea typeface="Segoe UI"/>
                <a:cs typeface="Segoe UI"/>
              </a:rPr>
              <a:t>: SRTF, Round Robin, Priority.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053328"/>
            <a:ext cx="11119104" cy="0"/>
          </a:xfrm>
          <a:prstGeom prst="line">
            <a:avLst/>
          </a:prstGeom>
          <a:ln w="9525">
            <a:solidFill>
              <a:srgbClr val="D3D9E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spc="100">
                <a:solidFill>
                  <a:srgbClr val="9A6B0C"/>
                </a:solidFill>
                <a:latin typeface="Consolas"/>
                <a:ea typeface="Consolas"/>
                <a:cs typeface="Consolas"/>
              </a:rPr>
              <a:t>ΕΡΩΤΗΣΗ   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Τι σημαίνει «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μη προεκχωρητικός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»; Όποια διεργασία ξεκινήσει, </a:t>
            </a:r>
            <a:r>
              <a:rPr sz="1050" b="1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τελειώνει</a:t>
            </a:r>
            <a:r>
              <a:rPr sz="1050" b="0">
                <a:solidFill>
                  <a:srgbClr val="8A91A3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Εργαστήριο 3 — Χρονοδρομολόγηση Ι: FCFS και SJF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2026-10-12T22:37:04Z</dcterms:created>
  <dcterms:modified xsi:type="dcterms:W3CDTF">2026-10-12T22:37:04Z</dcterms:modified>
</cp:coreProperties>
</file>