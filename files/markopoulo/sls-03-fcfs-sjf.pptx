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7"/>
    <p:sldId id="270" r:id="rId6"/>
    <p:sldId id="271" r:id="rId5"/>
    <p:sldId id="272" r:id="rId4"/>
    <p:sldId id="273" r:id="rId3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Σήμερα μαθαίνουμε πώς το ΛΣ αποφασίζει ποια διεργασία θα πάρει τον επεξεργαστή. Ξεκινάμε με παιχνίδι, μετά χαρτί και τέλος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ΕΡΓΑΣΤΗΡΙΟ 3 · ΕΝΟΤΗΤΑ 2.1.Β.2 · ΤΡΙΤΗ 20/10/2026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12064" y="2487168"/>
            <a:ext cx="1005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Ποιος παίρνει πρώτος</a:t>
            </a:r>
            <a:endParaRPr lang="en-US" sz="5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τον επεξεργαστή;</a:t>
            </a:r>
            <a:endParaRPr lang="en-US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Χρονοδρομολόγηση Ι: FCFS και SJF, με παιχνίδι, χαρτί και Excel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00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Θεωρία σε 9 μικρά βήματα + 15 ασκήσεις στο εργαστήριο · Excel · 25 διαφάνειες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ΠΩΣ ΔΟΥΛΕΥΟΥΜΕ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Οι 15 ασκήσεις του εργαστηρίου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17320"/>
          <a:ext cx="5394960" cy="3465576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2651760"/>
                <a:gridCol w="1234440"/>
                <a:gridCol w="105156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#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ΆΣΚΗΣΗ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ΕΠΊΠΕΔΟ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ΔΙΑΦΆΝΕΙΑ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Οι λέξεις που θα χρειαστούμε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με 3 διεργασίες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5, 7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Τα ίδια δεδομένα με SJF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8, 9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Το φαινόμενο συνοδείας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με διαφορετικές αφίξεις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12, 13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SJF με διαφορετικές αφίξεις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Ο στόχος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12, 14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Έλεγξε τον εαυτό σου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 επεξεργαστής κάθεται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Δύσκολο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6208" y="1417320"/>
          <a:ext cx="5257800" cy="3072384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2651760"/>
                <a:gridCol w="1234440"/>
                <a:gridCol w="9144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#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ΆΣΚΗΣΗ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ΕΠΊΠΕΔΟ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ΔΙΑΦΆΝΕΙΑ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9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SJF με 4 διεργασίες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4BD8"/>
                          </a:solidFill>
                          <a:latin typeface="Segoe UI"/>
                          <a:ea typeface="Segoe UI"/>
                          <a:cs typeface="Segoe UI"/>
                        </a:rPr>
                        <a:t>Για το σπίτι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18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Ποιος περιμένει τον επεξεργαστή;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Η σειρά άφιξης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7F4B"/>
                          </a:solidFill>
                          <a:latin typeface="Segoe UI"/>
                          <a:ea typeface="Segoe UI"/>
                          <a:cs typeface="Segoe UI"/>
                        </a:rPr>
                        <a:t>Εύκολο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και SJF με το sort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Το φορτηγό στο αρχείο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Ο πίνακας FCFS στα Windows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9A6B0C"/>
                          </a:solidFill>
                          <a:latin typeface="Segoe UI"/>
                          <a:ea typeface="Segoe UI"/>
                          <a:cs typeface="Segoe UI"/>
                        </a:rPr>
                        <a:t>Μέτριο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Βρες τους «φορτηγατζήδες»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Segoe UI"/>
                          <a:ea typeface="Segoe UI"/>
                          <a:cs typeface="Segoe UI"/>
                        </a:rPr>
                        <a:t>Δύσκολο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ΠΩΣ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Διαβάζεις το βήμα → λύνεις στο site την άσκηση της ετικέτας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ΣΤΟ ΕΡΓΑΣΤΗΡΙΟ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→ πας στο επόμενο. Οι λύσεις είναι στις διαφάνειες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11, 15, 19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1 ΑΠΟ 9 · ΟΙ ΛΕΞΕΙΣ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Ποιος παίρνει τον επεξεργαστή;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Η ΙΔΕΑ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Πολλές διεργασίες θέλουν τον επεξεργαστή, αλλά κάθε πυρήνας τρέχει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μία τη φορά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Τις άλλες τις βάζει σε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ουρά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ο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χρονοδρομολογητής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(scheduler) του ΛΣ και αποφασίζει ποια τρέχει μετά.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422906"/>
            <a:ext cx="539496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32634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Χρόνος άφιξης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861818"/>
            <a:ext cx="50657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Πότε ήρθε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η διεργασία στην ουρά. 0 = από την αρχή.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297428"/>
            <a:ext cx="539496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0715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Χρόνος εκτέλεσης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36340"/>
            <a:ext cx="50657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Πόση ώρα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χρειάζεται τον επεξεργαστή για να τελειώσει.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42290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3263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Χρόνος αναμονής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6181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Πόση ώρα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περίμενε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στην ουρά χωρίς να τρέχει. Θέλουμε να είναι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467862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577590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Διάγραμμα Gantt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06774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Μια λωρίδα χρόνου: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διεργασία έτρεξε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πότε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 |P1|P2|P3|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ΣΗΜΕΡΑ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Οι αλγόριθμοι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FCFS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και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SJF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είναι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μη προεκχωρητικοί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όποια διεργασία ξεκινήσει,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τελειώνει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ΣΤΗΝ ΤΑΞΗ · 15΄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Παιχνίδι: η ουρά στο κυλικείο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ΤΙ ΚΑΝΟΥΜΕ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4 εκπαιδευόμενοι είναι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διεργασίες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με κάρτα χρόνου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8, 2, 4, 1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δευτερόλεπτα. 1 είναι ο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επεξεργαστής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μετράει δυνατά. Ο εκπαιδευτής γράφει στον πίνακα.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22906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634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Γύρος 1 · Με τη σειρά που κάθονται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61818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Κάθε «διεργασία» γράφει πόσα δευτερόλεπτα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περίμενε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μέχρι να έρθει η σειρά της.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2422906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53263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Γύρος 2 · Ο πιο σύντομος πρώτα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1818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Ξαναμπαίνουν από τη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μικρότερη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κάρτα στη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μεγαλύτερη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Ξαναμετράμε.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ΣΥΓΚΡΙΝΕ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Ποιος γύρος είχε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μικρότερο μέσο χρόνο αναμονής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; Ο γύρος 1 είναι 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FCFS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, ο γύρος 2 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SJF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2 ΑΠΟ 9 · FCFS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FCFS: πρώτος ήρθε, πρώτος εξυπηρετείται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Η ΙΔΕΑ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Οι διεργασίες τρέχουν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 τη σειρά που έφτασαν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, όπως η ουρά στο ταμείο.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44725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ΠΑΡΑΔΕΙΓΜΑ · P1 = 6, P2 = 2, P3 = 1 · ΟΛΕΣ ΦΤΑΝΟΥΝ ΣΤΟ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09901"/>
            <a:ext cx="728472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1648" y="2509901"/>
            <a:ext cx="242824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79888" y="2509901"/>
            <a:ext cx="1214120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876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700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1112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332861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42589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αναμονή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71773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Αναμονή =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πότε αρχίζει − πότε ήρθε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P1 = 0, P2 = 6, P3 =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3332861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442589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 μέσος όρος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71773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Άθροισμα αναμονών / πλήθος: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(0 + 6 + 8) / 3 =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4,67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ΤΩΡΑ ΕΣΥ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Άσκηση 2: τα ίδια με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P1 = 5, P2 = 3, P3 = 2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Πώς χρωματίζεις στο site: διαφάνεια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6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06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ΓΙΑ ΤΟ 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Πώς λύνεις τις ασκήσεις Gantt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548640" cy="5486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399032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Διάλεξε διεργασία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9164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Πάτα το κουμπί </a:t>
            </a:r>
            <a:r>
              <a:rPr sz="12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P1, P2, …</a:t>
            </a:r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πάνω από το Gantt. Κάθε μία έχει δικό της χρώμα.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23160"/>
            <a:ext cx="548640" cy="5486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23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2404872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Χρωμάτισε τα κουτάκια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69748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 κουτάκι = 1 μονάδα χρόνου.</a:t>
            </a:r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Πάτα ή σύρε με το ποντίκι. Άδειος επεξεργαστής = </a:t>
            </a:r>
            <a:r>
              <a:rPr sz="12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λευκό</a:t>
            </a:r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κουτάκι.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" cy="5486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410712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Συμπλήρωσε τον πίνακα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332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Αρχίζει · Τελειώνει · Αναμονή</a:t>
            </a:r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(αναμονή = αρχίζει − άφιξη).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34840"/>
            <a:ext cx="548640" cy="54864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434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416552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όρος → ✔ Έλεγχος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0916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Γράψε π.χ. </a:t>
            </a:r>
            <a:r>
              <a:rPr sz="12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4,33</a:t>
            </a:r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(κόμμα ή τελεία). Στο λάθος το site σου λέει ποιες περιμένουν εκείνη τη στιγμή.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ΙΣΧΥΕΙ ΓΙΑ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τις ασκήσεις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2, 3, 4, 5, 6, 8, 9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07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2 · ΕΥΚΟΛΟ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 με 3 διεργασίες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Όλες φτάνουν στο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0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τρέχουν με τη σειρά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P1 → P2 → P3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Χρωμάτισε το Gantt, συμπλήρωσε τον πίνακα και βρες τον μέσο χρόνο αναμονής.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28016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399122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0095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014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) / 3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36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08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51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22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7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9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0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39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5779008" y="3259709"/>
          <a:ext cx="5715000" cy="128016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P1 πιάνει τα πρώτα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5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κουτάκια, μετά έρχεται η 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08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3 ΑΠΟ 9 · SJF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SJF: ο πιο σύντομος πρώτα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Η ΙΔΕΑ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Από όσες περιμένουν, τρέχει πρώτη αυτή με τον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μικρότερο χρόνο εκτέλεσης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44725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ΤΟ ΙΔΙΟ ΠΑΡΑΔΕΙΓΜΑ (P1 = 6, P2 = 2, P3 = 1) ΜΕ SJF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09901"/>
            <a:ext cx="1214120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1048" y="2509901"/>
            <a:ext cx="242824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9288" y="2509901"/>
            <a:ext cx="728472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816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640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11128" y="2994533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332861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42589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 μέσος όρος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71773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P3 = 0, P2 = 1, P1 = 3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(3 + 1 + 0) / 3 =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1,33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 (με FCFS ήταν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4,67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3332861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442589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μειονέκτημα: λιμοκτονία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71773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 έρχονται συνέχεια μικρές, η μεγάλη μπορεί να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περιμένει για πάντα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ΚΑΝΟΝΑΣ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Ταξινόμησε κατά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χρόνο εκτέλεσης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, η μικρότερη πρώτη. Ισοπαλία → πρώτη όποια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ήρθε πρώτη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09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3 · ΕΥΚΟΛΟ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 ίδια δεδομένα με SJF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 δεδομένα της άσκησης 2, αλλά τώρα τρέχει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πρώτη η πιο σύντομη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Σύγκρινε τον μέσο όρο με την άσκηση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28016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399122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0095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014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) / 3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36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08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51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22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7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9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0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39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5779008" y="3259709"/>
          <a:ext cx="5715000" cy="128016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Σειρά: από τη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μικρότερη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εκτέλεση στη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μεγαλύτερη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4 ΑΠΟ 9 · ΦΑΙΝΟΜΕΝΟ ΣΥΝΟΔΕΙΑΣ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φορτηγό στον στενό δρόμο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Μια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μεγάλη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διεργασία μπαίνει πρώτη. Κάνε το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και δες πόσο περιμένουν οι μικρές πίσω της. Σύρε το ποντίκι για να χρωματίσεις πολλά κουτάκια μαζί.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186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660650"/>
          <a:ext cx="4480560" cy="128016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4169410"/>
            <a:ext cx="448056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79138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Φαινόμενο συνοδείας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08322"/>
            <a:ext cx="41513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Στο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μια μεγάλη διεργασία μπροστά καθυστερεί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όλες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τις μικρές πίσω της, σαν φορτηγό σε στενό δρόμο.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377186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69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0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0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41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31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22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12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03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84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74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5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46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36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27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17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08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98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89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79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70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60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51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541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32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22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130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303508" y="2660650"/>
            <a:ext cx="190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676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9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06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2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36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5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966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68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396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11128" y="314528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5779008" y="3437890"/>
          <a:ext cx="5715000" cy="128016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3" name="Connector 6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Με SJF ο μέσος όρος εδώ θα ήταν μόλις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3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Πόσος βγαίνει με FCFS;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ΛΥΣΕΙΣ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2, 3 και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2 · FCFS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82496"/>
            <a:ext cx="546354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0468" y="1682496"/>
            <a:ext cx="3278124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08592" y="1682496"/>
            <a:ext cx="2185416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758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1112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682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5, P3 = 8   →   μέσος όρος = (0 + 5 + 8) / 3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4,33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25496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3 · SJF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90672"/>
            <a:ext cx="2185416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52344" y="3090672"/>
            <a:ext cx="3278124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0468" y="3090672"/>
            <a:ext cx="546354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5753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5753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7588" y="35753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11128" y="35753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7764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5, P2 = 2, P3 = 0   →   μέσος όρος = (5 + 2 + 0) / 3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2,33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233672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4 · ΦΑΙΝΌΜΕΝΟ ΣΥΝΟΔΕΊΑΣ (FCFS)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498848"/>
            <a:ext cx="8741664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4498848"/>
            <a:ext cx="1092708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01300" y="4498848"/>
            <a:ext cx="1092708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9834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49834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8420" y="49834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11128" y="49834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8464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24, P3 = 27   →   μέσος όρος = (0 + 24 + 27) / 3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Χωρίς διακοπή: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αναμονή = αρχίζει − άφιξη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Το SJF δίνει πάντα τον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μικρότερο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μέσο όρο.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5 ΑΠΟ 9 · ΔΙΑΦΟΡΕΤΙΚΕΣ ΑΦΙΞΕΙΣ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Όταν δεν έρχονται όλες μαζί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5 ·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776986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776986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Ο ΚΑΝΟΝΑΣ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356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Μια διεργασία μπορεί να διαλεχτεί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μόνο αφού έχει φτάσει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Κάθε φορά που ελευθερώνεται ο επεξεργαστής κοιτάς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ποιες περιμένουν εκείνη τη στιγμή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186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ΠΑΡΑΔΕΙΓΜΑ · P1 (άφιξη 0, εκτέλεση 3) · P2 (1, 4) · P3 (2, 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642362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FCFS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07538"/>
            <a:ext cx="202311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90038" y="2907538"/>
            <a:ext cx="269748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7518" y="2907538"/>
            <a:ext cx="674370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715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463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84778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79450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 τη σειρά άφιξης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12369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2, P3 = 5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Μέσος όρος = (0 + 2 + 5) / 3 =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2,33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2642362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SJF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2907538"/>
            <a:ext cx="1971675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7883" y="2907538"/>
            <a:ext cx="657225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5108" y="2907538"/>
            <a:ext cx="262890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5332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5003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222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11128" y="339217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3684778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79450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Στο 3 περιμένουν P2 (4) και P3 (1) → πρώτα η 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123690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3, P3 = 1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Μέσος όρος = (0 + 3 + 1) / 3 =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1,33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ΠΡΟΣΟΧΗ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Αναμονή =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πότε αρχίζει − πότε ήρθε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, όχι «πότε αρχίζει».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5 · ΜΕΤΡΙΟ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 με διαφορετικές αφίξεις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Οι διεργασίες δεν φτάνουν μαζί. Με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τρέχουν με τη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σειρά άφιξης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Αναμονή = αρχίζει − άφιξη.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60020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431126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2099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018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+ ___ ) / 4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36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08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51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22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7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9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0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39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5779008" y="3259709"/>
          <a:ext cx="5715000" cy="160020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P2 ήρθε στο 1 αλλά ξεκινά όταν τελειώσει η P1: αναμονή =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αρχίζει − 1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6 · Ο ΣΤΟΧΟΣ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 με διαφορετικές αφίξεις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Τα δεδομένα της άσκησης 5 με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 Όταν ελευθερώνεται ο επεξεργαστής, διαλέγεις τη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μικρότερη από όσες έχουν φτάσει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60020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431126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2099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018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+ ___ ) / 4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36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08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510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22508" y="2482469"/>
            <a:ext cx="571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7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9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0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39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5779008" y="3259709"/>
          <a:ext cx="5715000" cy="160020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Στο 0 έχει φτάσει μόνο η P1. Στο 4 περιμένουν P2 (3), P3 (1), P4 (2): ποια είναι η μικρότερη;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ΛΥΣΕΙΣ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5 και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5 · FCFS ΜΕ ΑΦΊΞΕΙΣ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82496"/>
            <a:ext cx="4370832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682496"/>
            <a:ext cx="3278124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5884" y="1682496"/>
            <a:ext cx="1092708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8592" y="1682496"/>
            <a:ext cx="2185416" cy="457200"/>
          </a:xfrm>
          <a:prstGeom prst="rect">
            <a:avLst/>
          </a:prstGeom>
          <a:solidFill>
            <a:srgbClr val="E8C77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3004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5712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1112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3682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3, P3 = 5, P4 = 5   →   μέσος όρος = (0 + 3 + 5 + 5) / 4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3,25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08376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6 · SJF ΜΕ ΑΦΊΞΕΙΣ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73552"/>
            <a:ext cx="4370832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3273552"/>
            <a:ext cx="1092708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0468" y="3273552"/>
            <a:ext cx="2185416" cy="457200"/>
          </a:xfrm>
          <a:prstGeom prst="rect">
            <a:avLst/>
          </a:prstGeom>
          <a:solidFill>
            <a:srgbClr val="E8C77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15884" y="3273552"/>
            <a:ext cx="3278124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758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3004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1112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95935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6, P3 = 2, P4 = 2   →   μέσος όρος = (0 + 6 + 2 + 2) / 4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2,5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Με SJF κέρδισαν οι μικρές (P3, P4), αλλά 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P2 περίμενε περισσότερο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: αυτό είναι το «άδικο» του SJF.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7 · ΜΕΤΡΙΟ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Έλεγξε τον εαυτό σου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417320"/>
          <a:ext cx="10927080" cy="3502152"/>
        </p:xfrm>
        <a:graphic>
          <a:graphicData uri="http://schemas.openxmlformats.org/drawingml/2006/table">
            <a:tbl>
              <a:tblPr firstRow="0" bandRow="0"/>
              <a:tblGrid>
                <a:gridCol w="6858000"/>
                <a:gridCol w="406908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ΕΡΏΤΗΣΗ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ΕΠΙΛΟΓΈΣ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Ποιος αλγόριθμος δίνει μικρότερο μέσο χρόνο αναμονής;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· SJF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Σε ποιον εμφανίζεται το φαινόμενο συνοδείας;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· SJF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Σε ποιον μια μεγάλη διεργασία κινδυνεύει να περιμένει για πάντα;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FCFS · SJF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Στην άσκηση 6, ποια διεργασία περίμενε περισσότερο;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P1 · P2 · P3 · 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Τι δείχνει ένα διάγραμμα Gantt;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ποια διεργασία έτρεξε πότε · μνήμη · αρχεία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Πώς βρίσκω την αναμονή όταν δεν υπάρχει διακοπή;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αρχίζει − άφιξη · τελειώνει − 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ΒΟΗΘΕΙΑ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Ξαναδές τις λύσεις στις διαφάνειες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11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και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15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8 · ΔΥΣΚΟΛΟ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Ο επεξεργαστής κάθεται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, αλλά υπάρχει στιγμή που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δεν έχει φτάσει καμία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διεργασία. Τότε ο επεξεργαστής μένει άδειος: άφησε εκείνα τα κουτάκια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λευκά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60020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431126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2099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018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+ ___ ) / 4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2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315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077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40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02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365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127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890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652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4150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017758" y="2482469"/>
            <a:ext cx="476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23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8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48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73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98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823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8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48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5779008" y="3259709"/>
          <a:ext cx="5715000" cy="160020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47" name="Connector 46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Στο 3 τελειώνει η P1, η επόμενη φτάνει στο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5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 Στο 5 έχει φτάσει μόνο η P2: ξεκινά, κι ας είναι μεγάλη.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ΑΣΚΗΣΗ 9 · ΓΙΑ ΤΟ ΣΠΙΤΙ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 με 4 διεργασίες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10927080" cy="598805"/>
          </a:xfrm>
          <a:prstGeom prst="rect">
            <a:avLst/>
          </a:prstGeom>
          <a:solidFill>
            <a:srgbClr val="E4E8FB"/>
          </a:solidFill>
          <a:ln w="9525">
            <a:solidFill>
              <a:srgbClr val="E4E8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41148" cy="598805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90472"/>
            <a:ext cx="10707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ΕΚΦΩΝΗΣΗ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709928"/>
            <a:ext cx="10707624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Λύσε τα με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(χωρίς διακοπή). Θα ξαναδούμε τα ίδια δεδομένα στο </a:t>
            </a:r>
            <a:r>
              <a:rPr sz="115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Εργαστήριο 4</a:t>
            </a:r>
            <a:r>
              <a:rPr sz="1150" b="0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 με αλγορίθμους που διακόπτουν.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99005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ΔΕΔΟΜΕΝΑ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2482469"/>
          <a:ext cx="4480560" cy="1600200"/>
        </p:xfrm>
        <a:graphic>
          <a:graphicData uri="http://schemas.openxmlformats.org/drawingml/2006/table">
            <a:tbl>
              <a:tblPr firstRow="0" bandRow="0"/>
              <a:tblGrid>
                <a:gridCol w="1493520"/>
                <a:gridCol w="1493520"/>
                <a:gridCol w="149352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ΆΦΙΞΗ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ΕΚΤΈΛΕΣΗ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66928" y="4311269"/>
            <a:ext cx="448056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20997"/>
            <a:ext cx="415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Μέσος χρόνος αναμονής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0181"/>
            <a:ext cx="415137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( ___ + ___ + ___ + ___ ) / 4 = 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2199005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ΔΙΑΓΡΑΜΜΑ GANTT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9008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36195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3383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0570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07758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64945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22133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9320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36508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93695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50883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08070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65258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22445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79633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136820" y="2482469"/>
            <a:ext cx="3571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96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53315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0503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690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48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82065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9253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6440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36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0815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8003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5190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237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39565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96753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3940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11128" y="2967101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5779008" y="3259709"/>
          <a:ext cx="5715000" cy="1600200"/>
        </p:xfrm>
        <a:graphic>
          <a:graphicData uri="http://schemas.openxmlformats.org/drawingml/2006/table">
            <a:tbl>
              <a:tblPr firstRow="0" bandRow="0"/>
              <a:tblGrid>
                <a:gridCol w="1428750"/>
                <a:gridCol w="1428750"/>
                <a:gridCol w="1428750"/>
                <a:gridCol w="142875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ΔΙΕΡΓΑΣΊΑ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ΑΡΧΊΖΕΙ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ΤΕΛΕΙΏΝΕΙ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ΑΝΑΜΟΝΉ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P4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5" name="Connector 54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P1 κρατά ως το 7. Σε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ισοπαλία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κερδίζει όποια ήρθε πρώτη.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ΛΥΣΕΙΣ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8 και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8 · Ο ΕΠΕΞΕΡΓΑΣΤΉΣ ΚΆΘΕΤΑΙ (SJF)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82496"/>
            <a:ext cx="2731770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8698" y="1682496"/>
            <a:ext cx="1821180" cy="457200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άδειος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19878" y="1682496"/>
            <a:ext cx="364236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62238" y="1682496"/>
            <a:ext cx="910590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72828" y="1682496"/>
            <a:ext cx="1821180" cy="457200"/>
          </a:xfrm>
          <a:prstGeom prst="rect">
            <a:avLst/>
          </a:prstGeom>
          <a:solidFill>
            <a:srgbClr val="E8C77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581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699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935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994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11128" y="21671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3682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0, P3 = 3, P4 = 4   →   μέσος όρος = (0 + 0 + 3 + 4) / 4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1,75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008376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ΑΣΚΗΣΗ 9 · SJF ΜΕ 4 ΔΙΕΡΓΑΣΊΕΣ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73552"/>
            <a:ext cx="4780597" cy="457200"/>
          </a:xfrm>
          <a:prstGeom prst="rect">
            <a:avLst/>
          </a:prstGeom>
          <a:solidFill>
            <a:srgbClr val="2F4B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7525" y="3273552"/>
            <a:ext cx="682942" cy="457200"/>
          </a:xfrm>
          <a:prstGeom prst="rect">
            <a:avLst/>
          </a:prstGeom>
          <a:solidFill>
            <a:srgbClr val="8EA0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0468" y="3273552"/>
            <a:ext cx="2731770" cy="457200"/>
          </a:xfrm>
          <a:prstGeom prst="rect">
            <a:avLst/>
          </a:prstGeom>
          <a:solidFill>
            <a:srgbClr val="5C7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2238" y="3273552"/>
            <a:ext cx="2731770" cy="457200"/>
          </a:xfrm>
          <a:prstGeom prst="rect">
            <a:avLst/>
          </a:prstGeom>
          <a:solidFill>
            <a:srgbClr val="E8C77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4645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758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935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11128" y="3758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95935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Αναμονές: P1 = 0, P2 = 6, P3 = 3, P4 = 7   →   μέσος όρος = (0 + 6 + 3 + 7) / 4 = </a:t>
            </a:r>
            <a:r>
              <a:rPr sz="1200" b="1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Στην 9, P2 και P4 έχουν και οι δύο 4: πρώτα 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P2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, γιατί ήρθε νωρίτερα. Με SRTF (Εργαστήριο 4) ο μέσος όρος πέφτει στο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3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6 ΑΠΟ 9 · ΣΤΟΝ ΑΛΗΘΙΝΟ ΥΠΟΛΟΓΙΣΤΗ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ουρά των Έτοιμων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10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ΑΣΚΗΣΗ 10 · LINUX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00784"/>
            <a:ext cx="5394960" cy="74066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00784"/>
            <a:ext cx="36576" cy="74066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10512"/>
            <a:ext cx="514807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nproc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πόσοι επεξεργαστές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uptime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load average: 1, 5, 15 λεπτά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ποια «τρώει» τον επεξεργαστή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417320"/>
            <a:ext cx="5257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ΑΣΚΗΣΗ 11 · WINDOWS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700784"/>
            <a:ext cx="5257800" cy="90830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00784"/>
            <a:ext cx="36576" cy="90830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10512"/>
            <a:ext cx="5010912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notepad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1η άφιξη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calc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2η άφιξη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mspaint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3η άφιξη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tasklist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δες τα PID τους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791968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90169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Load average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30880"/>
            <a:ext cx="5065776" cy="681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Πόσες διεργασίες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τρέχουν ή περιμένουν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κατά μέσο όρο. Αν είναι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μικρότερο από τους επεξεργαστές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, δεν περιμένει κανείς.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Βρες: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πόσοι επεξεργαστές, το load του 1 λεπτού, αν περιμένει κάποια και ποια τρώει τη CPU.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2791968"/>
            <a:ext cx="5257800" cy="182880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0169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PID = σειρά άφιξης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30880"/>
            <a:ext cx="4928616" cy="681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Κάθε νέα διεργασία παίρνει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μεγαλύτερο PID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Το μικρότερο ήρθε πρώτο.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Βρες: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ποιο από τα τρία ήρθε πρώτο και ποιο θα έτρεχε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τελευταίο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με FCFS.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SITE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Οι εντολές τρέχουν στον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εξομοιωτή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του site, όχι στον αληθινό σου υπολογιστή.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21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7 ΑΠΟ 9 · ΑΡΧΕΙΟ ΚΑΙ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 και SJF με μία εντολή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Ασκήσεις 12 ·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ΑΣΚΗΣΗ 12 · BASH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00784"/>
            <a:ext cx="5394960" cy="12435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00784"/>
            <a:ext cx="36576" cy="12435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10512"/>
            <a:ext cx="514807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νέο αρχείο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προσθήκη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σειρά FCFS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k3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σειρά SJF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wc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l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procs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πόσες γραμμές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417320"/>
            <a:ext cx="5257800" cy="107823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σημαίνουν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56232"/>
            <a:ext cx="492861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-k3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με βάση την 3η στήλη (την εκτέλεση)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-n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αριθμητικά (αλλιώς το 10 μπαίνει πριν από το 9)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&gt;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νέο αρχείο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&gt;&gt;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προσθήκη στο τέλος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263271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74243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7162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Τα δεδομένα της άσκησης 2 στο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procs.txt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Ποια τρέχει πρώτη με SJF; Μέσος όρος με FCFS και με SJF;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677666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78739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116578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Το ίδιο με το «φορτηγό» της άσκησης 4 (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24, 3, 3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) στο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convoy.txt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Πόσες φορές μικρότερη είναι η αναμονή με SJF;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ΙΔΕΑ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σειρά των γραμμών του αρχείου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είναι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 FCFS. Ταξινομημένο κατά εκτέλεση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είναι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το SJF.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8 ΑΠΟ 9 · ΣΤΑ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ίδιο στη Γραμμή εντολών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ΑΣΚΗΣΗ 14 · CMD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00784"/>
            <a:ext cx="5394960" cy="124358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00784"/>
            <a:ext cx="36576" cy="124358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10512"/>
            <a:ext cx="514807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P1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P3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type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σειρά FCFS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"P2"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μόνο μία γραμμή</a:t>
            </a:r>
          </a:p>
          <a:p>
            <a:pPr>
              <a:lnSpc>
                <a:spcPts val="1320"/>
              </a:lnSpc>
            </a:pP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+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fcfs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σειρά SJF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417320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Linux → 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56232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cat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type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grep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find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sort -k3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sort /+6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2291842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01570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είναι το /+6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30754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Ταξινόμησε ξεκινώντας από τον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6ο χαρακτήρα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της γραμμής: στο «P1 0 5» εκεί είναι ο χρόνος εκτέλεσης.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336798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446526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75710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Ποια είναι η σειρά του SJF; Πόση είναι η αναμονή της P1 με SJF;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ΘΥΜΗΣΟΥ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Στη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find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η λέξη που ψάχνεις μπαίνει πάντα σε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εισαγωγικά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23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ΒΗΜΑ 9 ΑΠΟ 9 · ΤΟ PIPE 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Ποιοι κρατούν τον επεξεργαστή;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694944"/>
            <a:ext cx="1737360" cy="50292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6648" y="694944"/>
            <a:ext cx="36576" cy="502920"/>
          </a:xfrm>
          <a:prstGeom prst="rect">
            <a:avLst/>
          </a:prstGeom>
          <a:solidFill>
            <a:srgbClr val="9A6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749808"/>
            <a:ext cx="15544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spc="8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ΣΤΟ ΕΡΓΑΣΤΗΡΙΟ</a:t>
            </a:r>
          </a:p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927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ΑΣΚΗΣΗ 15 · BASH · ΒΗΜΑ-ΒΗΜΑ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00784"/>
            <a:ext cx="10927080" cy="78638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00784"/>
            <a:ext cx="36576" cy="786381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10512"/>
            <a:ext cx="10680192" cy="603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439"/>
              </a:lnSpc>
            </a:pP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eo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pid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%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cpu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comm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               </a:t>
            </a:r>
            <a:r>
              <a:rPr sz="12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κάθε διεργασία με το %CPU της</a:t>
            </a:r>
          </a:p>
          <a:p>
            <a:pPr>
              <a:lnSpc>
                <a:spcPts val="1439"/>
              </a:lnSpc>
            </a:pP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eo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pid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%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cpu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comm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|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k2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nr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</a:t>
            </a:r>
            <a:r>
              <a:rPr sz="12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από τη μεγαλύτερη χρήση</a:t>
            </a:r>
          </a:p>
          <a:p>
            <a:pPr>
              <a:lnSpc>
                <a:spcPts val="1439"/>
              </a:lnSpc>
            </a:pP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eo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pid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%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cpu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comm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|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sort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k2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nr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|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head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20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μόνο οι 3 πρώτες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715765"/>
            <a:ext cx="5394960" cy="107823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25493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Το | (pipe)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77"/>
            <a:ext cx="5065776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«Κολλάει» εντολές: 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έξοδος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της μιας γίνεται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είσοδος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της επόμενης.</a:t>
            </a:r>
          </a:p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-r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ανάποδα (από το μεγάλο στο μικρό) ·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head -3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οι 3 πρώτες γραμμές.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2715765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825493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Άσκηση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54677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Ποια διεργασία είναι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πρώτη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και με πόσο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%CPU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; Ποια είναι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δεύτερη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;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ΦΟΡΤΗΓΑΤΖΗΣ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Η πρώτη γραμμή είναι η διεργασία που, με FCFS, θα έκανε όλες τις άλλες να περιμένουν.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24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ΣΤΟ PC · 25΄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Gantt στο Excel και παραδοτέο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XRONODROMOLOGISI.XLSX · ΑΣΚΗΣΗ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5394960" cy="87782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00784"/>
            <a:ext cx="36576" cy="877824"/>
          </a:xfrm>
          <a:prstGeom prst="rect">
            <a:avLst/>
          </a:prstGeom>
          <a:solidFill>
            <a:srgbClr val="2F4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4807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A1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Δ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ι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ε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ρ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γ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α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σ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ί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α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B1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Ά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φ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ι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ξ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η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C1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Ε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κ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τ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έ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λ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ε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σ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η</a:t>
            </a:r>
          </a:p>
          <a:p>
            <a:pPr>
              <a:lnSpc>
                <a:spcPts val="1260"/>
              </a:lnSpc>
            </a:pP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D2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D3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D4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8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0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πότε αρχίζει</a:t>
            </a:r>
          </a:p>
          <a:p>
            <a:pPr>
              <a:lnSpc>
                <a:spcPts val="1260"/>
              </a:lnSpc>
            </a:pP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E2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D2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B2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         </a:t>
            </a:r>
            <a:r>
              <a:rPr sz="10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αναμονή (σύρε κάτω)</a:t>
            </a:r>
          </a:p>
          <a:p>
            <a:pPr>
              <a:lnSpc>
                <a:spcPts val="1260"/>
              </a:lnSpc>
            </a:pP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E5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AVERAGE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E2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E4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50" b="0">
                <a:solidFill>
                  <a:srgbClr val="171B26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050" b="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# μέσος όρος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61488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71216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Η λωρίδα χρόνου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Γραμμή 6: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0 1 2 … 10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Στη γραμμή 7 χρωμάτισε (Κεντρική → Χρώμα γεμίσματος) P1 μπλε, P2 πράσινο, P3 κίτρινο.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36208" y="1417320"/>
          <a:ext cx="5257800" cy="3063240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4800600"/>
              </a:tblGrid>
              <a:tr h="320040"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#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00" b="1" spc="60">
                          <a:solidFill>
                            <a:srgbClr val="8A91A3"/>
                          </a:solidFill>
                          <a:latin typeface="Consolas"/>
                          <a:ea typeface="Consolas"/>
                          <a:cs typeface="Consolas"/>
                        </a:rPr>
                        <a:t>ΠΑΡΑΔΟΤΈΟ: ΑΠΆΝΤΗΣΕ ΣΤΟ ΦΎΛΛΟ ΕΡΓΑΣΊΑΣ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Παιχνίδι: μέσος όρος γύρου FCFS και γύρου SJF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Ασκήσεις 2 και 3: μέσος χρόνος αναμονής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Δύο νέα φύλλα «FCFS» και «SJF» για τις ασκήσεις 5 και 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Ποιος αλγόριθμος κέρδισε και πόσο;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5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Τι είναι το φαινόμενο συνοδείας (με δικά σου λόγια);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Consolas"/>
                          <a:ea typeface="Consolas"/>
                          <a:cs typeface="Consolas"/>
                        </a:rPr>
                        <a:t>6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71B26"/>
                          </a:solidFill>
                          <a:latin typeface="Segoe UI"/>
                          <a:ea typeface="Segoe UI"/>
                          <a:cs typeface="Segoe UI"/>
                        </a:rPr>
                        <a:t>Γιατί το SJF μπορεί να είναι άδικο;</a:t>
                      </a:r>
                    </a:p>
                  </a:txBody>
                  <a:tcPr marL="76200" marR="7620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ΑΝΕΒΑΣΕ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το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Xronodromologisi.xlsx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 (τουλάχιστον 2 φύλλα) στον φάκελό σου.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claude-0/-home-claude/8f07f1d1-9bfe-540b-b195-992cdc902b9e/scratchpad/rest/logo_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spc="140">
                <a:solidFill>
                  <a:srgbClr val="2F4BD8"/>
                </a:solidFill>
                <a:latin typeface="Consolas"/>
                <a:ea typeface="Consolas"/>
                <a:cs typeface="Consolas"/>
              </a:rPr>
              <a:t>25  </a:t>
            </a:r>
            <a:r>
              <a:rPr sz="1000" b="0" spc="140">
                <a:solidFill>
                  <a:srgbClr val="8A91A3"/>
                </a:solidFill>
                <a:latin typeface="Consolas"/>
                <a:ea typeface="Consolas"/>
                <a:cs typeface="Consolas"/>
              </a:rPr>
              <a:t>ΣΥΝΟΨΗ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Τι κρατάμε από σήμερα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FCFS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Με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σειρά άφιξης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Απλός, αλλά οι μικρές περιμένουν πίσω από τις μεγάλες (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φαινόμενο συνοδείας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62276"/>
            <a:ext cx="5394960" cy="907796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72004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SJF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1188"/>
            <a:ext cx="506577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Πρώτα ο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πιο σύντομος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 Μικρότερη μέση αναμονή, αλλά κίνδυνος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λιμοκτονίας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417320"/>
            <a:ext cx="5257800" cy="907796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Αναμονή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56232"/>
            <a:ext cx="4928616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Αρχίζει − άφιξη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 (όταν δεν διακόπτεται).</a:t>
            </a:r>
          </a:p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Μέσος όρος = άθροισμα / πλήθος.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462276"/>
            <a:ext cx="5257800" cy="737362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57200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Επόμενο εργαστήριο · Τρίτη 27/10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01188"/>
            <a:ext cx="4928616" cy="170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Αλγόριθμοι που </a:t>
            </a:r>
            <a:r>
              <a:rPr sz="1100" b="1">
                <a:solidFill>
                  <a:srgbClr val="171B26"/>
                </a:solidFill>
                <a:latin typeface="Segoe UI"/>
                <a:ea typeface="Segoe UI"/>
                <a:cs typeface="Segoe UI"/>
              </a:rPr>
              <a:t>διακόπτουν</a:t>
            </a:r>
            <a:r>
              <a:rPr sz="1100" b="0">
                <a:solidFill>
                  <a:srgbClr val="4A5265"/>
                </a:solidFill>
                <a:latin typeface="Segoe UI"/>
                <a:ea typeface="Segoe UI"/>
                <a:cs typeface="Segoe UI"/>
              </a:rPr>
              <a:t>: SRTF, Round Robin, Priority.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053328"/>
            <a:ext cx="11119104" cy="0"/>
          </a:xfrm>
          <a:prstGeom prst="line">
            <a:avLst/>
          </a:prstGeom>
          <a:ln w="9525">
            <a:solidFill>
              <a:srgbClr val="D3D9E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 spc="100">
                <a:solidFill>
                  <a:srgbClr val="9A6B0C"/>
                </a:solidFill>
                <a:latin typeface="Consolas"/>
                <a:ea typeface="Consolas"/>
                <a:cs typeface="Consolas"/>
              </a:rPr>
              <a:t>ΕΡΩΤΗΣΗ   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Τι σημαίνει «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μη προεκχωρητικός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»; Όποια διεργασία ξεκινήσει, </a:t>
            </a:r>
            <a:r>
              <a:rPr sz="1050" b="1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τελειώνει</a:t>
            </a:r>
            <a:r>
              <a:rPr sz="1050" b="0">
                <a:solidFill>
                  <a:srgbClr val="8A91A3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Εργαστήριο 3 — Χρονοδρομολόγηση Ι: FCFS και SJF</dc:title>
  <dc:subject>PptxGenJS Presentation</dc:subject>
  <dc:creator>Λαμπρόπουλος Χρήστος</dc:creator>
  <cp:lastModifiedBy>Λαμπρόπουλος Χρήστος</cp:lastModifiedBy>
  <cp:revision>1</cp:revision>
  <dcterms:created xsi:type="dcterms:W3CDTF">2026-10-12T22:37:04Z</dcterms:created>
  <dcterms:modified xsi:type="dcterms:W3CDTF">2026-10-12T22:37:04Z</dcterms:modified>
</cp:coreProperties>
</file>