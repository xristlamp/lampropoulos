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1 ΑΠΟ 15 · ΥΠΟΕΝΟΤΗΤΑ 2.3.Γ.1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Γνωριμία με την Python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το πρώτο print() μέχρι ένα πρόγραμμα που δίνει ρέστα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+ 8 ασκήσεις με λύσεις          Διάρκεια: 4 ώρες (3η–6η)          26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ΣΤΌΧΟΙ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ξέρεις στο τέλος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46304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εγκαθιστάς την Python και να τρέχεις κώδικα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REPL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αρχείο .py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847088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γράφεις σωστά δομημένο κώδικα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εσοχές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χωρίς δηλώσεις τύπων και ερωτηματικά.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2231136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χρησιμοποιείς μεταβλητές και τους 4 βασικούς τύπους: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int, float, str, bool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615184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ξεχωρίζεις τους τελεστές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και να ξέρεις πότε χρειάζεσαι τον καθένα.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2999232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διαβάζεις από τον χρήστη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να μετατρέπεις σωστά τον τύπο.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338328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γράφεις μόνος σου ένα πλήρες πρόγραμμα: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ΔΜΣ, θερμοκρασία, ρέστα σε κέρματα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97764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8736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είναι οργανωμένο το 4ωρο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16552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1–2: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θεωρία με live coding — γράφουμε μαζί κάθε παράδειγμα.  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3–4: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εργαστήριο — οι ασκήσεις πάνε από τις πολύ εύκολες στο τελικό πρόγραμμα «ρέστα σε κέρματα».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ΣΗΜΕΊΩΣΗ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μόνο που χρειάζεσαι σήμερα είναι ένας υπολογιστής με Python. Κάθε παράδειγμα το γράφουμε μαζί, βήμα-βήμα.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ΓΙΑΤΊ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Μία γλώσσα, πολλές δουλειές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Python είναι σταθερά στις πιο δημοφιλείς γλώσσες. Θα τη χρησιμοποιήσουμε και για web και για παιχνίδια.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596896" cy="1691640"/>
          </a:xfrm>
          <a:prstGeom prst="roundRect">
            <a:avLst>
              <a:gd name="adj" fmla="val 324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055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 ιστοσελίδων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Django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«Διαδικτύου» στον τίτλο του μαθήματος.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691640"/>
            <a:ext cx="2596896" cy="1691640"/>
          </a:xfrm>
          <a:prstGeom prst="roundRect">
            <a:avLst>
              <a:gd name="adj" fmla="val 324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1296" y="18013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Δεδομένα &amp;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11296" y="213055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Ανάλυση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γραφήματα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μηχανική μάθηση. Εδώ κυριαρχεί.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596896" cy="1691640"/>
          </a:xfrm>
          <a:prstGeom prst="roundRect">
            <a:avLst>
              <a:gd name="adj" fmla="val 324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1072" y="18013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Παιχνίδια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213055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τη βιβλιοθήκη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pygame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φτιάχνουμε 2D παιχνίδια. Είναι ο στόχος του εξαμήνου.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06256" y="1691640"/>
            <a:ext cx="2596896" cy="1691640"/>
          </a:xfrm>
          <a:prstGeom prst="roundRect">
            <a:avLst>
              <a:gd name="adj" fmla="val 324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0848" y="18013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Αυτοματισμοί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213055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Μικρά scripts που μετονομάζουν αρχεία, διαβάζουν Excel, στέλνουν email.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65760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76732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Zen of Python, by Tim Peters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 is better than ugly.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is better than complex.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Readability counts.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0488" y="3657600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7673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φιλοσοφία της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096512"/>
            <a:ext cx="497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this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 REPL. Η Python θέλει κώδικα που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διαβάζεται σαν κείμενο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Γι' αυτό έχει λίγα σύμβολα και πολλές καθαρές λέξεις.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ΚΑΛΌ ΝΑ ΞΈΡΕΙΣ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όνομα δεν βγαίνει από το φίδι αλλά από τους Monty Python. Ο δημιουργός, Guido van Rossum, ξεκίνησε τη γλώσσα το 1989.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ΕΓΚΑΤΆΣΤΑΣΗ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Στήνουμε το εργαστήριο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Τέσσερα βήματα, 10 λεπτά. Αν η Python υπάρχει ήδη στο PC, ξεκίνα από το βήμα 3.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64792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Κατέβασε την Python 3 από το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python.org/downloads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(Windows installer).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20370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2037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52144" y="2185416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Στην πρώτη οθόνη τσέκαρε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«Add python.exe to PATH»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πάτα Install Now.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624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624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60604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Άνοιξε τερματικό (cmd) και γράψε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--version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Πρέπει να δεις τον αριθμό έκδοσης.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04495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044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026664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κώδικα στο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(έρχεται μαζί) ή στο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το extension «Python».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65760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76732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3.12.6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"Γεια!"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Γεια!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0488" y="3657600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7673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δεν δουλεύει το «python»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096512"/>
            <a:ext cx="497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Συνήθως ξεχάστηκε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 βήμα 2. Ξανατρέξε τον installer → Modify, ή δοκίμασε την εντολή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έξοδο από το REPL: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ΠΡΟΣΟΧΉ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Θέλουμε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Κώδικας Python 2 (π.χ. print χωρίς παρενθέσεις) που θα βρεις στο internet δεν τρέχει.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ΔΎΟ ΤΡΌΠΟΙ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 ή αρχείο .py;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REPL (ΔΙΑΔΡΑΣΤΙΚΆ)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ΑΡΧΕΊΟ hello.py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'PyPyPy'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"Γλυφάδα"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"Γεια σου,"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τρέχει με:  python hello.py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0632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729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το REPL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02152"/>
            <a:ext cx="5020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δοκιμές μιας γραμμής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«τι βγάζει το 7 // 2;». Απαντά αμέσως, αλλά ό,τι γράψεις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χάνεται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όταν κλείσει.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30632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1729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αρχείο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0215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κανονικά προγράμματα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Σώζεται, ξανατρέχει, το διορθώνεις. Στο IDLE: File → New File, μετά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F5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63440"/>
            <a:ext cx="10927080" cy="109728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77316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διαφορά που μπερδεύει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02352"/>
            <a:ext cx="1059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REPL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+ 3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εμφανίζει 5 μόνο του. Σε αρχείο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εμφανίζεται τίποτα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χρειάζεται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print(2 + 3)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ΣΎΜΒΑΣΗ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Στις διαφάνειες, 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&gt;&gt;&gt;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σημαίνει REPL. Οι γραμμές χωρίς &gt;&gt;&gt; από κάτω είναι η απάντηση της Python.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ΣΎΓΚΡΙΣΗ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ίδιο πρόγραμμα σε C και σε Python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(Α΄ ΕΞΆΜΗΝΟ)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49595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49595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 = %d\n"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49595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49595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 ="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2900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39776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ΣΤΗ 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ΣΤΗΝ PYTHON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#include, main()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δεν χρειάζονται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αρχείο τρέχει από πάνω προς τα κάτω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x = 5;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τύπος βγαίνει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την τιμή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; στο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τίποτα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κάθε γραμμή είναι μία εντολή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printf("%d", x)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print(x)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print ξέρει μόνη της τι τυπώνει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μεταγλώττιση → .exe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εκτέλεση απευθείας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Python είναι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διερμηνευόμενη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ΚΛΕΙΔΊ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γραμμές αντί για επτά. Η λογική είναι ίδια — αλλάζει μόνο το πόσα πρέπει να γράψεις για να την πεις.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ΕΣΟΧΈΣ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κενά στην αρχή έχουν σημασία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Στη C τα μπλοκ τα κλείνουν οι { }. Στην Python τα κλείνει η εσοχή — 4 κενά.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90488" y="1691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38528"/>
            <a:ext cx="36576" cy="1181405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48256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"θετικός"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"τέλος"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0488" y="1938528"/>
            <a:ext cx="53035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938528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048256"/>
            <a:ext cx="50292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"θετικός"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"τέλος"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337560"/>
            <a:ext cx="534924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337560"/>
            <a:ext cx="36576" cy="866851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47288"/>
            <a:ext cx="507492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κενά χωρίς λόγο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IndentationError: unexpected indent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3337560"/>
            <a:ext cx="5303520" cy="866851"/>
          </a:xfrm>
          <a:prstGeom prst="roundRect">
            <a:avLst>
              <a:gd name="adj" fmla="val 632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447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πιο συχνό πρώτο λάθος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776472"/>
            <a:ext cx="497433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κενό στην αρχή γραμμής, εκεί που δεν ανοίγει μπλοκ, και το πρόγραμμα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τρέχει καθόλου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4340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45312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Κανόνας του εργαστηρίου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782312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κενά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ανά επίπεδο. Το VS Code και το IDLE τα βάζουν μόνα τους όταν πατάς Enter μετά από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if το βλέπουμε αναλυτικά στο Μάθημα 2.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ΓΙΑΤΊ ΈΤΣΙ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κώδικας αναγκαστικά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φαίνεται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όπως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δουλεύει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Δεν γίνεται να είναι σωστά στοιχισμένος αλλά λάθος δομημένος.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ΈΞΟΔΟΣ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print() σε τέσσερις μορφές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ΈΝΑ ΠΡΆΓΜΑ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34924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19072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507492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"Καλημέρα"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Καλημέρα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190488" y="1463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ΠΟΛΛΆ, ΜΕ ΚΌΜΜΑ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90488" y="1719072"/>
            <a:ext cx="530352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719072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28800"/>
            <a:ext cx="5029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"Έτος:"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Έτος: 2026 !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063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ΆΛΛΟ ΔΙΑΧΩΡΙΣΤΙΚΌ: SEP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319272"/>
            <a:ext cx="534924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319272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29000"/>
            <a:ext cx="507492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5/10/2026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063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ΧΩΡΊΣ ΑΛΛΑΓΉ ΓΡΑΜΜΉΣ: 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0488" y="3319272"/>
            <a:ext cx="530352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3319272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429000"/>
            <a:ext cx="5029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1092708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8172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Σχόλια με #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010912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Ό,τι ακολουθεί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 αγνοεί η Python — είναι σημειώσεις για ανθρώπους. Βάζε σχόλιο όταν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δεν φαίνεται από τον κώδικα.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ΠΡΟΣΈΞΕ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κόμμα η print βάζει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μόνη της ένα κενό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ανάμεσα. Γι' αυτό γράφουμε "Έτος:" και όχι "Έτος: ".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ΜΕΤΑΒΛΗΤΈΣ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Όνομα που δείχνει σε μια τιμή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49595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49595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"Μαρία"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τώρα 20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"είκοσι"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επιτρέπεται!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είκοσι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Καμία δήλωση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μεταβλητή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δημιουργείται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την πρώτη φορά που της δίνεις τιμή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Δεν γράφεις int ή float πριν.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301752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31272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Δυναμικός τύπος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456432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ίδια μεταβλητή μπορεί να πάρει μετά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άλλου τύπου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τιμή. Η Python δεν διαμαρτύρεται — γι' αυτό προσέχουμε εμείς.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9659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ΌΝΟΜΑ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ΙΣΧΎΕΙ;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total_price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snake_case: το στυλ της Python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2nd_try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δεν ξεκινά με ψηφίο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my-var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- είναι αφαίρεση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ναι, αλλά ΜΗ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χαλάει την print()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 / age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και τα δύο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είναι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διαφορετικές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μεταβλητές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ΣΥΜΒΟΥΛΉ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Ονόματα που λένε τι κρατάνε: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height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όχι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Σε δύο εβδομάδες θα ευχαριστείς τον εαυτό σου.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ΤΎΠΟΙ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τέσσερις βασικοί τύποι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τιμή έχει τύπο. Τον βλέπεις με τη συνάρτηση type().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017520"/>
                <a:gridCol w="3703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ΤΎΠΟΣ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ΚΡΑΤΆΕΙ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ΠΑΡΑΔΕΊΓΜΑΤΑ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ΠΡΟΣΟΧΉ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ακέραιους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7, 0, -25, 10**20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κανένα όριο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μεγέθους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δεκαδικούς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3.14, 2.0, -0.5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τελεία, όχι κόμμα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κείμενο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"Μαρία", '42'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"42"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δεν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είναι αριθμός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αληθές / ψευδές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True, False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κεφαλαίο το πρώτο γράμμα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61188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361188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372160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0488" y="3611880"/>
            <a:ext cx="5303520" cy="1338682"/>
          </a:xfrm>
          <a:prstGeom prst="roundRect">
            <a:avLst>
              <a:gd name="adj" fmla="val 409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37216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Τρεις διαφορετικοί «επτά»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4050792"/>
            <a:ext cx="497433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"7"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μοιάζουν, αλλά είναι τρία διαφορετικά πράγματα για την Python.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"7" + 1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βγάζει σφάλμα.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+ 1.0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βγάζει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(float).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ΜΝΗΜΟΝΙΚΌ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Εισαγωγικά = κείμενο. Τελεία = float. Τίποτα από τα δύο = int.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Α · ΖΈΣΤΑΜΑ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τύπου είναι;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7772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7724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Χωρίς υπολογιστή: γράψε τι θα επιστρέψει η type() για καθεμία τιμή. Μετά έλεγξέ το στο REPL.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417320"/>
            <a:ext cx="525780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41732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498348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(42.0)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77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51760"/>
          <a:ext cx="5394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26517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ΤΙΜΉ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ΤΎΠΟΣ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ακέραιος χωρίς τελεία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έχει τελεία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"42"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έχει εισαγωγικά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λέξη-κλειδί, κεφαλαίο F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 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/ δίνει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πάντα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float → 1.0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"True"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εισαγωγικά νικούν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36208" y="297180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308152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δύο παγίδες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41071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7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δεν είναι 1 αλλά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η / δίνει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πάντα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float.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"True"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κείμενο που απλώς γράφει True.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ΣΤΌΧΟΣ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«βλέπεις» τον τύπο με το μάτι πριν τρέξεις τον κώδικα. Θα το χρειαστείς στην input() σε λίγο.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ΤΕΛΕΣΤΈΣ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Αριθμητικές πράξεις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173736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ΤΕΛ.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ΠΡΆΞΗ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ΠΑΡΆΔΕΙΓΜΑ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πρόσθεση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+ 2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αφαίρεση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7 - 2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πολλαπλασιασμός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*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διαίρεση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ακέραιο πηλίκο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//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υπόλοιπο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7 %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δύναμη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**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16368" y="146304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57276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μεγάλη αλλαγή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901952"/>
            <a:ext cx="3648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πάντα δεκαδικό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6 / 3 =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(στη C το 7/2 έδινε 3). Για ακέραιο πηλίκο υπάρχει ξεχωριστός τελεστής: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16368" y="320040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331012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Προτεραιότητα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3639312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Πρώτα **, μετά * / // %, μετά + -. Όταν διστάζεις, βάλε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παρενθέσεις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ΔΕΝ ΥΠΆΡΧΕΙ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Python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έχει x++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Γράφεις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+= 1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και αντίστοιχα x -= 1.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ΒΑΘΎΤΕΡΑ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 και %: τα δύο μισά της διαίρεσης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μοιράζεις 17 καραμέλες σε 5 παιδιά: πόσες παίρνει το καθένα και πόσες περισσεύουν;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πόσες παίρνει το καθένα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πόσες περισσεύουν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επαλήθευση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0488" y="1691640"/>
            <a:ext cx="5303520" cy="1181405"/>
          </a:xfrm>
          <a:prstGeom prst="roundRect">
            <a:avLst>
              <a:gd name="adj" fmla="val 464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8013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κανόνας που ισχύει πάντα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130552"/>
            <a:ext cx="4974336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= (a // b) * b + (a % 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// λέει «πόσες ολόκληρες φορές χωράει», το % λέει «τι μένει».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9718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ΠΟΎ ΧΡΗΣΙΜΟΠΟΙΟΎΝΤΑΙ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18688"/>
          <a:ext cx="10927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726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ΧΡΉΣΗ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ΚΏΔΙΚΑΣ → 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Άρτιος / περιττός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% 2  →  0 ή 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Τελευταίο ψηφίο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1987 % 10  →  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Χωρίς το τελευταίο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1987 // 10  →  198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Λεπτά σε ώρες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135 // 60, 135 % 60  →  2, 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ΤΈΛΟΣ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Αυτοί οι δύο τελεστές είναι η καρδιά της τελικής άσκησης «ρέστα σε κέρματα». Κράτα το παράδειγμα με τις καραμέλες.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Β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Υπολόγισε με το χέρι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6858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68580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Βρες το αποτέλεσμα κάθε έκφρασης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και τον τύπο του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(int ή float). Πρώτα στο χαρτί, μετά στο REPL.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6032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914400"/>
                <a:gridCol w="29260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ΈΚΦΡΑΣΗ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ΤΎΠΟΣ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ΣΧΌΛΙΟ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+ 3 * 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πρώτα ο πολλαπλασιασμός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 + 3) * 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οι παρενθέσεις αλλάζουν σειρά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/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/ δίνει πάντα 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// 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χωράει 5 φορές στο 23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23 % 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23 − 20 = 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δύναμη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// 2.0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ένα float → float αποτέλεσμα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3 **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δεξιά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2 ** 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07808" y="2560320"/>
            <a:ext cx="388620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26700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γενικός κανόνας τύπου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999232"/>
            <a:ext cx="3557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έστω ένας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αριθμός είναι float, το αποτέλεσμα είναι float. 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βγάζει float πάντα.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07808" y="4114800"/>
            <a:ext cx="388620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422452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παγίδα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4553712"/>
            <a:ext cx="3557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** είναι ο μόνος τελεστής που υπολογίζεται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δεξιά προς τα αριστερά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2 ** 3 ** 2 = 2 ** 9.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ΜΠΌΝΟΥΣ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Δοκίμασε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 // 2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 REPL. Βγάζει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όχι -3: η // στρογγυλεύει πάντα προς τα κάτω.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ΣΎΓΚΡΙΣΗ &amp; ΛΟΓΙΚΉ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Ερωτήσεις με απάντηση True / False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5349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4028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ΤΕΛ.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ΣΗΜΑΊΝΕΙ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ΠΑΡΆΔΕΙΓΜΑ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ίσο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== 5.0  → 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διάφορο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!= 4  → 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&gt;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μικρότερο / μεγαλύτερο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&gt; 7  → False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 &gt;=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ή ίσο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&gt;= 7  → 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ΛΟΓΙΚΌΣ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ΌΤΑΝ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ισχύουν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και τα δύο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ισχύει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έστω ένα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αντιστρέφει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την τιμή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32918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66928" y="32918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31520" y="34015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ίδιο!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190488" y="3291840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34015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Αλυσιδωτή σύγκριση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355080" y="3730752"/>
            <a:ext cx="497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Python γράφει το «ανάμεσα» όπως στα μαθηματικά: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&lt;= grade &lt;= 20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Ίδιο αποτέλεσμα με το and, πιο ευανάγνωστο.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ΜΗΝ ΜΠΕΡΔΕΎΕΙΣ  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δίνει τιμή,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ρωτάει αν είναι ίσα. Στο if θα χρειαστείς πάντα το ==.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ΕΊΣΟΔΟΣ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input(): ο χρήστης γράφει, εμείς διαβάζουμε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ΤΟ ΛΆΘΟΣ ΠΟΥ ΚΆΝΟΥΝ ΌΛΟΙ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ΣΩΣΤΉ ΕΚΔΟΧΉ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02412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"Πρώτος: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"Δεύτερος: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Πρώτος: 5    Δεύτερος: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"Πρώτος: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"Δεύτερος: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Πρώτος: 5    Δεύτερος: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9718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8152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53;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10712"/>
            <a:ext cx="5020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 επιστρέφει πάντα str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ακόμα κι αν ο χρήστης γράψει αριθμό. Και το + σε κείμενα 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κολλάει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"5" + "3" = "53".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297180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λύση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10712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Τυλίγουμε την input() σε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ή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Διαβάζεται από μέσα προς τα έξω: πρώτα ρωτάει, μετά μετατρέπει.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75488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6460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μήνυμα μέσα στην input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93792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Ό,τι γράψεις στις παρενθέσεις εμφανίζεται ως ερώτηση. Άφηνε ένα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κενό στο τέλος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("Βάρος: ") για να μη κολλάει η απάντηση.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ΣΥΓΚΡΙΣΗ ΜΕ C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Είναι το αντίστοιχο του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scanf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χωρίς %d και &amp; — αλλά τη μετατροπή την κάνεις εσύ.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ΜΕΤΑΤΡΟΠΈΣ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int(), float(), str(), round()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ΚΛΉΣΗ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ΣΥΝΈΒΗ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int("42")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κείμενο → ακέραιος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float("1.75")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κείμενο → δεκαδικός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int(3.99)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κόβει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δεν στρογγυλεύει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round(3.99)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στρογγυλεύει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round(22.8571, 2)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22.86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με 2 δεκαδικά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str(2026)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"2026"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αριθμός → κείμενο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int("3.5")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ValueError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"3.5" δεν είναι ακέραιος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int("πέντε")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ValueError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δεν είναι αριθμός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07808" y="14630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57276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ή float στην input;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9019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η τιμή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μπορεί να έχει δεκαδικά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(βάρος, ύψος, θερμοκρασία, τιμή), διάβασέ τη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07808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17296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γίνεται με το λάθος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ο χρήστης γράψει «πέντε», το πρόγραμμα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σταματά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ValueError. Πώς το προλαβαίνουμε: Μάθημα 5 (try/except).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ΧΡΥΣΌΣ ΚΑΝΌΝΑΣ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Ό,τι μπορεί να έχει δεκαδικά, έστω και σπάνια, το διαβάζεις με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float()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Ένας μέσος όρος δεν είναι ποτέ σίγουρα ακέραιος.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ΩΡΑΊΑ ΈΞΟΔΟΣ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f-strings: κείμενο με τιμές μέσα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Βάζεις f πριν από τα εισαγωγικά και τις μεταβλητές μέσα σε { }.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"Νίκος"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22.857142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f"Γεια σου {name}!"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f"ΔΜΣ: {bmi:.2f}"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Γεια σου Νίκος!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ΔΜΣ: 22.86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103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ΜΈΣΑ ΣΤΙΣ { 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ΣΗΜΑΊΝΕΙ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{bmi}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22.857142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όπως είναι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{bmi:.2f}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22.86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δεκαδικά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{bmi:.0f}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χωρίς δεκαδικά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{7:02d}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ψηφία με 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 + b}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άθροισμα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και πράξεις!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3291840"/>
            <a:ext cx="1092708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40156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το δείχνουμε από σήμερα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30752"/>
            <a:ext cx="1059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Στα προγράμματα του εργαστηρίου θέλουμε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δεκαδικά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σαν 02:03:04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Αναλυτικά για τη μορφοποίηση: Μάθημα 8.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ΠΡΟΣΟΧΉ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:.2f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αλλάζει μόνο το πώς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εμφανίζεται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ο αριθμός. Η τιμή μέσα στη μεταβλητή bmi μένει ίδια.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PYTHON-ΙΚΑ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Πολλαπλή εκχώρηση και +=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ΑΝΤΑΛΛΑΓΉ ΜΕ ΒΟΗΘΗΤΙΚΉ ΜΕΤΑΒΛΗΤΉ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ΑΝΤΑΛΛΑΓΉ ΜΕ ΠΟΛΛΑΠΛΉ ΕΚΧΏΡΗΣΗ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866851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866851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74320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74320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85292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x=3, y=7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και τα δύο 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2743200"/>
            <a:ext cx="5303520" cy="1338682"/>
          </a:xfrm>
          <a:prstGeom prst="roundRect">
            <a:avLst>
              <a:gd name="adj" fmla="val 409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8529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κερδίζεις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182112"/>
            <a:ext cx="497433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a, b = b, a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η Python υπολογίζει πρώτα όλη τη δεξιά πλευρά και μετά μοιράζει τις τιμές. Δεν χρειάζεται temp.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+=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-=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//=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αλλάζουν τη μεταβλητή με βάση την τιμή της.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++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δεν υπάρχει.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ΧΡΉΣΙΜΟ ΣΤΑ ΡΈΣΤΑ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coins, rest = rest // 200, rest % 200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κάνει δύο υπολογισμούς σε μία γραμμή. Θα το δεις στη λύση.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Γ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Βρες το λάθος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658368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65836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κομμάτι έχει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λάθος — τα πιο συνηθισμένα των πρώτων εβδομάδων. Βρες το και διόρθωσέ το.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5349240" cy="59801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40280"/>
            <a:ext cx="36576" cy="59801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50008"/>
            <a:ext cx="5074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"Ηλικία: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95717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95717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93888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TypeError: str + int → </a:t>
            </a:r>
            <a:pPr indent="0" marL="0">
              <a:buNone/>
            </a:pPr>
            <a:r>
              <a:rPr lang="en-US" sz="11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int(input(...))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2240280"/>
            <a:ext cx="5303520" cy="59801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2240280"/>
            <a:ext cx="36576" cy="59801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350008"/>
            <a:ext cx="502920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0488" y="295717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0488" y="295717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775704" y="293888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SyntaxError: δεν υπάρχει ++ → </a:t>
            </a:r>
            <a:pPr indent="0" marL="0">
              <a:buNone/>
            </a:pPr>
            <a:r>
              <a:rPr lang="en-US" sz="11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+=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5349240" cy="59801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977640"/>
            <a:ext cx="36576" cy="59801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087368"/>
            <a:ext cx="5074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69453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469453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467624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IndentationError: περιττό κενό → </a:t>
            </a:r>
            <a:pPr indent="0" marL="0">
              <a:buNone/>
            </a:pPr>
            <a:r>
              <a:rPr lang="en-US" sz="11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σβήσε το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488" y="3977640"/>
            <a:ext cx="5303520" cy="59801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0488" y="3977640"/>
            <a:ext cx="36576" cy="59801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4087368"/>
            <a:ext cx="502920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"πέντε"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0488" y="469453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0488" y="469453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775704" y="467624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SyntaxError: σύγκριση θέλει </a:t>
            </a:r>
            <a:pPr indent="0" marL="0">
              <a:buNone/>
            </a:pPr>
            <a:r>
              <a:rPr lang="en-US" sz="11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ΤΕΧΝΙΚΉ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Διάβαζε το μήνυμα λάθους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κάτω προς τα πάνω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η τελευταία γραμμή λέει τι έγινε, η προηγούμενη πού.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1 · ΕΎΚΟΛΟ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Δείκτης Μάζας Σώματος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11430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114300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πρόγραμμα που διαβάζει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βάρος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(kg) και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ύψος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(m) και εμφανίζει τον ΔΜΣ με 2 δεκαδικά.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Τύπος: ΔΜΣ = βάρος / ύψος²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417320"/>
            <a:ext cx="525780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41732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498348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Βάρος σε kg: 70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Ύψος σε m: 1.75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ΔΜΣ: 22.86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14813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ΑΝΑΜΕΝΌΜΕΝΗ ΈΞΟΔΟΣ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539496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017520"/>
            <a:ext cx="36576" cy="133868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127248"/>
            <a:ext cx="512064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bmi.py — Δείκτης Μάζας Σώματος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"Βάρος σε kg: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"Ύψος σε m: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f"ΔΜΣ: {bmi:.2f}"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6208" y="30175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12724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float() και όχι int()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456432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ύψος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1.75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με int("1.75") το πρόγραμμα θα έσκαγε με ValueError.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42976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40740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χωρίς παρένθεση στο height ** 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736592"/>
            <a:ext cx="4928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** εκτελείται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πριν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από τη /. Το weight / (height ** 2) είναι σωστό αλλά περιττό.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ΕΠΈΚΤΑΣΗ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Μάθημα 2, με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θα προσθέσουμε και την κατηγορία: λιποβαρής / φυσιολογικός / υπέρβαρος.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2 · ΕΎΚΟΛΟ+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Μετατροπή θερμοκρασίας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772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7724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θερμοκρασία σε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Κελσίου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εμφάνισέ τη σε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Φαρενάιτ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 δεκαδικό) και σε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Κέλβιν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 δεκαδικά).  Τύποι: F = C × 9/5 + 32,  K = C + 273.15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77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5394960" cy="149595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51760"/>
            <a:ext cx="36576" cy="149595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61488"/>
            <a:ext cx="512064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temperature.py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"Θερμοκρασία (°C):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273.15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f"{c}°C = {f:.1f}°F = {k:.2f}K"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2651760"/>
          <a:ext cx="5257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965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ΕΊΣΟΔΟΣ °C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°F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273.15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298.15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212.0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373.15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-40.0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233.15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36208" y="434340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445312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Δοκίμασε τις τιμές του πίνακα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782312"/>
            <a:ext cx="4928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πρόγραμμα το ελέγχεις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γνωστές απαντήσεις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το νερό παγώνει στους 32°F. Στους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οι δύο κλίμακες συμπίπτουν.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ΜΙΚΡΉ ΠΡΌΚΛΗΣΗ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και το αντίστροφο: από Φαρενάιτ σε Κελσίου. Λύσε τον τύπο ως προς C: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= (F − 32) × 5/9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3 · Ο ΣΤΌΧΟΣ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Ρέστα σε κέρματα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9601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9601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πελάτης χρωστά ένα ποσό και πληρώνει με χαρτονόμισμα. Το πρόγραμμα βρίσκει τα ρέστα και λέει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πόσα κέρματα από το καθένα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να δώσει ο ταμίας, με τα λιγότερα δυνατά κέρματα.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Κέρματα: 2€, 1€, 50λ, 20λ, 10λ, 5λ, 2λ, 1λ.  Παράδειγμα: ποσό 15.12€, πληρωμή 20€ → ρέστα 4.88€.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560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834640"/>
            <a:ext cx="6035040" cy="3068726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834640"/>
            <a:ext cx="36576" cy="3068726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44368"/>
            <a:ext cx="5760720" cy="284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change.py — Ρέστα σε κέρματα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"Ποσό (€): 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"Πληρωμή (€): 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σε λεπτά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f"Ρέστα: {rest / 100:.2f}€"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"2€:"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1€:"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50λ:"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20λ:"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"10λ:"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5λ:"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2λ:"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1λ:"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76288" y="2834640"/>
            <a:ext cx="4617720" cy="1371600"/>
          </a:xfrm>
          <a:prstGeom prst="roundRect">
            <a:avLst>
              <a:gd name="adj" fmla="val 4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29443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ιδέα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273552"/>
            <a:ext cx="4288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κάθε κέρμα, από το μεγαλύτερο: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λέει πόσα χωράνε,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λέει τι μένει για το επόμενο.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76288" y="4343400"/>
            <a:ext cx="4617720" cy="1371600"/>
          </a:xfrm>
          <a:prstGeom prst="roundRect">
            <a:avLst>
              <a:gd name="adj" fmla="val 4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445312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δουλεύουμε σε λεπτά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782312"/>
            <a:ext cx="4288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ακέραιους δεν έχουμε σφάλματα δεκαδικών. Χωρίς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0.29 × 100 = 28.9999… και το int() θα έδινε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αντί για 29.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ΔΟΚΊΜΑΣΕ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Ποσό 0.71€, πληρωμή 1€ → ρέστα 0.29€ = 20λ + 5λ + 2λ + 2λ. Μετά βγάλε το round() και δες τι χαλάει.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ΠΊΝΑΚΑΣ ΤΙΜΏΝ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γίνεται για ρέστα 4.88€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Ακολουθούμε τη μεταβλητή rest γραμμή προς γραμμή. Ξεκινά από 488 λεπτά.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828800"/>
                <a:gridCol w="2194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ΚΈΡΜΑ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 ΠΡΙΝ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 // ΚΈΡΜΑ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 % ΚΈΡΜΑ (ΜΈΝΕΙ)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2€ (200)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1€ (100)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50λ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20λ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10λ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5λ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2λ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1λ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07808" y="1691640"/>
            <a:ext cx="388620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07808" y="16916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80136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Ποσό (€): 15.12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Πληρωμή (€): 20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Ρέστα: 4.88€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2€: 2  1€: 0  50λ: 1  20λ: 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10λ: 1  5λ: 1  2λ: 1  1λ: 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07808" y="288036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29900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Επαλήθευση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31927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2·200 + 50 + 20 + 10 + 5 + 2 + 1 =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488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  Σύνολο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κέρματα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ΤΕΧΝΙΚΉ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πίνακας τιμών είναι ο πιο γρήγορος τρόπος να βρεις γιατί ένα πρόγραμμα βγάζει λάθος.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ΠΡΌΚΛΗΣΗ · ΓΙΑ ΤΟΥΣ ΓΡΉΓΟΡΟΥΣ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Δευτερόλεπτα σε ώρες:λεπτά:δευτ.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ένα πλήθος δευτερολέπτων και εμφάνισέ το σε μορφή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ΩΩ:ΛΛ:ΔΔ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Παράδειγμα: 7384 →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02:03:04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Ίδια ιδέα με τα ρέστα.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5394960" cy="149595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06040"/>
            <a:ext cx="36576" cy="149595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512064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clock.py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"Δευτερόλεπτα: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f"{h:02d}:{m:02d}:{s:02d}"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02:03:04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2606040"/>
          <a:ext cx="5257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874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ΒΉΜΑ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ΠΡΆΞΗ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ώρες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7384 // 3600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μένουν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7384 % 3600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λεπτά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184 // 60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δευτερόλεπτα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184 % 60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36208" y="4251960"/>
            <a:ext cx="5257800" cy="1280160"/>
          </a:xfrm>
          <a:prstGeom prst="roundRect">
            <a:avLst>
              <a:gd name="adj" fmla="val 428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436168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:02d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690872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Γεμίζει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μηδενικό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μπροστά ώστε να έχει 2 ψηφία: 3 →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Χωρίς αυτό θα έβγαινε 2:3:4.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ΠΑΡΑΤΉΡΗΣΗ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Ρέστα, ώρες, ψηφία αριθμού: το ίδιο μοτίβο // και % λύνει όλα τα προβλήματα «σπάσε σε μονάδες».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ΣΎΝΟΨΗ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κρατάμε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σύνταξη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Εσοχές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αντί για αγκύλες.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Καμία δήλωση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τύπου. Κανένα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κανένα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++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70832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 = str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Ό,τι διαβάζεις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κείμενο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Μετατροπή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ή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πριν από πράξεις.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36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//  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δίνει πάντα float.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//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ακέραιο πηλίκο.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υπόλοιπο. Μαζί σπάνε ποσότητες σε μονάδες.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703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Σήμερα έγραψες τρία πλήρη προγράμματα: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ΔΜΣ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θερμοκρασία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ρέστα σε κέρματα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Όλα έχουν την ίδια δομή: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→ υπολόγισε → εμφάνισε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68172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Επόμενο μάθημα · Δευ 12/10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10912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Δομές επιλογής και επανάληψης: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elif / else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Ο ΔΜΣ θα αποκτήσει κατηγορία και τα ρέστα θα ελέγχουν αν η πληρωμή φτάνει.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ΣΠΊΤΙ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Πρόγραμμα που διαβάζει τριψήφιο αριθμό και εμφανίζει 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άθροισμα των ψηφίων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(π.χ. 472 → 13). Μόνο με // και %.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1 — Γνωριμία με την Python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2026-10-05T09:29:06Z</dcterms:created>
  <dcterms:modified xsi:type="dcterms:W3CDTF">2026-10-05T09:29:06Z</dcterms:modified>
</cp:coreProperties>
</file>