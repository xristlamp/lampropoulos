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7"/>
    <p:sldId id="274" r:id="rId6"/>
    <p:sldId id="275" r:id="rId5"/>
    <p:sldId id="276" r:id="rId4"/>
    <p:sldId id="277" r:id="rId3"/>
    <p:sldId id="278" r:id="rId29"/>
    <p:sldId id="279" r:id="rId30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EK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6350">
            <a:solidFill>
              <a:srgbClr val="2F4B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26496" y="246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Γλυφάδας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&amp; Pygame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ΜΑΘΗΜΑ 4 ΑΠΟ 15 · ΥΠΟΕΝΟΤΗΤΑ 2.3.Γ.2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Σύνολα και λεξικά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Μοναδικά στοιχεία και αναζήτηση με «κλειδί»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Θεωρία σε 12 μικρά βήματα + 17 ασκήσεις στο εργαστήριο          Διάρκεια: 4 ώρες (3η–6η)          24 διαφάνειες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Προγραμματισμός Εφαρμογών Διαδικτύου &amp; Παιχνιδιών (Python, Pygame) · Γ΄ εξάμηνο · Δευτέρα 26/10/2026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ΣΤΟΧΟΙ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θα ξέρεις στο τέλος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463040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χρησιμοποιείς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σύνολο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για να κρατάς κάθε τιμή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 φορά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(χωρίς διπλά).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847088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βρίσκεις τι είναι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κοινό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σε δύο σύνολα και τι έχει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μόνο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το ένα.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231136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φτιάχνεις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λεξικό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να βρίσκεις μια τιμή από το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κλειδί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της (όνομα → τηλέφωνο).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615184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προσθέτεις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, 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αλλάζεις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διαγράφεις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στοιχεία ενός λεξικού.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2999232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μετράς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πόσες φορές εμφανίζεται κάτι, με λεξικό.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84448"/>
            <a:ext cx="5303520" cy="160020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δουλεύουμε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49743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θεωρία είναι χωρισμένη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12 μικρά βήματα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Κάθε βήμα έχει πάνω δεξιά την ετικέτα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ΣΤΟ ΕΡΓΑΣΤΗΡΙΟ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τον αριθμό της άσκησης στο site.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Διαβάζεις τη διαφάνεια → λύνεις την άσκηση → πας στο επόμενο βήμα.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584448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69417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το εύκολο στο δύσκολο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502005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1–8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εύκολες, μία εντολή τη φορά.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9–13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μέτριες, συνδυάζουν 2–3 βήματα.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14–16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δύσκολες, όλα μαζί.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17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για το σπίτι.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ΣΥΝΔΕΣΗ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Οι λίστες βρίσκουν στοιχεία με τη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θέση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τους. Σήμερα: το σύνολο χωρίς θέσεις και το λεξικό 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όνομα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(κλειδί).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ΖΕΣΤΑΜΑ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Θυμάσαι από την προηγούμενη φορά;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Πέντε γρήγορες ερωτήσεις, 5 λεπτά. Τι δίνει κάθε κομμάτι; Πρώτα σκέψου, μετά δες τη λύση.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73325"/>
          <a:ext cx="6949440" cy="201168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1463040"/>
                <a:gridCol w="20116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ΚΏΔΙΚΑΣ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ΑΠΟΤΈΛΕΣΜΑ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nums = [5, 2, 5]; len(nums)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μετράει και τα διπλά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nums[0]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θέση 0 = το πρώτο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"Άννα" in ["Άννα", "Νίκος"]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υπάρχει μέσα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nums.append(7)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[5, 2, 5, 7]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στο τέλος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sorted(["Νίκος", "Άννα"])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['Άννα', 'Νίκος']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αλφαβητικά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90688" y="2473325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583053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Γιατί αυτά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912237"/>
            <a:ext cx="33741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len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sorted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δουλεύουν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ίδια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στα σύνολα και στα λεξικά. Ό,τι ξέρεις, το ξαναχρησιμοποιείς.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ΠΑΡΑΤΗΡΗΣΗ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Στη λίστα το 5 μετράει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δύο φορές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Σε λίγο θα δούμε μια δομή που το κρατά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μία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ΤΟ ΠΡΟΒΛΗΜΑ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 ερωτήσεις που η λίστα απαντά άβολα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«ΤΟ ΤΗΛΕΦΩΝΟ ΤΟΥ ΝΙΚΟΥ;» · ΜΕ ΛΙΣΤΕΣ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5394960" cy="1075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36576" cy="10759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148072" cy="89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"6971111111"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"6972222222"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ΜΕ ΛΕΞΙΚΟ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700784"/>
            <a:ext cx="5257800" cy="1075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36576" cy="1075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5010912" cy="89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"6971111111"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"6972222222"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6972222222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0532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«ΠΟΣΟΙ ΔΙΑΦΟΡΕΤΙΚΟΙ;» · ΜΕ ΛΙΣΤΑ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88792"/>
            <a:ext cx="539496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88792"/>
            <a:ext cx="36576" cy="124358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98520"/>
            <a:ext cx="51480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visits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visits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005328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ΜΕ ΣΥΝΟΛΟ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3288792"/>
            <a:ext cx="5257800" cy="7406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288792"/>
            <a:ext cx="36576" cy="7406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98520"/>
            <a:ext cx="501091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visits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visits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Η ΙΔΕΑ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Κάθε δομή είναι φτιαγμένη για ένα είδος ερώτησης. Με τη σωστή, ο κώδικας γίνεται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πιο μικρός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 ΑΠΟ 12 · ΣΥΝΟΛΟ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Σύνολο: κάθε τιμή μία φορά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9141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9141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73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visits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"Ελένη"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people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visits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people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{'Νίκος', 'Άννα', 'Ελένη'}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people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people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['Άννα', 'Ελένη', 'Νίκος']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colors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"κόκκινο"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"μπλε"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set(λίστα)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Φτιάχνει σύνολο από μια λίστα. 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διπλά φεύγουν μόνα τους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29184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0157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Χωρίς σειρά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3075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σύνολο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 έχει θέσεις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το people[0] δεν υπάρχει. Όταν τυπώνεται, η σειρά μπορεί να βγει ανακατεμένη. Για σειρά: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sorted()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33679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Άγκιστρα {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7571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Γράφεται και κατευθείαν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{ }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Για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άδειο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σύνολο όμως γράφεις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set()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όχι {}.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ΠΟΥ ΧΡΗΣΙΜΕΥΕΙ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Πόσοι διαφορετικοί επισκέπτες; Πόσες διαφορετικές λέξεις;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len(set(…))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2 ΑΠΟ 12 · ADD ·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Βάζω και ψάχνω σε σύνολο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7523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7523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stickers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stickers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νέο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stickers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το έχω ήδη: τίποτα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stickers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[3, 5, 7, 12]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stickers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stickers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stickers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remove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το βγάζω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stickers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add(τιμή)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Βάζει την τιμή στο σύνολο. Αν υπάρχει ήδη,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 γίνεται τίποτα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— ούτε σφάλμα.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2276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1188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Υπάρχει ή όχι;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True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False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όπως στη λίστα.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33679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remove(τιμή)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7571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Τη βγάζει. Αν δεν υπάρχει → σφάλμα, οπότε έλεγξε πρώτα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if … in …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ΓΙΑΤΙ ADD ΚΙ ΟΧΙ APPEND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append σημαίνει «στο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τέλος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». Το σύνολο δεν έχει τέλος, ούτε σειρά.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3 ΑΠΟ 12 · ΚΟΙΝΑ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είναι κοινό, τι είναι μόνο στο ένα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61872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python = {"Άννα", "Νίκος", "Ελένη"}     java = {"Νίκος", "Μαρία"}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8412480" cy="1673352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3108960"/>
                <a:gridCol w="30175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ΓΡΆΦΕΙΣ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ΠΑΊΡΝΕΙΣ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ΜΕ ΛΌΓΙΑ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python &amp; java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{'Νίκος'}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και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στα δύο (κοινά)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python | java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{'Άννα', 'Νίκος', 'Ελένη', 'Μαρία'}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όλοι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μαζί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python - java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{'Άννα', 'Ελένη'}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μόνο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Python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java - python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{'Μαρία'}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μόνο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Java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593592"/>
            <a:ext cx="8412480" cy="5730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593592"/>
            <a:ext cx="36576" cy="5730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8165592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java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['Νίκος']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91640"/>
            <a:ext cx="2258568" cy="146304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801368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τα θυμάμαι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130552"/>
            <a:ext cx="1929384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&amp;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= «και»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|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= «ή»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-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= «χωρίς»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ΟΠΩΣ ΣΤΑ ΜΑΘΗΜΑΤΙΚΑ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Τομή, ένωση, διαφορά. Ζωγράφισε δύο κύκλους που μπλέκονται και βάλε κάθε όνομα στη θέση του.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ΣΤΟ ΧΑΡΤΙ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Πράξεις συνόλων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 a = {1, 2, 3, 4} και b = {3, 4, 5}, τι δίνει κάθε έκφραση; Ζωγράφισε πρώτα τους δύο κύκλους.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73325"/>
          <a:ext cx="6949440" cy="2350008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2286000"/>
                <a:gridCol w="23774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ΈΚΦΡΑΣΗ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ΑΠΟΤΈΛΕΣΜΑ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ΜΕ ΛΌΓΙΑ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a &amp; 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{3, 4}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κοινά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a | 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{1, 2, 3, 4, 5}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όλα μαζί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a - 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{1, 2}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μόνο στο 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b - 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{5}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μόνο στο 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len(a | b)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πόσα όλα μαζί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 in 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υπάρχει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90688" y="2473325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583053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Έλεγχος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912237"/>
            <a:ext cx="33741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Μόνο a (2) + κοινά (2) + μόνο b (1) =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5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= όσα έχει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a | b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ΤΕΧΝΙΚΗ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Με τους κύκλους οι απαντήσεις βγαίνουν με μια ματιά.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4 ΑΠΟ 12 · ΛΕΞΙΚΟ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Λεξικό: κλειδί → τιμή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578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578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395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"καφές"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"τσάι"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"χυμός"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"καφές"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2.5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24784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ΤΟ PRICES ΣΑΝ ΠΙΝΑΚΑΣ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508248"/>
          <a:ext cx="5394960" cy="1335024"/>
        </p:xfrm>
        <a:graphic>
          <a:graphicData uri="http://schemas.openxmlformats.org/drawingml/2006/table">
            <a:tbl>
              <a:tblPr firstRow="0" bandRow="0"/>
              <a:tblGrid>
                <a:gridCol w="2697480"/>
                <a:gridCol w="26974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ΚΛΕΙΔΊ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ΤΙΜΉ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"καφές"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2.5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"τσάι"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2.0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"χυμός"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3.2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Σαν πραγματικό λεξικό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Ψάχνεις τη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λέξη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(κλειδί) και βρίσκεις τον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ορισμό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(τιμή). Δεν σε νοιάζει σε ποια θέση είναι.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γράφεται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{ κλειδί: τιμή, κλειδί: τιμή }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— άγκιστρα, και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άνω-κάτω τελεία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ανάμεσα σε κλειδί και τιμή.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50723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prices["καφές"]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4614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Στις αγκύλες βάζεις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κλειδί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όχι θέση. Παίρνεις την τιμή του.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ΠΑΡΑΔΕΙΓΜΑΤΑ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όνομα → τηλέφωνο · προϊόν → τιμή · μαθητής → βαθμός · λέξη → πόσες φορές.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5 ΑΠΟ 12 · IN ·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Όταν το κλειδί δεν υπάρχει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ΠΡΟΒΛΗΜΑ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5730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57302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"πίτσα"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KeyError: 'πίτσα'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02408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ΛΥΣΗ 1 · ΕΛΕΓΧΟΣ ΜΕ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5872"/>
            <a:ext cx="5394960" cy="1075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85872"/>
            <a:ext cx="36576" cy="1075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95600"/>
            <a:ext cx="5148072" cy="89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"Προϊόν: 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"Δεν υπάρχει"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90416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ΛΥΣΗ 2 · 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373880"/>
            <a:ext cx="5394960" cy="5730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373880"/>
            <a:ext cx="36576" cy="5730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3608"/>
            <a:ext cx="5148072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"πίτσα"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"Δεν υπάρχει"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Δεν υπάρχει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KeyError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Ζήτησες κλειδί που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 υπάρχει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στο λεξικό. Είναι το «IndexError» των λεξικών.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2462276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01188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"πίτσα" in prices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ρωτάει: υπάρχει αυτό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κλειδί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33679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get(κλειδί, αλλιώς)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7571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Δίνει την τιμή αν υπάρχει το κλειδί,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αλλιώς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 2η τιμή που του έδωσες. Ποτέ σφάλμα.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ΔΙΑΛΕΞΕ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Και οι δύο λύσεις είναι σωστές.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if … in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είναι πιο καθαρό όταν θες να κάνεις και άλλα πράγματα.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6 ΑΠΟ 12 · ΠΡΟΣΘΗΚΗ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Προσθέτω και αλλάζω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578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578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395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"μήλα"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"αχλάδια"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"κεράσια"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νέο κλειδί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"μήλα"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αλλαγή τιμής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"αχλάδια"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4 + 6 = 10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{'μήλα': 8, 'αχλάδια': 10, 'κεράσια': 25}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Ίδια εντολή, δύο δουλειές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stock[κλειδί] = τιμή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αν το κλειδί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 υπάρχει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το φτιάχνει. Αν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υπάρχει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αλλάζει την τιμή του.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+=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Σημαίνει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stock["αχλάδια"] = stock["αχλάδια"] + 6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Δουλεύει μόνο αν το κλειδί υπάρχει ήδη.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50723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Κάθε κλειδί μία φορά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4614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Δεν γίνεται να έχεις δύο "μήλα". Η νέα τιμή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αντικαθιστά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την παλιά.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Στη λίστα έκανες append. Στο λεξικό απλώς γράφεις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d[νέο_κλειδί] = τιμή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7 ΑΠΟ 12 · ΔΙΑΓΡΑΦΗ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Διαγράφω ένα κλειδί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0817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0817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898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"μήλα"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"αχλάδια"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"κεράσια"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"κεράσια"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{'μήλα': 8, 'αχλάδια': 10}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pop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"μήλα"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το βγάζω και το κρατάω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8 {'αχλάδια': 10}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del d[κλειδί]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Σβήνει το κλειδί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την τιμή του.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29184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0157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pop(κλειδί)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3075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βγάζει και σου δίνει την τιμή του — όπως το pop της λίστας.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ΣΥΧΝΟ ΛΑΘΟΣ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del stock["πίτσα"]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όταν δεν υπάρχει → KeyError. Έλεγξε πρώτα: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if "πίτσα" in stock: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ΣΤΟ ΧΑΡΤΙ 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έχει το λεξικό μετά από κάθε γραμμή;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Γράψε στο τετράδιο πώς είναι το λεξικό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μετά από κάθε γραμμή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Μετά τρέξ' το στο «🧪 Ελεύθερο» του εργαστηρίου και έλεγξε.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73325"/>
          <a:ext cx="6949440" cy="2350008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2651760"/>
                <a:gridCol w="14630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ΓΡΑΜΜΉ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ΤΟ ΛΕΞΙΚΌ ΜΕΤΆ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ΤΙ ΈΓΙΝΕ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 = {"x": 1}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{'x': 1}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φτιάχτηκε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d["y"] = 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{'x': 1, 'y': 2}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νέο κλειδί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d["x"] = 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{'x': 5, 'y': 2}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άλλαξε το x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d["z"] = d["x"] + d["y"]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{'x': 5, 'y': 2, 'z': 7}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5 + 2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del d["y"]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{'x': 5, 'z': 7}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έφυγε το y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print(len(d))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δύο κλειδιά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90688" y="2473325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583053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παγίδα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912237"/>
            <a:ext cx="33741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d["x"] = 5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δεν φτιάχνει δεύτερο x.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Αλλάζει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υπάρχον.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ΤΕΧΝΙΚΗ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Γράφε ολόκληρο το λεξικό σε κάθε γραμμή, όπως με τις λίστες.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8 ΑΠΟ 12 ·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Περνάω από όλο το λεξικό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 · ΤΑ ΚΛΕΙΔΙΑ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075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075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89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"καφές"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"τσάι"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καφές 2.5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τσάι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 · ΚΛΕΙΔΙ ΚΑΙ ΤΙΜΗ ΜΑΖΙ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700784"/>
            <a:ext cx="5257800" cy="9083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36576" cy="9083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010912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prices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f"{item}: {price:.2f}€"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καφές: 2.50€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τσάι: 2.00€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05328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1505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for item in prices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44240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for σε λεξικό δίνει 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κλειδιά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Την τιμή την παίρνεις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prices[item]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005328"/>
            <a:ext cx="5257800" cy="11887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1505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.items()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4424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ζευγάρια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(κλειδί, τιμή). Στο for τα μοιράζεις σε δύο μεταβλητές, όπως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x, y = point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ΑΛΦΑΒΗΤΙΚΑ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for item in sorted(prices):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περνά τα κλειδιά με αλφαβητική σειρά.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9 ΑΠΟ 12 · ΤΙΜΕΣ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Άθροισμα, μέσος όρος, ο καλύτερος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61872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grades = {"Άννα": 17, "Νίκος": 9, "Ελένη": 15}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6949440" cy="1673352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2286000"/>
                <a:gridCol w="14630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ΓΡΆΦΕΙΣ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ΠΑΊΡΝΕΙΣ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ΤΙ ΕΊΝΑΙ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len(grades)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πόσα κλειδιά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grades.values()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17, 9, 15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μόνο οι τιμές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sum(grades.values())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άθροισμα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max(grades.values())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 μεγαλύτερος βαθμός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59359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ΠΟΙΟΣ ΕΧΕΙ ΤΟΝ ΜΕΓΑΛΥΤΕΡΟ;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77056"/>
            <a:ext cx="694944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77056"/>
            <a:ext cx="36576" cy="12435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86784"/>
            <a:ext cx="670255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"Καλύτερος/η:"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Καλύτερος/η: Άννα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0688" y="1691640"/>
            <a:ext cx="370332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801368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130552"/>
            <a:ext cx="337413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sum(grades.values()) / len(grades)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→ 13.67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2566162"/>
            <a:ext cx="3703320" cy="107823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675890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καλύτερος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005074"/>
            <a:ext cx="33741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Κρατάς σε μια μεταβλητή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best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όνομα του καλύτερου ως τώρα και το αλλάζεις όταν βρεις μεγαλύτερο βαθμό.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max(grades.values()) δίνει τον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βαθμό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(17). Για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όνομα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χρειάζεσαι τον βρόχο.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10 ΑΠΟ 12 · ΜΕΤΡΗΤΗΣ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Μετράω πόσες φορές με λεξικό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10 ·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 · ΜΕ IF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17465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17465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votes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"Γ"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votes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{'Α': 3, 'Β': 1, 'Γ': 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 · ΤΟ ΙΔΙΟ ΜΕ GET, ΣΕ ΜΙΑ ΓΡΑΜΜΗ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700784"/>
            <a:ext cx="5257800" cy="1075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36576" cy="1075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010912" cy="893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votes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{'Α': 3, 'Β': 1, 'Γ': 1}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75888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8561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σκέφτεται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0657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Πρώτη φορά που βλέπω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"Α"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;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Το έχω ξαναδεί;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+1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675888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78561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counts.get(v, 0) + 1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«Πόσες φορές το έχω δει ως τώρα (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αν πρώτη φορά)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συν 1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». Διάλεξε όποια μορφή καταλαβαίνεις.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ΠΑΝΤΟΥ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Ψήφοι, γράμματα μιας λέξης, λέξεις ενός κειμένου, προϊόντα που πουλήθηκαν: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ίδιο μοτίβο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11 ΑΠΟ 12 · ΓΕΜΙΣΜΑ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Γεμίζω το λεξικό από τον χρήστη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12 ·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31181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31181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2935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"Όνομα: 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break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"Τηλέφωνο: 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"επαφές"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f"{name}: {phone[name]}"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Όνομα: Νίκος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Τηλέφωνο: 6972222222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Όνομα: Άννα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Τηλέφωνο: 6971111111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Όνομα: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2 επαφές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Άννα: 6971111111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Νίκος: 6972222222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Άδειο λεξικό πριν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phone = {}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μπαίνει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πριν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τον βρόχο, όπως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[]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στις λίστες.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29184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0157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while True + 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3075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Ο χρήστης πατά σκέτο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Enter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στο όνομα για να σταματήσει (Μάθημα 3, βήμα 10).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336798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 γραμμή για αποθήκευση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75710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phone[name] = input(…)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το όνομα γίνεται κλειδί, το τηλέφωνο τιμή.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ΠΡΟΣΟΧΗ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Αν δώσεις ξανά το ίδιο όνομα, το παλιό τηλέφωνο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αντικαθίσταται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(βήμα 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12 ΑΠΟ 12 · ΛΕΞΙΚΟ ΜΕ ΛΙΣΤΕΣ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Κάθε κλειδί, μια λίστα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7980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7980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2615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[9, 11, 8]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ένας βαθμός ακόμα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"Μαρία"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νέος μαθητής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round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Άννα 17.5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Νίκος 9.33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Μαρία 14.0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Ποιο είναι ποιο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Κλειδί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= όνομα μαθητή.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Τιμή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=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λίστα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τους βαθμούς του.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29184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0157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Σε μια λίστα, ό,τι ξέρεις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3075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grades["Άννα"]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λίστα. Κάνεις ό,τι έκανες στο Μάθημα 3: append, sum, len, [0].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336798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Νέος μαθητής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75710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Του δίνεις λίστα με τον πρώτο βαθμό: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grades["Μαρία"] = [14]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 ΩΡΑΙΑ ΕΞΟΔΟ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Με f-string: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f"{name}: {avg:.2f}"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→ Νίκος: 9.33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ΣΤΟ ΧΑΡΤΙ 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Ποια δομή ταιριάζει;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8229600" cy="1929384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554480"/>
                <a:gridCol w="2286000"/>
                <a:gridCol w="26517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ΔΟΜΉ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ΓΡΆΦΕΤΑΙ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ΤΗ ΘΈΛΩ ΌΤΑΝ…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ΠΑΡΆΔΕΙΓΜΑ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λίστα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[1, 2, 2]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μετράει η σειρά και αλλάζει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βαθμοί που δίνει ο χρήστης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πλειάδα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(3, 4)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τιμές που πάνε μαζί, δεν αλλάζουν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θέση (x, y), χρώμα RGB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σύνολο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{1, 2}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με νοιάζει μόνο «υπάρχει ή όχι;»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διαφορετικοί επισκέπτες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λεξικό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{"Άννα": 17}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ψάχνω με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όνομα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(κλειδί)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όνομα → τηλέφωνο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529584"/>
            <a:ext cx="6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ΤΙ ΘΑ ΔΙΑΛΕΓΕΣ; · ΛΥΣΗ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803904"/>
          <a:ext cx="9875520" cy="1600200"/>
        </p:xfrm>
        <a:graphic>
          <a:graphicData uri="http://schemas.openxmlformats.org/drawingml/2006/table">
            <a:tbl>
              <a:tblPr firstRow="0" bandRow="0"/>
              <a:tblGrid>
                <a:gridCol w="4572000"/>
                <a:gridCol w="1554480"/>
                <a:gridCol w="37490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ΠΕΡΊΠΤΩΣΗ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ΔΙΑΛΈΓΩ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α) Τα διαφορετικά hashtags σε 1.000 posts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σύνολο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τα διπλά φεύγουν μόνα τους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β) Ο βαθμός κάθε μαθητή, από το όνομα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λεξικό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όνομα → βαθμός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γ) Η σειρά των πελατών σε μια ουρά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λίστα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σειρά μετράει, μπαίνουν και βγαίνουν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δ) Πόσες φορές λέγεται κάθε λέξη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λεξικό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λέξη → πλήθος (μετρητής)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Η ΕΡΩΤΗΣΗ ΠΟΥ ΑΠΟΦΑΣΙΖΕΙ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θέση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το ψάχνω; → λίστα. 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όνομα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; → λεξικό. Μόνο «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υπάρχει;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» → σύνολο.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17 ασκήσεις, βήμα-βήμα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5394960" cy="3858768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10515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Μοναδικοί επισκέπτες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Συλλογή αυτοκόλλητων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Δύο μαθήματα: κοινά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Τιμοκατάλογος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Υπάρχει στον κατάλογο;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Αποθήκη: βάζω, αλλάζω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Αποθήκη: διαγράφω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Όλος ο τιμοκατάλογος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Μέσος όρος και καλύτερος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417320"/>
          <a:ext cx="5257800" cy="3465576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9144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Ψηφοφορία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 μετρητής γραμμάτων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Γέμισε τον κατάλογο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Λεξικό με λίστες βαθμών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Αφαίρεση διπλοτύπων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6, 21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Συχνότητα λέξεων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16, 22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Τηλεφωνικός κατάλογος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Ο στόχος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Ονόματα και συχνότητες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Για το σπίτι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16, 17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Εργαστήριο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Μάθημα 4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Κάθε άσκηση έχει το «📖 Στις διαφάνειες» που ανοίγει κατευθείαν τη σωστή διαφάνεια.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ΔΥΣΚΟΛΟ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Αφαίρεση διπλοτύπων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λίστα emails έχει διπλές εγγραφές (και μία με κεφαλαία). Φτιάξε λίστα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χωρίς διπλά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που κρατά τη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σειρά εγγραφής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Εμφάνισε πόσα ήταν, πόσα έμειναν και τη λίστα.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3146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05786"/>
            <a:ext cx="6035040" cy="20665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05786"/>
            <a:ext cx="36576" cy="20665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15514"/>
            <a:ext cx="5788152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emails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"a@x.gr"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"b@y.gr"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"A@x.gr"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"c@z.gr"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"b@y.gr"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ordered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emails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lower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A@x.gr → a@x.gr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seen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ordered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emails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"→"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ordered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ordered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288" y="2605786"/>
            <a:ext cx="4617720" cy="5425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76288" y="2605786"/>
            <a:ext cx="36576" cy="5425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15514"/>
            <a:ext cx="4370832" cy="359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5 → 3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['a@x.gr', 'b@y.gr', 'c@z.gr']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3285490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39521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Γιατί όχι σκέτο set(emails);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724402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set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χάνει τη σειρά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Το seen θυμάται τι είδαμε, η ordered κρατά τη σειρά.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4330446"/>
            <a:ext cx="461772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440174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ποια βήματα;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69358"/>
            <a:ext cx="428853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add, in · Μάθημα 3: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append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ΓΙΑΤΙ .lower()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Κάνει όλα τα γράμματα πεζά, ώστε το A@x.gr να μετράει ίδιο με το a@x.gr.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ΔΥΣΚΟΛΟ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Συχνότητα λέξεων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χρήστης γράφει μια πρόταση. Εμφάνισε πόσες φορές λέγεται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κάθε λέξη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(αλφαβητικά) και ποια είναι η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πιο συχνή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Κεφαλαία και πεζά μετράνε ίδια.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3146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05786"/>
            <a:ext cx="6035040" cy="24094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05786"/>
            <a:ext cx="36576" cy="24094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15514"/>
            <a:ext cx="5788152" cy="2226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"Κείμενο: 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lower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words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split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sz="9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σπάει σε λέξεις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words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f"{w}: {counts[w]}"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"Πιο συχνή:"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counts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best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288" y="2605786"/>
            <a:ext cx="4617720" cy="12512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76288" y="2605786"/>
            <a:ext cx="36576" cy="12512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15514"/>
            <a:ext cx="437083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Κείμενο: Το παιδί και το σκυλί και το γατί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γατί: 1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και: 2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παιδί: 1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σκυλί: 1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το: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Πιο συχνή: το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3994150"/>
            <a:ext cx="461772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10387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ποια βήματα;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433062"/>
            <a:ext cx="428853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μετρητής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8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for, sorted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9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ο καλύτερος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ΔΥΟ ΕΡΓΑΛΕΙΑ ΚΕΙΜΕΝΟΥ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.lower()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όλα πεζά, ώστε «Το» = «το».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.split()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σπάει το κείμενο σε λίστα λέξεων.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Ο ΣΤΟΧΟΣ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Τηλεφωνικός κατάλογος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6035040" cy="37124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371246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788152" cy="3529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"\n1.Προσθήκη 2.Αναζήτηση 3.Διαγραφή 4.Όλοι 0.Έξοδος"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"Επιλογή: 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"1"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"Όνομα: 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"Τηλέφωνο: 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"2"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"Όνομα: 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"Δεν βρέθηκε"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"3"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"Όνομα: 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del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"Διαγράφηκε"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"Δεν βρέθηκε"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"4"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f"{name}: {phone[name]}"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"0"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break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"Λάθος επιλογή"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700784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10512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σκελετός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39696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μενού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while True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του Μαθήματος 2. Το λεξικό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phone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η «αποθήκη».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2745740"/>
            <a:ext cx="461772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85546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ποια βήματα;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84652"/>
            <a:ext cx="428853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6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προσθήκη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5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get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7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del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8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for, sorted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3620262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729990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Δοκίμασε «κακές» εισόδους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59174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Όνομα που δεν υπάρχει, επιλογή 9. Το πρόγραμμα δεν πρέπει να «σκάει».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ΠΡΟΒΛΗΜΑ ΠΟΥ ΜΕΝΕΙ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Μόλις κλείσει το πρόγραμμα, οι επαφές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χάνονται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Την επόμενη φορά: αποθήκευση σε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αρχείο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ΣΥΝΟΨΗ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κρατάμε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6949440" cy="3694176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3931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ΘΈΛΩ ΝΑ…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ΓΡΆΦΩ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βγάλω τα διπλά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set(λίστα)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βάλω σε σύνολο / δω αν υπάρχει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s.add(x) · x in 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κοινά · όλα · μόνο στο a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a &amp; b · a | b · a - 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φτιάξω λεξικό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 = {"καφές": 2.5}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πάρω μια τιμή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d["καφές"] · d.get(k, "—")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προσθέσω ή αλλάξω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d["τσάι"] = 2.0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διαγράψω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del d["τσάι"]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περάσω από όλα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for k, v in d.items():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μετρήσω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c[x] = c.get(x, 0) + 1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90688" y="1417320"/>
            <a:ext cx="37033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527048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4 δομές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856232"/>
            <a:ext cx="33741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λίστα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[ ]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πλειάδα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 )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σύνολο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{ }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λεξικό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{κλειδί: τιμή}. Τώρα τις ξέρεις όλες!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688" y="2462276"/>
            <a:ext cx="3703320" cy="107823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572004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Επόμενη φορά · Δευ 2/11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901188"/>
            <a:ext cx="33741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Αρχεία και εξαιρέσεις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ο κατάλογος θα αποθηκεύεται σε αρχείο, και τα λάθη του χρήστη δεν θα «ρίχνουν» το πρόγραμμα.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 ΤΟ ΣΠΙΤΙ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Άσκηση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17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στο εργαστήριο: ονόματα μέχρι κενή γραμμή και πόσες φορές το καθένα (βήματα 10–11).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Μάθημα 4 — Σύνολα και λεξικά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2026-10-11T20:33:28Z</dcterms:created>
  <dcterms:modified xsi:type="dcterms:W3CDTF">2026-10-11T20:33:28Z</dcterms:modified>
</cp:coreProperties>
</file>