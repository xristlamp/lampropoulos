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EK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4BD8"/>
          </a:solidFill>
          <a:ln w="6350">
            <a:solidFill>
              <a:srgbClr val="2F4BD8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274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826496" y="2468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ΣΑΕΚ Γλυφάδας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&amp; Pygame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03920" y="6419088"/>
            <a:ext cx="3154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Λαμπρόπουλος Χρήστος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ΜΑΘΗΜΑ 4 ΑΠΟ 15 · ΥΠΟΕΝΟΤΗΤΑ 2.3.Γ.2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12064" y="23317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Σύνολα και λεξικά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Μοναδικά στοιχεία και αναζήτηση με «κλειδί»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Θεωρία + 3 ασκήσεις + 3 προγράμματα με λύσεις          Διάρκεια: 4 ώρες (3η–6η)          22 διαφάνειες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526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Προγραμματισμός Εφαρμογών Διαδικτύου &amp; Παιχνιδιών (Python, Pygame) · Γ΄ εξάμηνο · Δευτέρα 26/10/2026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ΣΤΌΧΟΙ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θα ξέρεις στο τέλος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52144" y="1463040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χρησιμοποιείς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σύνολα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(set) για να κρατάς μόνο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μοναδικά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στοιχεία.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8653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52144" y="1847088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κάνεις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ένωση, τομή και διαφορά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συνόλων.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24942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2231136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φτιάχνεις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λεξικά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(dict) και να βρίσκεις μια τιμή από το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κλειδί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της.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26334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2615184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διατρέχεις λεξικό με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items()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να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μετράς συχνότητες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0175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2999232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μετατρέπεις μια δομή σε άλλη: λίστα, πλειάδα, σύνολο, λεξικό.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401568"/>
            <a:ext cx="45720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4015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3383280"/>
            <a:ext cx="9820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Να διαλέγεις </a:t>
            </a:r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δομή</a:t>
            </a:r>
            <a:pPr indent="0" marL="0">
              <a:buNone/>
            </a:pPr>
            <a:r>
              <a:rPr lang="en-US" sz="13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ταιριάζει σε κάθε πρόβλημα.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092708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08736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Πώς είναι οργανωμένο το 4ωρο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10597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Ώρες 1–2: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σύνολα και λεξικά με live coding.  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Ώρες 3–4: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εργαστήριο σε ζευγάρια — αφαίρεση διπλοτύπων, συχνότητα λέξεων και στο τέλος ένας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τηλεφωνικός κατάλογος με μενού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ΣΎΝΔΕΣΗ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τις λίστες και τις πλειάδες της προηγούμενης φοράς, σήμερα ολοκληρώνουμε τις τέσσερις βασικές δομές δεδομένων της Python.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ΖΈΣΤΑΜΑ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Θυμάσαι από την προηγούμενη φορά;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658368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65836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Πέντε γρήγορες ερωτήσεις, 5 λεπτά. Τι δίνει κάθε έκφραση;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2402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  <a:gridCol w="2011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ΈΚΦΡΑΣΗ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ΓΙΑΤΊ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len([1, 2, 3])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πλήθος στοιχείων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[10, 20, 30][-1]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 τελευταίο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2] + [3]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ένωση λιστών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(3, 4)[0]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πλειάδα: ίδιοι δείκτες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[x * 2 for x in [1, 2, 3]]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[2, 4, 6]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comprehension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90688" y="2514600"/>
            <a:ext cx="3703320" cy="1828800"/>
          </a:xfrm>
          <a:prstGeom prst="roundRect">
            <a:avLst>
              <a:gd name="adj" fmla="val 3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26243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αυτά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2953512"/>
            <a:ext cx="33741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λίστες βρίσκουν στοιχεία με τη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θέση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τους. Σήμερα θα δούμε δομές που δουλεύουν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 θέσεις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με μοναδικότητα (σύνολο) και με κλειδί (λεξικό).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ΘΥΜΉΣΟΥ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πλειάδα (x, y) δεν αλλάζει. Θα τη χρειαστούμε ξανά σήμερα, ως κλειδί λεξικού και στο items().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ΤΟ ΠΡΌΒΛΗΜΑ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ερωτήσεις που η λίστα απαντά άβολα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«ΠΟΙΟ ΕΊΝΑΙ ΤΟ ΤΗΛΈΦΩΝΟ ΤΟΥ ΝΊΚΟΥ;» · ΜΕ ΛΊΣΤΕΣ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9048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ΜΕ ΛΕΞΙΚΌ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102412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91640"/>
            <a:ext cx="36576" cy="1024128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801368"/>
            <a:ext cx="5074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"6971111111"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"6972222222"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691640"/>
            <a:ext cx="5303520" cy="102412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691640"/>
            <a:ext cx="36576" cy="102412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801368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"6971111111"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"6972222222"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97180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«ΠΌΣΟΙ ΔΙΑΦΟΡΕΤΙΚΟΊ ΕΠΙΣΚΈΠΤΕΣ;» · ΜΕ ΛΊΣΤΑ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297180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ΜΕ ΣΎΝΟΛΟ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" y="3246120"/>
            <a:ext cx="534924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3246120"/>
            <a:ext cx="36576" cy="1181405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355848"/>
            <a:ext cx="507492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0488" y="3246120"/>
            <a:ext cx="530352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0488" y="3246120"/>
            <a:ext cx="36576" cy="118140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355848"/>
            <a:ext cx="502920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Η ΙΔΈΑ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Κάθε δομή είναι φτιαγμένη για ένα είδος ερώτησης. Η σωστή επιλογή κάνει τον κώδικα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μικρότερο και γρηγορότερο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ΣΎΝΟΛΑ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set: κάθε στοιχείο μία φορά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94767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94767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"κόκκινο"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"πράσινο"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"μπλε"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([1,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 2, 3}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"banana"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ΌΧΙ {}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5727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Μοναδικά στοιχεία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01952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 διπλότυπα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εξαφανίζονται αυτόματα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set(λίστα) είναι ο πιο γρήγορος τρόπος να τα αφαιρέσεις.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2788920"/>
            <a:ext cx="530352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289864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Χωρίς σειρά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227832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Δεν έχει θέσεις: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colors[0]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TypeError. Και όταν τυπώνεται, η σειρά μπορεί να είναι οποιαδήποτε.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0488" y="4114800"/>
            <a:ext cx="5303520" cy="1325880"/>
          </a:xfrm>
          <a:prstGeom prst="roundRect">
            <a:avLst>
              <a:gd name="adj" fmla="val 4138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55080" y="42245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παγίδα του {}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553712"/>
            <a:ext cx="4974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{}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σκέτο είναι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κενό λεξικό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όχι σύνολο. Για κενό σύνολο γράφεις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534924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72160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σύνταξη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50792"/>
            <a:ext cx="5020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Άγκιστρα { }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με στοιχεία χωρισμένα με κόμμα — σαν τα σύνολα των μαθηματικών.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ΠΟΎ ΧΡΗΣΙΜΕΎΕΙ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Μοναδικοί επισκέπτες, tags χωρίς επαναλήψεις, λέξεις που χρησιμοποιήθηκαν σε ένα κείμενο.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ΠΡΆΞΕΙΣ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Ένωση, τομή, διαφορά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0927080" cy="55229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55229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1065276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"Ελένη"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έκαναν το μάθημα Python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"Μαρία"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έκαναν το μάθημα Java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48840"/>
          <a:ext cx="10927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3749040"/>
                <a:gridCol w="3246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ΠΡΆΞΗ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ΣΎΜΒΟΛΟ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ΑΠΑΝΤΆ ΣΤΟ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ένωση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| java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Άννα, Νίκος, Ελένη, Μαρία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ποιοι έκαναν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έστω ένα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τομή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&amp; java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Νίκος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ποιοι έκαναν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και τα δύο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διαφορά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 java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Άννα, Ελένη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ποιοι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Python;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συμμετρική διαφορά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^ java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Άννα, Ελένη, Μαρία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ποιοι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ένα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από τα δύο;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062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1596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Όπως στα μαθηματικά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645152"/>
            <a:ext cx="5020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Ένωση ∪, τομή ∩, διαφορά. Η Python απλώς χρησιμοποιεί τα σύμβολα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^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 πληκτρολογίου.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0488" y="42062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43159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σειρά μετράει μόνο στη διαφορά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4645152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- java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≠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- python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δεύτερο δίνει μόνο τη Μαρία.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ΣΗΜΕΊΩΣΗ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Στην οθόνη η σειρά των ονομάτων μπορεί να βγει διαφορετική. Το σύνολο δεν κρατά σειρά — μετράει μόνο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στοιχεία έχει.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ΜΈΘΟΔΟΙ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Αλλαγές σε σύνολο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81051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81051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 2, 3}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υπάρχει ήδη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 2, 3}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δεν υπάρχει: τίποτα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KeyError: 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463040"/>
          <a:ext cx="5303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83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ΜΈΘΟΔΟΣ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ΤΙ ΚΆΝΕΙ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.add(x)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προσθέτει (αν δεν υπάρχει ήδη)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.remove(x)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αφαιρεί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σφάλμα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αν λείπει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.discard(x)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αφαιρεί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σιωπηλά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αν λείπει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in 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υπάρχει;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πλήθος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0488" y="3657600"/>
            <a:ext cx="5303520" cy="1325880"/>
          </a:xfrm>
          <a:prstGeom prst="roundRect">
            <a:avLst>
              <a:gd name="adj" fmla="val 413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37673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append δεν υπάρχει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4096512"/>
            <a:ext cx="4974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«append» σημαίνει «στο τέλος». Ένα σύνολο δεν έχει τέλος, γι' αυτό η μέθοδος λέγεται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352044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63016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in είναι αστραπή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959352"/>
            <a:ext cx="5020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 λίστα 1.000.000 στοιχείων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ψάχνει ένα-ένα. Σε σύνολο βρίσκει την απάντηση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αμέσως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ΠΌΤΕ DISCARD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Όταν δεν σε νοιάζει αν το στοιχείο υπήρχε. Αν πρέπει να υπάρχει και η απουσία του είναι λάθος, θέλεις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ΆΣΚΗΣΗ 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Πράξεις συνόλων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86868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86868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τα δύο σύνολα δίπλα, βρες τι δίνει κάθε έκφραση. Πρώτα στο χαρτί, μετά στον υπολογιστή.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6208" y="1417320"/>
            <a:ext cx="5257800" cy="55229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1417320"/>
            <a:ext cx="36576" cy="552298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527048"/>
            <a:ext cx="498348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{1,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{3,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5}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4688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103120"/>
                <a:gridCol w="2011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ΈΚΦΡΑΣΗ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ΣΧΌΛΙΟ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| 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3, 4, 5}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όλα, μία φορά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&amp; 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{3, 4}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κοινά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- 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στο 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- 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{5}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στο 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^ 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5}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 στα κοινά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set([3, 1, 3])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3}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χωρίς διπλότυπα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len(set("Mississippi"))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M, i, s, p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7790688" y="2743200"/>
            <a:ext cx="3703320" cy="1828800"/>
          </a:xfrm>
          <a:prstGeom prst="roundRect">
            <a:avLst>
              <a:gd name="adj" fmla="val 3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28529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Έλεγχος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3182112"/>
            <a:ext cx="33741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| b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πρέπει να έχει όσα στοιχεία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- b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συν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&amp; b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συν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- a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2 + 2 + 1 =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✓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ΤΕΧΝΙΚΉ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Ζωγράφισε δύο κύκλους (διάγραμμα Venn) και γράψε κάθε αριθμό στη σωστή περιοχή. Οι απαντήσεις βγαίνουν με μια ματιά.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ΛΕΞΙΚΆ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dict: κλειδί → τιμή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79039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79039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570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"6971111111"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"6972222222"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6971111111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"Μαρία"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KeyError: 'Μαρία'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"Μαρία"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"άγνωστο"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άγνωστο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5727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Σαν ένα πραγματικό λεξικό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01952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Ψάχνεις τη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λέξη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(κλειδί) και βρίσκεις τον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ορισμό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(τιμή). Δεν χρειάζεται να ξέρεις σε ποια θέση είναι.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297180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30815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σύνταξη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410712"/>
            <a:ext cx="49743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 κλειδί: τιμή, κλειδί: τιμή }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άγκιστρα, με άνω-κάτω τελεία ανάμεσα σε κλειδί και τιμή.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0488" y="434340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55080" y="44531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 ή get();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782312"/>
            <a:ext cx="49743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]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βγάζει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KeyError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αν λείπει το κλειδί.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επιστρέφει None ή την τιμή που του δίνεις.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47872"/>
            <a:ext cx="534924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657600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κενό λεξικό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86784"/>
            <a:ext cx="5020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Γράφεται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{}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ή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Γεμίζει σιγά-σιγά, όπως η λίστα με το append.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ΣΤΟ ΔΙΑΔΊΚΤΥΟ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Σχεδόν όλα τα δεδομένα που στέλνουν οι ιστοσελίδες (JSON) είναι λεξικά. Θα τα συναντήσουμε ξανά στις εφαρμογές web.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ΑΛΛΑΓΈΣ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Προσθήκη, αλλαγή, διαγραφή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81051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81051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"μήλα"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"αχλάδια"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"κεράσια"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νέο κλειδί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"μήλα"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αλλαγή τιμής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"αχλάδια"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τώρα 10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"κεράσια"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"μήλα"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 = 8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{'αχλάδια': 10} 1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46304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ΕΝΤΟΛΉ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ΤΙ ΚΆΝΕΙ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d[k] = 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προσθέτει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ή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αλλάζει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 d[k]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διαγράφει το κλειδί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d.pop(k)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διαγράφει και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επιστρέφει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 in 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υπάρχει το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κλειδί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len(d)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πλήθος ζευγαριών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0488" y="3657600"/>
            <a:ext cx="5303520" cy="1325880"/>
          </a:xfrm>
          <a:prstGeom prst="roundRect">
            <a:avLst>
              <a:gd name="adj" fmla="val 413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37673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Ίδια εντολή, δύο ρόλοι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4096512"/>
            <a:ext cx="4974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d[k] = v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φτιάχνει το κλειδί αν δεν υπάρχει, αλλιώς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αντικαθιστά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την παλιά τιμή.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3611880"/>
            <a:ext cx="534924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2160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in ψάχνει κλειδιά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050792"/>
            <a:ext cx="5020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"μήλα" in stock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ρωτάει για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κλειδί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Για τιμή γράφεις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in stock.values()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ΠΡΟΣΟΧΉ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stock["αχλάδια"] += 6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δουλεύει μόνο αν το κλειδί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υπάρχει ήδη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Αλλιώς KeyError — θα δούμε τη λύση σε λίγο.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ΔΙΆΣΧΙΣΗ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πάνω σε λεξικό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0927080" cy="395021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395021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1065276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"Ελένη"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15}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65960"/>
          <a:ext cx="10927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  <a:gridCol w="4526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ΓΡΆΦΕΙΣ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ΠΑΊΡΝΕΙΣ ΣΕ ΚΆΘΕ ΓΎΡΟ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ΠΑΡΆΔΕΙΓΜΑ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k in grades: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τα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κλειδιά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Άννα, Νίκος, Ελένη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v in grades.values():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τις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τιμές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17, 9, 15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k, v in grades.items():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ζευγάρια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(κλειδί, τιμή)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("Άννα", 17), …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429000"/>
            <a:ext cx="534924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429000"/>
            <a:ext cx="36576" cy="1181405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538728"/>
            <a:ext cx="507492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f"{name}: {g}"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f"Μ.Ο.: {avg:.2f}"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Άννα: 17 ... Μ.Ο.: 13.67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90488" y="3429000"/>
            <a:ext cx="5303520" cy="1188720"/>
          </a:xfrm>
          <a:prstGeom prst="roundRect">
            <a:avLst>
              <a:gd name="adj" fmla="val 461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353872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items() δίνει πλειάδες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3867912"/>
            <a:ext cx="4974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Και τις «ξεπακετάρουμε» σε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name, g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όπως το unpacking της προηγούμενης φοράς.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90488" y="475488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486460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Κρατά σειρά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5193792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λεξικό θυμάται τη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σειρά εισαγωγής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των κλειδιών.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ΤΑΞΙΝΌΜΗΣΗ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name in sorted(grades):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διατρέχει τα κλειδιά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αλφαβητικά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ΚΑΝΌΝΕΣ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επιτρέπεται για κλειδί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108960"/>
                <a:gridCol w="3246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ΚΏΔΙΚΑΣ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ΑΠΟΤΈΛΕΣΜΑ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ΓΙΑΤΊ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1, "a":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κλειδιά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μοναδικά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: κερδίζει το τελευταίο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{(37.98, 23.73): "Αθήνα"}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εντάξει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πλειάδα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δεν αλλάζει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→ μπορεί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{[1, 2]: "x"}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TypeError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λίστα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αλλάζει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→ δεν μπορεί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{"Άννα": [17, 15, 18]}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εντάξει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τιμή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 μπορεί να είναι οτιδήποτε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3520440"/>
            <a:ext cx="534924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630168"/>
            <a:ext cx="5020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Κλειδιά: μόνο αμετάβλητα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59352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Αριθμοί, κείμενα, πλειάδες. Αν το κλειδί άλλαζε, το λεξικό δεν θα μπορούσε να το ξαναβρεί.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0488" y="3520440"/>
            <a:ext cx="5303520" cy="1463040"/>
          </a:xfrm>
          <a:prstGeom prst="roundRect">
            <a:avLst>
              <a:gd name="adj" fmla="val 375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3630168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Τιμές: οτιδήποτε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3959352"/>
            <a:ext cx="4974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Αριθμοί, κείμενα, λίστες, ακόμα και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άλλα λεξικά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Έτσι χτίζονται σύνθετα δεδομένα.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ΝΑ ΘΥΜΆΣΑΙ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Εδώ φαίνεται γιατί υπάρχει η πλειάδα: μια θέση (x, y) μπορεί να γίνει κλειδί, μια λίστα [x, y] όχι.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ΆΣΚΗΣΗ Β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Βήμα-βήμα: τι έχει το λεξικό;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86868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86868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5084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Γράψε πώς είναι το λεξικό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μετά από κάθε γραμμή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Τι τυπώνει στο τέλος;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68880"/>
            <a:ext cx="5394960" cy="1181405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468880"/>
            <a:ext cx="36576" cy="1181405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578608"/>
            <a:ext cx="5120640" cy="9619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"z"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0))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417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6208" y="1691640"/>
          <a:ext cx="5257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ΓΡΑΜΜΉ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{"x":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{'x':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d["y"] = 2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{'x': 1, 'y':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d["x"] = 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{'x': 5, 'y':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d["z"] = ...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{'x': 5, 'y': 2, 'z': 7}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 d["y"]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{'x': 5, 'z': 7}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36208" y="3749040"/>
            <a:ext cx="525780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858768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Τυπώνει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187952"/>
            <a:ext cx="4928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37033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81304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δύο λεπτομέρειες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142232"/>
            <a:ext cx="50657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d["x"] = 5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δεν φτιάχνει νέο κλειδί, αλλάζει το υπάρχον.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get("y", 0)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0 γιατί το y διαγράφηκε.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ΤΕΧΝΙΚΉ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Όπως με τις λίστες: μια γραμμή του πίνακα για κάθε εντολή. Το λεξικό το γράφεις ολόκληρο κάθε φορά.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ΜΟΤΊΒΟ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Μετράμε με λεξικό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349240" cy="133868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33868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074920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"abracadabra"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0488" y="1463040"/>
            <a:ext cx="5303520" cy="133868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0488" y="1463040"/>
            <a:ext cx="36576" cy="133868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1572768"/>
            <a:ext cx="5029200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{'a': 5, 'b': 2, 'r': 2,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'c': 1, 'd': 1}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926080"/>
            <a:ext cx="10927080" cy="1005840"/>
          </a:xfrm>
          <a:prstGeom prst="roundRect">
            <a:avLst>
              <a:gd name="adj" fmla="val 5455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3580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μαγική γραμμή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364992"/>
            <a:ext cx="10597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counts.get(ch, 0) + 1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«πάρε πόσες φορές το έχω δει ως τώρα —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αν είναι η πρώτη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και πρόσθεσε 1». Έτσι δεν βγαίνει ποτέ KeyError.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14800"/>
          <a:ext cx="67665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ΓΡΆΜΜΑ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COUNTS ΠΡΙΝ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COUNTS ΜΕΤΆ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1, 'b':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1, 'b':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{..., 'r':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1, ...}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2, ...}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7607808" y="4114800"/>
            <a:ext cx="3886200" cy="1508760"/>
          </a:xfrm>
          <a:prstGeom prst="roundRect">
            <a:avLst>
              <a:gd name="adj" fmla="val 3636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0" y="4224528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ίδιο με if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4553712"/>
            <a:ext cx="3557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ch in counts: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counts[ch] += 1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else: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counts[ch] = 1. Σωστό, αλλά μακρύτερο.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ΠΑΝΤΟΎ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Ψήφοι, λέξεις, προϊόντα που πουλήθηκαν, επισκέψεις ανά σελίδα: όλα είναι «μέτρησε πόσες φορές» — ίδιο μοτίβο.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ΣΎΝΘΕΤΑ ΔΕΔΟΜΈΝΑ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Λεξικό με λίστες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6035040" cy="1762963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63040"/>
            <a:ext cx="36576" cy="1762963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72768"/>
            <a:ext cx="5760720" cy="1543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[17,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"Νίκος"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[9,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8]}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"Άννα"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(20)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f"{name}: {avg:.2f}"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Άννα: 17.50   Νίκος: 9.33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76288" y="1463040"/>
            <a:ext cx="4617720" cy="1371600"/>
          </a:xfrm>
          <a:prstGeom prst="roundRect">
            <a:avLst>
              <a:gd name="adj" fmla="val 4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0" y="157276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επίπεδα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901952"/>
            <a:ext cx="4288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grades["Άννα"]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είναι μια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λίστα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Οπότε της κάνεις ό,τι κάνεις σε λίστα: append, sum, len.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76288" y="2971800"/>
            <a:ext cx="4617720" cy="1234440"/>
          </a:xfrm>
          <a:prstGeom prst="roundRect">
            <a:avLst>
              <a:gd name="adj" fmla="val 444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0" y="308152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Ποιο είναι ποιο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410712"/>
            <a:ext cx="4288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Κλειδί =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όνομα μαθητή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Τιμή =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λίστα βαθμών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383280"/>
            <a:ext cx="6035040" cy="1280160"/>
          </a:xfrm>
          <a:prstGeom prst="roundRect">
            <a:avLst>
              <a:gd name="adj" fmla="val 4286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493008"/>
            <a:ext cx="5705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Πρόσβαση σε ένα στοιχείο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22192"/>
            <a:ext cx="5705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grades["Νίκος"][0]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πρώτα το κλειδί του λεξικού, μετά ο δείκτης της λίστας.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76288" y="4343400"/>
            <a:ext cx="4617720" cy="1234440"/>
          </a:xfrm>
          <a:prstGeom prst="roundRect">
            <a:avLst>
              <a:gd name="adj" fmla="val 444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0" y="445312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Έτσι μοιάζει το JSON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82312"/>
            <a:ext cx="4288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Λεξικά με λίστες με λεξικά: η μορφή των δεδομένων του web.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ΠΡΑΚΤΙΚΉ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 ο μαθητής δεν υπάρχει ακόμα: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grades.setdefault("Μαρία", []).append(14)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φτιάχνει τη λίστα και προσθέτει.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ΜΕΤΑΤΡΟΠΈΣ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Από τη μία δομή στην άλλη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9456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ΓΡΆΦΕΙΣ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ΠΑΊΡΝΕΙΣ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ΤΎΠΟΣ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set([1, 1, 2])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sorted({3, 1, 2})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tuple([1, 2])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tuple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list("abc")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['a', 'b', 'c']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dict(zip(["a", "b"], [1, 2]))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1, 'b':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dict([("a", 1), ("b", 2)])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{'a': 1, 'b':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list(d.keys())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['a', 'b']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list(d.items())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[('a', 1), ('b', 2)]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56448" y="1463040"/>
            <a:ext cx="3337560" cy="1554480"/>
          </a:xfrm>
          <a:prstGeom prst="roundRect">
            <a:avLst>
              <a:gd name="adj" fmla="val 352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572768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κανόνας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901952"/>
            <a:ext cx="3008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όνομα του τύπου είναι και η συνάρτηση μετατροπής: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tuple()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156448" y="3154680"/>
            <a:ext cx="3337560" cy="1600200"/>
          </a:xfrm>
          <a:prstGeom prst="roundRect">
            <a:avLst>
              <a:gd name="adj" fmla="val 342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21040" y="3264408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Λεξικό από δύο λίστες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3593592"/>
            <a:ext cx="3008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zip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ζευγαρώνει κλειδιά και τιμές,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κάνει λεξικό.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ΓΙΑΤΊ SORTED ΚΙ ΌΧΙ LIST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list(σύνολο)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τα στοιχεία με τυχαία σειρά. Το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sorted(σύνολο)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δίνει λίστα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ταξινομημένη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ΣΎΓΚΡΙΣΗ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τέσσερις δομές μαζί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0927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2103120"/>
                <a:gridCol w="2103120"/>
                <a:gridCol w="2240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ΛΊΣΤΑ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ΠΛΕΙΆΔΑ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ΣΎΝΟΛΟ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91A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ΛΕΞΙΚΌ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Σύνταξη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{"a": 1}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Σειρά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 (εισαγωγής)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Διπλότυπα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 στα κλειδιά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Αλλάζει;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όχι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ναι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Πρόσβαση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x[0]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x[0]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μόνο 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x["a"]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Τυπική χρήση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σειρά στοιχείων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σταθερό «πακέτο»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μοναδικά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1B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αναζήτηση με όνομα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3D9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434840"/>
            <a:ext cx="1092708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54456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ερώτηση που αποφασίζει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873752"/>
            <a:ext cx="10597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θέση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τα ψάχνω; → λίστα / πλειάδα. Με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όνομα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→ λεξικό. Με μόνο «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υπάρχει ή όχι;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» → σύνολο.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ΣΥΝΔΥΑΣΜΟΊ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Στην πράξη τις συνδυάζουμε: λίστα από πλειάδες, λεξικό με λίστες, λεξικό από σύνολα.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ΆΣΚΗΣΗ Γ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Ποια δομή ταιριάζει;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82296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82296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α) Τα διαφορετικά hashtags που χρησιμοποιήθηκαν σε 1.000 posts.  β) Ο βαθμός κάθε μαθητή, βρίσκοντάς τον από το όνομα.  γ) Η σειρά με την οποία μπήκαν πελάτες σε ουρά.  δ) Μια ημερομηνία (ημέρα, μήνας, έτος).  ε) Πόσες φορές εμφανίζεται κάθε λέξη σε ένα κείμενο.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231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2697480"/>
            <a:ext cx="128016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697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· σύνολο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679192"/>
            <a:ext cx="899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Μας νοιάζουν μόνο τα </a:t>
            </a:r>
            <a:pPr indent="0" marL="0">
              <a:buNone/>
            </a:pPr>
            <a:r>
              <a:rPr lang="en-US" sz="12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μοναδικά</a:t>
            </a:r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τα διπλότυπα φεύγουν μόνα τους.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118104"/>
            <a:ext cx="128016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1181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 · λεξικό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975104" y="3099816"/>
            <a:ext cx="899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Αναζήτηση με </a:t>
            </a:r>
            <a:pPr indent="0" marL="0">
              <a:buNone/>
            </a:pPr>
            <a:r>
              <a:rPr lang="en-US" sz="12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όνομα</a:t>
            </a:r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όνομα → βαθμός.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538728"/>
            <a:ext cx="128016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5387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· λίστα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520440"/>
            <a:ext cx="899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Η </a:t>
            </a:r>
            <a:pPr indent="0" marL="0">
              <a:buNone/>
            </a:pPr>
            <a:r>
              <a:rPr lang="en-US" sz="12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σειρά</a:t>
            </a:r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μετράει και η ουρά αλλάζει (μπαίνουν, βγαίνουν).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959352"/>
            <a:ext cx="128016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39593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 · πλειάδα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975104" y="3941064"/>
            <a:ext cx="899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Τρεις τιμές που ανήκουν </a:t>
            </a:r>
            <a:pPr indent="0" marL="0">
              <a:buNone/>
            </a:pPr>
            <a:r>
              <a:rPr lang="en-US" sz="12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μαζί</a:t>
            </a:r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δεν αλλάζουν.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379976"/>
            <a:ext cx="1280160" cy="23774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37997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 · λεξικό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975104" y="4361688"/>
            <a:ext cx="899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Λέξη → πλήθος: το μοτίβο του </a:t>
            </a:r>
            <a:pPr indent="0" marL="0">
              <a:buNone/>
            </a:pPr>
            <a:r>
              <a:rPr lang="en-US" sz="12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μετρητή</a:t>
            </a:r>
            <a:pPr indent="0" marL="0">
              <a:buNone/>
            </a:pPr>
            <a:r>
              <a:rPr lang="en-US" sz="12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ΜΠΌΝΟΥΣ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Στο ε, πώς βρίσκεις πόσες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διαφορετικές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λέξεις έχει το κείμενο; →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len(counts)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ή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len(set(words))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1 · ΕΎΚΟΛΟ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Αφαίρεση διπλοτύπων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73152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73152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Μια λίστα με email εγγραφών έχει διπλές εγγραφές. Βρες πόσες είναι οι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μοναδικές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και φτιάξε λίστα χωρίς διπλότυπα που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κρατά τη σειρά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εγγραφής.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3317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6035040" cy="2622499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606040"/>
            <a:ext cx="36576" cy="2622499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715768"/>
            <a:ext cx="5760720" cy="2403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"a@x.gr"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"b@y.gr"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"a@x.gr"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"c@z.gr"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"b@y.gr"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γρήγορα, χωρίς σειρά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"→"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με τη σειρά εγγραφής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76288" y="2606040"/>
            <a:ext cx="4617720" cy="709574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76288" y="2606040"/>
            <a:ext cx="36576" cy="709574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40880" y="2715768"/>
            <a:ext cx="4343400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→ 3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['a@x.gr', 'b@y.gr',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'c@z.gr']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76288" y="3474720"/>
            <a:ext cx="4617720" cy="1097280"/>
          </a:xfrm>
          <a:prstGeom prst="roundRect">
            <a:avLst>
              <a:gd name="adj" fmla="val 50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358444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seen είναι σύνολο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3913632"/>
            <a:ext cx="4288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Γιατί 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σε σύνολο είναι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άμεσο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η λίστα θα έψαχνε ένα-ένα.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76288" y="4709160"/>
            <a:ext cx="4617720" cy="960120"/>
          </a:xfrm>
          <a:prstGeom prst="roundRect">
            <a:avLst>
              <a:gd name="adj" fmla="val 5714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48188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λόγος για δύο λύσεις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5148072"/>
            <a:ext cx="4288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set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χάνει τη σειρά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Αν τη θες, χρειάζεται βρόχος.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ΔΟΚΊΜΑΣΕ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Βάλε ένα email με κεφαλαία ("A@x.gr"). Μετράει ως διαφορετικό! Διόρθωση: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e.lower()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πριν τον έλεγχο.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2 · ΜΈΤΡΙΟ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Συχνότητα λέξεων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0927080" cy="73152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41148" cy="73152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10652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9928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χρήστης γράφει μια πρόταση. Εμφάνισε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πόσες φορές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εμφανίζεται κάθε λέξη (αλφαβητικά) και ποια είναι η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πιο συχνή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3317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ΛΎΣΗ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6035040" cy="2662733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606040"/>
            <a:ext cx="36576" cy="2662733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715768"/>
            <a:ext cx="5760720" cy="2443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"Κείμενο: 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f"{w}: {counts[w]}"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"Πιο συχνή:"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76288" y="2606040"/>
            <a:ext cx="4617720" cy="1338682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76288" y="2606040"/>
            <a:ext cx="36576" cy="1338682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40880" y="2715768"/>
            <a:ext cx="4343400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Κείμενο: Το παιδί και το σκυλί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και το γατί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γατί: 1   και: 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παιδί: 1  σκυλί: 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το: 3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Πιο συχνή: το 3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76288" y="4069080"/>
            <a:ext cx="4617720" cy="1554480"/>
          </a:xfrm>
          <a:prstGeom prst="roundRect">
            <a:avLst>
              <a:gd name="adj" fmla="val 3529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417880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Δύο νέα εργαλεία κειμένου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507992"/>
            <a:ext cx="4288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.lower()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κάνει όλα τα γράμματα πεζά, ώστε «Το» = «το».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.split()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σπάει το κείμενο σε λέξεις. Αναλυτικά στις συμβολοσειρές (23/11).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ΕΠΈΚΤΑΣΗ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Πόσες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διαφορετικές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λέξεις έχει το κείμενο; Μία γραμμή: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len(counts)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ΕΡΓΑΣΤΉΡΙΟ 3 · Ο ΣΤΌΧΟΣ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Τηλεφωνικός κατάλογος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6035040" cy="3907048"/>
          </a:xfrm>
          <a:prstGeom prst="rect">
            <a:avLst/>
          </a:prstGeom>
          <a:solidFill>
            <a:srgbClr val="FBFCFE"/>
          </a:solidFill>
          <a:ln w="9525">
            <a:solidFill>
              <a:srgbClr val="D3D9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36576" cy="3907048"/>
          </a:xfrm>
          <a:prstGeom prst="rect">
            <a:avLst/>
          </a:prstGeom>
          <a:solidFill>
            <a:srgbClr val="9A6B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5760720" cy="368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"\n1.Προσθήκη 2.Αναζήτηση 3.Διαγραφή 4.Όλοι 0.Έξοδος"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"Επιλογή: 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"Όνομα: 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"Τηλέφωνο: 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"Όνομα: 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"Δεν βρέθηκε"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"Όνομα: 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"Διαγράφηκε"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"Δεν βρέθηκε"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"4"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f"{name}: {phone[name]}"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"Λάθος επιλογή"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1B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76288" y="1371600"/>
            <a:ext cx="4617720" cy="1143000"/>
          </a:xfrm>
          <a:prstGeom prst="rect">
            <a:avLst/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76288" y="1371600"/>
            <a:ext cx="41148" cy="1143000"/>
          </a:xfrm>
          <a:prstGeom prst="rect">
            <a:avLst/>
          </a:prstGeom>
          <a:solidFill>
            <a:srgbClr val="2F4B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0" y="144475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ΕΚΦΏΝΗΣΗ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1664208"/>
            <a:ext cx="4306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Κατάλογος με μενού: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προσθήκη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αναζήτηση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διαγραφή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και </a:t>
            </a:r>
            <a:pPr indent="0" marL="0">
              <a:buNone/>
            </a:pPr>
            <a:r>
              <a:rPr lang="en-US" sz="115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εμφάνιση όλων</a:t>
            </a:r>
            <a:pPr indent="0" marL="0">
              <a:buNone/>
            </a:pPr>
            <a:r>
              <a:rPr lang="en-US" sz="115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(αλφαβητικά). Τρέχει μέχρι να δοθεί 0.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76288" y="2651760"/>
            <a:ext cx="4617720" cy="1234440"/>
          </a:xfrm>
          <a:prstGeom prst="roundRect">
            <a:avLst>
              <a:gd name="adj" fmla="val 4444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27614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σκελετός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090672"/>
            <a:ext cx="4288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μενού με while True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του 2ου μαθήματος, με ένα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λεξικό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αποθήκη.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6288" y="4023360"/>
            <a:ext cx="4617720" cy="1554480"/>
          </a:xfrm>
          <a:prstGeom prst="roundRect">
            <a:avLst>
              <a:gd name="adj" fmla="val 3529"/>
            </a:avLst>
          </a:prstGeom>
          <a:solidFill>
            <a:srgbClr val="F6EDD6"/>
          </a:solidFill>
          <a:ln w="12700">
            <a:solidFill>
              <a:srgbClr val="F6ED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4133088"/>
            <a:ext cx="4288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Το πρόβλημα που μένει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462272"/>
            <a:ext cx="4288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Μόλις κλείσει το πρόγραμμα,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οι επαφές χάνονται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Την επόμενη φορά θα τις αποθηκεύουμε σε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αρχείο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ΣΕ ΖΕΥΓΆΡΙΑ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Ο ένας γράφει τον κώδικα, ο άλλος τον δοκιμάζει με «κακές» εισόδους (όνομα που δεν υπάρχει, λάθος επιλογή). Μετά αλλάζετε ρόλους.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2F4B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 </a:t>
            </a:r>
            <a:pPr indent="0" marL="0">
              <a:buNone/>
            </a:pPr>
            <a:r>
              <a:rPr lang="en-US" sz="1000" spc="140" kern="0" dirty="0">
                <a:solidFill>
                  <a:srgbClr val="8A91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ΣΎΝΟΨΗ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Τι κρατάμε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11296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Σύνολο { }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39112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Μοναδικά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στοιχεία, χωρίς σειρά.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 &amp; - ^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ένωση, τομή, διαφορά. Κενό: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70832" y="1600200"/>
            <a:ext cx="3511296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35424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Λεξικό {k: v}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35424" y="2039112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Κλειδί → τιμή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d[k] για πρόσβαση,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ασφαλή, </a:t>
            </a:r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items()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για διάσχιση.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74736" y="1600200"/>
            <a:ext cx="3511296" cy="1737360"/>
          </a:xfrm>
          <a:prstGeom prst="roundRect">
            <a:avLst>
              <a:gd name="adj" fmla="val 3158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170992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Μετρητής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039112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counts[x] = counts.get(x, 0) + 1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το πιο χρήσιμο μοτίβο της ημέρας.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Τώρα ξέρεις και τις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τέσσερις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βασικές δομές: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λίστα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πλειάδα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σύνολο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λεξικό</a:t>
            </a:r>
            <a:pPr indent="0" marL="0">
              <a:buNone/>
            </a:pPr>
            <a:r>
              <a:rPr lang="en-US" sz="1500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Το μεγαλύτερο μέρος κάθε προγράμματος είναι η σωστή επιλογή ανάμεσά τους.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0927080" cy="1143000"/>
          </a:xfrm>
          <a:prstGeom prst="roundRect">
            <a:avLst>
              <a:gd name="adj" fmla="val 4800"/>
            </a:avLst>
          </a:prstGeom>
          <a:solidFill>
            <a:srgbClr val="E4E8FB"/>
          </a:solidFill>
          <a:ln w="12700">
            <a:solidFill>
              <a:srgbClr val="E4E8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Επόμενη φορά · Δευ 2/11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010912"/>
            <a:ext cx="10597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Αρχεία και εξαιρέσεις</a:t>
            </a:r>
            <a:pPr indent="0" marL="0">
              <a:buNone/>
            </a:pPr>
            <a:r>
              <a:rPr lang="en-US" sz="1100" dirty="0">
                <a:solidFill>
                  <a:srgbClr val="4A52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ο κατάλογος θα αποθηκεύεται σε αρχείο, και τα λάθη του χρήστη δεν θα «ρίχνουν» πια το πρόγραμμα.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6053328"/>
            <a:ext cx="11119104" cy="0"/>
          </a:xfrm>
          <a:prstGeom prst="line">
            <a:avLst/>
          </a:prstGeom>
          <a:noFill/>
          <a:ln w="9525">
            <a:solidFill>
              <a:srgbClr val="D3D9E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6928" y="6089904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9A6B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ΓΙΑ ΤΟ ΣΠΊΤΙ   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Διάβαζε ονόματα μέχρι κενή γραμμή. Εμφάνισε πόσα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διαφορετικά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δόθηκαν και </a:t>
            </a:r>
            <a:pPr indent="0" marL="0">
              <a:buNone/>
            </a:pPr>
            <a:r>
              <a:rPr lang="en-US" sz="1050" b="1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πόσες φορές</a:t>
            </a:r>
            <a:pPr indent="0" marL="0">
              <a:buNone/>
            </a:pPr>
            <a:r>
              <a:rPr lang="en-US" sz="1050" dirty="0">
                <a:solidFill>
                  <a:srgbClr val="8A91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το καθένα.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Μάθημα 4 — Σύνολα και λεξικά</dc:title>
  <dc:subject>PptxGenJS Presentation</dc:subject>
  <dc:creator>Λαμπρόπουλος Χρήστος</dc:creator>
  <cp:lastModifiedBy>Λαμπρόπουλος Χρήστος</cp:lastModifiedBy>
  <cp:revision>1</cp:revision>
  <dcterms:created xsi:type="dcterms:W3CDTF">2026-10-11T20:33:28Z</dcterms:created>
  <dcterms:modified xsi:type="dcterms:W3CDTF">2026-10-11T20:33:28Z</dcterms:modified>
</cp:coreProperties>
</file>