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7"/>
    <p:sldId id="275" r:id="rId6"/>
    <p:sldId id="276" r:id="rId5"/>
    <p:sldId id="277" r:id="rId4"/>
    <p:sldId id="278" r:id="rId3"/>
    <p:sldId id="279" r:id="rId30"/>
    <p:sldId id="280" r:id="rId31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3.xml"/><Relationship Id="rId4" Type="http://schemas.openxmlformats.org/officeDocument/2006/relationships/slide" Target="slides/slide22.xml"/><Relationship Id="rId5" Type="http://schemas.openxmlformats.org/officeDocument/2006/relationships/slide" Target="slides/slide21.xml"/><Relationship Id="rId6" Type="http://schemas.openxmlformats.org/officeDocument/2006/relationships/slide" Target="slides/slide20.xml"/><Relationship Id="rId7" Type="http://schemas.openxmlformats.org/officeDocument/2006/relationships/slide" Target="slides/slide19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EK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6350">
            <a:solidFill>
              <a:srgbClr val="2F4B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26496" y="2468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Γλυφάδας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&amp; Pygame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ΜΑΘΗΜΑ 5 ΑΠΟ 15 · ΥΠΟΕΝΟΤΗΤΑ 2.3.Γ.2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23317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Αρχεία και εξαιρέσεις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Τα δεδομένα μένουν — και τα λάθη δεν ρίχνουν το πρόγραμμα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160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Θεωρία σε 14 μικρά βήματα + 17 ασκήσεις στο εργαστήριο          Διάρκεια: 4 ώρες (3η–6η)          25 διαφάνειες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5262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Προγραμματισμός Εφαρμογών Διαδικτύου &amp; Παιχνιδιών (Python, Pygame) · Γ΄ εξάμηνο · Δευτέρα 2/11/2026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02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ΣΤΟΧΟΙ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θα ξέρεις στο τέλος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1463040"/>
            <a:ext cx="10341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Να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γράφεις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κείμενο σε αρχείο και να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προσθέτεις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στο τέλος του χωρίς να σβήνεις τα παλιά.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65376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65376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1847088"/>
            <a:ext cx="10341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Να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διαβάζεις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ένα αρχείο, ολόκληρο ή γραμμή-γραμμή.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49424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49424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2231136"/>
            <a:ext cx="10341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Να αποθηκεύεις και να διαβάζεις πίνακες σε αρχεία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CSV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(ανοίγουν και στο Excel).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633472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633472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2615184"/>
            <a:ext cx="10341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Να «πιάνεις» τα λάθη με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try / except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, ώστε το πρόγραμμα να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μη σταματά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017520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17520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2999232"/>
            <a:ext cx="10341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Να φτιάχνεις έναν τηλεφωνικό κατάλογο που </a:t>
            </a:r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θυμάται</a:t>
            </a:r>
            <a:r>
              <a:rPr sz="130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τις επαφές και μετά το κλείσιμο.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584448"/>
            <a:ext cx="5303520" cy="160020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694176"/>
            <a:ext cx="4974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Πώς δουλεύουμε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4974336" cy="511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θεωρία είναι χωρισμένη σε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14 μικρά βήματα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Κάθε βήμα έχει πάνω δεξιά την ετικέτα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ΣΤΟ ΕΡΓΑΣΤΗΡΙΟ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με τον αριθμό της άσκησης στο site.</a:t>
            </a:r>
          </a:p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Διαβάζεις τη διαφάνεια → λύνεις την άσκηση → πας στο επόμενο βήμα.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584448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694176"/>
            <a:ext cx="50200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Από το εύκολο στο δύσκολο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023360"/>
            <a:ext cx="5020056" cy="511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Ασκήσεις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1–5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εύκολες, μία εντολή τη φορά.</a:t>
            </a:r>
          </a:p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Ασκήσεις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6–13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μέτριες, συνδυάζουν 2–3 βήματα.</a:t>
            </a:r>
          </a:p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Ασκήσεις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14–16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δύσκολες, όλα μαζί. 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17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είναι για το σπίτι.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Τα αρχεία φτιάχνονται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μέσα στον browser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, σε έναν «ψεύτικο» φάκελο. Δεν πειράζουν τον υπολογιστή σου.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03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ΖΕΣΤΑΜΑ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Θυμάσαι από τα προηγούμενα;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27080" cy="598805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41148" cy="598805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09928"/>
            <a:ext cx="10707624" cy="17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Πέντε γρήγορες ερωτήσεις, 5 λεπτά. Τι γίνεται σε κάθε περίπτωση; Πρώτα σκέψου, μετά δες τη λύση.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99005"/>
            <a:ext cx="300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ΛΥΣΗ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473325"/>
          <a:ext cx="6949440" cy="2011680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1828800"/>
                <a:gridCol w="201168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ΚΏΔΙΚΑΣ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ΑΠΟΤΈΛΕΣΜΑ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ΓΙΑΤΊ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int("5") + 1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το κείμενο έγινε αριθμός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int("πέντε")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</a:rPr>
                        <a:t>ValueError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δεν είναι αριθμός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[1, 2, 3][5]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</a:rPr>
                        <a:t>IndexError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δεν υπάρχει θέση 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{"a": 1}["b"]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</a:rPr>
                        <a:t>KeyError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δεν υπάρχει κλειδί b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10 / 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</a:rPr>
                        <a:t>ZeroDivisionError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διαίρεση με το 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90688" y="2473325"/>
            <a:ext cx="3703320" cy="155448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2583053"/>
            <a:ext cx="33741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Τα κόκκινα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2912237"/>
            <a:ext cx="33741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Μέχρι τώρα κάθε τέτοιο λάθος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σταματούσε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το πρόγραμμα. Σήμερα θα μάθουμε να τα «πιάνουμε».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ΣΥΝΔΕΣΗ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Ο τηλεφωνικός κατάλογος του Μαθήματος 4 είναι το παράδειγμά μας σήμερα.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04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ΤΟ ΠΡΟΒΛΗΜΑ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Δύο αδυναμίες του καταλόγου μας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1 · ΚΛΕΙΝΕΙ ΤΟ ΠΡΟΓΡΑΜΜΑ, ΧΑΝΟΝΤΑΙ ΟΛΑ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00784"/>
            <a:ext cx="5394960" cy="124358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00784"/>
            <a:ext cx="36576" cy="124358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514807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"Άννα"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"6971111111"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... κλείνουμε το πρόγραμμα ...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το ξανανοίγουμε: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{}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417320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2 · ΕΝΑ ΛΑΘΟΣ ΤΟΥ ΧΡΗΣΤΗ, ΤΟ ΣΤΑΜΑΤΑ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700784"/>
            <a:ext cx="5257800" cy="7406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700784"/>
            <a:ext cx="36576" cy="74066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10512"/>
            <a:ext cx="501091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age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"Ηλικία: 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Ηλικία: είκοσι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ValueError: invalid literal for int()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72968"/>
            <a:ext cx="5394960" cy="118872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82696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Η λύση: αρχεία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11880"/>
            <a:ext cx="506577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μεταβλητή ζει στη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μνήμη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και σβήνει όταν κλείσει το πρόγραμμα.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αρχείο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ζει στον δίσκο και μένει.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3172968"/>
            <a:ext cx="5257800" cy="118872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28269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Η λύση: try / except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611880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Λες στην Python: «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δοκίμασε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αυτό· αν στραβώσει, κάνε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εκείνο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» — αντί να σταματήσει.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ΤΟ ΣΧΕΔΙΟ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Βήματα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1–8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: αρχεία. Βήματα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9–13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: λάθη. Στο τέλος τα ενώνουμε στον κατάλογο.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05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1 ΑΠΟ 14 · ΓΡΑΦΩ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Γράφω σε αρχείο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71780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71780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534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"shopping.txt"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"w"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encoding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"utf-8"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write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"ψωμί\n"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write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"γάλα\n"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8600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ΤΙ ΕΧΕΙ ΤΟ SHOPPING.TXT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569464"/>
            <a:ext cx="5394960" cy="57302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569464"/>
            <a:ext cx="36576" cy="57302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5148072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ψωμί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γάλα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with open(όνομα, "w") as f: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Ανοίγει το αρχείο για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γράψιμο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(w = write).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είναι το αρχείο. Όταν τελειώσουν οι γραμμές με εσοχή, κλείνει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μόνο του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46227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f.write(κείμενο)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0118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Γράφει το κείμενο. Την αλλαγή γραμμής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\n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τη βάζεις εσύ, αλλιώς όλα κολλάνε σε μία γραμμή.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507232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6169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encoding="utf-8"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46144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Γράφε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πάντα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Χωρίς αυτό, τα ελληνικά μπορεί να βγουν «κινέζικα» στα Windows.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ΠΡΟΣΟΧΗ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Το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"w"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σε αρχείο που υπάρχει το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αδειάζει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πρώτα. Δεν υπάρχει αναίρεση!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06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2 ΑΠΟ 14 · ΠΡΟΣΘΕΤΩ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Προσθέτω στο τέλος με "a"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55778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55778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"shopping.txt"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"a"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encoding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"utf-8"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write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"αυγά\n"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03704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ΤΩΡΑ ΤΟ SHOPPING.TXT ΕΧΕΙ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487168"/>
            <a:ext cx="5394960" cy="7406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487168"/>
            <a:ext cx="36576" cy="74066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96896"/>
            <a:ext cx="51480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ψωμί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γάλα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αυγά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417320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ΤΡΟΠΟΙ ΑΝΟΙΓΜΑΤΟΣ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36208" y="1700784"/>
          <a:ext cx="5257800" cy="1335024"/>
        </p:xfrm>
        <a:graphic>
          <a:graphicData uri="http://schemas.openxmlformats.org/drawingml/2006/table">
            <a:tbl>
              <a:tblPr firstRow="0" bandRow="0"/>
              <a:tblGrid>
                <a:gridCol w="822960"/>
                <a:gridCol w="2286000"/>
                <a:gridCol w="214884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ΤΡΌΠΟΣ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ΤΙ ΚΆΝΕΙ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ΤΑ ΠΑΛΙΆ;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"w"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γράφει από την αρχή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B42318"/>
                          </a:solidFill>
                          <a:latin typeface="Segoe UI"/>
                          <a:ea typeface="Segoe UI"/>
                          <a:cs typeface="Segoe UI"/>
                        </a:rPr>
                        <a:t>σβήνονται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"a"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προσθέτει στο τέλος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μένουν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"r"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διαβάζει (βήμα 3)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μένουν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236208" y="30175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1272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 κανόνας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564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Θέλεις να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κρατήσεις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τα παλιά; →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"a"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(append = πρόσθεσε).</a:t>
            </a:r>
          </a:p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Θέλεις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καθαρό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αρχείο; →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"w"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ΣΤΗΝ ΠΡΑΞΗ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Ημερολόγια και αρχεία καταγραφής ανοίγουν πάντα με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"a"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: κάθε φορά προστίθεται κάτι στο τέλος.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07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3 ΑΠΟ 14 · ΔΙΑΒΑΖΩ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Διαβάζω όλο το αρχείο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135788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135788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1175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"shopping.txt"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encoding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"utf-8"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content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content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ψωμί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γάλα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αυγά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17320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Χωρίς "w" ή "a"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56232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Αν δεν γράψεις τρόπο, το αρχείο ανοίγει για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διάβασμα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291842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40157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f.read()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30754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Δίνει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όλο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το αρχείο σε ένα κείμενο (str), μαζί με τα \n.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166364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276092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Το print έξω από το with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05276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content μένει και μετά το κλείσιμο του αρχείου. Το αρχείο το χρειαζόμαστε μόνο για να διαβάσουμε.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ΑΝ ΔΕΝ ΥΠΑΡΧΕΙ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Αν το αρχείο δεν υπάρχει →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FileNotFoundError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 Θα δούμε πώς το πιάνουμε στο βήμα 13.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08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4 ΑΠΟ 14 · ΓΡΑΜΜΗ-ΓΡΑΜΜΗ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Διαβάζω γραμμή-γραμμή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11978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119786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"shopping.txt"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encoding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"utf-8"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line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"-"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line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strip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- ψωμί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- γάλα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- αυγά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843784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ΧΩΡΙΣ STRIP: ΚΕΝΕΣ ΓΡΑΜΜΕΣ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5394960" cy="135788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127248"/>
            <a:ext cx="36576" cy="135788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36976"/>
            <a:ext cx="5148072" cy="1175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"shopping.txt"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encoding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"utf-8"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line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"-"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line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- ψωμί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- γάλα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for line in 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for σε αρχείο δίνει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μία γραμμή κάθε φορά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— όπως το for σε λίστα δίνει ένα στοιχείο.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46227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line.strip()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0118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Κάθε γραμμή τελειώνει με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\n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Το strip() το κόβει (και τα κενά στις άκρες).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507232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6169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Γιατί κενές γραμμές;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46144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γραμμή έχει ήδη \n, και το print βάζει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ένα ακόμα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Γι' αυτό: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πάντα strip()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ΜΕΤΡΗΤΗΣ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Για αριθμημένες γραμμές: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n = 0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πριν τον βρόχο και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n = n + 1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μέσα, όπως στο Μάθημα 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09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ΑΣΚΗΣΗ ΣΤΟ ΧΑΡΤΙ 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έχει τελικά το αρχείο;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10927080" cy="598805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41148" cy="598805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09928"/>
            <a:ext cx="10707624" cy="17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Τα τέσσερα κομμάτια τρέχουν με τη σειρά. Γράψε τι έχει το log.txt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μετά από κάθε κομμάτι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99005"/>
            <a:ext cx="300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ΛΥΣΗ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473325"/>
          <a:ext cx="6949440" cy="1673352"/>
        </p:xfrm>
        <a:graphic>
          <a:graphicData uri="http://schemas.openxmlformats.org/drawingml/2006/table">
            <a:tbl>
              <a:tblPr firstRow="0" bandRow="0"/>
              <a:tblGrid>
                <a:gridCol w="3566160"/>
                <a:gridCol w="1554480"/>
                <a:gridCol w="182880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ΚΟΜΜΆΤΙ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ΤΟ LOG.TXT ΜΕΤΆ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ΓΙΑΤΊ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open("log.txt", "w") → write("Α\n")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νέο αρχείο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open("log.txt", "a") → write("Β\n")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Α, Β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πρόσθεσε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open("log.txt", "w") → write("Γ\n")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Γ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τα έσβησε!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open("log.txt", "a") → write("Δ\n")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Γ, Δ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πρόσθεσε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55280" y="2473325"/>
            <a:ext cx="3538728" cy="146304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9872" y="2583053"/>
            <a:ext cx="32095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Η παγίδα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872" y="2912237"/>
            <a:ext cx="3209544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τρίτο "w"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σβήνει ό,τι υπήρχε. Στο τέλος μένουν μόνο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δύο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γραμμές: Γ και Δ.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ΤΕΧΝΙΚΗ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Γράψε σε στήλη τι έχει το αρχείο μετά από κάθε κομμάτι, όπως με τις λίστες.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5 ΑΠΟ 14 · ΛΙΣΤΑ ↔ ΑΡΧΕΙΟ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Μια λίστα σε αρχείο, και πίσω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 · ΓΡΑΦΩ ΤΗ ΛΙΣΤΑ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5394960" cy="87782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36576" cy="87782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4807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"Άννα"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"Νίκος"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"Ελένη"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"names.txt"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"w"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encoding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"utf-8"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write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"\n"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417320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 · ΤΗΝ ΞΑΝΑΔΙΑΒΑΖΩ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700784"/>
            <a:ext cx="5257800" cy="11978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36576" cy="119786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10512"/>
            <a:ext cx="5010912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loaded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"names.txt"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encoding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"utf-8"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line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loaded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append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line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strip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loaded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['Άννα', 'Νίκος', 'Ελένη']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127248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36976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Γράψιμο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506577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Ένα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for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που γράφει κάθε στοιχείο σε δική του γραμμή: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name + "\n"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127248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3697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Διάβασμα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Άδεια λίστα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πριν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και μέσα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append(line.strip())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— το μοτίβο του Μαθήματος 3.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Η ΙΔΕΑ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Ό,τι ήταν στη λίστα, τώρα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μένει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στο αρχείο. Την επόμενη φορά το ξαναφορτώνεις.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6 ΑΠΟ 14 · ΑΡΙΘΜΟΙ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Αριθμοί από αρχείο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NUMBERS.TXT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2286000" cy="90830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36576" cy="90830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2039112" cy="725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837688"/>
            <a:ext cx="5394960" cy="167792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837688"/>
            <a:ext cx="36576" cy="167792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47416"/>
            <a:ext cx="5148072" cy="1495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total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"numbers.txt"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encoding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"utf-8"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line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line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line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strip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line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continue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κενή γραμμή: προσπέρασε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total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total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line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"Άθροισμα:"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total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Άθροισμα: 49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Όλα είναι κείμενο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Από το αρχείο διαβάζεις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κείμενο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("12"), όπως με το input(). Για πράξεις: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int()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ή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float()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46227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Κενή γραμμή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0118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Μετά το strip() γίνεται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""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continue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λέει «πήγαινε στην επόμενη γραμμή».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507232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6169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Χωρίς τον έλεγχο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46144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int("")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→ ValueError. Θα το πιάσουμε και με try στο βήμα 10.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ΤΟ ΜΟΤΙΒΟ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Για κάθε γραμμή: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καθάρισε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(strip) →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έλεγξε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→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μετάτρεψε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(int) →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χρησιμοποίησε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7 ΑΠΟ 14 · 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Αρχείο CSV: ένας πίνακας σε κείμενο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14569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14569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1274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csv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rows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"Άννα"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"Νίκος"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9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"grades.csv"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"w"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newline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encoding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"utf-8"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writer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csv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writer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writer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writerow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"name"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"grade"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0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επικεφαλίδα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writer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writerows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rows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 </a:t>
            </a:r>
            <a:r>
              <a:rPr sz="10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όλες οι γραμμές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102864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ΤΙ ΕΧΕΙ ΤΟ GRADES.CSV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386328"/>
            <a:ext cx="5394960" cy="7406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386328"/>
            <a:ext cx="36576" cy="74066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96056"/>
            <a:ext cx="51480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name,grade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Άννα,17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Νίκος,9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είναι το 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Κάθε γραμμή μια εγγραφή, οι τιμές χωρισμένες με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κόμμα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Ανοίγει στο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Excel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σαν πίνακας.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46227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writerow · writerows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0118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writerow(λίστα)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γράφει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μία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γραμμή.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writerows(λίστα από λίστες)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γράφει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όλες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507232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6169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newline=""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46144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Γράφε το πάντα στα CSV. Χωρίς αυτό, στα Windows μπαίνει μια κενή γραμμή ανάμεσα σε κάθε εγγραφή.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EXCEL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Αν το Excel δείχνει «κινέζικα», γράψε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encoding="utf-8-sig"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8 ΑΠΟ 14 · 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Διαβάζω αρχείο CSV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16093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16093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csv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"grades.csv"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newline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encoding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"utf-8"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reader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csv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reader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next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reader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</a:t>
            </a:r>
            <a:r>
              <a:rPr sz="10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προσπερνώ την επικεφαλίδα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reader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"→"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Άννα → 17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Νίκος →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1417320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ΚΑΘΕ ROW ΕΙΝΑΙ ΜΙΑ ΛΙΣΤΑ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36208" y="1700784"/>
          <a:ext cx="5257800" cy="996696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1600200"/>
                <a:gridCol w="164592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ΓΡΑΜΜΉ ΑΡΧΕΊΟΥ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ROW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ROW[1]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Άννα,17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['Άννα', '17']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'17'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Νίκος,9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['Νίκος', '9']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'9'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36208" y="274320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85292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next(reader)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8211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πρώτη γραμμή είναι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επικεφαλίδες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όχι δεδομένα. Το next() την «τραβάει» για να ξεκινήσει ο βρόχος από τη 2η.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3788156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89788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Πάλι κείμενο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27068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row[1]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είναι "17", όχι 17. Για πράξεις: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float(row[1])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ΘΥΜΗΣΟΥ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row[0] = 1η στήλη, row[1] = 2η στήλη — θέσεις από το 0, όπως σε κάθε λίστα.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14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9 ΑΠΟ 14 · ΛΑΘΗ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Διαβάζω ένα μήνυμα λάθους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5394960" cy="8168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36576" cy="81686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27048"/>
            <a:ext cx="5148072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Traceback (most recent call last):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  File "age.py", line 2, in &lt;module&gt;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    age = int(input("Ηλικία: "))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ValueError: invalid literal for int() with base 10: 'είκοσι'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ΤΑ ΠΙΟ ΣΥΧΝΑ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3026664"/>
          <a:ext cx="5394960" cy="1920240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310896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ΛΆΘΟΣ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ΠΌΤΕ ΓΊΝΕΤΑΙ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</a:rPr>
                        <a:t>ValueError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int("abc"), float("")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</a:rPr>
                        <a:t>ZeroDivisionError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διαίρεση με το 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</a:rPr>
                        <a:t>FileNotFoundError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το αρχείο δεν υπάρχει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</a:rPr>
                        <a:t>IndexError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θέση λίστας που δεν υπάρχει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</a:rPr>
                        <a:t>KeyError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κλειδί λεξικού που δεν υπάρχει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Από κάτω προς τα πάνω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τελευταία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γραμμή λέει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έγινε (το όνομα του λάθους).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line 2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λέει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σε ποια γραμμή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246227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Εξαίρεση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0118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Έτσι λέγεται ένα λάθος που γίνεται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ενώ τρέχει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το πρόγραμμα. Το όνομά του (ValueError κ.λπ.) θα το χρειαστούμε στο επόμενο βήμα.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ΣΥΜΒΟΥΛΗ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Μην τρομάζεις με το Traceback: διάβασε μόνο την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τελευταία γραμμή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και το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line N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15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10 ΑΠΟ 14 · TRY · EXCEPT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Δοκίμασε — κι αν στραβώσει…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19141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19141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173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age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"Ηλικία: 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"Του χρόνου:"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age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except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ValueError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"Δώσε αριθμό, όχι γράμματα!"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"Τέλος"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Ηλικία: είκοσι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Δώσε αριθμό, όχι γράμματα!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Τέλος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Πώς δουλεύει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Τρέχουν οι γραμμές του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try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Αν μία βγάλει ValueError, η Python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πηδάει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αμέσως στο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except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Μετά το πρόγραμμα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συνεχίζει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κανονικά.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462276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Αν δεν γίνει λάθος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01188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Τρέχει όλο το try και το except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προσπερνιέται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336798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44652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Γράφε το όνομα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75710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except ValueError: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και όχι σκέτο except:. Έτσι πιάνεις μόνο το λάθος που περιμένεις.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ΕΣΟΧΕΣ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Όπως στο if: μετά το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try: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και το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except …: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οι γραμμές μπαίνουν με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4 κενά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μέσα.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16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11 ΑΠΟ 14 · ΠΟΛΛΑ EXCEPT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Ένα except για κάθε λάθος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15788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157886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1395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"a: 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"b: 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"Αποτέλεσμα:"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except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ValueError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"Μόνο αριθμοί!"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except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ZeroDivisionError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"Διαίρεση με το 0!"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1417320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ΤΙ ΕΜΦΑΝΙΖΕΙ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36208" y="1700784"/>
          <a:ext cx="5257800" cy="1335024"/>
        </p:xfrm>
        <a:graphic>
          <a:graphicData uri="http://schemas.openxmlformats.org/drawingml/2006/table">
            <a:tbl>
              <a:tblPr firstRow="0" bandRow="0"/>
              <a:tblGrid>
                <a:gridCol w="1554480"/>
                <a:gridCol w="370332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ΕΊΣΟΔΟΙ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ΕΜΦΑΝΊΖΕΙ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10 και 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Αποτέλεσμα: 2.5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10 και x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Μόνο αριθμοί!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10 και 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Διαίρεση με το 0!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36208" y="30175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1272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Ποιο except τρέχει;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564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Python κοιτάει τα except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με τη σειρά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και τρέχει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μόνο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αυτό που ταιριάζει με το λάθος.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ΘΑ ΤΟ ΔΕΙΣ ΚΑΙ ΕΤΣΙ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Μερικές φορές ακολουθεί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finally: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— γραμμές που τρέχουν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πάντα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, με λάθος ή χωρίς.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17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12 ΑΠΟ 14 · ΡΩΤΑ ΞΑΝΑ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Ρώτα ξανά μέχρι να είναι σωστό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258470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258470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2401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while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"Ακέραιος: 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break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except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ValueError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"Λάθος, ξαναδοκίμασε."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"Έδωσες"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Ακέραιος: πέντε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Λάθος, ξαναδοκίμασε.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Ακέραιος: 5.5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Λάθος, ξαναδοκίμασε.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Ακέραιος: 5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Έδωσες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17320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while 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56232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Ο βρόχος που τρέχει μέχρι να του πεις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break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(Μάθημα 2).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291842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40157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break μέσα στο 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30754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Φτάνει εκεί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μόνο αν πέτυχε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το int(). Τότε βγαίνουμε από τον βρόχο.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166364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276092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except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05276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Αν απέτυχε, τυπώνει μήνυμα και ο βρόχος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ξαναρωτά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404088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15061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Κράτα το!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7979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Είναι το πιο χρήσιμο κομμάτι κώδικα της ημέρας: κάθε φορά που ζητάς αριθμό.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ΓΙΑΤΙ ΤΟ 5.5;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Απορρίφθηκε γιατί ζητάμε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int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 Για δεκαδικούς, γράψε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float(input(…))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18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13 ΑΠΟ 14 · ΑΡΧΕΙΟ ΠΟΥ ΛΕΙΠΕΙ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Όταν το αρχείο δεν υπάρχει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10378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10378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"notes.txt"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encoding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"utf-8"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except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FileNotFoundError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"Δεν υπάρχει ακόμα αρχείο."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83464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ΤΟ ΜΟΤΙΒΟ ΤΟΥ ΚΑΤΑΛΟΓΟΥ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118104"/>
            <a:ext cx="5394960" cy="13045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118104"/>
            <a:ext cx="36576" cy="13045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27832"/>
            <a:ext cx="5148072" cy="1121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"phone.csv"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newline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encoding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"utf-8"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csv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reader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except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FileNotFoundError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pass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0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1η φορά: ξεκινάμε με κενό κατάλογο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Η πρώτη φορά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Την πρώτη φορά που τρέχει ένα πρόγραμμα, το αρχείο του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δεν έχει φτιαχτεί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ακόμα. Δεν είναι λάθος, είναι αναμενόμενο.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46227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0118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Σημαίνει «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μην κάνεις τίποτα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». Το λεξικό μένει άδειο και το πρόγραμμα συνεχίζει.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507232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6169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Το σχέδιο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46144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Φόρτωσε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στην αρχή (αν υπάρχει) →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δούλεψε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→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αποθήκευσε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στο τέλος.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ΣΥΜΒΟΥΛΗ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Αν το πρόγραμμα «δεν βρίσκει» ένα αρχείο που βλέπεις, τρέχει από άλλον φάκελο. Στο VS Code: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File → Open Folder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19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ΑΣΚΗΣΗ ΣΤΟ ΧΑΡΤΙ 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Ποια γράμματα θα εμφανιστούν;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4206240" cy="19141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36576" cy="19141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27048"/>
            <a:ext cx="3959352" cy="1731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"Α"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y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x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"Β"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except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ValueError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"Γ"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except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ZeroDivisionError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"Δ"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"Ε"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47488" y="1417320"/>
            <a:ext cx="6446520" cy="598805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47488" y="1417320"/>
            <a:ext cx="41148" cy="598805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490472"/>
            <a:ext cx="622706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709928"/>
            <a:ext cx="6227064" cy="17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Για κάθε είσοδο, γράψε με τη σειρά τα γράμματα που εμφανίζονται.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488" y="2199005"/>
            <a:ext cx="300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ΛΥΣΗ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47488" y="2473325"/>
          <a:ext cx="6446520" cy="1335024"/>
        </p:xfrm>
        <a:graphic>
          <a:graphicData uri="http://schemas.openxmlformats.org/drawingml/2006/table">
            <a:tbl>
              <a:tblPr firstRow="0" bandRow="0"/>
              <a:tblGrid>
                <a:gridCol w="1371600"/>
                <a:gridCol w="1554480"/>
                <a:gridCol w="352044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ΕΊΣΟΔΟΣ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ΕΜΦΑΝΊΖΕΙ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ΓΙΑΤΊ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Α Β Ε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κανένα λάθος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abc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Γ Ε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λάθος στο int()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Α Δ Ε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λάθος στη διαίρεση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047488" y="4206240"/>
            <a:ext cx="644652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4315968"/>
            <a:ext cx="6117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Η ουσία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4645152"/>
            <a:ext cx="61173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Μόλις γίνει λάθος, το try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σταματά εκεί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ό,τι ακολουθεί μέσα του δεν τρέχει.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Ε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είναι έξω από το try, οπότε τρέχει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πάντα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ΔΟΚΙΜΑΣΕ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Τρέξε τον κώδικα στο «🧪 Ελεύθερο» του εργαστηρίου με τις τρεις εισόδους.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20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14 ΑΠΟ 14 · PICKLE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Αποθηκεύω ολόκληρο λεξικό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394960" cy="215798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576" cy="215798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148072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pickle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"Άννα"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"6971111111"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"Νίκος"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"6972222222"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"phone.dat"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"wb"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pickle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dump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sz="10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αποθήκευση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"phone.dat"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"rb"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loaded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pickle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load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0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φόρτωση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loaded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"Νίκος"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6972222222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Δύο εντολές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pickle.dump(δομή, f)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αποθηκεύει,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pickle.load(f)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φορτώνει. Το λεξικό γυρίζει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όπως ήταν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46227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"wb" και "rb"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0118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b σημαίνει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δυαδικό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αρχείο: δεν είναι κείμενο, δεν ανοίγει στο Σημειωματάριο. Γι' αυτό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χωρίς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encoding.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507232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1696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CSV ή pickle;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46144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CSV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όταν θες να το ανοίξεις στο Excel.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pickle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όταν θες απλώς να «παγώσεις» μια δομή Python.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ΑΣΦΑΛΕΙΑ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Ποτέ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pickle.load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σε αρχείο που σου έστειλε άγνωστος.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21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ΕΡΓΑΣΤΗΡΙΟ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Οι 17 ασκήσεις, βήμα-βήμα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17320"/>
          <a:ext cx="5394960" cy="3858768"/>
        </p:xfrm>
        <a:graphic>
          <a:graphicData uri="http://schemas.openxmlformats.org/drawingml/2006/table">
            <a:tbl>
              <a:tblPr firstRow="0" bandRow="0"/>
              <a:tblGrid>
                <a:gridCol w="457200"/>
                <a:gridCol w="2651760"/>
                <a:gridCol w="1234440"/>
                <a:gridCol w="105156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#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ΆΣΚΗΣΗ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ΕΠΊΠΕΔΟ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ΔΙΑΦΆΝΕΙΑ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Το πρώτο μου αρχείο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Πρόσθεσε στο τέλος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Διάβασε το μήνυμα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Γραμμή-γραμμή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Σώσε τη λίστα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Άθροισμα από αρχείο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Γράψε ένα CSV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Διάβασε ένα CSV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Ηλικία χωρίς σφάλμα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417320"/>
          <a:ext cx="5257800" cy="3465576"/>
        </p:xfrm>
        <a:graphic>
          <a:graphicData uri="http://schemas.openxmlformats.org/drawingml/2006/table">
            <a:tbl>
              <a:tblPr firstRow="0" bandRow="0"/>
              <a:tblGrid>
                <a:gridCol w="457200"/>
                <a:gridCol w="2651760"/>
                <a:gridCol w="1234440"/>
                <a:gridCol w="91440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#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ΆΣΚΗΣΗ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ΕΠΊΠΕΔΟ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ΔΙΑΦΆΝΕΙΑ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Διαίρεση χωρίς σφάλμα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Ρώτα ξανά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Φόρτωσε αν υπάρχει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18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pickle: πάγωσε το λεξικό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Ασφαλής είσοδος βαθμών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42318"/>
                          </a:solidFill>
                          <a:latin typeface="Segoe UI"/>
                          <a:ea typeface="Segoe UI"/>
                          <a:cs typeface="Segoe UI"/>
                        </a:rPr>
                        <a:t>Δύσκολο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17, 22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Στατιστικά από CSV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42318"/>
                          </a:solidFill>
                          <a:latin typeface="Segoe UI"/>
                          <a:ea typeface="Segoe UI"/>
                          <a:cs typeface="Segoe UI"/>
                        </a:rPr>
                        <a:t>Δύσκολο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13, 23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Κατάλογος που θυμάται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42318"/>
                          </a:solidFill>
                          <a:latin typeface="Segoe UI"/>
                          <a:ea typeface="Segoe UI"/>
                          <a:cs typeface="Segoe UI"/>
                        </a:rPr>
                        <a:t>Ο στόχος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18, 24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Ημερολόγιο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F4BD8"/>
                          </a:solidFill>
                          <a:latin typeface="Segoe UI"/>
                          <a:ea typeface="Segoe UI"/>
                          <a:cs typeface="Segoe UI"/>
                        </a:rPr>
                        <a:t>Για το σπίτι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6, 8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SITE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Εργαστήριο →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Μάθημα 5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 Κάθε άσκηση έχει το «📖 Στις διαφάνειες» που ανοίγει κατευθείαν τη σωστή διαφάνεια.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22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ΕΡΓΑΣΤΗΡΙΟ · ΔΥΣΚΟΛΟ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Ασφαλής είσοδος βαθμών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10927080" cy="776986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41148" cy="776986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09928"/>
            <a:ext cx="10707624" cy="35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Διάβασε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5 βαθμούς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(0–20). Αν ο χρήστης γράψει κάτι που δεν είναι αριθμός ή είναι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εκτός ορίων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, εμφάνισε «Λάθος» και ξαναρώτα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τον ίδιο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βαθμό. Στο τέλος εμφάνισε τον μέσο όρο.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31466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ΛΥΣΗ · ΔΟΚΙΜΑΣΕ ΠΡΩΤΑ ΜΟΝΟΣ/Η ΣΟΥ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05786"/>
            <a:ext cx="6035040" cy="22189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605786"/>
            <a:ext cx="36576" cy="221894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15514"/>
            <a:ext cx="5788152" cy="2036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while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float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f"Βαθμός {len(grades) + 1}: 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or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"Λάθος: εκτός ορίων 0-20"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append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except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ValueError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"Λάθος: δώσε αριθμό"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avg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sum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f"Μέσος όρος: {avg:.2f}"</a:t>
            </a:r>
            <a:r>
              <a:rPr sz="10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76288" y="2605786"/>
            <a:ext cx="4617720" cy="14569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76288" y="2605786"/>
            <a:ext cx="36576" cy="14569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715514"/>
            <a:ext cx="4370832" cy="1274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Βαθμός 1: 15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Βαθμός 2: abc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Λάθος: δώσε αριθμό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Βαθμός 2: 25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Λάθος: εκτός ορίων 0-20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Βαθμός 2: 12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...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Μέσος όρος: 14.90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76288" y="4199890"/>
            <a:ext cx="461772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4309618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Γιατί while len(grades) &lt;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638802"/>
            <a:ext cx="42885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Μετράμε τους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σωστούς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βαθμούς, όχι τις προσπάθειες. Με for range(5) θα χάναμε βαθμό σε κάθε λάθος.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ΑΠΟ ΠΟΙΑ ΒΗΜΑΤΑ  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10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try / except 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12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ρώτα ξανά · Μάθημα 3: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append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sum / len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23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ΕΡΓΑΣΤΗΡΙΟ · ΔΥΣΚΟΛΟ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Στατιστικά από αρχείο CSV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10927080" cy="776986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41148" cy="776986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09928"/>
            <a:ext cx="10707624" cy="35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Διάβασε το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grades.csv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και εμφάνισε πλήθος μαθητών,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μέσο όρο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και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ποιοι πέρασαν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(≥ 10). Αν το αρχείο λείπει, εμφάνισε μήνυμα αντί για σφάλμα.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31466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ΛΥΣΗ · ΔΟΚΙΜΑΣΕ ΠΡΩΤΑ ΜΟΝΟΣ/Η ΣΟΥ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05786"/>
            <a:ext cx="6035040" cy="32552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605786"/>
            <a:ext cx="36576" cy="3255264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15514"/>
            <a:ext cx="5788152" cy="3072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080"/>
              </a:lnSpc>
            </a:pP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csv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"grades.csv"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newline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encoding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"utf-8"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reader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csv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reader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next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reader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reader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append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append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float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except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FileNotFoundError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"Δεν βρέθηκε το grades.csv"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"Μαθητές:"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f"Μέσος όρος: {sum(grades) / len(grades):.2f}"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passed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range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grades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passed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append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names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080"/>
              </a:lnSpc>
            </a:pP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0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"Πέρασαν:"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", "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join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passed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76288" y="2605786"/>
            <a:ext cx="4617720" cy="6949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76288" y="2605786"/>
            <a:ext cx="36576" cy="69494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715514"/>
            <a:ext cx="43708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Μαθητές: 5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Μέσος όρος: 12.60</a:t>
            </a:r>
          </a:p>
          <a:p>
            <a:pPr>
              <a:lnSpc>
                <a:spcPts val="1200"/>
              </a:lnSpc>
            </a:pPr>
            <a:r>
              <a:rPr sz="100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Πέρασαν: Άννα, Μαρία, Γιώργος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76288" y="3437890"/>
            <a:ext cx="461772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3547618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", ".join(λίστα)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876802"/>
            <a:ext cx="42885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Ενώνει τα ονόματα με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", "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ανάμεσα: ['Άννα', 'Μαρία'] → Άννα, Μαρία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76288" y="4482846"/>
            <a:ext cx="461772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4592574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Από ποια βήματα;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921758"/>
            <a:ext cx="42885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8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csv.reader 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13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αρχείο που λείπει · Μάθημα 3: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δύο λίστες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ΔΟΚΙΜΑΣΕ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Στο εργαστήριο ο έλεγχος τρέχει και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χωρίς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το αρχείο: πρέπει να δεις το μήνυμα, όχι Traceback.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24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ΕΡΓΑΣΤΗΡΙΟ · Ο ΣΤΟΧΟΣ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Κατάλογος που θυμάται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ΛΥΣΗ · ΔΟΚΙΜΑΣΕ ΠΡΩΤΑ ΜΟΝΟΣ/Η ΣΟΥ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6035040" cy="399437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36576" cy="3994375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788152" cy="381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019"/>
              </a:lnSpc>
            </a:pP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csv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FILE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"phone.csv"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                            </a:t>
            </a:r>
            <a:r>
              <a:rPr sz="8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1 · φόρτωση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FILE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newline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encoding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"utf-8"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csv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reader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row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except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FileNotFoundError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pass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while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                     </a:t>
            </a:r>
            <a:r>
              <a:rPr sz="8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2 · μενού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choice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"\n1.Προσθήκη 2.Αναζήτηση 3.Όλοι 0.Έξοδος: "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choice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"1"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"Όνομα: "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"Τηλέφωνο: "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elif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choice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"2"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"Όνομα: "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"Δεν βρέθηκε"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elif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choice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"3"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sorted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f"{name}: {phone[name]}"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elif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choice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"0"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         </a:t>
            </a:r>
            <a:r>
              <a:rPr sz="8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3 · αποθήκευση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open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FILE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"w"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newline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""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encoding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8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"utf-8"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csv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writer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writerows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items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"Αποθηκεύτηκαν"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len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phone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8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"επαφές."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break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ts val="1019"/>
              </a:lnSpc>
            </a:pP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850" b="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8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"Λάθος επιλογή"</a:t>
            </a:r>
            <a:r>
              <a:rPr sz="8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6288" y="1700784"/>
            <a:ext cx="461772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810512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 · Φόρτωση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139696"/>
            <a:ext cx="42885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Αν υπάρχει το phone.csv, γεμίζει το λεξικό. Αν όχι,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pass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(βήμα 13).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76288" y="2745740"/>
            <a:ext cx="461772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2855468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2 · Μενού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184652"/>
            <a:ext cx="428853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Ίδιο με το Μάθημα 4.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3620262"/>
            <a:ext cx="461772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3729990"/>
            <a:ext cx="4288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3 · Αποθήκευση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059174"/>
            <a:ext cx="42885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phone.items()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δίνει ζευγάρια (όνομα, τηλέφωνο) →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writerows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τα γράφει όλα (βήμα 7).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ΔΟΚΙΜΑΣΕ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Πρόσθεσε 2 επαφές, βγες με 0, ξανατρέξε και πάτα 3. Οι επαφές είναι εκεί!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25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ΣΥΝΟΨΗ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κρατάμε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17320"/>
          <a:ext cx="6949440" cy="3694176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411480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ΘΈΛΩ ΝΑ…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ΓΡΆΦΩ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γράψω (σβήνει τα παλιά)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with open(όνομα, "w", encoding="utf-8") as f: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προσθέσω στο τέλος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with open(όνομα, "a", encoding="utf-8") as f: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γράψω μια γραμμή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f.write(κείμενο + "\n")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διαβάσω όλο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f.read()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διαβάσω γραμμή-γραμμή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for line in f: … line.strip()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γράψω / διαβάσω CSV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csv.writer(f) · csv.reader(f)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πιάσω ένα λάθος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try: … except ValueError: …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ρωτήσω ξανά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while True: try: … break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χειριστώ αρχείο που λείπει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except FileNotFoundError: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790688" y="1417320"/>
            <a:ext cx="370332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0" y="1527048"/>
            <a:ext cx="33741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Θυμάται και αντέχει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0" y="1856232"/>
            <a:ext cx="337413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Με τα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αρχεία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το πρόγραμμα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θυμάται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Με 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try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αντέχει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τα λάθη του χρήστη.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90688" y="2462276"/>
            <a:ext cx="3703320" cy="107823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2572004"/>
            <a:ext cx="33741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Επόμενη φορά · Δευ 9/11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901188"/>
            <a:ext cx="3374136" cy="511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Συναρτήσεις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το «ρώτα ξανά μέχρι να είναι σωστό» γίνεται μία εντολή που καλείς όσες φορές θες.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ΓΙΑ ΤΟ ΣΠΙΤΙ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Άσκηση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17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στο εργαστήριο: ημερολόγιο με "a" και αριθμημένες γραμμές (βήματα 2 και 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Μάθημα 5 — Αρχεία και εξαιρέσεις</dc:title>
  <dc:subject>PptxGenJS Presentation</dc:subject>
  <dc:creator>Λαμπρόπουλος Χρήστος</dc:creator>
  <cp:lastModifiedBy>Λαμπρόπουλος Χρήστος</cp:lastModifiedBy>
  <cp:revision>1</cp:revision>
  <dcterms:created xsi:type="dcterms:W3CDTF">2026-10-11T20:36:57Z</dcterms:created>
  <dcterms:modified xsi:type="dcterms:W3CDTF">2026-10-11T20:36:57Z</dcterms:modified>
</cp:coreProperties>
</file>