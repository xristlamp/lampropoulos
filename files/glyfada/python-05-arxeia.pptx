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EK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6350">
            <a:solidFill>
              <a:srgbClr val="2F4BD8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826496" y="24688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Γλυφάδας</a:t>
            </a:r>
            <a:endParaRPr lang="en-US" sz="1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&amp; Pygame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ΜΑΘΗΜΑ 5 ΑΠΟ 15 · ΥΠΟΕΝΟΤΗΤΑ 2.3.Γ.2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12064" y="23317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Αρχεία και εξαιρέσεις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Τα δεδομένα μένουν — και τα λάθη δεν ρίχνουν το πρόγραμμα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160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Θεωρία + 2 ασκήσεις + 3 προγράμματα με λύσεις          Διάρκεια: 4 ώρες (3η–6η)          23 διαφάνειες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5262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Προγραμματισμός Εφαρμογών Διαδικτύου &amp; Παιχνιδιών (Python, Pygame) · Γ΄ εξάμηνο · Δευτέρα 2/11/2026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ΣΤΌΧΟΙ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θα ξέρεις στο τέλος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4813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52144" y="1463040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γράφεις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να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διαβάζεις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αρχεία κειμένου με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open(...)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65376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8653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152144" y="1847088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ξεχωρίζεις τους τρόπους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και να μη σβήνεις κατά λάθος ένα αρχείο.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49424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24942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" y="2231136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δουλεύεις αρχεία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με το module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(ανοίγουν και στο Excel).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33472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26334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2615184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αποθηκεύεις ολόκληρες δομές σε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δυαδικό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αρχείο με το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pickle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3017520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30175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" y="2999232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«πιάνεις» λάθη με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/ except / else / finally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αντί να σταματά το πρόγραμμα.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401568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34015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" y="3383280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φτιάχνεις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τηλεφωνικό κατάλογο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που θυμάται τις επαφές και μετά το κλείσιμο.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0927080" cy="1143000"/>
          </a:xfrm>
          <a:prstGeom prst="roundRect">
            <a:avLst>
              <a:gd name="adj" fmla="val 48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08736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Πώς είναι οργανωμένο το 4ωρο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16552"/>
            <a:ext cx="10597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Ώρες 1–2: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αρχεία (κείμενο, CSV, δυαδικά) και εξαιρέσεις με live coding.  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Ώρες 3–4: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εργαστήριο — ασφαλής είσοδος βαθμών, στατιστικά από CSV και στο τέλος 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κατάλογος της προηγούμενης φοράς, με αποθήκευση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ΤΟ ΑΡΧΕΊΟ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Στον φάκελο του μαθήματος υπάρχει έτοιμο το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grades.csv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για το Εργαστήριο 2. Αντίγραψέ το δίπλα στο .py σου.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ΖΈΣΤΑΜΑ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Θυμάσαι από την προηγούμενη φορά;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0927080" cy="658368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17320"/>
            <a:ext cx="41148" cy="65836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10652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9928"/>
            <a:ext cx="10616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Πέντε γρήγορες ερωτήσεις, 5 λεπτά. Τι δίνει κάθε έκφραση;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24028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ΛΎΣΗ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1460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2011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ΈΚΦΡΑΣΗ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ΑΠΟΤΈΛΕΣΜΑ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ΓΙΑΤΊ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len({1, 1, 2})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σύνολο: μοναδικά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{"a": 1}["a"]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τιμή του κλειδιού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{"a": 1}.get("b", 0)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ασφαλής πρόσβαση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{"a": 1}["b"]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KeyError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το κλειδί λείπει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int("πέντε")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ValueError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δεν είναι αριθμός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790688" y="2514600"/>
            <a:ext cx="3703320" cy="1828800"/>
          </a:xfrm>
          <a:prstGeom prst="roundRect">
            <a:avLst>
              <a:gd name="adj" fmla="val 3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55280" y="262432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Τα δύο σφάλματα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2953512"/>
            <a:ext cx="33741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KeyError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ValueError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μέχρι τώρα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σταματούσαν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 πρόγραμμα. Σήμερα θα μάθουμε να τα «πιάνουμε».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ΣΎΝΔΕΣΗ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τηλεφωνικός κατάλογος της προηγούμενης φοράς είναι το «πειραματόζωό» μας σήμερα.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ΤΟ ΠΡΌΒΛΗΜΑ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Δύο αδυναμίες του καταλόγου μας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ΚΛΕΊΝΕΙ ΤΟ ΠΡΌΓΡΑΜΜΑ, ΧΆΝΟΝΤΑΙ ΤΑ ΠΆΝΤΑ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9048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ΈΝΑ ΛΆΘΟΣ ΤΟΥ ΧΡΉΣΤΗ, ΤΟ ΡΊΧΝΕΙ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349240" cy="102412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91640"/>
            <a:ext cx="36576" cy="1024128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801368"/>
            <a:ext cx="5074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"6971111111"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κλείνουμε το πρόγραμμα 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ξανανοίγουμε: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{}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1691640"/>
            <a:ext cx="5303520" cy="102412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691640"/>
            <a:ext cx="36576" cy="1024128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801368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"Ηλικία: 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Ηλικία: είκοσι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Traceback (most recent call last):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ValueError: invalid literal for int()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971800"/>
            <a:ext cx="5349240" cy="1463040"/>
          </a:xfrm>
          <a:prstGeom prst="roundRect">
            <a:avLst>
              <a:gd name="adj" fmla="val 375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081528"/>
            <a:ext cx="5020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λύση: αρχεία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410712"/>
            <a:ext cx="5020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μεταβλητή ζει στη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μνήμη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(RAM) και σβήνει. Το αρχείο ζει στον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δίσκο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μένει.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90488" y="2971800"/>
            <a:ext cx="5303520" cy="1463040"/>
          </a:xfrm>
          <a:prstGeom prst="roundRect">
            <a:avLst>
              <a:gd name="adj" fmla="val 375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308152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λύση: εξαιρέσεις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410712"/>
            <a:ext cx="4974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/ except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λες: «δοκίμασε· αν στραβώσει, κάνε αυτό» — αντί να σταματήσει το πρόγραμμα.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0927080" cy="1051560"/>
          </a:xfrm>
          <a:prstGeom prst="roundRect">
            <a:avLst>
              <a:gd name="adj" fmla="val 5217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σημερινό σχέδιο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010912"/>
            <a:ext cx="10597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Ώρες 1–2: αρχεία, μετά εξαιρέσεις. Ώρες 3–4: τα ενώνουμε σε έναν κατάλογο που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θυμάται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αντέχει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τα λάθη.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ΓΙΑΤΊ ΜΑΖΊ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 τα αρχεία έρχονται και τα πρώτα «πραγματικά» λάθη: αρχείο που δεν υπάρχει, χαλασμένα δεδομένα. Γι' αυτό τα μαθαίνουμε μαζί.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ΆΝΟΙΓΜΑ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open() και with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349240" cy="149595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49595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074920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ο κλασικός τρόπος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"notes.txt"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"Γεια\n"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ο σωστός τρόπος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"notes.txt"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"Γεια\n"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0488" y="1463040"/>
            <a:ext cx="5303520" cy="1463040"/>
          </a:xfrm>
          <a:prstGeom prst="roundRect">
            <a:avLst>
              <a:gd name="adj" fmla="val 375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57276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with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901952"/>
            <a:ext cx="4974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Κλείνει το αρχείο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μόνο του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μόλις τελειώσει το μπλοκ — ακόμα κι αν γίνει λάθος στη μέση. Με open/close είναι εύκολο να ξεχάσεις το close().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0488" y="3063240"/>
            <a:ext cx="5303520" cy="1234440"/>
          </a:xfrm>
          <a:prstGeom prst="roundRect">
            <a:avLst>
              <a:gd name="adj" fmla="val 4444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317296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encoding="utf-8"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3502152"/>
            <a:ext cx="49743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Γράφε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πάντα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Χωρίς αυτό, τα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ελληνικά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μπορεί να βγουν «κινέζικα» στα Windows.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063240"/>
          <a:ext cx="5349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434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ΤΙ ΚΆΝΕΙ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"r"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ανάγνωση (προεπιλογή) ·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σφάλμα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αν δεν υπάρχει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"w"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εγγραφή ·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σβήνει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ό,τι είχε το αρχείο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"a"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προσθήκη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στο τέλος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· κρατά τα παλιά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"rb" "wb"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ανάγνωση / εγγραφή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δυαδικού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αρχείου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190488" y="4434840"/>
            <a:ext cx="5303520" cy="1188720"/>
          </a:xfrm>
          <a:prstGeom prst="roundRect">
            <a:avLst>
              <a:gd name="adj" fmla="val 461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55080" y="454456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Πού φτιάχνεται το αρχείο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355080" y="4873752"/>
            <a:ext cx="4974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Στον φάκελο από όπου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τρέχει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 πρόγραμμα. Στο VS Code: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→ Open Folder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στον φάκελο της άσκησης.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ΠΡΟΣΟΧΉ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"w"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σε αρχείο που υπάρχει το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αδειάζει αμέσως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πριν γράψεις οτιδήποτε. Δεν υπάρχει αναίρεση.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ΕΓΓΡΑΦΉ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Γράφουμε σε αρχείο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6035040" cy="149595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49595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760720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"shopping.txt"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"ψωμί\n"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"γάλα\n"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"αυγά"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"shopping.txt"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"τυρί\n"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876288" y="146304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ΤΙ ΈΧΕΙ ΤΟ SHOPPING.TXT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76288" y="1719072"/>
            <a:ext cx="4617720" cy="866851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76288" y="1719072"/>
            <a:ext cx="36576" cy="866851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040880" y="1828800"/>
            <a:ext cx="4343400" cy="64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ψωμί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γάλα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αυγά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τυρί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017520"/>
            <a:ext cx="6035040" cy="1325880"/>
          </a:xfrm>
          <a:prstGeom prst="roundRect">
            <a:avLst>
              <a:gd name="adj" fmla="val 4138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127248"/>
            <a:ext cx="5705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write() ή print(file=f);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456432"/>
            <a:ext cx="5705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γράφει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ακριβώς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ό,τι του δώσεις — την αλλαγή γραμμής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\n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τη βάζεις εσύ.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print(..., file=f)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τη βάζει μόνο του.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76288" y="2743200"/>
            <a:ext cx="4617720" cy="1600200"/>
          </a:xfrm>
          <a:prstGeom prst="roundRect">
            <a:avLst>
              <a:gd name="adj" fmla="val 3429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880" y="285292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w, μετά 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3182112"/>
            <a:ext cx="42885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πρώτο μπλοκ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φτιάχνει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 αρχείο από την αρχή. Το δεύτερο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προσθέτει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μια γραμμή στο τέλος, χωρίς να σβήσει τις τρεις πρώτες.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480560"/>
            <a:ext cx="10927080" cy="1097280"/>
          </a:xfrm>
          <a:prstGeom prst="roundRect">
            <a:avLst>
              <a:gd name="adj" fmla="val 5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9028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write θέλει κείμενο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919472"/>
            <a:ext cx="10597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f.write(17)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δίνει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TypeError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Γράφεις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f.write(str(17))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ή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f.write(f"{17}\n")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ή απλώς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print(17, file=f)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ΔΟΚΊΜΑΣΕ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Άνοιξε το shopping.txt στο VS Code ή στο Σημειωματάριο μετά την εκτέλεση. Είναι ένα συνηθισμένο αρχείο κειμένου.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ΑΝΆΓΝΩΣΗ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Διαβάζουμε από αρχείο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ΟΛΌΚΛΗΡΟ ΜΑΖΊ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9048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ΓΡΑΜΜΉ-ΓΡΑΜΜΉ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349240" cy="866851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91640"/>
            <a:ext cx="36576" cy="866851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801368"/>
            <a:ext cx="5074920" cy="64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"shopping.txt"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"\n"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1691640"/>
            <a:ext cx="5303520" cy="866851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691640"/>
            <a:ext cx="36576" cy="866851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801368"/>
            <a:ext cx="5029200" cy="64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"shopping.txt"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ΜΈΘΟΔΟΣ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ΤΙ ΔΊΝΕΙ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f.read()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όλο το αρχείο σε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ένα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κείμενο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f.readline()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την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επόμενη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γραμμή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f.readlines()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λίστα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με όλες τις γραμμές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line in f: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μία γραμμή σε κάθε γύρο — η πιο συνηθισμένη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7607808" y="2743200"/>
            <a:ext cx="3886200" cy="1691640"/>
          </a:xfrm>
          <a:prstGeom prst="roundRect">
            <a:avLst>
              <a:gd name="adj" fmla="val 3243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0" y="2852928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strip()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182112"/>
            <a:ext cx="3557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Κάθε γραμμή τελειώνει με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\n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Το print βάζει κι αυτό ένα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\n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οπότε βλέπεις κενές γραμμές ανάμεσα.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strip()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 κόβει.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4572000"/>
            <a:ext cx="10927080" cy="1005840"/>
          </a:xfrm>
          <a:prstGeom prst="roundRect">
            <a:avLst>
              <a:gd name="adj" fmla="val 5455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Όλα είναι κείμενο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10912"/>
            <a:ext cx="10597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Ό,τι διαβάζεις από αρχείο είναι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ακριβώς όπως με την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Για πράξεις: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ή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ΧΩΡΊΣ MODE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Όταν δεν γράφεις mode, η open() ανοίγει για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ανάγνωση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("r"). Αν το αρχείο δεν υπάρχει: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FileNotFoundError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ΆΣΚΗΣΗ 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έχει τελικά το αρχείο;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394960" cy="86868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17320"/>
            <a:ext cx="41148" cy="868680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9928"/>
            <a:ext cx="5084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Τα τέσσερα μπλοκ εκτελούνται με τη σειρά. Τι περιέχει το log.txt στο τέλος; Πόσες γραμμές έχει;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68880"/>
            <a:ext cx="5394960" cy="149595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2468880"/>
            <a:ext cx="36576" cy="149595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578608"/>
            <a:ext cx="5120640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"log.txt"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"Α\n"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"log.txt"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"Β\n"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"log.txt"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"Γ\n"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"log.txt"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"Δ"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23620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ΛΎΣΗ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6208" y="1691640"/>
          <a:ext cx="5257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26974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ΜΠΛΟΚ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ΤΟ ΑΡΧΕΊΟ ΜΕΤΆ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"w"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"a"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 · Β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"w"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  (το Α και το Β σβήστηκαν)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"a"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 · Δ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236208" y="3520440"/>
            <a:ext cx="5257800" cy="914400"/>
          </a:xfrm>
          <a:prstGeom prst="roundRect">
            <a:avLst>
              <a:gd name="adj" fmla="val 6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3630168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Απάντηση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3959352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δύο γραμμές.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315968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Οι δύο παγίδες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645152"/>
            <a:ext cx="5065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τρίτο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"w"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σβήνει τα πάντα. Και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"Δ"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γράφτηκε χωρίς \n — ό,τι προστεθεί μετά θα κολλήσει στην ίδια γραμμή.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36208" y="4572000"/>
            <a:ext cx="5257800" cy="1005840"/>
          </a:xfrm>
          <a:prstGeom prst="roundRect">
            <a:avLst>
              <a:gd name="adj" fmla="val 545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4681728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κανόνας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0" y="5010912"/>
            <a:ext cx="4928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Θέλεις να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κρατήσεις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τα παλιά; →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"a"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Θέλεις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καθαρό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αρχείο; →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"w"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ΣΤΗΝ ΠΡΆΞΗ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Τα αρχεία καταγραφής (logs) ανοίγουν πάντα με "a": κάθε εκτέλεση προσθέτει τις γραμμές της στο τέλος.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ΕΠΕΞΕΡΓΑΣΊΑ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Αριθμοί από αρχείο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NUMBERS.TXT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194560" cy="866851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91640"/>
            <a:ext cx="36576" cy="866851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801368"/>
            <a:ext cx="1920240" cy="64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90088" y="1691640"/>
            <a:ext cx="8503920" cy="1653235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0088" y="1691640"/>
            <a:ext cx="36576" cy="1653235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54680" y="1801368"/>
            <a:ext cx="8229600" cy="1433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"numbers.txt"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κενή γραμμή: την προσπερνάμε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"Άθροισμα:"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Άθροισμα: 49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520440"/>
            <a:ext cx="3511296" cy="1417320"/>
          </a:xfrm>
          <a:prstGeom prst="roundRect">
            <a:avLst>
              <a:gd name="adj" fmla="val 3871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63016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Βήμα 1: strip()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959352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"12\n" γίνεται "12". Το int() δέχεται και κενά, αλλά η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κενή γραμμή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όχι.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70832" y="3520440"/>
            <a:ext cx="3511296" cy="1417320"/>
          </a:xfrm>
          <a:prstGeom prst="roundRect">
            <a:avLst>
              <a:gd name="adj" fmla="val 3871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35424" y="363016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Βήμα 2: έλεγχος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35424" y="3959352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κενή γραμμή γίνεται "" →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continue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την προσπερνά.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74736" y="3520440"/>
            <a:ext cx="3319272" cy="1417320"/>
          </a:xfrm>
          <a:prstGeom prst="roundRect">
            <a:avLst>
              <a:gd name="adj" fmla="val 3871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39328" y="363016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Βήμα 3: int()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39328" y="3959352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Μόνο τότε μετατρέπουμε και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αθροίζουμε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07492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18464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θα γινόταν χωρίς τον έλεγχο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513832"/>
            <a:ext cx="10597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int("")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→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ValueError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στην 3η γραμμή. Θα δούμε σε λίγο πώς το «πιάνουμε» και με try/except.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ΜΟΤΊΒΟ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Άνοιξε → για κάθε γραμμή: καθάρισε, έλεγξε, μετάτρεψε, χρησιμοποίησε. Έτσι διαβάζονται σχεδόν όλα τα αρχεία δεδομένων.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Αρχεία CSV: πίνακας σε κείμενο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6035040" cy="1653235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653235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760720" cy="1433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17],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9]]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"grades.csv"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newline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writerow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"grade"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writerows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876288" y="146304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ΤΙ ΈΧΕΙ ΤΟ GRADES.CSV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76288" y="1719072"/>
            <a:ext cx="4617720" cy="70957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76288" y="1719072"/>
            <a:ext cx="36576" cy="709574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040880" y="1828800"/>
            <a:ext cx="4343400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name,grade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Άννα,17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Νίκος,9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76288" y="2606040"/>
            <a:ext cx="4617720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0" y="271576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είναι το CSV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3044952"/>
            <a:ext cx="4288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Comma-Separated Values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κάθε γραμμή μια εγγραφή, οι τιμές χωρισμένες με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κόμμα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Ανοίγει στο Excel σαν πίνακας.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337560"/>
          <a:ext cx="60350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ΜΈΘΟΔΟΣ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ΓΡΆΦΕΙ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writer.writerow(list)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μία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γραμμή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writer.writerows(lists)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πολλές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γραμμές μαζί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6876288" y="4114800"/>
            <a:ext cx="4617720" cy="1463040"/>
          </a:xfrm>
          <a:prstGeom prst="roundRect">
            <a:avLst>
              <a:gd name="adj" fmla="val 375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40880" y="422452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Ελληνικά στο Excel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4553712"/>
            <a:ext cx="4288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 το Excel δείχνει «κινέζικα», γράψε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encoding="utf-8-sig"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Βάζει ένα «σήμα» στην αρχή που λέει στο Excel ότι είναι UTF-8.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6035040" cy="1143000"/>
          </a:xfrm>
          <a:prstGeom prst="roundRect">
            <a:avLst>
              <a:gd name="adj" fmla="val 48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4544568"/>
            <a:ext cx="5705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newline=""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4873752"/>
            <a:ext cx="5705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Στα Windows, χωρίς αυτό, το csv γράφει μια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κενή γραμμή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ανάμεσα σε κάθε εγγραφή.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ΓΙΑΤΊ ΌΧΙ ΑΠΛΆ WRITE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 μια τιμή περιέχει κόμμα («Αθήνα, Ελλάδα»), το csv την κλείνει μόνο του σε εισαγωγικά. Με write θα «έσπαγε» η γραμμή.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Διαβάζουμε CSV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CSV.READER · ΚΆΘΕ ΓΡΑΜΜΉ ΛΊΣΤΑ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9048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CSV.DICTREADER · ΚΆΘΕ ΓΡΑΜΜΉ ΛΕΞΙΚΌ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349240" cy="149595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91640"/>
            <a:ext cx="36576" cy="149595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801368"/>
            <a:ext cx="5074920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"grades.csv"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newline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η 1η γραμμή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Άννα 17  ·  Νίκος 9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1691640"/>
            <a:ext cx="5303520" cy="149595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691640"/>
            <a:ext cx="36576" cy="149595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801368"/>
            <a:ext cx="5029200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"grades.csv"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newline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DictReader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"grade"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Άννα 17  ·  Νίκος 9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29184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401568"/>
            <a:ext cx="5020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next(reader)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730752"/>
            <a:ext cx="5020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πρώτη γραμμή είναι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επικεφαλίδες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όχι δεδομένα. Το next() την «τραβάει» ώστε ο βρόχος να ξεκινήσει από τη 2η.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90488" y="3291840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340156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DictReader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730752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Χρησιμοποιεί τις επικεφαλίδες ως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κλειδιά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row["grade"] αντί για row[1]. Πιο ευανάγνωστο — το λεξικό της προηγούμενης φοράς.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800600"/>
            <a:ext cx="10927080" cy="822960"/>
          </a:xfrm>
          <a:prstGeom prst="roundRect">
            <a:avLst>
              <a:gd name="adj" fmla="val 6667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91032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Πάλι κείμενο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239512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row["grade"]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είναι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"17"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όχι 17. Για υπολογισμούς: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float(row["grade"])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ΣΥΜΒΟΥΛΉ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 να κρατήσεις τις γραμμές μετά το κλείσιμο του αρχείου: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rows = list(csv.DictReader(f))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μέσα στο with.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ΔΥΑΔΙΚΆ ΑΡΧΕΊΑ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pickle: αποθήκευσε ολόκληρη δομή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6035040" cy="2168957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2168957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760720" cy="194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pickle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"6971111111"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"6972222222"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"phone.dat"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"wb"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 + b = binary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dump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"phone.dat"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"rb"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76288" y="1463040"/>
          <a:ext cx="4617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3258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CSV / TXT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PICKLE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Το διαβάζει άνθρωπος;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όχι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Ανοίγει σε Excel;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όχι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Κρατά τύπους;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όχι (όλα str)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Οποιαδήποτε δομή;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πίνακες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76288" y="3429000"/>
            <a:ext cx="4617720" cy="1143000"/>
          </a:xfrm>
          <a:prstGeom prst="roundRect">
            <a:avLst>
              <a:gd name="adj" fmla="val 48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40880" y="353872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Δυαδικό αρχείο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3867912"/>
            <a:ext cx="4288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Δεν περιέχει κείμενο αλλά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bytes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Γι' αυτό mode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"wb" / "rb"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χωρίς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encoding.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388620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995928"/>
            <a:ext cx="5705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Πότε pickle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4325112"/>
            <a:ext cx="5705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Όταν θες να «παγώσεις» μια δομή Python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όπως είναι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λεξικό με λίστες, λίστα από πλειάδες — και να την ξαναφορτώσεις.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76288" y="4709160"/>
            <a:ext cx="4617720" cy="914400"/>
          </a:xfrm>
          <a:prstGeom prst="roundRect">
            <a:avLst>
              <a:gd name="adj" fmla="val 6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40880" y="481888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Ασφάλεια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5148072"/>
            <a:ext cx="4288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Ποτέ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pickle.load σε αρχείο από άγνωστη πηγή.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ΣΤΟ ΕΡΓΑΣΤΉΡΙΟ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Θα χρησιμοποιήσουμε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για τον κατάλογο: μπορείς να το ανοίξεις και να δεις τι αποθηκεύτηκε.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ΕΞΑΙΡΈΣΕΙΣ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Διαβάζοντας ένα μήνυμα λάθους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6035040" cy="1181405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181405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760720" cy="9619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Traceback (most recent call last):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 "age.py", line 2, in &lt;module&gt;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 = int(input("Ηλικία: "))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ValueError: invalid literal for int()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base 10: 'είκοσι'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76288" y="1463040"/>
            <a:ext cx="4617720" cy="1188720"/>
          </a:xfrm>
          <a:prstGeom prst="roundRect">
            <a:avLst>
              <a:gd name="adj" fmla="val 461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0" y="157276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Από κάτω προς τα πάνω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901952"/>
            <a:ext cx="4288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τελευταία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γραμμή λέει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έγινε (το είδος της εξαίρεσης). Οι από πάνω λένε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πού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(αρχείο, γραμμή).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109270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51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ΕΞΑΊΡΕΣΗ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ΠΌΤΕ ΣΥΜΒΑΊΝΕΙ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ΠΑΡΆΔΕΙΓΜΑ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ValueError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σωστός τύπος, λάθος τιμή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int("abc")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ZeroDivisionError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διαίρεση με το μηδέν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 / 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FileNotFoundError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το αρχείο δεν υπάρχει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open("x.txt")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KeyError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το κλειδί δεν υπάρχει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{}["a"]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IndexError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η θέση δεν υπάρχει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2][5]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TypeError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λάθος τύπος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"5" + 1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Η ΛΈΞΗ  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Εξαίρεση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(exception) = ένα λάθος που συμβαίνει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την ώρα που τρέχει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 πρόγραμμα, όχι λάθος σύνταξης.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/ EXCEPT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Δοκίμασε — κι αν στραβώσει…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349240" cy="1338682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338682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074920" cy="1119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"Ηλικία: 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"Του χρόνου:"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"Δώσε αριθμό, όχι γράμματα!"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"Τέλος"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0488" y="1463040"/>
            <a:ext cx="5303520" cy="1338682"/>
          </a:xfrm>
          <a:prstGeom prst="roundRect">
            <a:avLst>
              <a:gd name="adj" fmla="val 4098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57276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Πώς δουλεύει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901952"/>
            <a:ext cx="4974336" cy="790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Εκτελούνται οι γραμμές του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Αν μία βγάλει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ValueError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η Python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πηδάει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αμέσως στο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οι υπόλοιπες γραμμές του try δεν εκτελούνται.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Μετά το πρόγραμμα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συνεχίζει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κανονικά.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26080"/>
          <a:ext cx="109270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4864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ΕΊΣΟΔΟΣ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ΕΜΦΑΝΊΖΕΙ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ΤΙ ΈΓΙΝΕ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Του χρόνου: 20 · Τέλος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όλο το try, χωρίς except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είκοσι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Δώσε αριθμό, όχι γράμματα! · Τέλος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πήδηξε στο except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66928" y="420624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315968"/>
            <a:ext cx="5020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Βάλε στο try μόνο ό,τι μπορεί να «σκάσει»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4645152"/>
            <a:ext cx="5020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Όσο μικρότερο το try, τόσο πιο καθαρά ξέρεις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ποια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γραμμή έφταιξε.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90488" y="4206240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55080" y="431596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Πάντα με όνομα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355080" y="4645152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Γράφε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 ValueError: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όχι σκέτο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except: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Το σκέτο «καταπίνει»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όλα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τα λάθη — και τα δικά σου.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ΔΙΑΦΟΡΆ ΑΠΌ ΤΟ IF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if ελέγχει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πριν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Το try δοκιμάζει και διορθώνει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μετά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Για «είναι αριθμός;» το try είναι πολύ πιο απλό.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ΠΛΉΡΗΣ ΜΟΡΦΉ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except, else, finally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86400" cy="2282342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2282342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212080" cy="2062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"a: 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"b: 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"Μόνο αριθμοί!"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ZeroDivisionError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"Διαίρεση με το 0!"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"Αποτέλεσμα:"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"Τέλος υπολογισμού"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27648" y="1463040"/>
          <a:ext cx="5166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703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ΜΠΛΟΚ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ΕΚΤΕΛΕΊΤΑΙ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πάντα (μέχρι το πρώτο λάθος)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except Χ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μόνο αν έγινε λάθος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τύπου Χ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else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μόνο αν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δεν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έγινε κανένα λάθος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finally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πάντα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, ό,τι κι αν έγινε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27648" y="3429000"/>
          <a:ext cx="5166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947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A, B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ΕΜΦΑΝΊΖΕΙ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10, 4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Αποτέλεσμα: 2.5 · Τέλος υπολογισμού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10, 0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Διαίρεση με το 0! · Τέλος υπολογισμού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10, 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Μόνο αριθμοί! · Τέλος υπολογισμού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617720"/>
            <a:ext cx="5486400" cy="1005840"/>
          </a:xfrm>
          <a:prstGeom prst="roundRect">
            <a:avLst>
              <a:gd name="adj" fmla="val 545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4727448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else κι όχι μέσα στο try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5056632"/>
            <a:ext cx="5157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 να μην «πιάσει» κατά λάθος το except ένα λάθος της print.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ΠΟΎ ΧΡΗΣΙΜΕΎΕΙ ΤΟ FINALLY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 «καθάρισμα» που πρέπει να γίνει πάντα: κλείσιμο αρχείου, μήνυμα «τέλος», αποθήκευση.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ΜΟΤΊΒΟ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Ρώτα ξανά μέχρι να είναι σωστό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349240" cy="149595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49595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074920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"Ακέραιος: 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"Λάθος, ξαναδοκίμασε."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"Έδωσες"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0488" y="1463040"/>
            <a:ext cx="5303520" cy="149595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90488" y="1463040"/>
            <a:ext cx="36576" cy="149595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55080" y="1572768"/>
            <a:ext cx="5029200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Ακέραιος: πέντε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Λάθος, ξαναδοκίμασε.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Ακέραιος: 5.5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Λάθος, ξαναδοκίμασε.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Ακέραιος: 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Έδωσες 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108960"/>
            <a:ext cx="3511296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21868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while True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547872"/>
            <a:ext cx="3182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βρόχος που τρέχει μέχρι να του πεις «φτάνει» — από το 2ο μάθημα.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70832" y="3108960"/>
            <a:ext cx="3511296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35424" y="321868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 μέσα στο try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35424" y="3547872"/>
            <a:ext cx="3182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Φτάνει εκεί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μόνο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αν το int() πέτυχε. Τότε βγαίνουμε από τον βρόχο.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74736" y="3108960"/>
            <a:ext cx="3319272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39328" y="32186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39328" y="3547872"/>
            <a:ext cx="2990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 απέτυχε, τυπώνει μήνυμα και ο βρόχος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ξαναρωτά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617720"/>
            <a:ext cx="10927080" cy="1005840"/>
          </a:xfrm>
          <a:prstGeom prst="roundRect">
            <a:avLst>
              <a:gd name="adj" fmla="val 545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72744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Αυτό είναι το πιο χρήσιμο κομμάτι κώδικα της ημέρας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5056632"/>
            <a:ext cx="10597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Κάθε φορά που διαβάζεις αριθμό από χρήστη, μπορείς να το αντιγράψεις. Στις 9/11 θα το κάνουμε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συνάρτηση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για να μην το ξαναγράφουμε.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ΠΑΡΑΤΉΡΗΣΗ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5.5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απορρίφθηκε γιατί ζητάμε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Για δεκαδικούς άλλαξε σε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float(input(...))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ΑΡΧΕΊΑ + ΕΞΑΙΡΈΣΕΙΣ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Όταν το αρχείο δεν υπάρχει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6583680" cy="149595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49595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6309360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"phone.csv"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readlines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FileNotFoundError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"Δεν υπάρχει αρχείο — ξεκινάμε από το μηδέν."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"γραμμές"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424928" y="1463040"/>
            <a:ext cx="4069080" cy="1783080"/>
          </a:xfrm>
          <a:prstGeom prst="roundRect">
            <a:avLst>
              <a:gd name="adj" fmla="val 3077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0" y="1572768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πρώτη εκτέλεση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901952"/>
            <a:ext cx="37398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Την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πρώτη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φορά που τρέχει ο κατάλογος, το phone.csv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δεν έχει φτιαχτεί ακόμα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Αυτό δεν είναι λάθος — είναι αναμενόμενο.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063240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ΚΑΤΆΣΤΑΣΗ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ΑΠΟΤΈΛΕΣΜΑ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δεν υπάρχει το phone.csv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μήνυμα · 0 γραμμές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υπάρχει, με 3 επαφές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γραμμές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424928" y="3383280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3493008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Άλλα σφάλματα αρχείων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3822192"/>
            <a:ext cx="3739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PermissionError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δεν έχεις δικαίωμα (π.χ. το αρχείο είναι ανοιχτό στο Excel).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4251960"/>
            <a:ext cx="6583680" cy="1325880"/>
          </a:xfrm>
          <a:prstGeom prst="roundRect">
            <a:avLst>
              <a:gd name="adj" fmla="val 4138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361688"/>
            <a:ext cx="625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μοτίβο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690872"/>
            <a:ext cx="6254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Δοκίμασε να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φορτώσεις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→ αν λείπει, ξεκίνα με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κενή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δομή → στο τέλος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αποθήκευσε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Αυτό θα κάνουμε στον κατάλογο.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ΣΥΜΒΟΥΛΉ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 το πρόγραμμα «δεν βρίσκει» ένα αρχείο που βλέπεις, σχεδόν πάντα τρέχει από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άλλον φάκελο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Στο VS Code: Open Folder.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Σηκώνουμε εμείς μια εξαίρεση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6035040" cy="149595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49595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760720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"Βαθμός: 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"εκτός ορίων 0-20"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"Λάθος:"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"Εντάξει:"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76288" y="1463040"/>
          <a:ext cx="4617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520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ΕΊΣΟΔΟΣ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ΕΜΦΑΝΊΖΕΙ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Εντάξει: 17.0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Λάθος: εκτός ορίων 0-20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abc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Λάθος: could not convert string to float: 'abc'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063240"/>
            <a:ext cx="6035040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172968"/>
            <a:ext cx="5705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502152"/>
            <a:ext cx="5705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είναι έγκυρος αριθμός, αλλά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όχι έγκυρος βαθμός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Με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raise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 κάνουμε κι αυτό ValueError — και το πιάνει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ίδιο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except.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76288" y="3291840"/>
            <a:ext cx="4617720" cy="1143000"/>
          </a:xfrm>
          <a:prstGeom prst="roundRect">
            <a:avLst>
              <a:gd name="adj" fmla="val 48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40880" y="340156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 ... as 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730752"/>
            <a:ext cx="4288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κρατά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μήνυμα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της εξαίρεσης. Το τυπώνουμε για να ξέρει ο χρήστης τι έφταιξε.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4572000"/>
            <a:ext cx="10927080" cy="1005840"/>
          </a:xfrm>
          <a:prstGeom prst="roundRect">
            <a:avLst>
              <a:gd name="adj" fmla="val 545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Ένα σημείο για όλα τα λάθη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10912"/>
            <a:ext cx="10597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Είτε γράψει γράμματα είτε αριθμό εκτός ορίων, ο χρήστης παίρνει μήνυμα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από το ίδιο except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Ο κώδικας μένει απλός.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ΜΠΡΟΣΤΆ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raise θα το χρησιμοποιούμε πολύ στις συναρτήσεις (9/11) και στις κλάσεις (30/11): «αυτή η τιμή δεν επιτρέπεται».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ΆΣΚΗΣΗ Β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Ποια γράμματα θα τυπωθούν;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394960" cy="91440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17320"/>
            <a:ext cx="41148" cy="914400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9928"/>
            <a:ext cx="5084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 καθεμία από τις τρεις εισόδους του πίνακα, γράψε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 τη σειρά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τα γράμματα που εμφανίζονται.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514600"/>
            <a:ext cx="5394960" cy="2419502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2514600"/>
            <a:ext cx="36576" cy="2419502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624328"/>
            <a:ext cx="5120640" cy="2200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"Β"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"Γ"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ZeroDivisionError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"Δ"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"Ε"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"Ζ"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23620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ΛΎΣΗ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6208" y="1691640"/>
          <a:ext cx="5257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2606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ΕΊΣΟΔΟΣ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ΤΥΠΏΝΕΙ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ΓΙΑΤΊ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 Β Ε Ζ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κανένα λάθος → else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 Δ Ζ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λάθος στη διαίρεση: το Β χάνεται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abc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Γ Ζ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λάθος στο int(): ούτε Α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236208" y="3429000"/>
            <a:ext cx="5257800" cy="1143000"/>
          </a:xfrm>
          <a:prstGeom prst="roundRect">
            <a:avLst>
              <a:gd name="adj" fmla="val 48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3538728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Ζ σε όλες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3867912"/>
            <a:ext cx="4928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finally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εκτελείται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πάντα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είτε έγινε λάθος είτε όχι.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36208" y="4709160"/>
            <a:ext cx="5257800" cy="914400"/>
          </a:xfrm>
          <a:prstGeom prst="roundRect">
            <a:avLst>
              <a:gd name="adj" fmla="val 6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0" y="4818888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Ε μόνο μία φορά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5148072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μόνο όταν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δεν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έγινε κανένα λάθος.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Η ΟΥΣΊΑ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Μόλις γίνει λάθος, η εκτέλεση του try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σταματά εκεί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Ό,τι ακολουθεί μέσα στο try δεν εκτελείται ποτέ.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ΕΡΓΑΣΤΉΡΙΟ 1 · ΕΎΚΟΛΟ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Ασφαλής είσοδος βαθμών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0927080" cy="73152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17320"/>
            <a:ext cx="41148" cy="731520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10652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9928"/>
            <a:ext cx="1061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Διάβασε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βαθμούς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(0–20). Αν ο χρήστης γράψει κάτι που δεν είναι αριθμός ή είναι εκτός ορίων, εμφάνισε μήνυμα και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ξαναρώτα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τον ίδιο βαθμό. Στο τέλος εμφάνισε τον μέσο όρο.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3317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ΛΎΣΗ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" y="2606040"/>
            <a:ext cx="6035040" cy="1901952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2606040"/>
            <a:ext cx="36576" cy="1901952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715768"/>
            <a:ext cx="576072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f"Βαθμός {len(grades) + 1}: 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"εκτός ορίων 0-20"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"Λάθος:"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f"Μέσος όρος: {sum(grades) / len(grades):.2f}"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76288" y="2606040"/>
            <a:ext cx="4617720" cy="149595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76288" y="2606040"/>
            <a:ext cx="36576" cy="149595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040880" y="2715768"/>
            <a:ext cx="4343400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Βαθμός 1: 15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Βαθμός 2: abc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Λάθος: could not convert 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Βαθμός 2: 25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Λάθος: εκτός ορίων 0-20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Βαθμός 2: 12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Μέσος όρος: 14.90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6035040" cy="960120"/>
          </a:xfrm>
          <a:prstGeom prst="roundRect">
            <a:avLst>
              <a:gd name="adj" fmla="val 5714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773168"/>
            <a:ext cx="5705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while len(grades) &lt; 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102352"/>
            <a:ext cx="5705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Μετράμε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επιτυχίες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όχι προσπάθειες. Με for θα χάναμε βαθμούς σε κάθε λάθος.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ΤΑ ΠΆΝΤΑ ΜΑΖΊ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while, try/except, raise, λίστα, f-string. Δοκίμασε και κενή είσοδο (σκέτο Enter): πιάνεται κι αυτή από το ίδιο except.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ΕΡΓΑΣΤΉΡΙΟ 2 · ΜΈΤΡΙΟ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Στατιστικά από αρχείο CSV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76288" y="1371600"/>
            <a:ext cx="4617720" cy="123444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76288" y="1371600"/>
            <a:ext cx="41148" cy="1234440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0" y="1444752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040880" y="1664208"/>
            <a:ext cx="4306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Διάβασε το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grades.csv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εμφάνισε πλήθος μαθητών,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μέσο όρο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ποιοι πέρασαν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Αν το αρχείο λείπει, εμφάνισε μήνυμα αντί για σφάλμα.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76288" y="274320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GRADES.CSV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76288" y="2999232"/>
            <a:ext cx="2194560" cy="1181405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76288" y="2999232"/>
            <a:ext cx="36576" cy="1181405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40880" y="3108960"/>
            <a:ext cx="1920240" cy="9619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name,grade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Άννα,17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Νίκος,9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Μαρία,18.5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Γιώργος,11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Ελένη,7.5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208008" y="2999232"/>
            <a:ext cx="2286000" cy="1181405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08008" y="2999232"/>
            <a:ext cx="36576" cy="1181405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372600" y="3108960"/>
            <a:ext cx="2011680" cy="9619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Μαθητές: 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Μέσος όρος: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12.60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Πέρασαν: Άννα,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Μαρία, Γιώργος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371600"/>
            <a:ext cx="6035040" cy="281269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1371600"/>
            <a:ext cx="36576" cy="2812694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1481328"/>
            <a:ext cx="5760720" cy="2593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"grades.csv"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newline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DictReader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FileNotFoundError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"Δεν βρέθηκε το grades.csv"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"grade"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"grade"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f"Μαθητές: {len(rows)}"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f"Μέσος όρος: {sum(grades) / len(grades):.2f}"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"Πέρασαν:"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 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" y="443484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544568"/>
            <a:ext cx="5705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", ".join(λίστα)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873752"/>
            <a:ext cx="5705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Ενώνει τα στοιχεία μιας λίστας κειμένων με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", "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ανάμεσα: ["Άννα", "Μαρία"] → "Άννα, Μαρία".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76288" y="4251960"/>
            <a:ext cx="4617720" cy="1371600"/>
          </a:xfrm>
          <a:prstGeom prst="roundRect">
            <a:avLst>
              <a:gd name="adj" fmla="val 4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40880" y="436168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αρχείο είναι έτοιμο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4690872"/>
            <a:ext cx="4288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grades.csv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είναι στον φάκελο του μαθήματος. Άνοιξέ το και στο Excel για να δεις τον πίνακα.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ΔΟΚΊΜΑΣΕ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Μετονόμασε το αρχείο και τρέξε ξανά: πρέπει να δεις το μήνυμα, όχι Traceback. Μετά πρόσθεσε μια γραμμή στο CSV με το Excel.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ΕΡΓΑΣΤΉΡΙΟ 3 · Ο ΣΤΌΧΟΣ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Κατάλογος που θυμάται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6309360" cy="4293291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25880"/>
            <a:ext cx="36576" cy="4293291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35608"/>
            <a:ext cx="6035040" cy="4073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"phone.csv"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newline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reader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FileNotFoundError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1η φορά: κενός κατάλογος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"\n1.Προσθήκη 2.Αναζήτηση 3.Όλοι 0.Έξοδος: 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"Όνομα: 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"Τηλέφωνο: 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"Όνομα: 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"Δεν βρέθηκε"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"3"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f"{name}: {phone[name]}"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newline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"utf-8"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writer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writerows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f"Αποθηκεύτηκαν {len(phone)} επαφές."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"Λάθος επιλογή"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150608" y="1325880"/>
            <a:ext cx="4343400" cy="118872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50608" y="1325880"/>
            <a:ext cx="41148" cy="1188720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0" y="1399032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1618488"/>
            <a:ext cx="4032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κατάλογος της προηγούμενης φοράς, που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φορτώνει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τις επαφές στην αρχή και τις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αποθηκεύει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στην έξοδο.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150608" y="2651760"/>
            <a:ext cx="4343400" cy="1188720"/>
          </a:xfrm>
          <a:prstGeom prst="roundRect">
            <a:avLst>
              <a:gd name="adj" fmla="val 461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0" y="2761488"/>
            <a:ext cx="4014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Φόρτωση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090672"/>
            <a:ext cx="4014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 υπάρχει το phone.csv, γεμίζει το λεξικό. Αν όχι,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λέει «τίποτα, συνέχισε».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150608" y="3977640"/>
            <a:ext cx="4343400" cy="868680"/>
          </a:xfrm>
          <a:prstGeom prst="roundRect">
            <a:avLst>
              <a:gd name="adj" fmla="val 6316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0" y="4087368"/>
            <a:ext cx="4014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Μενού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416552"/>
            <a:ext cx="4014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Ίδιο με τις 26/10 — με λεξικό.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50608" y="4983480"/>
            <a:ext cx="4343400" cy="914400"/>
          </a:xfrm>
          <a:prstGeom prst="roundRect">
            <a:avLst>
              <a:gd name="adj" fmla="val 6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0" y="5093208"/>
            <a:ext cx="4014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Αποθήκευση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5422392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items()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δίνει ζευγάρια →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writerows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ΔΟΚΊΜΑΣΕ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Πρόσθεσε 2 επαφές, βγες με 0,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ξανατρέξε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 πρόγραμμα και πάτα 3. Οι επαφές είναι εκεί! Άνοιξε και το phone.csv να τις δεις.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ΣΎΝΟΨΗ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κρατάμε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11296" cy="1874520"/>
          </a:xfrm>
          <a:prstGeom prst="roundRect">
            <a:avLst>
              <a:gd name="adj" fmla="val 2927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0992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Αρχεία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39112"/>
            <a:ext cx="31821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open(όνομα, mode, encoding="utf-8")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διαβάζει,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σβήνει και γράφει,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προσθέτει. Ό,τι διαβάζεις είναι str.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70832" y="1600200"/>
            <a:ext cx="3511296" cy="1874520"/>
          </a:xfrm>
          <a:prstGeom prst="roundRect">
            <a:avLst>
              <a:gd name="adj" fmla="val 2927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35424" y="170992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 &amp; pickle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35424" y="2039112"/>
            <a:ext cx="31821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csv.writer / DictReader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για πίνακες που ανοίγουν και στο Excel.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pickle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για ολόκληρες δομές Python.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74736" y="1600200"/>
            <a:ext cx="3511296" cy="1874520"/>
          </a:xfrm>
          <a:prstGeom prst="roundRect">
            <a:avLst>
              <a:gd name="adj" fmla="val 2927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39328" y="170992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Εξαιρέσεις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39328" y="2039112"/>
            <a:ext cx="31821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δοκιμάζει,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πιάνει,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αν όλα καλά,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finally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πάντα.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raise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για δικά σου λάθη.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490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πρόγραμμά σου πλέον </a:t>
            </a:r>
            <a:pPr indent="0" marL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θυμάται</a:t>
            </a:r>
            <a:pPr indent="0" marL="0">
              <a:buNone/>
            </a:pPr>
            <a:r>
              <a:rPr lang="en-US" sz="15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(αρχεία) και </a:t>
            </a:r>
            <a:pPr indent="0" marL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αντέχει</a:t>
            </a:r>
            <a:pPr indent="0" marL="0">
              <a:buNone/>
            </a:pPr>
            <a:r>
              <a:rPr lang="en-US" sz="15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(εξαιρέσεις). Αυτά τα δύο ξεχωρίζουν ένα «πρόγραμμα άσκησης» από ένα πρόγραμμα που μπορεί να χρησιμοποιήσει κάποιος άλλος.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617720"/>
            <a:ext cx="10927080" cy="109728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2744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Επόμενη φορά · Δευ 9/11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056632"/>
            <a:ext cx="10597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Συναρτήσεις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το «ρώτα ξανά μέχρι να είναι σωστό» γίνεται μία γραμμή —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read_int("Ηλικία: ")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που καλείς όσες φορές θες.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ΓΙΑ ΤΟ ΣΠΊΤΙ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Ημερολόγιο: ρώτα μια σημείωση,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πρόσθεσέ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τη (mode "a") στο notes.txt, και στο τέλος τύπωσε όλο το αρχείο αριθμημένο.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Μάθημα 5 — Αρχεία και εξαιρέσεις</dc:title>
  <dc:subject>PptxGenJS Presentation</dc:subject>
  <dc:creator>Λαμπρόπουλος Χρήστος</dc:creator>
  <cp:lastModifiedBy>Λαμπρόπουλος Χρήστος</cp:lastModifiedBy>
  <cp:revision>1</cp:revision>
  <dcterms:created xsi:type="dcterms:W3CDTF">2026-10-11T20:36:57Z</dcterms:created>
  <dcterms:modified xsi:type="dcterms:W3CDTF">2026-10-11T20:36:57Z</dcterms:modified>
</cp:coreProperties>
</file>