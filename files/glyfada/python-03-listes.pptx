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7"/>
    <p:sldId id="278" r:id="rId6"/>
    <p:sldId id="279" r:id="rId5"/>
    <p:sldId id="280" r:id="rId4"/>
    <p:sldId id="281" r:id="rId3"/>
    <p:sldId id="282" r:id="rId33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6.xml"/><Relationship Id="rId4" Type="http://schemas.openxmlformats.org/officeDocument/2006/relationships/slide" Target="slides/slide25.xml"/><Relationship Id="rId5" Type="http://schemas.openxmlformats.org/officeDocument/2006/relationships/slide" Target="slides/slide24.xml"/><Relationship Id="rId6" Type="http://schemas.openxmlformats.org/officeDocument/2006/relationships/slide" Target="slides/slide23.xml"/><Relationship Id="rId7" Type="http://schemas.openxmlformats.org/officeDocument/2006/relationships/slide" Target="slides/slide22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EK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6350">
            <a:solidFill>
              <a:srgbClr val="2F4BD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826496" y="2468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Γλυφάδας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&amp; Pygame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ΜΑΘΗΜΑ 3 ΑΠΟ 15 · ΥΠΟΕΝΟΤΗΤΑ 2.3.Γ.2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12064" y="23317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Λίστες και πλειάδες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Πολλές τιμές σε μία μεταβλητή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Θεωρία σε 15 μικρά βήματα + 18 ασκήσεις στο εργαστήριο          Διάρκεια: 4 ώρες (3η–6η)          27 διαφάνειες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526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Προγραμματισμός Εφαρμογών Διαδικτύου &amp; Παιχνιδιών (Python, Pygame) · Γ΄ εξάμηνο · Δευτέρα 19/10/2026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02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ΣΤΟΧΟΙ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θα ξέρεις στο τέλος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463040"/>
            <a:ext cx="103418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Να φτιάχνεις μια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λίστα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να παίρνεις ένα στοιχείο από τη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θέση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του.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65376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6537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1847088"/>
            <a:ext cx="103418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Να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αλλάζεις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, να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προσθέτεις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να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αφαιρείς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στοιχεία.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49424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4942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2231136"/>
            <a:ext cx="103418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Να περνάς από όλα τα στοιχεία με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να βρίσκεις άθροισμα, μέσο όρο, μέγιστο.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633472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334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615184"/>
            <a:ext cx="103418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Να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γεμίζεις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μια λίστα με τιμές που δίνει ο χρήστης και να την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ταξινομείς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7520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1752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2999232"/>
            <a:ext cx="103418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Να χρησιμοποιείς </a:t>
            </a:r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πλειάδα</a:t>
            </a:r>
            <a:r>
              <a:rPr sz="130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για τιμές που πάνε μαζί, π.χ. μια θέση (x, y) — θα τη χρειαστείς στο pygame.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584448"/>
            <a:ext cx="5303520" cy="160020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49743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Πώς δουλεύουμε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497433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Η θεωρία είναι χωρισμένη σε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15 μικρά βήματα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Κάθε βήμα έχει πάνω δεξιά την ετικέτα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ΣΤΟ ΕΡΓΑΣΤΗΡΙΟ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με τον αριθμό της άσκησης στο site.</a:t>
            </a:r>
          </a:p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Διαβάζεις τη διαφάνεια → λύνεις την άσκηση → πας στο επόμενο βήμα.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584448"/>
            <a:ext cx="5349240" cy="160020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694176"/>
            <a:ext cx="5020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Από το εύκολο στο δύσκολο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023360"/>
            <a:ext cx="502005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Ασκήσεις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1–7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εύκολες, μία εντολή τη φορά.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Ασκήσεις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8–14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μέτριες, συνδυάζουν 2–3 βήματα.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Ασκήσεις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15–17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δύσκολες, όλα μαζί. 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18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είναι για το σπίτι.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ΣΥΝΔΕΣΗ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for της προηγούμενης φοράς περνούσε από αριθμούς (range) και από γράμματα. Σήμερα θα περνά από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λίστες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03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ΖΕΣΤΑΜΑ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Θυμάσαι από την προηγούμενη φορά;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Πέντε γρήγορες ερωτήσεις, 5 λεπτά. Τι εμφανίζει κάθε κομμάτι; Πρώτα σκέψου, μετά δες τη λύση.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9005"/>
            <a:ext cx="30000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ΛΥΣΗ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73325"/>
          <a:ext cx="6949440" cy="201168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463040"/>
                <a:gridCol w="201168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ΚΏΔΙΚΑΣ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ΑΠΟΤΈΛΕΣΜΑ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ΓΙΑΤΊ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for i in range(2, 6): print(i)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2 3 4 5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χωρίς το τέλος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for ch in "ok": print(ch)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o k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γράμμα-γράμμα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len("Python")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πόσα γράμματα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"Python"[0]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"P"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το πρώτο γράμμα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"y" in "Python"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True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υπάρχει μέσα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90688" y="2473325"/>
            <a:ext cx="3703320" cy="15544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2583053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Γιατί αυτά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912237"/>
            <a:ext cx="337413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Ό,τι ξέρεις για τα κείμενα —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len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[0]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in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— δουλεύει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σχεδόν ίδιο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και στις λίστες. Ξεκινάμε με πλεονέκτημα.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ΠΑΡΑΤΗΡΗΣΗ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Ένα κείμενο είναι μια σειρά από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γράμματα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Μια λίστα είναι μια σειρά από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ό,τι θέλεις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 αριθμούς, λέξεις…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04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ΤΟ ΠΡΟΒΛΗΜΑ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30 βαθμοί = 30 μεταβλητές;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ΧΩΡΙΣ ΛΙΣΤΑ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00784"/>
            <a:ext cx="5394960" cy="10759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36576" cy="1075944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5148072" cy="89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... άλλες 27 γραμμές ...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ΜΕ ΛΙΣΤΑ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700784"/>
            <a:ext cx="5257800" cy="10759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6208" y="1700784"/>
            <a:ext cx="36576" cy="107594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10512"/>
            <a:ext cx="5010912" cy="89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05328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1505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πάει στραβά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44240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Όσο περισσότεροι οι βαθμοί, τόσο μεγαλύτερος ο κώδικας. Κι αν τους δίνει ο χρήστης,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δεν ξέρεις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πόσες μεταβλητές να φτιάξεις.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005328"/>
            <a:ext cx="5257800" cy="137160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11505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κερδίζεις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44240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Ένα όνομα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για όλες τις τιμές. Ο ίδιος κώδικας δουλεύει για 5, 30 ή 3.000 βαθμούς, χωρίς καμία αλλαγή.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Η ΙΔΕΑ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Η λίστα είναι σαν ένα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κουτί με θήκες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 ένα όνομα, πολλές τιμές, η καθεμία στη θέση της.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05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 ΑΠΟ 15 · ΛΙΣΤΑ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Φτιάχνω μια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9141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91414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731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"Άννα"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"Νίκος"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"Ελένη"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['Άννα', 'Νίκος', 'Ελένη']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Πώς γράφεται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Ανοίγεις αγκύλη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γράφεις τις τιμές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χωρισμένες με κόμμα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κλείνεις με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Τα κείμενα θέλουν εισαγωγικά, οι αριθμοί όχι.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46227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Πόσα στοιχεία έχει;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0118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len(λίστα)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δίνει το πλήθος — όπως το len("Python") έδινε πόσα γράμματα έχει η λέξη.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507232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6960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Άδεια λίστα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946144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είναι μια λίστα χωρίς τίποτα μέσα. Θα τη γεμίσουμε αργότερα (βήμα 10).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ΘΥΜΗΣΟΥ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Αγκύλες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[ ]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= λίστα. Ένα στοιχείο ή εκατό, πάντα με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κόμμα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ανάμεσα.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06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2 ΑΠΟ 15 · ΘΕΣΕΙΣ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Παίρνω ένα στοιχείο από τη θέση του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618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fruits = ["μήλο", "αχλάδι", "κεράσι", "σύκο"]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91640"/>
          <a:ext cx="10927080" cy="9966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194560"/>
                <a:gridCol w="2194560"/>
                <a:gridCol w="2194560"/>
                <a:gridCol w="219456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ΘΈΣΗ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τιμή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"μήλο"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"αχλάδι"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"κεράσι"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"σύκο"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από το τέλος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-4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-3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-2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-1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2834640"/>
            <a:ext cx="5394960" cy="12435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834640"/>
            <a:ext cx="36576" cy="12435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44368"/>
            <a:ext cx="5148072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fruits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μήλο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fruits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κεράσι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fruits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σύκο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283464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94436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μέτρημα ξεκινά από το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7355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πρώτο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στοιχείο είναι στη θέση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0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το δεύτερο στη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… Με 4 στοιχεία η τελευταία θέση είναι 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87959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8932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[-1] είναι το τελευταίο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1850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Δεν χρειάζεται να ξέρεις πόσα στοιχεία έχει η λίστα: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[-1]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είναι πάντα το τελευταίο,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[-2]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το προτελευταίο.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ΣΥΧΝΟ ΛΑΘΟΣ  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fruits[4]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→ IndexError: ζήτησες θέση που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δεν υπάρχει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Εδώ οι θέσεις είναι 0, 1, 2,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07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3 ΑΠΟ 15 · ΑΛΛΑΓΗ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Αλλάζω ένα στοιχείο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9083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90830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ο 2ος βαθμός γίνεται 14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[12, 14, 17]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54224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ΜΕ ΠΡΑΞΗ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37688"/>
            <a:ext cx="5394960" cy="74066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837688"/>
            <a:ext cx="36576" cy="74066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47416"/>
            <a:ext cx="514807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+1 στον 1ο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[13, 14, 17]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Όπως μια μεταβλητή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Όπως γράφεις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x = 5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γράφεις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grades[1] = 14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«βάλε στη θέση 1 την τιμή 14». Η παλιά τιμή χάνεται.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462276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Ποια θέση;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01188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Οι θέσεις μετράνε από το 0. 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2ος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βαθμός είναι στη θέση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336798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44652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Στο κείμενο δεν γίνεται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75710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word[0] = "Μ" σε κείμενο βγάζει σφάλμα.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λίστα αλλάζει, το κείμενο όχι.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ΠΡΟΣΟΧΗ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Αλλάζεις μόνο θέση που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υπάρχει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Για νέο στοιχείο θέλεις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append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— επόμενο βήμα.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08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4 ΑΠΟ 15 · ΠΡΟΣΘΗΚΗ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Προσθέτω στοιχεία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7465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74650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"ψωμί"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"γάλα"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στο τέλος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['ψωμί', 'γάλα']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insert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"αυγά"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στη θέση 0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['αυγά', 'ψωμί', 'γάλα']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append(τιμή)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Βάζει την τιμή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στο τέλος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της λίστας. Αυτό θα χρησιμοποιείς σχεδόν πάντα.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462276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insert(θέση, τιμή)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01188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Βάζει την τιμή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στη θέση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που λες. Τα υπόλοιπα πάνε μία θέση δεξιά.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336798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44652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τελεία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75710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Γράφεις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όνομα_λίστας.append(…)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Η λίστα αλλάζει αμέσως, δεν χρειάζεται «cart = …».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ΣΥΧΝΟ ΛΑΘΟΣ  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cart = cart.append("τυρί")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→ χάνεις τη λίστα! Γράψε σκέτο cart.append("τυρί").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09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5 ΑΠΟ 15 · ΑΦΑΙΡΕΣΗ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Αφαιρώ στοιχεία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20817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20817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898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"αυγά"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"ψωμί"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"γάλα"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"τυρί"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remove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"ψωμί"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βγάζει την τιμή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['αυγά', 'γάλα', 'τυρί']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last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pop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βγάζει το τελευταίο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last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τυρί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['αυγά', 'γάλα']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remove(τιμή)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Ψάχνει την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τιμή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και τη βγάζει από τη λίστα (την πρώτη που θα βρει).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46227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pop()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0118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Βγάζει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τελευταίο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στοιχείο και σου το δίνει, για να το κρατήσεις σε μεταβλητή.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pop(0)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βγάζει το πρώτο.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ΣΥΧΝΟ ΛΑΘΟΣ  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cart.remove("μέλι")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όταν δεν υπάρχει μέλι → ValueError. Έλεγξε πρώτα με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in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— επόμενο βήμα.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6 ΑΠΟ 15 · ΑΝΑΖΗΤΗΣΗ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Υπάρχει στη λίστα;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6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0759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07594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89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guests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"Άννα"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"Νίκος"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"Ελένη"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"Νίκος"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guests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True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"Μαρία"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guests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21864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ΜΕ IF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05328"/>
            <a:ext cx="5394960" cy="10759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005328"/>
            <a:ext cx="36576" cy="107594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15056"/>
            <a:ext cx="5148072" cy="89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input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"Όνομα: 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guests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"Καλώς ήρθες!"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"Δεν είσαι στη λίστα"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Απαντά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True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ή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False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υπάρχει η τιμή μέσα στη λίστα; Είναι το ίδιο in που έψαχνε γράμμα σε κείμενο.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46227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Αφαίρεση χωρίς σφάλμα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0118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if "μέλι" in cart: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και από κάτω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cart.remove("μέλι")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Αν δεν υπάρχει, απλώς δεν γίνεται τίποτα.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507232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616960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Πόσες φορές;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46144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grades.count(10)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μετράει πόσες φορές υπάρχει το 10 στη λίστα.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ΣΥΝΔΕΣΗ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if … in … είναι το ίδιο if του Μαθήματος 2. Η συνθήκη τώρα ρωτάει μια λίστα.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ΣΤΟ ΧΑΡΤΙ 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έχει η λίστα μετά από κάθε γραμμή;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Γράψε στο τετράδιο πώς είναι η λίστα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μετά από κάθε γραμμή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Μετά τρέξε τον κώδικα στο «🧪 Ελεύθερο» του εργαστηρίου και έλεγξε.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9005"/>
            <a:ext cx="30000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ΛΥΣΗ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73325"/>
          <a:ext cx="6949440" cy="2350008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256032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ΓΡΑΜΜΉ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Η ΛΊΣΤΑ ΜΕΤΆ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ΤΙ ΈΓΙΝΕ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lst = [3, 1, 2]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[3, 1, 2]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φτιάχτηκε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lst.append(5)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[3, 1, 2, 5]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5 στο τέλος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lst.insert(0, 9)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[9, 3, 1, 2, 5]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9 στη θέση 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lst[1] = 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[9, 7, 1, 2, 5]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η θέση 1 έγινε 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lst.remove(1)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[9, 7, 2, 5]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έφυγε η τιμή 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x = lst.pop()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[9, 7, 2]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x = 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90688" y="2473325"/>
            <a:ext cx="3703320" cy="160020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2583053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παγίδα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912237"/>
            <a:ext cx="337413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remove(1)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βγάζει την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τιμή 1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— όχι το στοιχείο που είναι στη θέση 1 (εκείνη τη στιγμή το 7).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ΤΕΧΝΙΚΗ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Μία γραμμή του πίνακα για κάθε εντολή — όπως ο πίνακας τιμών του Μαθήματος 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7 ΑΠΟ 15 ·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Περνάω από όλα τα στοιχεία με for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2435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2435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"Άννα"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"Νίκος"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"Ελένη"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"Γεια σου,"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Γεια σου, Άννα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Γεια σου, Νίκος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Γεια σου, Ελένη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ΓΥΡΟ-ΓΥΡΟ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6208" y="1700784"/>
          <a:ext cx="5257800" cy="1335024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737360"/>
                <a:gridCol w="23317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ΓΎΡΟΣ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NAME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ΤΥΠΏΝΕΙ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1ος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"Άννα"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Γεια σου, Άννα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2ος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"Νίκος"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Γεια σου, Νίκος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3ος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"Ελένη"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Γεια σου, Ελένη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236208" y="320040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1012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όνομα το διαλέγεις εσύ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3931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 name in names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 g in grades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 x in nums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Συνήθως: η λίστα στον πληθυντικό, η μεταβλητή στον ενικό.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889504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99232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Πώς δουλεύει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28416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Σε κάθε γύρο η μεταβλητή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name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παίρνει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επόμενο στοιχείο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Όταν τελειώσουν τα στοιχεία, ο βρόχος σταματά μόνος του.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ΙΔΙΟ ΜΕ ΠΡΙΝ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for ch in "ok" περνούσε από γράμματα. 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for name in names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περνά από στοιχεία.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8 ΑΠΟ 15 · ΕΤΟΙΜΕΣ ΑΠΑΝΤΗΣΕΙΣ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len · sum · max · min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618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grades = [12, 8.5, 17, 9, 15]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91640"/>
          <a:ext cx="6949440" cy="201168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37160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ΓΡΆΦΕΙΣ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ΠΑΊΡΝΕΙΣ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ΤΙ ΕΊΝΑΙ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len(grades)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πόσα στοιχεία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sum(grades)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61.5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άθροισμα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max(grades)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 μεγαλύτερος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min(grades)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8.5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 μικρότερος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sum(grades) / len(grades)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12.3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μέσος όρος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3931920"/>
            <a:ext cx="6949440" cy="74066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931920"/>
            <a:ext cx="36576" cy="74066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67025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f"Μέσος όρος: {avg:.2f}"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Μέσος όρος: 12.30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90688" y="1691640"/>
            <a:ext cx="370332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1801368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όρος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2130552"/>
            <a:ext cx="33741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Δεν υπάρχει έτοιμη εντολή. Είναι πάντα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άθροισμα / πλήθος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δηλαδή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sum / len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0688" y="2736596"/>
            <a:ext cx="370332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2846324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Και στις λέξεις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3175508"/>
            <a:ext cx="33741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max(["Άννα", "Ελένη"])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'Ελένη'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η τελευταία αλφαβητικά.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ΘΥΜΗΣΟΥ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:.2f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(Μάθημα 1) δείχνει 2 δεκαδικά, 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:.1f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ένα.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9 ΑΠΟ 15 · ΜΕΤΡΑΩ ΚΑΙ ΔΙΑΛΕΓΩ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 + if: πόσοι; ποιοι;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9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 · ΜΕΤΡΗΤΗΣ: ΠΟΣΟΙ ΠΕΡΑΣΑΝ;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394960" cy="141122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36576" cy="141122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5148072" cy="1228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"Πέρασαν:"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Πέρασαν: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 · ΝΕΑ ΛΙΣΤΑ: ΠΟΙΟΙ ΠΕΡΑΣΑΝ;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00784"/>
            <a:ext cx="5257800" cy="141122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00784"/>
            <a:ext cx="36576" cy="141122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10512"/>
            <a:ext cx="5010912" cy="1228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[12, 17, 15]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40608"/>
            <a:ext cx="5394960" cy="118872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5033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Μετρητής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79520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Ξεκινά από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0 πριν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τον βρόχο. Μέσα,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+1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κάθε φορά που ισχύει το if. Όπως ο αθροιστής του Μαθήματος 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340608"/>
            <a:ext cx="5257800" cy="118872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45033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Νέα λίστα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79520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Ξεκινά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άδεια [] πριν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τον βρόχο. Μέσα,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append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ό,τι περνά το if.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ΤΟ ΜΟΤΙΒΟ  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Πριν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τον βρόχο: 0 ή [].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Μέσα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 if και πρόσθεση.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Μετά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τον βρόχο: print.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10 ΑΠΟ 15 · ΓΕΜΙΣΜΑ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Γεμίζω τη λίστα από τον χρήστη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11 ·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 · ΞΕΡΩ ΠΟΣΕΣ ΤΙΜΕΣ: 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394960" cy="17465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36576" cy="174650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5148072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range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x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input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"Αριθμός: 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x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Αριθμός: 4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Αριθμός: 7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Αριθμός: 1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[4, 7,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 · ΔΕΝ ΞΕΡΩ ΠΟΣΕΣ: WHILE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00784"/>
            <a:ext cx="5257800" cy="20817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00784"/>
            <a:ext cx="36576" cy="20817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10512"/>
            <a:ext cx="5010912" cy="1898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words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input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"Λέξη: 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break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words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words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Λέξη: γάτα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Λέξη: σκύλος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Λέξη:   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   # σκέτο Enter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['γάτα', 'σκύλος']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11168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2089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50080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Όταν ξέρεις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πόσες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τιμές θα δοθούν (ή τις ρωτάς πρώτα: «Πόσοι μαθητές;»).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4011168"/>
            <a:ext cx="5257800" cy="10058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12089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while True + break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50080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Όταν σταματά ο χρήστης: πατά σκέτο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Enter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(κενή γραμμή) και το break βγαίνει από τον βρόχο.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ΣΥΧΝΟ ΛΑΘΟΣ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nums = []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μπαίνει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πριν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τον βρόχο. Αν το βάλεις μέσα, η λίστα αδειάζει σε κάθε γύρο!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11 ΑΠΟ 15 · ΤΑΞΙΝΟΜΗΣΗ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Βάζω τη λίστα σε σειρά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NUMS.SORT() · ΑΛΛΑΖΕΙ ΤΗ ΛΙΣΤΑ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394960" cy="141122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36576" cy="141122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5148072" cy="1228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sort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[1, 2, 5, 9]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sort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reverse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[9, 5, 2,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SORTED(NUMS) · ΦΤΙΑΧΝΕΙ ΝΕΑ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00784"/>
            <a:ext cx="5257800" cy="12435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00784"/>
            <a:ext cx="36576" cy="12435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10512"/>
            <a:ext cx="5010912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sorted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[1, 2, 5, 9]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nums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[5, 2, 9, 1]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   # η παλιά έμεινε ίδια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40608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5033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reverse=True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79520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Από τον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μεγαλύτερο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στον μικρότερο. Χωρίς αυτό: από τον μικρότερο στον μεγαλύτερο.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340608"/>
            <a:ext cx="5257800" cy="10058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45033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Λέξεις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79520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Ταξινομούνται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αλφαβητικά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sorted(["Νίκος", "Άννα"]) → ['Άννα', 'Νίκος'].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ΣΥΧΝΟ ΛΑΘΟΣ  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nums = nums.sort()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→ η λίστα γίνεται None (τίποτα). Το sort() γράφεται μόνο του.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12 ΑΠΟ 15 · ΚΟΜΜΑΤΙ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Παίρνω ένα κομμάτι της λίστας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618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nums = [10, 20, 30, 40, 50, 60]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91640"/>
          <a:ext cx="6949440" cy="201168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920240"/>
                <a:gridCol w="320040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ΓΡΆΦΕΙΣ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ΠΑΊΡΝΕΙΣ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ΜΕ ΛΌΓΙΑ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nums[0:3]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[10, 20, 30]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από τη θέση 0 ως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πριν</a:t>
                      </a:r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 την 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nums[:3]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[10, 20, 30]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τα 3 πρώτα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nums[2:5]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[30, 40, 50]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θέσεις 2, 3, 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nums[3:]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[40, 50, 60]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από τη θέση 3 ως το τέλος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nums[-2:]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[50, 60]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τα 2 τελευταία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93192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ΟΙ 3 ΚΑΛΥΤΕΡΟΙ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215384"/>
            <a:ext cx="6949440" cy="9083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215384"/>
            <a:ext cx="36576" cy="90830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6702552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sorted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reverse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[19, 17, 15]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0688" y="1691640"/>
            <a:ext cx="370332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0" y="1801368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 κανόνας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2130552"/>
            <a:ext cx="33741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[αρχή:τέλος]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η αρχή μετράει,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τέλος όχι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Ίδιο με το range(αρχή, τέλος).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0688" y="2736596"/>
            <a:ext cx="370332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846324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 3 καλύτερα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3175508"/>
            <a:ext cx="33741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Ταξινόμησε από τον μεγαλύτερο (βήμα 11) και πάρε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[:3]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ΚΑΙ ΣΤΑ ΚΕΙΜΕΝΑ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"Python"[:2]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δίνει "Py".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13 ΑΠΟ 15 · ΔΥΟ ΛΙΣΤΕΣ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Θέση και τιμή μαζί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57886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57886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395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"Άννα"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"Νίκος"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"Ελένη"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range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Άννα 17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Νίκος 9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Ελένη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ΓΥΡΟ-ΓΥΡΟ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6208" y="1700784"/>
          <a:ext cx="5257800" cy="1335024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2011680"/>
                <a:gridCol w="224028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I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NAMES[I]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GRADES[I]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"Άννα"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"Νίκος"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"Ελένη"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236208" y="320040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1012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Ποιος έχει τον μεγαλύτερο;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3931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grades.index(17)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→ 0: σε ποια θέση είναι το 17.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Μετά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names[0]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→ "Άννα".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24784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34512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range(len(names))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63696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Δίνει τις θέσεις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0, 1, 2…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όσα και τα στοιχεία. Με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ίδιο i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παίρνεις από τις δύο λίστες το όνομα και τον βαθμό του ίδιου μαθητή.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ΠΡΟΣΟΧΗ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Οι δύο λίστες πρέπει να έχουν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την ίδια σειρά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και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ίδιο μήκος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19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ΠΡΟΣΟΧΗ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 πιο συχνά λάθη με τις λίστες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417320"/>
          <a:ext cx="10927080" cy="2843784"/>
        </p:xfrm>
        <a:graphic>
          <a:graphicData uri="http://schemas.openxmlformats.org/drawingml/2006/table">
            <a:tbl>
              <a:tblPr firstRow="0" bandRow="0"/>
              <a:tblGrid>
                <a:gridCol w="3383280"/>
                <a:gridCol w="2286000"/>
                <a:gridCol w="525780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ΤΙ ΈΓΡΑΨΕΣ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ΤΙ ΒΓΑΊΝΕΙ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Η ΔΙΌΡΘΩΣΗ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fruits[4]   (με 4 στοιχεία)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Consolas"/>
                          <a:ea typeface="Consolas"/>
                          <a:cs typeface="Consolas"/>
                        </a:rPr>
                        <a:t>IndexError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οι θέσεις είναι 0–3· για το τελευταίο: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fruits[-1]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cart.remove("μέλι")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Consolas"/>
                          <a:ea typeface="Consolas"/>
                          <a:cs typeface="Consolas"/>
                        </a:rPr>
                        <a:t>ValueError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έλεγξε πρώτα: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if "μέλι" in cart: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 = nums.sort()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Consolas"/>
                          <a:ea typeface="Consolas"/>
                          <a:cs typeface="Consolas"/>
                        </a:rPr>
                        <a:t>None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σκέτο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nums.sort()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 = []   (μέσα στο for)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Consolas"/>
                          <a:ea typeface="Consolas"/>
                          <a:cs typeface="Consolas"/>
                        </a:rPr>
                        <a:t>αδειάζει κάθε γύρο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βάλε το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nums = []</a:t>
                      </a:r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 πριν το for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["μήλο" "αχλάδι"]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Consolas"/>
                          <a:ea typeface="Consolas"/>
                          <a:cs typeface="Consolas"/>
                        </a:rPr>
                        <a:t>['μήλοαχλάδι']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ξέχασες το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κόμμα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sum(x) / len(x)   (άδεια x)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Consolas"/>
                          <a:ea typeface="Consolas"/>
                          <a:cs typeface="Consolas"/>
                        </a:rPr>
                        <a:t>ZeroDivisionError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έλεγξε πρώτα: </a:t>
                      </a:r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if len(x) &gt; 0: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663440"/>
            <a:ext cx="1092708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773168"/>
            <a:ext cx="10597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Διάβασε το μήνυμα του σφάλματος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02352"/>
            <a:ext cx="1059789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τελευταία γραμμή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λέει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πήγε στραβά (π.χ. IndexError). 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line 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λέει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σε ποια γραμμή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Στο εργαστήριο, ο έλεγχος σου το εξηγεί και στα ελληνικά.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ΣΥΜΒΟΥΛΗ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Όταν κάτι δεν βγαίνει, βάλε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print(λίστα)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μετά από κάθε βήμα και δες πώς αλλάζει.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20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14 ΑΠΟ 15 · ΠΛΕΙΑΔΑ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Πλειάδα: τιμές που πάνε μαζί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57886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57886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395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point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θέση x, y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red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χρώμα R, G, B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point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x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point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μοιράζω σε 2 μεταβλητές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x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3 4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24784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ΔΕΝ ΑΛΛΑΖΕΙ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508248"/>
            <a:ext cx="5394960" cy="5425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08248"/>
            <a:ext cx="36576" cy="542544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17976"/>
            <a:ext cx="5148072" cy="359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point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TypeError: 'tuple' object does not support item assignment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Παρενθέσεις αντί για αγκύλες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Η πλειάδα (στα αγγλικά tuple) γράφεται με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( 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Θέσεις,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len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in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for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δουλεύουν όπως στη λίστα.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46227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Δεν αλλάζει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0118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Δεν έχει append ούτε remove, ούτε αλλάζει θέση. Τη φτιάχνεις μία φορά και μένει έτσι.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507232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616960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x, y = 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46144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Οι τιμές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μοιράζονται με τη σειρά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στις μεταβλητές αριστερά. Όσες τιμές, τόσες μεταβλητές.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PYGAME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Στο pygame οι θέσεις είναι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(x, y)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και τα χρώματα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(R, G, B)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 screen.fill((255, 255, 255)).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21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ΣΤΟ ΧΑΡΤΙ 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Λίστα ή πλειάδα;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θα διάλεγες σε κάθε περίπτωση; Πρώτα σκέψου: θα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αλλάζει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ή μένει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ίδιο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9005"/>
            <a:ext cx="30000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ΛΥΣΗ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73325"/>
          <a:ext cx="7040880" cy="2011680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188720"/>
                <a:gridCol w="228600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ΠΕΡΊΠΤΩΣΗ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ΔΙΑΛΈΓΩ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ΓΙΑΤΊ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α) Τα προϊόντα στο καλάθι ενός e-shop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λίστα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 πελάτης βάζει και βγάζει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β) Η θέση (x, y) του παίκτη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πλειάδα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δύο τιμές που πάνε μαζί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γ) Ένα χρώμα RGB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πλειάδα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έτσι το θέλει το pygame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δ) Οι βαθμοί που δίνει ο χρήστης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λίστα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γεμίζει με append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ε) Οι 7 μέρες της εβδομάδας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πλειάδα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δεν αλλάζουν ποτέ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90688" y="2473325"/>
            <a:ext cx="3703320" cy="15544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2583053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 γρήγορος κανόνας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912237"/>
            <a:ext cx="33741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Θα βάζεις ή θα βγάζεις στοιχεία;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λίστα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Είναι ένα «πακέτο» που μένει ίδιο;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πλειάδα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ΣΗΜΕΙΩΣΗ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Και η λίστα θα «δούλευε» στα β, γ, ε. Η πλειάδα όμως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προστατεύει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τις τιμές από αλλαγή κατά λάθος.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22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15 ΑΠΟ 15 · ΠΙΝΑΚΑΣ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Λίστα με λίστες: πίνακας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14 ·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5394960" cy="157886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576" cy="157886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148072" cy="1395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[4, 5, 6]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24784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ΑΘΡΟΙΣΜΑ ΚΑΘΕ ΓΡΑΜΜΗΣ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508248"/>
            <a:ext cx="5394960" cy="10759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08248"/>
            <a:ext cx="36576" cy="107594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17976"/>
            <a:ext cx="5148072" cy="89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row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row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15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ΤΟ m ΣΑΝ ΠΙΝΑΚΑΣ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36208" y="1700784"/>
          <a:ext cx="5257800" cy="1335024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234440"/>
                <a:gridCol w="1234440"/>
                <a:gridCol w="123444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/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ΣΤΉΛΗ 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ΣΤΉΛΗ 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ΣΤΉΛΗ 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γραμμή 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γραμμή 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F4BD8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γραμμή 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8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36208" y="310896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21868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Δύο θέσεις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4787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Πρώτα 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γραμμή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μετά 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στήλη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m[γραμμή][στήλη]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Το m[1][2] είναι η γραμμή 1, στήλη 2 → 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4153916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26364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Πού θα το δεις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92828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Τρίλιζα, σκακιέρα, η πίστα ενός παιχνιδιού 2D: όλα είναι πίνακες.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ΠΛΗΘΗ  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len(m)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= πόσες γραμμές 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len(m[0])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= πόσες στήλες.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23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ΕΡΓΑΣΤΗΡΙΟ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Οι 18 ασκήσεις, βήμα-βήμα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417320"/>
          <a:ext cx="5394960" cy="3858768"/>
        </p:xfrm>
        <a:graphic>
          <a:graphicData uri="http://schemas.openxmlformats.org/drawingml/2006/table">
            <a:tbl>
              <a:tblPr firstRow="0" bandRow="0"/>
              <a:tblGrid>
                <a:gridCol w="457200"/>
                <a:gridCol w="2651760"/>
                <a:gridCol w="1234440"/>
                <a:gridCol w="105156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#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ΆΣΚΗΣΗ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ΕΠΊΠΕΔΟ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ΔΙΑΦΆΝΕΙΑ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Η πρώτη μου λίστα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Πρώτη, τρίτη, τελευταία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Διόρθωση βαθμού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Καλάθι: βάζω προϊόντα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8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Καλάθι: βγάζω προϊόντα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Είσαι στη λίστα;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Γεια σε όλους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8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Θερμοκρασίες εβδομάδας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Πόσοι πέρασαν;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417320"/>
          <a:ext cx="5257800" cy="3858768"/>
        </p:xfrm>
        <a:graphic>
          <a:graphicData uri="http://schemas.openxmlformats.org/drawingml/2006/table">
            <a:tbl>
              <a:tblPr firstRow="0" bandRow="0"/>
              <a:tblGrid>
                <a:gridCol w="457200"/>
                <a:gridCol w="2651760"/>
                <a:gridCol w="1234440"/>
                <a:gridCol w="91440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#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ΆΣΚΗΣΗ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ΕΠΊΠΕΔΟ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ΔΙΑΦΆΝΕΙΑ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Μόνο οι ζυγοί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Γέμισε τη λίστα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Οι 3 καλύτεροι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16, 17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Πλειάδα: πόσο μακριά;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Πίνακας: πόντοι ομάδων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Βαθμολογίες τάξης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Segoe UI"/>
                          <a:ea typeface="Segoe UI"/>
                          <a:cs typeface="Segoe UI"/>
                        </a:rPr>
                        <a:t>Δύσκολο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Πάνω από τον μέσο όρο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Segoe UI"/>
                          <a:ea typeface="Segoe UI"/>
                          <a:cs typeface="Segoe UI"/>
                        </a:rPr>
                        <a:t>Δύσκολο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18, 25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Μαγικό τετράγωνο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Segoe UI"/>
                          <a:ea typeface="Segoe UI"/>
                          <a:cs typeface="Segoe UI"/>
                        </a:rPr>
                        <a:t>Ο στόχος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22, 26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18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Λέξεις μέχρι κενή γραμμή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4BD8"/>
                          </a:solidFill>
                          <a:latin typeface="Segoe UI"/>
                          <a:ea typeface="Segoe UI"/>
                          <a:cs typeface="Segoe UI"/>
                        </a:rPr>
                        <a:t>Για το σπίτι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15, 16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Εργαστήριο →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Μάθημα 3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Κάθε άσκηση έχει το «📖 Στις διαφάνειες» που ανοίγει κατευθείαν τη σωστή διαφάνεια.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24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ΕΡΓΑΣΤΗΡΙΟ · ΔΥΣΚΟΛΟ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Βαθμολογίες τάξης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Διάβασε το πλήθος των μαθητών και τους βαθμούς τους. Εμφάνισε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 όρο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μέγιστο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ελάχιστο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πόσοι πέρασαν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(≥ 10) και τους βαθμούς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ταξινομημένους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από τον μεγαλύτερο.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146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ΛΥΣΗ · ΔΟΚΙΜΑΣΕ ΠΡΩΤΑ ΜΟΝΟΣ/Η ΣΟΥ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05786"/>
            <a:ext cx="6035040" cy="255422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05786"/>
            <a:ext cx="36576" cy="2554224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15514"/>
            <a:ext cx="5788152" cy="2371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input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"Πόσοι μαθητές; 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range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input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f"Βαθμός {i + 1}: 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f"Μέσος όρος: {avg:.2f}"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"Μέγιστος:"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 Ελάχιστος:"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min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"Πέρασαν:"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passed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"από"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"Ταξινομημένοι:"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sorted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reverse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76288" y="2605786"/>
            <a:ext cx="4617720" cy="13959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76288" y="2605786"/>
            <a:ext cx="36576" cy="13959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715514"/>
            <a:ext cx="4370832" cy="1213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Πόσοι μαθητές; 5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Βαθμός 1: 12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Βαθμός 2: 8.5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...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Μέσος όρος: 12.30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Μέγιστος: 17.0  Ελάχιστος: 8.5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Πέρασαν: 3 από 5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Ταξινομημένοι: [17.0, 15.0, 12.0, 9.0, 8.5]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4138930"/>
            <a:ext cx="461772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248658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Από ποια βήματα;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577842"/>
            <a:ext cx="428853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10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γέμισμα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8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sum, max, min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9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μετρητής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11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sorted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ΓΙΑΤΙ 17.0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Διαβάσαμε με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float()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, οπότε όλοι οι βαθμοί είναι δεκαδικοί και τυπώνονται με .0.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25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ΕΡΓΑΣΤΗΡΙΟ · ΔΥΣΚΟΛΟ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Ποιοι είναι πάνω από τον μέσο όρο;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Έχεις δύο λίστες: τα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ονόματα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τους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βαθμούς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(στην ίδια σειρά). Εμφάνισε τον μέσο όρο, όσους είναι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πάνω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από αυτόν και το όνομα του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καλύτερου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146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ΛΥΣΗ · ΔΟΚΙΜΑΣΕ ΠΡΩΤΑ ΜΟΝΟΣ/Η ΣΟΥ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05786"/>
            <a:ext cx="6035040" cy="20665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05786"/>
            <a:ext cx="36576" cy="2066544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15514"/>
            <a:ext cx="5788152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"Άννα"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"Νίκος"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"Μαρία"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"Γιώργος"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"Ελένη"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f"Μέσος όρος: {avg:.2f}"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range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avg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 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best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index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grades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"Καλύτερος/η:"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names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best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0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76288" y="2605786"/>
            <a:ext cx="4617720" cy="8473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76288" y="2605786"/>
            <a:ext cx="36576" cy="84734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715514"/>
            <a:ext cx="4370832" cy="664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</a:pPr>
            <a:r>
              <a:rPr sz="10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Μέσος όρος: 12.30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  Μαρία 17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  Ελένη 15</a:t>
            </a:r>
          </a:p>
          <a:p>
            <a:pPr>
              <a:lnSpc>
                <a:spcPts val="1200"/>
              </a:lnSpc>
            </a:pPr>
            <a:r>
              <a:rPr sz="100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Καλύτερος/η: Μαρία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3590290"/>
            <a:ext cx="461772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3700018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γραμμή του best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029202"/>
            <a:ext cx="42885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max(grades)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17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· grades.index(17)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2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· names[2]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Μαρία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4635246"/>
            <a:ext cx="461772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4744974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Από ποια βήματα;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5074158"/>
            <a:ext cx="428853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8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sum, len, max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δύο λίστες με range(len(…))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ΣΥΜΒΟΥΛΗ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Κόλλησες; Λύσε πρώτα μόνο τον μέσο όρο, μετά μόνο τη λίστα, και στο τέλος τον καλύτερο.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26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ΕΡΓΑΣΤΗΡΙΟ · Ο ΣΤΟΧΟΣ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Είναι μαγικό τετράγωνο;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Ένας πίνακας 3×3 είναι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μαγικός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όταν όλες οι γραμμές, όλες οι στήλες και οι δύο διαγώνιοι έχουν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ίδιο άθροισμα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Μάζεψε τα αθροίσματα σε μια λίστα και πες αν είναι μαγικός.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146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ΛΥΣΗ · ΔΟΚΙΜΑΣΕ ΠΡΩΤΑ ΜΟΝΟΣ/Η ΣΟΥ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05786"/>
            <a:ext cx="6035040" cy="26990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05786"/>
            <a:ext cx="36576" cy="2699004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15514"/>
            <a:ext cx="5788152" cy="2516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7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9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row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                </a:t>
            </a:r>
            <a:r>
              <a:rPr sz="9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γραμμές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row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range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           </a:t>
            </a:r>
            <a:r>
              <a:rPr sz="9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στήλες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9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διαγώνιος ↘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append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9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διαγώνιος ↙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"Αθροίσματα:"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min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sums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"Μαγικό!"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950" b="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95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"Όχι μαγικό"</a:t>
            </a:r>
            <a:r>
              <a:rPr sz="9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76288" y="2605786"/>
            <a:ext cx="4617720" cy="5273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76288" y="2605786"/>
            <a:ext cx="36576" cy="52730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715514"/>
            <a:ext cx="4370832" cy="344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Αθροίσματα: [15, 15, 15, 15, 15, 15, 15, 15]</a:t>
            </a:r>
          </a:p>
          <a:p>
            <a:pPr>
              <a:lnSpc>
                <a:spcPts val="1140"/>
              </a:lnSpc>
            </a:pPr>
            <a:r>
              <a:rPr sz="950" b="0">
                <a:solidFill>
                  <a:srgbClr val="4A5265"/>
                </a:solidFill>
                <a:latin typeface="Consolas"/>
                <a:ea typeface="Consolas"/>
                <a:cs typeface="Consolas"/>
              </a:rPr>
              <a:t>Μαγικό!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3270250"/>
            <a:ext cx="461772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3379978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ιδέα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709162"/>
            <a:ext cx="42885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 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μικρότερος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από τα αθροίσματα είναι ίσος με τον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μεγαλύτερο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τότε είναι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όλα ίδια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4315206"/>
            <a:ext cx="461772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4424934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Από ποια βήματα;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54118"/>
            <a:ext cx="428853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15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πίνακας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4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append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8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sum, min, max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ΠΡΟΚΛΗΣΗ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Άλλαξε το 5 σε 6 και τρέξε ξανά. Τι βγαίνει; Γιατί;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27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ΣΥΝΟΨΗ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κρατάμε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417320"/>
          <a:ext cx="6949440" cy="406908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39319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ΘΈΛΩ ΝΑ…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ΓΡΆΦΩ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φτιάξω λίστα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 = [4, 7, 1]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πάρω το πρώτο / το τελευταίο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nums[0] · nums[-1]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αλλάξω ένα στοιχείο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nums[1] = 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προσθέσω στο τέλος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nums.append(5)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βγάλω μια τιμή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nums.remove(7) · nums.pop()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δω αν υπάρχει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if 7 in nums: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περάσω από όλα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for x in nums: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βρω πλήθος, άθροισμα, max, min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len · sum · max · min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ταξινομήσω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nums.sort() · sorted(nums)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πάρω τα 3 πρώτα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nums[:3]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90688" y="1417320"/>
            <a:ext cx="370332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527048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Πλειάδα (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856232"/>
            <a:ext cx="337413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Σαν λίστα που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δεν αλλάζει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Για τιμές που πάνε μαζί: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(x, y)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(R, G, B)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x, y = point.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90688" y="2462276"/>
            <a:ext cx="3703320" cy="107823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572004"/>
            <a:ext cx="33741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Επόμενη φορά · Δευ 26/10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01188"/>
            <a:ext cx="337413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Σύνολα και λεξικά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συλλογές χωρίς διπλότυπα και αναζήτηση με «κλειδί», π.χ. όνομα → τηλέφωνο.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ΓΙΑ ΤΟ ΣΠΙΤΙ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Άσκηση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18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στο εργαστήριο: διάβαζε λέξεις μέχρι κενή γραμμή (βήμα 10).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Μάθημα 3 — Λίστες και πλειάδες</dc:title>
  <dc:subject>PptxGenJS Presentation</dc:subject>
  <dc:creator>Λαμπρόπουλος Χρήστος</dc:creator>
  <cp:lastModifiedBy>Λαμπρόπουλος Χρήστος</cp:lastModifiedBy>
  <cp:revision>1</cp:revision>
  <dcterms:created xsi:type="dcterms:W3CDTF">2026-10-05T13:44:36Z</dcterms:created>
  <dcterms:modified xsi:type="dcterms:W3CDTF">2026-10-05T13:44:36Z</dcterms:modified>
</cp:coreProperties>
</file>