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EK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6350">
            <a:solidFill>
              <a:srgbClr val="2F4B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26496" y="246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Γλυφάδας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&amp; Pygame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ΜΑΘΗΜΑ 3 ΑΠΟ 15 · ΥΠΟΕΝΟΤΗΤΑ 2.3.Γ.2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Λίστες και πλειάδες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Πολλές τιμές σε μία μεταβλητή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Θεωρία + 3 ασκήσεις + 3 προγράμματα με λύσεις          Διάρκεια: 4 ώρες (3η–6η)          26 διαφάνειες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526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Προγραμματισμός Εφαρμογών Διαδικτύου &amp; Παιχνιδιών (Python, Pygame) · Γ΄ εξάμηνο · Δευτέρα 19/10/2026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ΣΤΌΧΟΙ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θα ξέρεις στο τέλος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463040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φτιάχνεις λίστες και να παίρνεις στοιχεία με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δείκτες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(και αρνητικούς) και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slicing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847088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προσθέτεις, να αφαιρείς και να ταξινομείς στοιχεία με τις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μεθόδους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της λίστας.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" y="2231136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διατρέχεις λίστα με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να υπολογίζεις άθροισμα, μέσο όρο, μέγιστο, πλήθος.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615184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φτιάχνεις νέα λίστα από παλιά σε μία γραμμή με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comprehension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2999232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δουλεύεις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πίνακα 2 διαστάσεων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(λίστα από λίστες).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401568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401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" y="3383280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ξέρεις πότε θέλεις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πλειάδα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(tuple) αντί για λίστα — και γιατί θα τη χρειαστεί το pygame.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977640"/>
            <a:ext cx="10927080" cy="1143000"/>
          </a:xfrm>
          <a:prstGeom prst="roundRect">
            <a:avLst>
              <a:gd name="adj" fmla="val 48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08736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Πώς είναι οργανωμένο το 4ωρο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416552"/>
            <a:ext cx="10597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Ώρες 1–2: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λίστες — δημιουργία, δείκτες, μέθοδοι, διάσχιση — και πλειάδες.  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Ώρες 3–4: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εργαστήριο — βαθμολογίες τάξης, παράλληλες λίστες και στο τέλος ένα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μαγικό τετράγωνο 3×3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ΣΎΝΔΕΣΗ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for της προηγούμενης φοράς διέτρεχε range και κείμενα. Σήμερα θα διατρέχει λίστες — εκεί δείχνει όλη του τη δύναμη.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ΖΈΣΤΑΜΑ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Θυμάσαι από την προηγούμενη φορά;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658368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65836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Πέντε γρήγορες ερωτήσεις, 5 λεπτά. Τι εμφανίζει κάθε κομμάτι;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40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14600"/>
          <a:ext cx="69494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ΚΏΔΙΚΑΣ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ΓΙΑΤΊ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i in range(2, 6): print(i)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2 3 4 5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χωρίς το τέλος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ch in "ok": print(ch)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 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γράμμα-γράμμα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len("Python")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μήκος κειμένου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"Py"[0]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"P"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πρώτο γράμμα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"y" in "Python"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υπάρχει μέσα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90688" y="2514600"/>
            <a:ext cx="3703320" cy="1828800"/>
          </a:xfrm>
          <a:prstGeom prst="roundRect">
            <a:avLst>
              <a:gd name="adj" fmla="val 3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2624328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αυτά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953512"/>
            <a:ext cx="3374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Ό,τι ισχύει για τα κείμενα —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[0]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ισχύει σχεδόν αυτούσιο και για τις λίστες. Ξεκινάμε με πλεονέκτημα.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ΠΑΡΑΤΉΡΗΣΗ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 κείμενο είναι ήδη μια «σειρά από γράμματα». Η λίστα είναι μια σειρά από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οτιδήποτε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ΤΟ ΠΡΌΒΛΗΜΑ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βαθμοί, 30 μεταβλητές;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ΧΩΡΊΣ ΛΊΣΤΑ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ΜΕ ΛΊΣΤΑ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1181405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grade1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grade3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άλλες 27 γραμμές ...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grade1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f"{avg:.2f}"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12.30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017520"/>
            <a:ext cx="5349240" cy="1508760"/>
          </a:xfrm>
          <a:prstGeom prst="roundRect">
            <a:avLst>
              <a:gd name="adj" fmla="val 3636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2724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πάει στραβά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56432"/>
            <a:ext cx="5020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κώδικας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μεγαλώνει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με το πλήθος. Και αν τους βαθμούς τους δίνει ο χρήστης,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ξέρεις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πόσες μεταβλητές να φτιάξεις.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3017520"/>
            <a:ext cx="5303520" cy="1508760"/>
          </a:xfrm>
          <a:prstGeom prst="roundRect">
            <a:avLst>
              <a:gd name="adj" fmla="val 3636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1272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κερδίζεις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456432"/>
            <a:ext cx="4974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 όνομα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για όλες τις τιμές. Ο ίδιος κώδικας δουλεύει για 5, 30 ή 3.000 βαθμούς — χωρίς καμία αλλαγή.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 ΙΔΈΑ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λίστα είναι για τις τιμές ό,τι ο βρόχος για τις εντολές: γράφεις μία φορά, δουλεύει για όσα χρειαστεί.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ΔΗΜΙΟΥΡΓΊΑ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Φτιάχνουμε λίστες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2059229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2059229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1839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"Άννα"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"Νίκος"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1, 2, 3, 4]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['a', 'b', 'c']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σύνταξη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Αγκύλες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στοιχεία χωρισμένα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κόμμα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Η κενή λίστα είναι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283464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9443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Μεγαλώνει και μικραίνει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273552"/>
            <a:ext cx="4974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δηλώνεις μέγεθος από πριν. Η λίστα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προσαρμόζεται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καθώς προσθέτεις ή αφαιρείς στοιχεία — σε αντίθεση με τους πίνακες σταθερού μεγέθους άλλων γλωσσών.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0488" y="4434840"/>
            <a:ext cx="5303520" cy="1143000"/>
          </a:xfrm>
          <a:prstGeom prst="roundRect">
            <a:avLst>
              <a:gd name="adj" fmla="val 480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45445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Οποιοσδήποτε τύπος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873752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Μπορεί να έχει και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διαφορετικούς τύπους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μαζί. Στην πράξη, κράτα μία λίστα για ένα είδος δεδομένων.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ΧΡΉΣΙΜΟ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list()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μετατρέπει σε λίστα ό,τι διατρέχεται: ένα range, ένα κείμενο — και αργότερα αρχεία.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ΔΕΊΚΤΕΣ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Κάθε στοιχείο έχει θέση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fruits = ["μήλο", "αχλάδι", "κεράσι", "σύκο"]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ΘΈΣΗ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τιμή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"μήλο"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"αχλάδι"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"κεράσι"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"σύκο"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από το τέλος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063240"/>
            <a:ext cx="534924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3063240"/>
            <a:ext cx="36576" cy="1338682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3172968"/>
            <a:ext cx="507492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'μήλο'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[-1]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'σύκο'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IndexError: list index out of range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90488" y="306324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31729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μέτρημα ξεκινά από το 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3502152"/>
            <a:ext cx="4974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πρώτο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στοιχείο είναι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[0]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το τελευταίο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[len − 1]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Με 4 στοιχεία, το [4] δεν υπάρχει.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90488" y="4480560"/>
            <a:ext cx="5303520" cy="1143000"/>
          </a:xfrm>
          <a:prstGeom prst="roundRect">
            <a:avLst>
              <a:gd name="adj" fmla="val 48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459028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Αρνητικοί δείκτες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4919472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[-1]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είναι πάντα το τελευταίο — όσο μεγάλη κι αν είναι η λίστα.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ΤΟ ΠΙΟ ΣΥΧΝΌ ΣΦΆΛΜΑ  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IndexError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ζήτησες θέση που δεν υπάρχει. Σχεδόν πάντα είναι το «ένα παραπάνω» — το [len] αντί για το [len − 1].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ΑΛΛΑΓΉ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λίστα αλλάζει, το κείμενο όχι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ΛΊΣΤΑ · ΑΛΛΆΖΕΙ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ΚΕΊΜΕΝΟ · ΔΕΝ ΑΛΛΆΖΕΙ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 10, 17]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102412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"Γάτα"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"Μ"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'str' object does not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 item assignment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88036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99008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Μεταβλητή (mutable)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319272"/>
            <a:ext cx="5020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Μπορείς να αλλάξεις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οποιοδήποτε στοιχείο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της λίστας, χωρίς να φτιάξεις καινούργια.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288036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99008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Αμετάβλητο (immutable)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319272"/>
            <a:ext cx="4974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κείμενο δεν αλλάζει. Φτιάχνεις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νέο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 = "Μ" + word[1:]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"Μάτα".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526280"/>
            <a:ext cx="10927080" cy="109728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63600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μας νοιάζει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965192"/>
            <a:ext cx="10597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διάκριση «αλλάζει / δεν αλλάζει» είναι όλη η διαφορά ανάμεσα σε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λίστα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πλειάδα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που βλέπουμε σε λίγο.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ΌΡΟΣ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Στα βιβλία θα το βρεις ως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mutable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(μεταβλητό) και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(αμετάβλητο).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Κομμάτι λίστας: [αρχή:τέλος]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nums = [10, 20, 30, 40, 50, 60]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2560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ΓΡΆΦΕΙΣ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ΠΑΊΡΝΕΙΣ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ΣΗΜΑΊΝΕΙ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nums[1:4]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[20, 30, 40]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θέσεις 1, 2, 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nums[:3]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[10, 20, 30]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τα 3 πρώτα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nums[3:]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[40, 50, 60]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από τη θέση 3 ως το τέλος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nums[-2:]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[50, 60]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τα 2 τελευταία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nums[::2]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[10, 30, 50]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ανά δύο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nums[::-1]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[60, 50, ..., 10]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ανάποδα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07808" y="1691640"/>
            <a:ext cx="3886200" cy="1600200"/>
          </a:xfrm>
          <a:prstGeom prst="roundRect">
            <a:avLst>
              <a:gd name="adj" fmla="val 342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0" y="180136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Ίδιος κανόνας με το range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130552"/>
            <a:ext cx="3557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τέλος δεν περιλαμβάνεται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Το [1:4] δίνει 4 − 1 =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στοιχεία.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07808" y="3429000"/>
            <a:ext cx="3886200" cy="1554480"/>
          </a:xfrm>
          <a:prstGeom prst="roundRect">
            <a:avLst>
              <a:gd name="adj" fmla="val 3529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353872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«σκάει»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867912"/>
            <a:ext cx="3557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slicing εκτός ορίων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δίνει σφάλμα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το nums[4:100] δίνει απλώς [50, 60].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ΙΣΧΎΕΙ ΚΑΙ ΓΙΑ ΚΕΊΜΕΝΑ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"Python"[::-1]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δίνει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"nohtyP"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Ο έλεγχος παλίνδρομου γίνεται σε μία γραμμή: word == word[::-1].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ΆΣΚΗΣΗ 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Δείκτες και κομμάτια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86868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86868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τη λίστα δίπλα, βρες τι δίνει κάθε έκφραση. Πρώτα στο χαρτί, μετά στη γραμμή εντολών.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1417320"/>
            <a:ext cx="5257800" cy="395021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1417320"/>
            <a:ext cx="36576" cy="395021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527048"/>
            <a:ext cx="49834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"Δευ"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"Τρι"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"Τετ"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"Πεμ"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"Παρ"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4688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4320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2286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ΈΚΦΡΑΣΗ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ΣΧΌΛΙΟ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days[1]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"Τρι"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δεύτερη θέση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days[-2]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"Πεμ"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προτελευταίο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days[1:3]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["Τρι", "Τετ"]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χωρίς τη θέση 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days[3:]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["Πεμ", "Παρ"]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ως το τέλος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len(days[:2])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λίστα με 2 στοιχεία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days[5]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IndexError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θέσεις 0 έως 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days[0][0]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"Δ"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πρώτο γράμμα του πρώτου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790688" y="2743200"/>
            <a:ext cx="3703320" cy="1828800"/>
          </a:xfrm>
          <a:prstGeom prst="roundRect">
            <a:avLst>
              <a:gd name="adj" fmla="val 300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0" y="2852928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πιο ύπουλη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3182112"/>
            <a:ext cx="3374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days[0][0]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το days[0] είναι το κείμενο "Δευ", και το [0] του κειμένου είναι το "Δ". Οι δείκτες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στοιβάζονται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ΣΤΌΧΟΣ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«βλέπεις» τη λίστα με τις θέσεις της. Όταν διστάζεις, γράψε τους δείκτες από κάτω, όπως στη διαφάνεια 6.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ΜΈΘΟΔΟΙ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Προσθήκη στοιχείων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8836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883664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"ψωμί"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"γάλα"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στο τέλος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"αυγά"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σε θέση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['αυγά', 'ψωμί', 'γάλα']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"τυρί"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"μέλι"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ΜΈΘΟΔΟΣ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ΤΙ ΚΆΝΕΙ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.append(x)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βάζει το x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στο τέλος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.insert(i, x)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βάζει το x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στη θέση 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.extend(list)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βάζει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όλα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τα στοιχεία άλλης λίστας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list1 + list2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φτιάχνει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νέα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ενωμένη λίστα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90488" y="333756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344728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παγίδα append ή extend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3776472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cart.append(["τυρί", "μέλι"])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βάζει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μία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λίστα μέσα στη λίστα. Για να μπουν τα δύο στοιχεία χωριστά, θέλεις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352044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63016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«τελεία»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959352"/>
            <a:ext cx="5020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Οι μέθοδοι καλούνται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πάνω στη λίστα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lista.append(...). Αλλάζουν την ίδια τη λίστα.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ΣΤΗΝ ΠΡΆΞΗ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μέσα σε βρόχο είναι ο νούμερο ένα τρόπος να γεμίσεις μια λίστα από τον χρήστη. Θα τον δεις στο εργαστήριο.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ΜΈΘΟΔΟΙ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Αφαίρεση στοιχείων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920240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92024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το πρώτο 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 8, 3, 1]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το τελευταίο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= 1,  nums = [5, 8, 3]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= 5, nums = [8, 3]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ΕΝΤΟΛΉ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ΑΦΑΙΡΕΊ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ΕΠΙΣΤΡΈΦΕΙ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.remove(x)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την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τιμή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x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τίποτα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.pop()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τελευταίο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στοιχείο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.pop(i)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τη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θέση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το στοιχείο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 lst[i]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τη θέση 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τίποτα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90488" y="333756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344728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remove: τιμή, pop: θέση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3776472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remove(3)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ψάχνει την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τιμή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3.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pop(3)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βγάζει ό,τι βρίσκεται στη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θέση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3. Μπερδεύονται συχνά.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3547872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657600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δεν υπάρχει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986784"/>
            <a:ext cx="5020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remove(99)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σε λίστα χωρίς 99 δίνει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ValueError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Έλεγξε πρώτα: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99 in nums: nums.remove(99)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ΠΌΤΕ POP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Όταν θέλεις και να βγάλεις και να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χρησιμοποιήσεις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το στοιχείο: π.χ. «τράβα την επόμενη κάρτα από την τράπουλα».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ΑΝΑΖΉΤΗΣΗ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Ερωτήσεις σε μια λίστα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grades = [12, 8.5, 17, 9, 17, 15]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2926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ΓΡΆΦΕΙΣ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ΑΠΑΝΤΆ ΣΤΟ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len(grades)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πόσα στοιχεία;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sum(grades)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78.5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άθροισμα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min(grades)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 μικρότερος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max(grades)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 μεγαλύτερος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 in grades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υπάρχει;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grades.count(17)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πόσες φορές;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grades.index(17)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σε ποια θέση (πρώτη);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07808" y="16916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0" y="180136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Μέσος όρος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1305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υπάρχει έτοιμο avg(). Γράφεις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sum(grades) / len(grades)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13.08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(με :.2f).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07808" y="32918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340156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Λίστα χωρίς στοιχεία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7307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max([])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min([])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δίνουν σφάλμα, και ο μέσος όρος διαίρεση με 0. Έλεγξε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grades: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πριν.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ΣΎΝΔΕΣΗ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που έλεγχε γράμματα σε κείμενο, εδώ ελέγχει στοιχεία σε λίστα. Ίδια λέξη, ίδια λογική.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ΤΑΞΙΝΌΜΗΣΗ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sort() ή sorted();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LIST.SORT() · ΑΛΛΆΖΕΙ ΤΗ ΛΊΣΤΑ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SORTED(LIST) · ΦΤΙΆΧΝΕΙ ΝΈΑ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5, 9]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[9, 5, 2, 1]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5, 9]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 2, 9, 1]   # ίδια!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01752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2724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Πότε sort()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56432"/>
            <a:ext cx="5020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Όταν δεν σε νοιάζει η αρχική σειρά. Αλλάζει τη λίστα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επί τόπου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301752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1272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Πότε sorted()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456432"/>
            <a:ext cx="4974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Όταν θέλεις να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κρατήσεις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την αρχική σειρά. Δουλεύει και σε κείμενα: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sorted("cab")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526280"/>
            <a:ext cx="5349240" cy="70957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526280"/>
            <a:ext cx="36576" cy="709574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636008"/>
            <a:ext cx="507492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0488" y="4526280"/>
            <a:ext cx="5303520" cy="1143000"/>
          </a:xfrm>
          <a:prstGeom prst="roundRect">
            <a:avLst>
              <a:gd name="adj" fmla="val 480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463600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παγίδα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965192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δεν επιστρέφει τίποτα (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Μην το εκχωρείς σε μεταβλητή — χάνεις τη λίστα.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ΕΠΊΣΗΣ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nums.reverse()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αντιστρέφει τη σειρά χωρίς να ταξινομήσει. Τα κείμενα ταξινομούνται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αλφαβητικά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ΔΙΆΣΧΙΣΗ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πάνω σε λίστα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ΣΤΟΙΧΕΊΟ-ΣΤΟΙΧΕΊΟ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ΜΕ ΘΈΣΗ (ENUMERATE)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"Άννα"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"Νίκος"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"Ελένη"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"Γεια σου,"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Γεια σου, Άννα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f"{i}. {name}"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Άννα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Νίκος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Ελένη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9260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ΦΤΙΆΧΝΩ ΝΈΑ ΛΊΣΤΑ ΜΈΣΑ ΣΕ ΒΡΌΧΟ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3200400"/>
            <a:ext cx="534924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200400"/>
            <a:ext cx="36576" cy="1338682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310128"/>
            <a:ext cx="507492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with_vat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with_vat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1.24,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with_vat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[12.4, 31.0, 49.6]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0488" y="320040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3101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μοτίβο «κενή λίστα + append»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639312"/>
            <a:ext cx="4974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Ξεκινάς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έξω από τον βρόχο και προσθέτεις μέσα. Ίδια λογική με τον αθροιστή που ξεκινά από 0.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4663440"/>
            <a:ext cx="5303520" cy="1005840"/>
          </a:xfrm>
          <a:prstGeom prst="roundRect">
            <a:avLst>
              <a:gd name="adj" fmla="val 5455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47731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Μην αλλάζεις τη λίστα που διατρέχεις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5102352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Αφαίρεση μέσα σε for πάνω στην ίδια λίστα πηδάει στοιχεία. Φτιάξε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νέα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ΚΑΙ ΜΕ RANGE;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i in range(len(names))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δουλεύει, αλλά 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enumerate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είναι πιο καθαρό όταν θέλεις και θέση και τιμή.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ΆΣΚΗΣΗ Β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Βήμα-βήμα: τι έχει η λίστα;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86868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86868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Γράψε πώς είναι η λίστα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μετά από κάθε γραμμή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Τι τυπώνει στο τέλος;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468880"/>
            <a:ext cx="539496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468880"/>
            <a:ext cx="36576" cy="1338682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512064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3620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6208" y="1691640"/>
          <a:ext cx="5257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10515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ΓΡΑΜΜΉ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1, 2]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1, 2]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append(5)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1, 2, 5]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insert(0, 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[9, 3, 1, 2, 5]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remove(1)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[9, 3, 2, 5]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[9, 3, 2]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sort()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[2, 3, 9]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36208" y="406908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4178808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Τυπώνει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4507992"/>
            <a:ext cx="4928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[2, 3, 9] 5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3950208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05993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παγίδα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389120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remove(1)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βγάζει την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τιμή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1, όχι το στοιχείο της θέσης 1 (που εκείνη τη στιγμή είναι το 3).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ΤΕΧΝΙΚΉ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πίνακας τιμών δουλεύει και για λίστες: μια στήλη για κάθε μεταβλητή, μια γραμμή για κάθε εντολή.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ΠΡΟΣΟΧΉ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Δύο ονόματα, μία λίστα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 ΠΑΓΊΔΑ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 ΣΩΣΤΉ ΑΝΤΙΓΡΑΦΉ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102412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4]   # άλλαξε κι η a!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ή a[:]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88036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99008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έγινε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319272"/>
            <a:ext cx="5020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= a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δεν φτιάχνει δεύτερη λίστα. Δίνει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δεύτερο όνομα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στην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ίδια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λίστα. Ό,τι αλλάξεις από το b φαίνεται και από το 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2880360"/>
            <a:ext cx="5303520" cy="1600200"/>
          </a:xfrm>
          <a:prstGeom prst="roundRect">
            <a:avLst>
              <a:gd name="adj" fmla="val 342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99008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λύση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319272"/>
            <a:ext cx="4974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.copy()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(ή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a[:]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φτιάχνει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νέα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λίστα με τα ίδια στοιχεία. Τώρα οι δύο είναι ανεξάρτητες.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617720"/>
            <a:ext cx="10927080" cy="1005840"/>
          </a:xfrm>
          <a:prstGeom prst="roundRect">
            <a:avLst>
              <a:gd name="adj" fmla="val 545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72744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με τους αριθμούς δεν συμβαίνει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056632"/>
            <a:ext cx="10597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Οι αριθμοί και τα κείμενα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αλλάζουν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(immutable), οπότε το x = y δεν κρύβει εκπλήξεις. Με λίστες, που αλλάζουν, κρύβει.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ΚΑΝΌΝΑΣ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Θέλεις αντίγραφο λίστας για να το πειράξεις; Γράψε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.copy()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Πάντα.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ΣΥΝΤΟΜΟΓΡΑΦΊΑ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comprehension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ΜΕ ΒΡΌΧΟ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ΣΕ ΜΊΑ ΓΡΑΜΜΉ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866851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866851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4, 9, 16, 25]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866851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866851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6)]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4, 9, 16, 25]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69748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80720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μορφή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136392"/>
            <a:ext cx="10597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τι_βάζω  for στοιχείο in κάτι  if συνθήκη 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το if στο τέλος είναι προαιρετικό και λειτουργεί σαν φίλτρο.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94760"/>
          <a:ext cx="1092708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5074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ΚΏΔΙΚΑΣ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[g for g in grades if g &gt;= 10]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μόνο οι βαθμοί που πέρασαν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[n.upper() for n in names]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όλα τα ονόματα με κεφαλαία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[x for x in range(20) if x % 3 == 0]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[0, 3, 6, 9, 12, 15, 18]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ΜΈΤΡΟ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η γραμμή γίνει δυσανάγνωστη, γύρνα στον κανονικό βρόχο. Ο σκοπός είναι η καθαρότητα, όχι η συντομία.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ΔΙΑΣΤΆΣΕΙΣ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Λίστα από λίστες: πίνακας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9]]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[1][2])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ΣΤΉΛΗ 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ΣΤΉΛΗ 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ΣΤΉΛΗ 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γραμμή 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γραμμή 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← m[1][2]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γραμμή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2697480"/>
            <a:ext cx="534924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69748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2807208"/>
            <a:ext cx="507492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4 5 6 ...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90488" y="297180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30815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Δύο δείκτες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410712"/>
            <a:ext cx="4974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Πρώτα 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γραμμή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μετά 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στήλη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m[γραμμή][στήλη]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Το m[1] είναι ολόκληρη η γραμμή [4, 5, 6].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0488" y="443484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55080" y="45445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Πού θα το δεις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4873752"/>
            <a:ext cx="4974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Σκακιέρα, τρίλιζα, πλέγμα πίστας σε παιχνίδι 2D — όλα πίνακες γραμμών × στηλών.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" y="4114800"/>
            <a:ext cx="5349240" cy="1508760"/>
          </a:xfrm>
          <a:prstGeom prst="roundRect">
            <a:avLst>
              <a:gd name="adj" fmla="val 3636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22452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Ένθετοι βρόχοι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553712"/>
            <a:ext cx="5020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εξωτερικός διατρέχει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γραμμές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ο εσωτερικός τα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στοιχεία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κάθε γραμμής — όπως στην προπαίδεια της προηγούμενης φοράς.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ΠΛΉΘΗ  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len(m)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πλήθος γραμμών.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len(m[0])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πλήθος στηλών.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ΠΛΕΙΆΔΕΣ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tuple: λίστα που δεν αλλάζει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65323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65323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143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(5,)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προσοχή στο κόμμα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'tuple' object does not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 item assignment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σύνταξη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Παρενθέσεις ( 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αντί για αγκύλες. Δείκτες, slicing, len, in, for δουλεύουν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ακριβώς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όπως στη λίστα.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283464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9443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διαφορά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273552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αλλάζει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ούτε append, ούτε remove, ούτε εκχώρηση σε θέση.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0488" y="42062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43159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να τη θέλω;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645152"/>
            <a:ext cx="4974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δεδομένα που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ανήκουν μαζί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δεν πρέπει να αλλάξουν κατά λάθος: συντεταγμένες, ημερομηνία, χρώμα.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47288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557016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(5,)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886200"/>
            <a:ext cx="5020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(5)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είναι απλώς ο αριθμός 5 σε παρένθεση. Για πλειάδα ενός στοιχείου χρειάζεται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κόμμα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(5,).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PYGAME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Στο pygame οι θέσεις είναι πλειάδες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(x, y)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τα χρώματα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(R, G, B)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screen.fill((255, 255, 255)).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ΑΠΟΣΥΜΠΊΕΣΗ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Unpacking: μία πλειάδα, πολλές μεταβλητές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3 4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1024128"/>
          </a:xfrm>
          <a:prstGeom prst="roundRect">
            <a:avLst>
              <a:gd name="adj" fmla="val 535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Ήταν εδώ από την αρχή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a, b = b, a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του 1ου μαθήματος είναι unpacking: δεξιά φτιάχνεται η πλειάδα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(b, a)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μοιράζεται αριστερά.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697480"/>
            <a:ext cx="5349240" cy="143012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697480"/>
            <a:ext cx="36576" cy="1430122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07208"/>
            <a:ext cx="5074920" cy="1210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"Άννα"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17),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"Νίκος"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"Ελένη"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15)]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"πέρασε"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Άννα πέρασε  ·  Ελένη πέρασε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0488" y="2697480"/>
            <a:ext cx="5303520" cy="1338682"/>
          </a:xfrm>
          <a:prstGeom prst="roundRect">
            <a:avLst>
              <a:gd name="adj" fmla="val 409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80720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Λίστα από πλειάδες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136392"/>
            <a:ext cx="4974336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Κάθε μαθητής είναι μια πλειάδα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(όνομα, βαθμός)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τα δύο ανήκουν μαζί.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Στο for τα «ξεπακετάρεις» κατευθείαν σε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315968"/>
            <a:ext cx="10927080" cy="1143000"/>
          </a:xfrm>
          <a:prstGeom prst="roundRect">
            <a:avLst>
              <a:gd name="adj" fmla="val 480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425696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Πλήθος μεταβλητών = πλήθος στοιχείων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754880"/>
            <a:ext cx="10597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x, y = (1, 2, 3)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δίνει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ValueError: too many values to unpack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Αριστερά και δεξιά πρέπει να ταιριάζουν.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ΜΠΡΟΣΤΆ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Μια συνάρτηση που «επιστρέφει δύο τιμές» στην πραγματικότητα επιστρέφει μία πλειάδα. Θα το δούμε στις συναρτήσεις (9/11).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ΣΎΓΚΡΙΣΗ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Λίστα, πλειάδα, κείμενο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651760"/>
                <a:gridCol w="2697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ΛΊΣΤΑ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ΠΛΕΙΆΔΑ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ΚΕΊΜΕΝΟ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Σύνταξη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(1, 2, 3)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"abc"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Αλλάζει;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ναι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όχι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όχι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Περιέχει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οτιδήποτε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οτιδήποτε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μόνο χαρακτήρες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append, sort, remove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ναι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όχι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όχι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[i], [a:b], len, in, for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ναι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ναι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ναι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Τυπική χρήση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συλλογή που μεγαλώνει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εγγραφή σταθερών πεδίων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κείμενο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9768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40740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Μετατροπές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736592"/>
            <a:ext cx="5020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list((1, 2))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[1, 2] 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tuple([1, 2])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(1, 2) 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list("ab")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['a', 'b']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90488" y="429768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440740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γρήγορος κανόνας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4736592"/>
            <a:ext cx="4974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προσθέτεις / αφαιρείς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στοιχεία; → λίστα. Είναι ένα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«πακέτο»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που δεν αλλάζει; → πλειάδα.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ΕΠΌΜΕΝΗ ΦΟΡΆ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Υπάρχουν άλλες δύο δομές: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σύνολα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(χωρίς διπλότυπα) και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λεξικά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(κλειδί → τιμή). Δευτέρα 26/10.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ΆΣΚΗΣΗ Γ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Λίστα ή πλειάδα;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82296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82296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θα διάλεγες;  α) Τα προϊόντα στο καλάθι ενός e-shop.  β) Οι συντεταγμένες (x, y) ενός παίκτη τη στιγμή που σκοράρει.  γ) Ένα χρώμα RGB.  δ) Οι βαθμοί που δίνει ο χρήστης ένας-ένας.  ε) Οι 7 μέρες της εβδομάδας.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231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697480"/>
            <a:ext cx="128016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6974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· λίστα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975104" y="2679192"/>
            <a:ext cx="899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πελάτης </a:t>
            </a:r>
            <a:pPr indent="0" marL="0">
              <a:buNone/>
            </a:pPr>
            <a:r>
              <a:rPr lang="en-US" sz="12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προσθέτει και αφαιρεί</a:t>
            </a:r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προϊόντα → αλλάζει.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118104"/>
            <a:ext cx="128016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1181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· πλειάδα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975104" y="3099816"/>
            <a:ext cx="899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 x και y είναι ένα </a:t>
            </a:r>
            <a:pPr indent="0" marL="0">
              <a:buNone/>
            </a:pPr>
            <a:r>
              <a:rPr lang="en-US" sz="12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«πακέτο»</a:t>
            </a:r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μια στιγμή που δεν αλλάζει.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538728"/>
            <a:ext cx="128016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538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· πλειάδα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3520440"/>
            <a:ext cx="899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Τρεις τιμές (R, G, B) που ανήκουν </a:t>
            </a:r>
            <a:pPr indent="0" marL="0">
              <a:buNone/>
            </a:pPr>
            <a:r>
              <a:rPr lang="en-US" sz="12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μαζί</a:t>
            </a:r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Έτσι τα θέλει και το pygame.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959352"/>
            <a:ext cx="128016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3959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· λίστα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975104" y="3941064"/>
            <a:ext cx="899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Γεμίζει </a:t>
            </a:r>
            <a:pPr indent="0" marL="0">
              <a:buNone/>
            </a:pPr>
            <a:r>
              <a:rPr lang="en-US" sz="12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σταδιακά</a:t>
            </a:r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με append μέσα σε βρόχο.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379976"/>
            <a:ext cx="128016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43799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· πλειάδα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975104" y="4361688"/>
            <a:ext cx="899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Σταθερές: </a:t>
            </a:r>
            <a:pPr indent="0" marL="0">
              <a:buNone/>
            </a:pPr>
            <a:r>
              <a:rPr lang="en-US" sz="12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πρέπει</a:t>
            </a:r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να αλλάξουν κατά λάθος.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ΣΗΜΕΊΩΣΗ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Και η λίστα θα «δούλευε» στα β, γ, ε. Η πλειάδα όμως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δηλώνει πρόθεση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«αυτό δεν αλλάζει» — και το προστατεύει.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ΕΡΓΑΣΤΉΡΙΟ 1 · ΕΎΚΟΛΟ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Βαθμολογίες τάξης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73152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73152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Διάβασε το πλήθος των μαθητών και τους βαθμούς τους. Εμφάνισε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μέσο όρο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μέγιστο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ελάχιστο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πόσοι πέρασαν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(≥ 10) και τους βαθμούς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ταξινομημένους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από τον μεγαλύτερο.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331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606040"/>
            <a:ext cx="6035040" cy="2439619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606040"/>
            <a:ext cx="36576" cy="2439619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15768"/>
            <a:ext cx="5760720" cy="222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"Πόσοι μαθητές; 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f"Βαθμός {i + 1}: 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f"Μέσος όρος: {avg:.2f}"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f"Μέγιστος: {max(grades)}  Ελάχιστος: {min(grades)}"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f"Πέρασαν: {len(passed)} από {n}"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"Ταξινομημένοι:"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76288" y="2606040"/>
            <a:ext cx="4617720" cy="165323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76288" y="2606040"/>
            <a:ext cx="36576" cy="165323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0" y="2715768"/>
            <a:ext cx="4343400" cy="143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Πόσοι μαθητές; 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Βαθμός 1: 12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Βαθμός 2: 8.5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Μέσος όρος: 12.30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Μέγιστος: 17.0  Ελάχιστος: 8.5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Πέρασαν: 3 από 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Ταξινομημένοι: [17.0, 15.0,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12.0, 9.0, 8.5]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76288" y="4434840"/>
            <a:ext cx="4617720" cy="1188720"/>
          </a:xfrm>
          <a:prstGeom prst="roundRect">
            <a:avLst>
              <a:gd name="adj" fmla="val 461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454456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17.0 και όχι 17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4873752"/>
            <a:ext cx="4288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Διαβάσαμε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οπότε όλοι οι βαθμοί είναι float — και τυπώνονται με .0.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ΑΝ ΔΏΣΕΙ 0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n = 0 ο μέσος όρος διαιρεί με το μηδέν. Βελτίωση: τύλιξε τους υπολογισμούς σε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grades: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ΕΡΓΑΣΤΉΡΙΟ 2 · ΜΈΤΡΙΟ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Ποιοι είναι πάνω από τον μέσο όρο;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73152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73152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Έχεις δύο λίστες: τα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ονόματα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τους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βαθμούς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(στην ίδια σειρά). Εμφάνισε όσους είναι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πάνω από τον μέσο όρο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το όνομα του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καλύτερου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331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606040"/>
            <a:ext cx="6035040" cy="2125066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606040"/>
            <a:ext cx="36576" cy="2125066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15768"/>
            <a:ext cx="5760720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"Άννα"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"Νίκος"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"Μαρία"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"Γιώργος"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"Ελένη"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f"Μέσος όρος: {avg:.2f}"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  {name}: {g}"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"Καλύτερος/η:"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76288" y="2606040"/>
            <a:ext cx="4617720" cy="866851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76288" y="2606040"/>
            <a:ext cx="36576" cy="866851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0" y="2715768"/>
            <a:ext cx="434340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Μέσος όρος: 12.30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Μαρία: 17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Ελένη: 15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Καλύτερος/η: Μαρία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76288" y="3611880"/>
            <a:ext cx="4617720" cy="1005840"/>
          </a:xfrm>
          <a:prstGeom prst="roundRect">
            <a:avLst>
              <a:gd name="adj" fmla="val 545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372160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zip()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4050792"/>
            <a:ext cx="4288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Περπατάει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δύο λίστες μαζί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δίνει ζευγάρια (όνομα, βαθμός).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76288" y="4754880"/>
            <a:ext cx="4617720" cy="914400"/>
          </a:xfrm>
          <a:prstGeom prst="roundRect">
            <a:avLst>
              <a:gd name="adj" fmla="val 6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486460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γραμμή του best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5193792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→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index(17) →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names[2] →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Μαρία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ΕΝΑΛΛΑΚΤΙΚΆ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μία λίστα από πλειάδες (όπως στη διαφάνεια 20) τα δεδομένα κάθε μαθητή μένουν μαζί και δεν κινδυνεύουν να «ξεσυγχρονιστούν».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ΕΡΓΑΣΤΉΡΙΟ 3 · Ο ΣΤΌΧΟΣ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Είναι μαγικό τετράγωνο;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927080" cy="73152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41148" cy="73152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4475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6420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Ένας πίνακας 3×3 είναι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μαγικός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όταν όλες οι γραμμές, όλες οι στήλες και οι δύο διαγώνιοι έχουν το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ίδιο άθροισμα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Υπολόγισε τα αθροίσματα και πες αν είναι μαγικός.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6035040" cy="3291840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40280"/>
            <a:ext cx="36576" cy="3291840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350008"/>
            <a:ext cx="576072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[[2,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6],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1],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8]]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row_sums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col_sums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col_sums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(3)])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][2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(3)])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all_sums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row_sums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col_sums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"Γραμμές:"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row_sums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Στήλες:"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col_sums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"Διαγώνιοι:"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"Μαγικό!"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all_sums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all_sums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"Όχι μαγικό"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76288" y="2240280"/>
          <a:ext cx="46177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ΣΤ. 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ΣΤ. 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ΣΤ. 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γρ. 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γρ. 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γρ.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876288" y="3611880"/>
            <a:ext cx="4617720" cy="70957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76288" y="3611880"/>
            <a:ext cx="36576" cy="709574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040880" y="3721608"/>
            <a:ext cx="43434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Γραμμές: [15, 15, 15]  Στήλες: [15, 15, 15]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Διαγώνιοι: 15 15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Μαγικό!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876288" y="4434840"/>
            <a:ext cx="4617720" cy="1234440"/>
          </a:xfrm>
          <a:prstGeom prst="roundRect">
            <a:avLst>
              <a:gd name="adj" fmla="val 4444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40880" y="454456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 πάντα μαζί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4873752"/>
            <a:ext cx="4288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2D λίστα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ένθετοι βρόχοι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comprehension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 / min / max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ένωση λιστών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ΠΡΌΚΛΗΣΗ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Άλλαξε ένα στοιχείο (π.χ. το 5 σε 6) και τρέξε ξανά. Μετά κάνε τον κώδικα να δουλεύει για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οποιοδήποτε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N×N με len(m).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ΣΎΝΟΨΗ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κρατάμε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11296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099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Λίστα [ 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39112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Αλλάζει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append, insert, remove, pop, sort. Δείκτες από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[-1]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είναι το τελευταίο.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70832" y="1600200"/>
            <a:ext cx="3511296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5424" y="17099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Πλειάδα ( 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2039112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αλλάζει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Για «πακέτα» τιμών: (x, y), (R, G, B). Unpacking: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x, y = point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74736" y="1600200"/>
            <a:ext cx="3511296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9328" y="17099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Δύο παγίδες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2039112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= a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δεν αντιγράφει — θέλει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.copy()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επιστρέφει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6576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διατρέχεις, με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 / len / max / min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απαντάς σε ερωτήσεις, με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comprehension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φτιάχνεις νέες λίστες σε μία γραμμή, και με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λίστες από λίστες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φτιάχνεις πίνακες.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572000"/>
            <a:ext cx="10927080" cy="1143000"/>
          </a:xfrm>
          <a:prstGeom prst="roundRect">
            <a:avLst>
              <a:gd name="adj" fmla="val 48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68172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Επόμενη φορά · Δευ 26/10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010912"/>
            <a:ext cx="10597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Σύνολα και λεξικά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συλλογές χωρίς διπλότυπα και αναζήτηση με «κλειδί» — π.χ. όνομα → τηλέφωνο.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ΣΠΊΤΙ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Διάβαζε λέξεις μέχρι να δοθεί κενή γραμμή. Εμφάνισε πόσες είναι, τις λέξεις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αλφαβητικά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πόσες ξεκινούν από «Α».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Μάθημα 3 — Λίστες και πλειάδες</dc:title>
  <dc:subject>PptxGenJS Presentation</dc:subject>
  <dc:creator>Λαμπρόπουλος Χρήστος</dc:creator>
  <cp:lastModifiedBy>Λαμπρόπουλος Χρήστος</cp:lastModifiedBy>
  <cp:revision>1</cp:revision>
  <dcterms:created xsi:type="dcterms:W3CDTF">2026-10-05T13:44:36Z</dcterms:created>
  <dcterms:modified xsi:type="dcterms:W3CDTF">2026-10-05T13:44:36Z</dcterms:modified>
</cp:coreProperties>
</file>