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EK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4BD8"/>
          </a:solidFill>
          <a:ln w="6350">
            <a:solidFill>
              <a:srgbClr val="2F4B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27432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26496" y="2468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ΣΑΕΚ Γλυφάδας</a:t>
            </a:r>
            <a:endParaRPr lang="en-US" sz="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&amp; Pygame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503920" y="641908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Λαμπρόπουλος Χρήστος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ΜΑΘΗΜΑ 2 ΑΠΟ 15 · ΥΠΟΕΝΟΤΗΤΑ 2.3.Γ.1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12064" y="23317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· while · for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πρόγραμμα αποφασίζει και επαναλαμβάνει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160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Θεωρία + 3 ασκήσεις + 6 προγράμματα με λύσεις          Διάρκεια: 4 ώρες (3η–6η)          26 διαφάνειες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5262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Προγραμματισμός Εφαρμογών Διαδικτύου &amp; Παιχνιδιών (Python, Pygame) · Γ΄ εξάμηνο · Δευτέρα 12/10/2026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ΣΤΌΧΟΙ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θα ξέρεις στο τέλος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813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52144" y="1463040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γράφεις αποφάσεις με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/ elif / else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και να ξέρεις ότι εκτελείται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μόνο ένας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κλάδος.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865376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8653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847088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συνδυάζεις συνθήκες με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/ or / not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να γράφεις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ένθετα if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249424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2494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" y="2231136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γράφεις βρόχο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με τα τρία μέρη του: αρχικοποίηση, συνθήκη, μεταβολή.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633472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26334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615184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χρησιμοποιείς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με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range()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πάνω σε συμβολοσειρά.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017520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30175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" y="2999232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ελέγχεις τη ροή με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continue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else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σε βρόχο.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3401568"/>
            <a:ext cx="4572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4015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" y="3383280"/>
            <a:ext cx="9820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γράφεις ένα πλήρες πρόγραμμα με </a:t>
            </a:r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μενού</a:t>
            </a:r>
            <a:pPr indent="0" marL="0">
              <a:buNone/>
            </a:pPr>
            <a:r>
              <a:rPr lang="en-US" sz="13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που τρέχει μέχρι ο χρήστης να πατήσει 0.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3977640"/>
            <a:ext cx="10927080" cy="1143000"/>
          </a:xfrm>
          <a:prstGeom prst="roundRect">
            <a:avLst>
              <a:gd name="adj" fmla="val 48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087368"/>
            <a:ext cx="1059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Πώς είναι οργανωμένο το 4ωρο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416552"/>
            <a:ext cx="10597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Ώρες 1–2: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επιλογή (if) και επανάληψη (while, for) με live coding.  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Ώρες 3–4: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εργαστήριο — προπαίδεια, πρώτοι αριθμοί, «Μάντεψε τον αριθμό» και στο τέλος ένα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μενού κονσόλας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ΣΥΝΈΧΕΙΑ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Τα προγράμματα της προηγούμενης φοράς (ΔΜΣ, ρέστα) σήμερα αποκτούν «μυαλό»: θα παίρνουν αποφάσεις.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ΖΈΣΤΑΜΑ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Θυμάσαι από την προηγούμενη φορά;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27080" cy="658368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65836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1061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Πέντε γρήγορες ερωτήσεις, 5 λεπτά. Πρώτα απάντηση στο χαρτί, μετά έλεγχος στη γραμμή εντολών της Python.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2402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1460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3291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ΈΚΦΡΑΣΗ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ΑΠΟΤΈΛΕΣΜΑ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ΓΙΑΤΊ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// 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ακέραιο πηλίκο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17 % 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υπόλοιπο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"5" + "3"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"53"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κείμενα: κολλάνε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type(10 / 2)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η / δίνει πάντα float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int("12") + 1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πρώτα μετατροπή, μετά πράξη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607808" y="2514600"/>
            <a:ext cx="3886200" cy="1828800"/>
          </a:xfrm>
          <a:prstGeom prst="roundRect">
            <a:avLst>
              <a:gd name="adj" fmla="val 30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0" y="262432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τα ξαναθυμόμαστε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2953512"/>
            <a:ext cx="35570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Σήμερα θα γράφουμε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συνθήκες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όπως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% 2 == 0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θα διαβάζουμε επιλογές με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input()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Αν αυτά δεν είναι σίγουρα, το if δεν θα δουλέψει.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ΘΥΜΉΣΟΥ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input() επιστρέφει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πάντα κείμενο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Μια επιλογή μενού "1" είναι str — θα το χρειαστούμε στο τέλος.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ΕΠΙΛΟΓΉ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if: κάνε κάτι μόνο αν ισχύει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49240" cy="102412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63040"/>
            <a:ext cx="36576" cy="102412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72768"/>
            <a:ext cx="5074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συνθήκη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εντολή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εντολή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εντολή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μετά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το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90488" y="1463040"/>
            <a:ext cx="5303520" cy="1024128"/>
          </a:xfrm>
          <a:prstGeom prst="roundRect">
            <a:avLst>
              <a:gd name="adj" fmla="val 5357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5727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Πώς δουλεύει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901952"/>
            <a:ext cx="4974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 η συνθήκη είναι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εκτελούνται οι γραμμές με εσοχή. Αν είναι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παραλείπονται.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γραμμή χωρίς εσοχή εκτελείται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πάντα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697480"/>
            <a:ext cx="5349240" cy="1338682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697480"/>
            <a:ext cx="36576" cy="1338682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807208"/>
            <a:ext cx="5074920" cy="111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"Ηλικία: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"Ενήλικας"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"Μπορείς να ψηφίσεις"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"Τέλος"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0488" y="2697480"/>
          <a:ext cx="53035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2651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ΕΊΣΟΔΟΣ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 &gt;= 18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ΕΜΦΑΝΊΖΕΙ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Ενήλικας · Μπορείς να ψηφίσεις · Τέλος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False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μόνο: Τέλος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ΤΑ ΔΎΟ ΠΙΟ ΣΥΧΝΆ ΛΆΘΗ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Ξεχνιέται η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άνω-κάτω τελεία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 : ) στο τέλος του if, ή μπαίνει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αντί για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==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στη σύγκριση.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ΕΠΙΛΟΓΉ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… else: ή το ένα ή το άλλο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49240" cy="1338682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63040"/>
            <a:ext cx="36576" cy="1338682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72768"/>
            <a:ext cx="5074920" cy="111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"Αριθμός: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"Άρτιος"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"Περιττός"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90488" y="1463040"/>
            <a:ext cx="5303520" cy="1338682"/>
          </a:xfrm>
          <a:prstGeom prst="roundRect">
            <a:avLst>
              <a:gd name="adj" fmla="val 409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5727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else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901952"/>
            <a:ext cx="4974336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έχει δική του συνθήκη. Εκτελείται όταν η συνθήκη του if είναι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Έτσι εκτελείται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πάντα ακριβώς ένα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από τα δύο μπλοκ — ποτέ και τα δύο, ποτέ κανένα.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926080"/>
          <a:ext cx="5349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2240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% 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ΑΠΟΤΈΛΕΣΜΑ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Άρτιος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Περιττός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Άρτιος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190488" y="2926080"/>
            <a:ext cx="5303520" cy="1325880"/>
          </a:xfrm>
          <a:prstGeom prst="roundRect">
            <a:avLst>
              <a:gd name="adj" fmla="val 4138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55080" y="303580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Θυμάσαι το %;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3364992"/>
            <a:ext cx="4974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% 2 == 0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είναι ο κλασικός έλεγχος «διαιρείται ακριβώς». Με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% 5 == 0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ελέγχεις αν διαιρείται με το 5.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ΣΤΟΊΧΙΣΗ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else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μπαίνει στην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ίδια εσοχή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με το if στο οποίο ανήκει — όχι μέσα στο μπλοκ του.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ΕΠΙΛΟΓΉ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… elif … else: πολλές περιπτώσεις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49240" cy="223479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63040"/>
            <a:ext cx="36576" cy="2234794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72768"/>
            <a:ext cx="5074920" cy="2015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"Βαθμός (0-20):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18.5: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"Άριστα"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"Πολύ καλά"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"Καλά"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"Μέτρια"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"Κόπηκε"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90488" y="1463040"/>
            <a:ext cx="5303520" cy="1417320"/>
          </a:xfrm>
          <a:prstGeom prst="roundRect">
            <a:avLst>
              <a:gd name="adj" fmla="val 3871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5727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Python ελέγχει από πάνω προς τα κάτω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901952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Μόλις βρει την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πρώτη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συνθήκη που ισχύει, εκτελεί εκείνο το μπλοκ και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πετάει όλα τα υπόλοιπα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0488" y="3017520"/>
            <a:ext cx="5303520" cy="1417320"/>
          </a:xfrm>
          <a:prstGeom prst="roundRect">
            <a:avLst>
              <a:gd name="adj" fmla="val 3871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312724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Γι' αυτό η σειρά έχει σημασία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456432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 βάζαμε πρώτο 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 &gt;= 10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ένα 19 θα έβγαζε «Μέτρια»: ισχύει κι αυτό, και θα σταματούσε εκεί.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0488" y="4572000"/>
          <a:ext cx="53035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023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ΒΑΘΜΌΣ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ΠΡΏΤΗ ΣΥΝΘΉΚΗ ΠΟΥ ΙΣΧΎΕΙ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grade &gt;= 16  →  Πολύ καλά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9.5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καμία  →  else  →  Κόπηκε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ΓΙΑΤΊ ΌΧΙ 13 &lt;= grade &lt; 16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χρειάζεται: αν φτάσαμε στο elif grade &gt;= 13, ξέρουμε ήδη ότι ο βαθμός είναι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κάτω από 16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ΣΥΝΔΥΑΣΜΟΊ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Ένθετα if ή and;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ΈΝΘΕΤΑ IF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9048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ΜΕ AND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349240" cy="174467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91640"/>
            <a:ext cx="36576" cy="174467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01368"/>
            <a:ext cx="5074920" cy="152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"Χρήστης: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"Κωδικός: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"admin"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"1234"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"Καλώς ήρθες"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"Λάθος κωδικός"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"Άγνωστος χρήστης"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0488" y="1691640"/>
            <a:ext cx="5303520" cy="174467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88" y="1691640"/>
            <a:ext cx="36576" cy="174467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801368"/>
            <a:ext cx="5029200" cy="1525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"Χρήστης: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"Κωδικός: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"admin"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"1234"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"Καλώς ήρθες"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"Λάθος στοιχεία"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5349240" cy="1325880"/>
          </a:xfrm>
          <a:prstGeom prst="roundRect">
            <a:avLst>
              <a:gd name="adj" fmla="val 413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602736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Πότε ένθετα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931920"/>
            <a:ext cx="5020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Όταν κάθε αποτυχία θέλει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δικό της μήνυμα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άλλο για άγνωστο χρήστη, άλλο για λάθος κωδικό.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0488" y="3493008"/>
            <a:ext cx="5303520" cy="1325880"/>
          </a:xfrm>
          <a:prstGeom prst="roundRect">
            <a:avLst>
              <a:gd name="adj" fmla="val 413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602736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Πότε and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931920"/>
            <a:ext cx="4974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Όταν σε ενδιαφέρει μόνο αν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ισχύουν όλα μαζί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Ο κώδικας είναι πιο σύντομος και πιο καθαρός.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956048"/>
            <a:ext cx="10927080" cy="868680"/>
          </a:xfrm>
          <a:prstGeom prst="roundRect">
            <a:avLst>
              <a:gd name="adj" fmla="val 6316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065776"/>
            <a:ext cx="1059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Θυμήσου τους λογικούς τελεστές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394960"/>
            <a:ext cx="10597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και τα δύο ·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έστω ένα ·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το αντίθετο.  Π.χ.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not (1 &lt;= day &lt;= 7):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«λάθος ημέρα».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ΚΑΛΉ ΠΡΑΚΤΙΚΉ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Πάνω από 2–3 επίπεδα εσοχής δύσκολα διαβάζονται. Αν φτάσεις εκεί, δες μήπως λύνεται με and ή elif.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ΣΥΝΤΟΜΟΓΡΑΦΊΑ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σε μία γραμμή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49240" cy="102412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63040"/>
            <a:ext cx="36576" cy="1024128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72768"/>
            <a:ext cx="5074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η κανονική μορφή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"Πέρασε"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"Κόπηκε"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90488" y="1463040"/>
            <a:ext cx="5303520" cy="102412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0488" y="1463040"/>
            <a:ext cx="36576" cy="102412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1572768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σε μία γραμμή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"Πέρασε"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"Κόπηκε"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606040"/>
            <a:ext cx="10927080" cy="1051560"/>
          </a:xfrm>
          <a:prstGeom prst="roundRect">
            <a:avLst>
              <a:gd name="adj" fmla="val 5217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715768"/>
            <a:ext cx="1059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μορφή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044952"/>
            <a:ext cx="10597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τιμή_αν_True  if  συνθήκη  else  τιμή_αν_False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διαβάζεται σαν πρόταση: «Πέρασε, αν ο βαθμός είναι ≥ 10, αλλιώς Κόπηκε».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840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ΠΑΡΑΔΕΊΓΜΑΤΑ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96512"/>
          <a:ext cx="1092708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257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ΚΏΔΙΚΑΣ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ΤΙ ΚΆΝΕΙ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bigger = a if a &gt; b else 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ο μεγαλύτερος από δύο (υπάρχει και έτοιμο: max(a, b))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kind = "άρτιος" if n % 2 == 0 else "περιττός"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λέξη ανάλογα με τον αριθμό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print("Ναι" if ok else "Όχι")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και μέσα σε print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ΠΌΤΕ ΝΑ ΤΟ ΑΠΟΦΎΓΕΙΣ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Μόνο για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απλές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επιλογές ανάμεσα σε δύο τιμές. Για δύο ή περισσότερες εντολές, γράψε κανονικό if.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ΆΣΚΗΣΗ Α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θα τυπώσει;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394960" cy="91440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91440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5084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Τρέξε τα δύο κομμάτια με το μυαλό για τις τιμές του πίνακα. Η μόνη διαφορά τους: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elif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ή δεύτερο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23620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ΚΟΜΜΆΤΙ 1 · ELIF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36208" y="1664208"/>
            <a:ext cx="2560320" cy="118140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664208"/>
            <a:ext cx="36576" cy="118140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773936"/>
            <a:ext cx="228600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"Α"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"Β"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"Γ"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93368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ΚΟΜΜΆΤΙ 2 · ΔΎΟ IF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933688" y="1664208"/>
            <a:ext cx="2560320" cy="118140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33688" y="1664208"/>
            <a:ext cx="36576" cy="118140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98280" y="1773936"/>
            <a:ext cx="228600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"Α"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"Β"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25146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88920"/>
          <a:ext cx="5394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03120"/>
                <a:gridCol w="23774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ΚΟΜΜΆΤΙ 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ΚΟΜΜΆΤΙ 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 και Β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Β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Β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Γ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(τίποτα)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236208" y="3611880"/>
            <a:ext cx="5257800" cy="1463040"/>
          </a:xfrm>
          <a:prstGeom prst="roundRect">
            <a:avLst>
              <a:gd name="adj" fmla="val 3750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3721608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διαφορά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4050792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elif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οι περιπτώσεις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αποκλείουν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η μία την άλλη. Με δύο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ελέγχονται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ανεξάρτητα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για x = 7 ισχύουν και οι δύο.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ΚΑΝΌΝΑΣ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 οι περιπτώσεις δεν πρέπει να συμβούν μαζί (βαθμοί, κατηγορίες), θέλεις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elif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ΕΦΑΡΜΟΓΉ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ΔΜΣ αποκτά κατηγορία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394960" cy="114300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114300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5084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Συμπλήρωσε το πρόγραμμα ΔΜΣ της προηγούμενης φοράς ώστε να εμφανίζει και την κατηγορία.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Όρια ΠΟΥ: &lt; 18.5 · &lt; 25 · &lt; 30 · από 30 και πάνω.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6208" y="1417320"/>
          <a:ext cx="5257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29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ΔΜΣ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ΚΑΤΗΓΟΡΊΑ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κάτω από 18.5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λιποβαρής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18.5 – 24.9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φυσιολογικό βάρος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 – 29.9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υπέρβαρος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και πάνω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παχυσαρκία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66928" y="27432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3017520"/>
            <a:ext cx="5394960" cy="2282342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3017520"/>
            <a:ext cx="36576" cy="2282342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3127248"/>
            <a:ext cx="5120640" cy="2062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"Βάρος σε kg: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"Ύψος σε m: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18.5: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"λιποβαρής"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"φυσιολογικό βάρος"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"υπέρβαρος"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"παχυσαρκία"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f"ΔΜΣ: {bmi:.2f} ({category})"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36208" y="3017520"/>
            <a:ext cx="5257800" cy="70957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36208" y="3017520"/>
            <a:ext cx="36576" cy="709574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00800" y="3127248"/>
            <a:ext cx="498348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Βάρος σε kg: 70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Ύψος σε m: 1.75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ΔΜΣ: 22.86 (φυσιολογικό βάρος)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36208" y="3886200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0" y="3995928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κρατάμε την κατηγορία σε μεταβλητή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4325112"/>
            <a:ext cx="4928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Μία print στο τέλος αντί για τέσσερις. Αν αλλάξει η μορφή της εξόδου, την αλλάζεις σε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ένα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σημείο.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ΠΑΡΑΤΉΡΗΣΗ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Ανεβαίνουμε από το μικρότερο όριο (&lt; 18.5) προς το μεγαλύτερο. Με &lt; κάθε elif κρύβει από πριν το «≥ προηγούμενο όριο».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ΕΦΑΡΜΟΓΉ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Τα ρέστα ελέγχουν την πληρωμή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27080" cy="73152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73152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1061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γίνεται στο πρόγραμμα των ρέστων αν ο πελάτης δώσει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λιγότερα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χρήματα; Πρόσθεσε έλεγχο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πριν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από τον υπολογισμό των κερμάτων.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331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606040"/>
            <a:ext cx="6035040" cy="1967789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606040"/>
            <a:ext cx="36576" cy="1967789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715768"/>
            <a:ext cx="5760720" cy="174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"Ποσό (€):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"Πληρωμή (€):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f"Λείπουν {price - paid:.2f}€"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"Ακριβές ποσό, χωρίς ρέστα"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f"Ρέστα: {rest / 100:.2f}€"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τα κέρματα όπως την προηγούμενη φορά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76288" y="2606040"/>
          <a:ext cx="46177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97280"/>
                <a:gridCol w="2514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ΠΟΣΌ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ΠΛΗΡΩΜΉ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ΑΠΟΤΈΛΕΣΜΑ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15.12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Λείπουν 5.12€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15.00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Ακριβές ποσό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15.12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Ρέστα: 4.88€ + κέρματα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876288" y="4114800"/>
            <a:ext cx="4617720" cy="1325880"/>
          </a:xfrm>
          <a:prstGeom prst="roundRect">
            <a:avLst>
              <a:gd name="adj" fmla="val 413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40880" y="4224528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Όλος ο παλιός κώδικας μπαίνει στο else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4553712"/>
            <a:ext cx="4288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μία εσοχή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πιο μέσα. Στο VS Code: μαρκάρεις τις γραμμές και πατάς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ΜΆΘΗΜΑ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Ένα πρόγραμμα χωρίς έλεγχο δουλεύει μόνο όταν ο χρήστης κάνει τα σωστά. Το if το κάνει να αντέχει και τα λάθη.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ΕΠΑΝΆΛΗΨΗ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χρειαζόμαστε βρόχο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Θέλουμε να τυπώσουμε τους αριθμούς από το 1 έως το 5. Μετά από το 1 έως το 1000.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916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ΧΩΡΊΣ ΕΠΑΝΆΛΗΨΗ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190488" y="16916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ΜΕ ΕΠΑΝΆΛΗΨΗ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938528"/>
            <a:ext cx="5349240" cy="118140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38528"/>
            <a:ext cx="36576" cy="1181405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48256"/>
            <a:ext cx="507492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για 1000 αριθμούς;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90488" y="1938528"/>
            <a:ext cx="5303520" cy="118140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0488" y="1938528"/>
            <a:ext cx="36576" cy="118140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2048256"/>
            <a:ext cx="502920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για 1000 αλλάζει ένας αριθμός: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1001):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3511296" cy="1600200"/>
          </a:xfrm>
          <a:prstGeom prst="roundRect">
            <a:avLst>
              <a:gd name="adj" fmla="val 3429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40156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30752"/>
            <a:ext cx="3182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Επανάλαβε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όσο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ισχύει μια συνθήκη. Για όταν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ξέρεις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πόσες φορές.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3291840"/>
            <a:ext cx="3511296" cy="1600200"/>
          </a:xfrm>
          <a:prstGeom prst="roundRect">
            <a:avLst>
              <a:gd name="adj" fmla="val 3429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35424" y="340156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35424" y="3730752"/>
            <a:ext cx="3182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Επανάλαβε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 κάθε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στοιχείο μιας σειράς. Για όταν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ξέρεις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πόσες φορές ή τι διατρέχεις.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74736" y="3291840"/>
            <a:ext cx="3319272" cy="1600200"/>
          </a:xfrm>
          <a:prstGeom prst="roundRect">
            <a:avLst>
              <a:gd name="adj" fmla="val 3429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9328" y="340156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υπάρχει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39328" y="3730752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Python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έχει do-while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Το «τουλάχιστον μία φορά» γίνεται με while True + break.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 ΟΥΣΊΑ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βρόχος δεν είναι κόλπο για λιγότερο γράψιμο. Είναι ο μόνος τρόπος να δουλεύει ο κώδικας για πλήθος που δεν ξέρεις από πριν.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ΔΟΜΉ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while: όσο ισχύει, ξανά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49240" cy="866851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63040"/>
            <a:ext cx="36576" cy="866851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72768"/>
            <a:ext cx="507492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συνθήκη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εντολές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κάτι πρέπει να αλλάζει τη συνθήκη!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90488" y="1463040"/>
            <a:ext cx="5303520" cy="866851"/>
          </a:xfrm>
          <a:prstGeom prst="roundRect">
            <a:avLst>
              <a:gd name="adj" fmla="val 6329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5727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Πώς δουλεύει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901952"/>
            <a:ext cx="4974336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Ελέγχει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πρώτα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τη συνθήκη. Όσο είναι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εκτελεί το μπλοκ και ξαναελέγχει. Μόλις γίνει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βγαίνει.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542032"/>
            <a:ext cx="5349240" cy="102412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542032"/>
            <a:ext cx="36576" cy="1024128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651760"/>
            <a:ext cx="5074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αρχικοποίηση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συνθήκη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μεταβολή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"Τέλος"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0488" y="2542032"/>
          <a:ext cx="53035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1463040"/>
                <a:gridCol w="19202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ΓΎΡΟΣ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 &lt;= 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ΤΥΠΏΝΕΙ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False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Τέλος (έξοδος)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66928" y="4251960"/>
            <a:ext cx="3511296" cy="1371600"/>
          </a:xfrm>
          <a:prstGeom prst="roundRect">
            <a:avLst>
              <a:gd name="adj" fmla="val 40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36168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Αρχικοποίηση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690872"/>
            <a:ext cx="3182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Πριν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τον βρόχο. Δίνει την πρώτη τιμή στη μεταβλητή που ελέγχεται.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70832" y="4251960"/>
            <a:ext cx="3511296" cy="1371600"/>
          </a:xfrm>
          <a:prstGeom prst="roundRect">
            <a:avLst>
              <a:gd name="adj" fmla="val 40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35424" y="436168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Συνθήκη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35424" y="4690872"/>
            <a:ext cx="3182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Στην κορυφή. Πρέπει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κάποτε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να γίνει False.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174736" y="4251960"/>
            <a:ext cx="3319272" cy="1371600"/>
          </a:xfrm>
          <a:prstGeom prst="roundRect">
            <a:avLst>
              <a:gd name="adj" fmla="val 4000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39328" y="436168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Μεταβολή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339328" y="4690872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Μέσα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στον βρόχο. Αν λείπει →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ατέρμονας βρόχος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ΚΡΊΣΙΜΟ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 η συνθήκη είναι False από την αρχή, ο βρόχος εκτελείται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μηδέν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φορές.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ΔΟΜΉ 1 · ΣΤΗΝ ΠΡΆΞΗ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με άγνωστο πλήθος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6187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χρήστης δίνει αριθμούς και σταματά με το 0. Δεν ξέρουμε από πριν πόσους θα δώσει.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349240" cy="1338682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91640"/>
            <a:ext cx="36576" cy="1338682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801368"/>
            <a:ext cx="5074920" cy="111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"Αριθμός (0 = τέλος):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"Αριθμός (0 = τέλος):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"Άθροισμα:"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90488" y="1691640"/>
            <a:ext cx="5303520" cy="1338682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0488" y="1691640"/>
            <a:ext cx="36576" cy="1338682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801368"/>
            <a:ext cx="5029200" cy="111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Αριθμός (0 = τέλος): 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Αριθμός (0 = τέλος): 12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Αριθμός (0 = τέλος): 3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Αριθμός (0 = τέλος): 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Άθροισμα: 20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3182112"/>
            <a:ext cx="5349240" cy="1481328"/>
          </a:xfrm>
          <a:prstGeom prst="roundRect">
            <a:avLst>
              <a:gd name="adj" fmla="val 3704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291840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η input() γράφεται δύο φορές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621024"/>
            <a:ext cx="50200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πρώτη δίνει τιμή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πριν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ελεγχθεί η συνθήκη. Η δεύτερη, στο τέλος του μπλοκ, είναι η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μεταβολή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χωρίς αυτήν το n δεν αλλάζει ποτέ.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0488" y="3182112"/>
            <a:ext cx="5303520" cy="1481328"/>
          </a:xfrm>
          <a:prstGeom prst="roundRect">
            <a:avLst>
              <a:gd name="adj" fmla="val 3704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3291840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Ατέρμονας βρόχος;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621024"/>
            <a:ext cx="49743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 το πρόγραμμα «κόλλησε» και τυπώνει ασταμάτητα, πάτα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Ctrl+C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στο Terminal. Μετά ψάξε ποια μεταβλητή δεν αλλάζει.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800600"/>
            <a:ext cx="10927080" cy="960120"/>
          </a:xfrm>
          <a:prstGeom prst="roundRect">
            <a:avLst>
              <a:gd name="adj" fmla="val 5714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910328"/>
            <a:ext cx="1059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0 είναι «φρουρός» (sentinel)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239512"/>
            <a:ext cx="10597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Μια ειδική τιμή που δεν είναι δεδομένο αλλά σήμα «τέλος». Γι' αυτό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προστίθεται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στο άθροισμα.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ΓΙΑΤΊ WHILE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Εδώ το for δεν ταιριάζει: δεν ξέρουμε πόσους αριθμούς θα δώσει ο χρήστης.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ΔΟΜΉ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με range()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49240" cy="70957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63040"/>
            <a:ext cx="36576" cy="709574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72768"/>
            <a:ext cx="507492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1 2 3 4 5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90488" y="146304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5727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κάνει μόνο του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901952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Δίνει στο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κάθε τιμή του range με τη σειρά. Αρχικοποίηση, έλεγχος και μεταβολή γίνονται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αυτόματα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42032"/>
          <a:ext cx="109270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39776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ΚΛΉΣΗ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ΤΙΜΈΣ ΤΟΥ I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ΚΑΝΌΝΑΣ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range(5)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0 1 2 3 4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από 0,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φορές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range(1, 6)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1 2 3 4 5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από 1 έως 6,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χωρίς το 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range(0, 11, 2)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0 2 4 6 8 10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βήμα 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range(10, 0, -1)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10 9 8 7 6 5 4 3 2 1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αρνητικό βήμα: αντίστροφα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range(5, 1)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(καμία)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η αρχή ήδη μετά το τέλος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4681728"/>
            <a:ext cx="10927080" cy="1051560"/>
          </a:xfrm>
          <a:prstGeom prst="roundRect">
            <a:avLst>
              <a:gd name="adj" fmla="val 5217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4791456"/>
            <a:ext cx="1059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χρυσός κανόνας του range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120640"/>
            <a:ext cx="10597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τέλος δεν περιλαμβάνεται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ποτέ. Για 1 έως 10 γράφεις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range(1, 11)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Πλήθος επαναλήψεων με βήμα 1: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τέλος − αρχή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ΣΥΧΝΌ ΛΆΘΟΣ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Να γράψεις range(1, 10) και να περιμένεις και το 10. Θα σταματήσει στο 9.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ΔΟΜΉ 2 · ΚΑΙ ΑΛΛΙΏΣ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πάνω σε συμβολοσειρά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49240" cy="118140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63040"/>
            <a:ext cx="36576" cy="118140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72768"/>
            <a:ext cx="507492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"Γεια"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ι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90488" y="1463040"/>
            <a:ext cx="5303520" cy="1181405"/>
          </a:xfrm>
          <a:prstGeom prst="roundRect">
            <a:avLst>
              <a:gd name="adj" fmla="val 4644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5727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for της Python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901952"/>
            <a:ext cx="4974336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for δεν μετράει απαραίτητα αριθμούς.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Διατρέχει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ό,τι του δώσεις: ένα range, ένα κείμενο, και σε δύο εβδομάδες λίστες.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παίρνει ένα-ένα τα γράμματα.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697480"/>
            <a:ext cx="5349240" cy="1338682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697480"/>
            <a:ext cx="36576" cy="1338682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807208"/>
            <a:ext cx="5074920" cy="111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"aeiouy"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f"Φωνήεντα: {count}"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Φωνήεντα: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90488" y="2697480"/>
            <a:ext cx="5303520" cy="1338682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0488" y="2697480"/>
            <a:ext cx="36576" cy="1338682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55080" y="2807208"/>
            <a:ext cx="5029200" cy="1119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=1):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114800"/>
            <a:ext cx="5349240" cy="1325880"/>
          </a:xfrm>
          <a:prstGeom prst="roundRect">
            <a:avLst>
              <a:gd name="adj" fmla="val 413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224528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μέσα σε for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553712"/>
            <a:ext cx="5020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Συνδυάζουμε τις δύο δομές: για κάθε γράμμα,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αν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είναι φωνήεν, μέτρα το.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0488" y="4114800"/>
            <a:ext cx="5303520" cy="1325880"/>
          </a:xfrm>
          <a:prstGeom prst="roundRect">
            <a:avLst>
              <a:gd name="adj" fmla="val 413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422452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enumerate()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4553712"/>
            <a:ext cx="4974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Όταν θέλεις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και θέση και στοιχείο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μαζί. Το start=1 ξεκινά την αρίθμηση από το 1.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ΧΡΉΣΙΜΟ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len(word)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δίνει το μήκος. Το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 in "aeiou"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ελέγχει αν ένα γράμμα ανήκει σε μια ομάδα γραμμάτων.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ΜΟΤΊΒΑ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Αθροιστής και μετρητής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49240" cy="165323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63040"/>
            <a:ext cx="36576" cy="165323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72768"/>
            <a:ext cx="5074920" cy="143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αθροιστής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μετρητής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5050 50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90488" y="146304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5727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Αθροιστής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901952"/>
            <a:ext cx="4974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Ξεκινά από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μαζεύει τιμές: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+= i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0488" y="278892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89864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Μετρητής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227832"/>
            <a:ext cx="4974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Ξεκινά από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αυξάνεται κατά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μόνο όταν ισχύει κάτι: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evens += 1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5349240" cy="1325880"/>
          </a:xfrm>
          <a:prstGeom prst="roundRect">
            <a:avLst>
              <a:gd name="adj" fmla="val 4138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401568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Εδώ χάνονται οι περισσότεροι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30752"/>
            <a:ext cx="5020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αρχικοποίηση μπαίνει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έξω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από τον βρόχο. Αν μπει μέσα, μηδενίζεται σε κάθε γύρο και το αποτέλεσμα βγαίνει λάθος.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0488" y="4114800"/>
            <a:ext cx="5303520" cy="1325880"/>
          </a:xfrm>
          <a:prstGeom prst="roundRect">
            <a:avLst>
              <a:gd name="adj" fmla="val 413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422452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Έτοιμη συνάρτηση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4553712"/>
            <a:ext cx="4974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 απλό άθροισμα υπάρχει και το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sum(range(1, 101))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Τον βρόχο όμως τον χρειάζεσαι όταν μπαίνουν συνθήκες.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ΙΣΤΟΡΊΑ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Gauss, μαθητής, βρήκε το 5050 χωρίς βρόχο: 100 · 101 / 2. Ο υπολογιστής απλώς το κάνει με «ωμή βία».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ΆΣΚΗΣΗ Β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θα τυπώσει ο βρόχος;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27080" cy="658368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65836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1061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Γράψε τι εμφανίζει κάθε βρόχος (στη σειρά, με κενά). Για το while φτιάξε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πίνακα τιμών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2402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514600"/>
          <a:ext cx="69494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828800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ΚΏΔΙΚΑΣ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ΤΥΠΏΝΕΙ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ΣΧΌΛΙΟ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i in range(1, 10, 3): print(i)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1 4 7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βήμα 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i in range(3): print(i)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0 1 2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από το 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i in range(5, 0): print(i)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(τίποτα)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αρχή &gt; τέλος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i in range(10, 0, -3): print(i)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10 7 4 1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αντίστροφα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ch in "abc": print(ch * 2)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aa bb cc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επανάληψη κειμένου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790688" y="2514600"/>
            <a:ext cx="3703320" cy="102412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90688" y="2514600"/>
            <a:ext cx="36576" cy="102412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55280" y="2624328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4 1 -2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90688" y="3703320"/>
            <a:ext cx="3703320" cy="1691640"/>
          </a:xfrm>
          <a:prstGeom prst="roundRect">
            <a:avLst>
              <a:gd name="adj" fmla="val 3243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55280" y="3813048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παγίδα του while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142232"/>
            <a:ext cx="33741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Τυπώνει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 Το print είναι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μετά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τη μεταβολή: όταν x = 1, ο έλεγχος περνάει, το x γίνεται -2 και τυπώνεται.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ΤΕΧΝΙΚΉ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Στο while γράφε πίνακα με στήλες: x πριν · συνθήκη · x μετά · τι τυπώνει. Δύο λεπτά δουλειάς σε σώζουν από λάθη.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ΈΛΕΓΧΟΣ ΡΟΉΣ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 και continue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· ΣΤΑΜΆΤΑ ΤΟΝ ΒΡΌΧΟ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90488" y="1417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 · ΠΉΓΑΙΝΕ ΣΤΟΝ ΕΠΌΜΕΝΟ ΓΎΡΟ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349240" cy="118140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91640"/>
            <a:ext cx="36576" cy="118140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01368"/>
            <a:ext cx="507492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(50,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"Βρέθηκε:"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Βρέθηκε: 56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0488" y="1691640"/>
            <a:ext cx="5303520" cy="118140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88" y="1691640"/>
            <a:ext cx="36576" cy="118140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801368"/>
            <a:ext cx="5029200" cy="961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1 2 4 5 7 8 10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97180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081528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410712"/>
            <a:ext cx="5020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Μόλις βρεθεί το πρώτο πολλαπλάσιο του 7,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έχει νόημα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να συνεχίσουμε. Ο βρόχος τελειώνει αμέσως.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0488" y="2971800"/>
            <a:ext cx="5303520" cy="1417320"/>
          </a:xfrm>
          <a:prstGeom prst="roundRect">
            <a:avLst>
              <a:gd name="adj" fmla="val 3871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08152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410712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Τα πολλαπλάσια του 3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παραλείπονται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ό,τι ακολουθεί στο μπλοκ δεν εκτελείται για αυτόν τον γύρο.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572000"/>
            <a:ext cx="5349240" cy="104424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4572000"/>
            <a:ext cx="36576" cy="1044245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681728"/>
            <a:ext cx="5074920" cy="824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"PIN: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"2468"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"Λάθος, ξανά"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90488" y="4572000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468172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True + break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5010912"/>
            <a:ext cx="4974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βρόχος που τρέχει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τουλάχιστον μία φορά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ρώτα, και βγες μόλις η απάντηση είναι σωστή.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ΣΗΜΕΊΩΣΗ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Και το break και το continue επηρεάζουν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μόνο τον πιο εσωτερικό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βρόχο στον οποίο βρίσκονται.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ΙΔΙΑΙΤΕΡΌΤΗΤΑ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else σε βρόχο: «δεν βρέθηκε»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49240" cy="1653235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63040"/>
            <a:ext cx="36576" cy="1653235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72768"/>
            <a:ext cx="5074920" cy="143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"Λέξη: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"Έχει y"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"Δεν έχει y"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90488" y="1463040"/>
            <a:ext cx="5303520" cy="1463040"/>
          </a:xfrm>
          <a:prstGeom prst="roundRect">
            <a:avLst>
              <a:gd name="adj" fmla="val 375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57276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Πότε εκτελείται το else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901952"/>
            <a:ext cx="4974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Μόνο όταν ο βρόχος τελειώσει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κανονικά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χωρίς break. Δηλαδή όταν ψάξαμε παντού και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βρήκαμε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0488" y="3063240"/>
          <a:ext cx="5303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20116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ΛΈΞΗ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BREAK;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ΕΜΦΑΝΊΖΕΙ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ναι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Έχει 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java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όχι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Δεν έχει 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315468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264408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στοίχιση λέει τα πάντα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593592"/>
            <a:ext cx="5020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else είναι στην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ίδια εσοχή με το for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όχι με το if. Αν το μετακινήσεις κάτω από το if, αλλάζει εντελώς νόημα.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90488" y="425196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55080" y="436168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Θα το χρειαστούμε αμέσως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355080" y="4690872"/>
            <a:ext cx="4974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Στον έλεγχο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πρώτου αριθμού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«δεν βρέθηκε διαιρέτης» = πρώτος.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ΣΥΝΤΟΜΟΓΡΑΦΊΑ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 αυτό το συγκεκριμένο παράδειγμα υπάρχει και το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"y" in word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Το for-else χρειάζεται όταν ο έλεγχος είναι πιο σύνθετος.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ΆΣΚΗΣΗ Γ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ή while;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27080" cy="82296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82296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1061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Ποια δομή επανάληψης ταιριάζει;  α) Τύπωσε την προπαίδεια του 7.  β) Ζήτα PIN μέχρι να δοθεί το σωστό.  γ) Άθροισε τους αριθμούς 1 έως 100.  δ) Διάβαζε τιμές μέχρι ο χρήστης να δώσει 0.  ε) Μέτρα τα κεφαλαία γράμματα μιας πρότασης.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4231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697480"/>
            <a:ext cx="11430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6974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· for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837944" y="2679192"/>
            <a:ext cx="9134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Γνωστό πλήθος: </a:t>
            </a:r>
            <a:pPr indent="0" marL="0">
              <a:buNone/>
            </a:pPr>
            <a:r>
              <a:rPr lang="en-US" sz="12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pPr indent="0" marL="0">
              <a:buNone/>
            </a:pPr>
            <a:r>
              <a:rPr lang="en-US" sz="12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γινόμενα → for i in range(1, 11).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118104"/>
            <a:ext cx="11430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11810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· while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837944" y="3099816"/>
            <a:ext cx="9134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ξέρουμε </a:t>
            </a:r>
            <a:pPr indent="0" marL="0">
              <a:buNone/>
            </a:pPr>
            <a:r>
              <a:rPr lang="en-US" sz="12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πόσες</a:t>
            </a:r>
            <a:pPr indent="0" marL="0">
              <a:buNone/>
            </a:pPr>
            <a:r>
              <a:rPr lang="en-US" sz="12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προσπάθειες θα χρειαστούν → while True + break.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3538728"/>
            <a:ext cx="11430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353872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 · for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837944" y="3520440"/>
            <a:ext cx="9134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Γνωστό εύρος → for i in range(1, 101).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959352"/>
            <a:ext cx="11430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395935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· while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837944" y="3941064"/>
            <a:ext cx="9134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Άγνωστο πλήθος, σταματά με </a:t>
            </a:r>
            <a:pPr indent="0" marL="0">
              <a:buNone/>
            </a:pPr>
            <a:r>
              <a:rPr lang="en-US" sz="12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φρουρό</a:t>
            </a:r>
            <a:pPr indent="0" marL="0">
              <a:buNone/>
            </a:pPr>
            <a:r>
              <a:rPr lang="en-US" sz="12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while n != 0.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379976"/>
            <a:ext cx="1143000" cy="2377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437997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 · for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837944" y="4361688"/>
            <a:ext cx="9134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Διατρέχουμε </a:t>
            </a:r>
            <a:pPr indent="0" marL="0">
              <a:buNone/>
            </a:pPr>
            <a:r>
              <a:rPr lang="en-US" sz="12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κάθε γράμμα</a:t>
            </a:r>
            <a:pPr indent="0" marL="0">
              <a:buNone/>
            </a:pPr>
            <a:r>
              <a:rPr lang="en-US" sz="12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του κειμένου → for ch in text.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Ο ΚΑΝΌΝΑΣ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Ξέρω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από πριν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πόσες φορές ή τι διατρέχω; →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Εξαρτάται από κάτι που θα συμβεί στην πορεία; →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ΕΡΓΑΣΤΉΡΙΟ 1 · ΕΎΚΟΛΟ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Προπαίδεια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394960" cy="91440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91440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5084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Διάβασε έναν αριθμό n και εμφάνισε την προπαίδειά του από το 1 έως το 10,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στοιχισμένη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6208" y="1417320"/>
            <a:ext cx="5257800" cy="1024128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36208" y="1417320"/>
            <a:ext cx="36576" cy="1024128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527048"/>
            <a:ext cx="4983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Αριθμός: 7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x  1 =   7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x  2 =  14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x 10 =  70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5146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788920"/>
            <a:ext cx="5394960" cy="866851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788920"/>
            <a:ext cx="36576" cy="866851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2898648"/>
            <a:ext cx="512064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"Αριθμός: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f"{n} x {i:2d} = {n * i:3d}"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6208" y="2578608"/>
            <a:ext cx="5257800" cy="1097280"/>
          </a:xfrm>
          <a:prstGeom prst="roundRect">
            <a:avLst>
              <a:gd name="adj" fmla="val 50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2688336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:2d και το :3d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01752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Κρατάνε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σταθερό πλάτος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ψηφίων, ώστε τα = να μπαίνουν το ένα κάτω από το άλλο.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7947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ΠΡΌΚΛΗΣΗ · ΌΛΗ Η ΠΡΟΠΑΊΔΕΙΑ ΜΕ ΈΝΘΕΤΟΥΣ ΒΡΌΧΟΥΣ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" y="4041648"/>
            <a:ext cx="5394960" cy="866851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041648"/>
            <a:ext cx="36576" cy="866851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151376"/>
            <a:ext cx="512064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f"{row * col:4d}"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36208" y="3840480"/>
            <a:ext cx="5257800" cy="1600200"/>
          </a:xfrm>
          <a:prstGeom prst="roundRect">
            <a:avLst>
              <a:gd name="adj" fmla="val 3429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3950208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Βρόχος μέσα σε βρόχο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279392"/>
            <a:ext cx="4928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κάθε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γραμμή, ο εσωτερικός βρόχος τρέχει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φορές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Σύνολο 10 × 10 = 100 εκτυπώσεις.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άδειο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print()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αλλάζει γραμμή.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ΓΙΑ ΤΟΥΣ ΓΡΉΓΟΡΟΥΣ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Βάλε και επικεφαλίδα: μια πρώτη γραμμή με τους αριθμούς 1 έως 10 πάνω από τον πίνακα.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ΕΡΓΑΣΤΉΡΙΟ 2 · ΜΈΤΡΙΟ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Είναι πρώτος;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27080" cy="73152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73152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1061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Διάβασε έναν ακέραιο και πες αν είναι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πρώτος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(διαιρείται μόνο με το 1 και τον εαυτό του). Αν δεν είναι, δείξε έναν διαιρέτη του.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331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606040"/>
            <a:ext cx="6035040" cy="1810512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606040"/>
            <a:ext cx="36576" cy="1810512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715768"/>
            <a:ext cx="57607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"Αριθμός: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"Δεν είναι πρώτος"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f"Όχι — διαιρείται με το {d}"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"Είναι πρώτος"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76288" y="2606040"/>
          <a:ext cx="4617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5204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91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ΑΠΟΤΈΛΕΣΜΑ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Δεν είναι πρώτος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Είναι πρώτος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91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1B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Όχι — διαιρείται με το 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9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876288" y="3977640"/>
            <a:ext cx="4617720" cy="1554480"/>
          </a:xfrm>
          <a:prstGeom prst="roundRect">
            <a:avLst>
              <a:gd name="adj" fmla="val 3529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40880" y="4087368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χρησιμοποιήσαμε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4416552"/>
            <a:ext cx="4288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if/else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για τις ειδικές περιπτώσεις ·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για τους πιθανούς διαιρέτες ·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για τη διαιρετότητα ·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για το «δεν βρέθηκε».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ΒΕΛΤΊΩΣΗ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Αρκεί να ψάξεις διαιρέτες μέχρι τη ρίζα του n: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range(2, int(n ** 0.5) + 1)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Για n = 1.000.003 κάνει 1.000 γύρους αντί για 1.000.000.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ΕΡΓΑΣΤΉΡΙΟ 3 · ΜΈΤΡΙΟ+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Μάντεψε τον αριθμό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927080" cy="73152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41148" cy="73152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09928"/>
            <a:ext cx="1061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υπολογιστής «σκέφτεται» έναν αριθμό από 1 έως 100. Ο παίκτης μαντεύει και παίρνει απάντηση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μεγαλύτερος / μικρότερος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μέχρι να τον βρει. Στο τέλος: πόσες προσπάθειες.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331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ΛΎΣΗ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606040"/>
            <a:ext cx="6035040" cy="2596896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606040"/>
            <a:ext cx="36576" cy="2596896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715768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"Μάντεψε (1-100): 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"Μεγαλύτερος!"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"Μικρότερος!"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f"Μπράβο! Το βρήκες σε {tries} προσπάθειες."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76288" y="2606040"/>
            <a:ext cx="4617720" cy="1325880"/>
          </a:xfrm>
          <a:prstGeom prst="roundRect">
            <a:avLst>
              <a:gd name="adj" fmla="val 413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0880" y="2715768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random.randint(1, 100)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3044952"/>
            <a:ext cx="4288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Τυχαίος ακέραιος από 1 έως 100,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μαζί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με τα δύο άκρα (σε αντίθεση με το range).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76288" y="4069080"/>
            <a:ext cx="4617720" cy="1463040"/>
          </a:xfrm>
          <a:prstGeom prst="roundRect">
            <a:avLst>
              <a:gd name="adj" fmla="val 375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4178808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έξυπνη στρατηγική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4507992"/>
            <a:ext cx="4288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Μάντευε πάντα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τη μέση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του διαστήματος που απομένει (50, μετά 25 ή 75…). Βρίσκεις κάθε αριθμό σε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πολύ 7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προσπάθειες.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ΠΡΏΤΟ ΠΑΙΧΝΊΔΙ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Ο βρόχος «περίμενε κίνηση → έλεγξε → απάντησε» είναι η ίδια ιδέα με τον βρόχο ενός παιχνιδιού στο pygame.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ΕΡΓΑΣΤΉΡΙΟ 4 · Ο ΣΤΌΧΟΣ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Μενού κονσόλας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6035040" cy="4123944"/>
          </a:xfrm>
          <a:prstGeom prst="rect">
            <a:avLst/>
          </a:prstGeom>
          <a:solidFill>
            <a:srgbClr val="FBFCFE"/>
          </a:solidFill>
          <a:ln w="9525">
            <a:solidFill>
              <a:srgbClr val="D3D9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71600"/>
            <a:ext cx="36576" cy="4123944"/>
          </a:xfrm>
          <a:prstGeom prst="rect">
            <a:avLst/>
          </a:prstGeom>
          <a:solidFill>
            <a:srgbClr val="9A6B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81328"/>
            <a:ext cx="5760720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"\n1. Προπαίδεια"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"2. Έλεγχος πρώτου"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"0. Έξοδος"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"Επιλογή: 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"Αριθμός: 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11):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f"{n} x {i} = {n * i}"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"Αριθμός: 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"Πρώτος"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"Όχι πρώτος"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"Αντίο!"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"Λάθος επιλογή"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1B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876288" y="1371600"/>
            <a:ext cx="4617720" cy="1234440"/>
          </a:xfrm>
          <a:prstGeom prst="rect">
            <a:avLst/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76288" y="1371600"/>
            <a:ext cx="41148" cy="1234440"/>
          </a:xfrm>
          <a:prstGeom prst="rect">
            <a:avLst/>
          </a:prstGeom>
          <a:solidFill>
            <a:srgbClr val="2F4B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40880" y="144475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ΕΚΦΏΝΗΣΗ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1664208"/>
            <a:ext cx="4306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Ένα πρόγραμμα που δείχνει μενού, εκτελεί την επιλογή και </a:t>
            </a:r>
            <a:pPr indent="0" marL="0">
              <a:buNone/>
            </a:pPr>
            <a:r>
              <a:rPr lang="en-US" sz="115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ξαναδείχνει το μενού</a:t>
            </a:r>
            <a:pPr indent="0" marL="0">
              <a:buNone/>
            </a:pPr>
            <a:r>
              <a:rPr lang="en-US" sz="115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μέχρι ο χρήστης να δώσει 0.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76288" y="2743200"/>
            <a:ext cx="4617720" cy="1325880"/>
          </a:xfrm>
          <a:prstGeom prst="roundRect">
            <a:avLst>
              <a:gd name="adj" fmla="val 413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0" y="2852928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Τα πάντα μαζί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3182112"/>
            <a:ext cx="4288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True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για το μενού,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if/elif/else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για την επιλογή,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μέσα στις επιλογές.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76288" y="4206240"/>
            <a:ext cx="4617720" cy="1325880"/>
          </a:xfrm>
          <a:prstGeom prst="roundRect">
            <a:avLst>
              <a:gd name="adj" fmla="val 4138"/>
            </a:avLst>
          </a:prstGeom>
          <a:solidFill>
            <a:srgbClr val="F6EDD6"/>
          </a:solidFill>
          <a:ln w="12700">
            <a:solidFill>
              <a:srgbClr val="F6ED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4315968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Γιατί "1" με εισαγωγικά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4645152"/>
            <a:ext cx="4288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Η επιλογή μένει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κείμενο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Έτσι, αν ο χρήστης γράψει «α», πάει στο else αντί να «σκάσει» το int().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ΕΠΈΚΤΑΣΗ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Πρόσθεσε επιλογή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Μάντεψε τον αριθμό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αντέγραψε τον κώδικα του Εργαστηρίου 3 μέσα σε ένα νέο elif.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40" kern="0" dirty="0">
                <a:solidFill>
                  <a:srgbClr val="2F4B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 </a:t>
            </a:r>
            <a:pPr indent="0" marL="0">
              <a:buNone/>
            </a:pPr>
            <a:r>
              <a:rPr lang="en-US" sz="1000" spc="140" kern="0" dirty="0">
                <a:solidFill>
                  <a:srgbClr val="8A9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ΣΎΝΟΨΗ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583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Τι κρατάμε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11296" cy="1737360"/>
          </a:xfrm>
          <a:prstGeom prst="roundRect">
            <a:avLst>
              <a:gd name="adj" fmla="val 315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0992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/ elif / else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39112"/>
            <a:ext cx="3182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Ελέγχει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από πάνω προς τα κάτω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εκτελεί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μόνο τον πρώτο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κλάδο που ισχύει. Η σειρά μετράει.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70832" y="1600200"/>
            <a:ext cx="3511296" cy="1737360"/>
          </a:xfrm>
          <a:prstGeom prst="roundRect">
            <a:avLst>
              <a:gd name="adj" fmla="val 315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5424" y="170992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35424" y="2039112"/>
            <a:ext cx="3182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Όσο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ισχύει η συνθήκη. Για άγνωστο πλήθος. Τρία μέρη: αρχικοποίηση, συνθήκη, μεταβολή.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74736" y="1600200"/>
            <a:ext cx="3511296" cy="1737360"/>
          </a:xfrm>
          <a:prstGeom prst="roundRect">
            <a:avLst>
              <a:gd name="adj" fmla="val 3158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39328" y="170992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339328" y="2039112"/>
            <a:ext cx="3182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Για κάθε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στοιχείο: range ή κείμενο. Το range </a:t>
            </a:r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δεν περιλαμβάνει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το τέλος.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6576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Με </a:t>
            </a:r>
            <a:pPr indent="0" marL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</a:t>
            </a:r>
            <a:pPr indent="0" marL="0">
              <a:buNone/>
            </a:pPr>
            <a:r>
              <a:rPr lang="en-US" sz="15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βγαίνεις, με </a:t>
            </a:r>
            <a:pPr indent="0" marL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continue</a:t>
            </a:r>
            <a:pPr indent="0" marL="0">
              <a:buNone/>
            </a:pPr>
            <a:r>
              <a:rPr lang="en-US" sz="15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πηδάς έναν γύρο, και το </a:t>
            </a:r>
            <a:pPr indent="0" marL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else</a:t>
            </a:r>
            <a:pPr indent="0" marL="0">
              <a:buNone/>
            </a:pPr>
            <a:r>
              <a:rPr lang="en-US" sz="15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του βρόχου σημαίνει «τελείωσα χωρίς break». Σήμερα έγραψες τέσσερα προγράμματα που </a:t>
            </a:r>
            <a:pPr indent="0" marL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αποφασίζουν</a:t>
            </a:r>
            <a:pPr indent="0" marL="0">
              <a:buNone/>
            </a:pPr>
            <a:r>
              <a:rPr lang="en-US" sz="15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και </a:t>
            </a:r>
            <a:pPr indent="0" marL="0">
              <a:buNone/>
            </a:pPr>
            <a:r>
              <a:rPr lang="en-US" sz="15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επαναλαμβάνουν</a:t>
            </a:r>
            <a:pPr indent="0" marL="0">
              <a:buNone/>
            </a:pPr>
            <a:r>
              <a:rPr lang="en-US" sz="1500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572000"/>
            <a:ext cx="10927080" cy="1143000"/>
          </a:xfrm>
          <a:prstGeom prst="roundRect">
            <a:avLst>
              <a:gd name="adj" fmla="val 4800"/>
            </a:avLst>
          </a:prstGeom>
          <a:solidFill>
            <a:srgbClr val="E4E8FB"/>
          </a:solidFill>
          <a:ln w="12700">
            <a:solidFill>
              <a:srgbClr val="E4E8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681728"/>
            <a:ext cx="1059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B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Επόμενη φορά · Δευ 19/10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010912"/>
            <a:ext cx="10597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Λίστες και πλειάδες</a:t>
            </a:r>
            <a:pPr indent="0" marL="0">
              <a:buNone/>
            </a:pPr>
            <a:r>
              <a:rPr lang="en-US" sz="1100" dirty="0">
                <a:solidFill>
                  <a:srgbClr val="4A5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πώς κρατάμε πολλές τιμές σε μία μεταβλητή — και πώς τις διατρέχουμε με το for που μάθαμε σήμερα.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6053328"/>
            <a:ext cx="11119104" cy="0"/>
          </a:xfrm>
          <a:prstGeom prst="line">
            <a:avLst/>
          </a:prstGeom>
          <a:noFill/>
          <a:ln w="9525">
            <a:solidFill>
              <a:srgbClr val="D3D9E4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566928" y="608990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9A6B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ΓΙΑ ΤΟ ΣΠΊΤΙ   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Διάβασε θετικό ακέραιο και εμφάνισε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πόσα ψηφία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έχει και </a:t>
            </a:r>
            <a:pPr indent="0" marL="0">
              <a:buNone/>
            </a:pPr>
            <a:r>
              <a:rPr lang="en-US" sz="1050" b="1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το άθροισμά τους</a:t>
            </a:r>
            <a:pPr indent="0" marL="0">
              <a:buNone/>
            </a:pPr>
            <a:r>
              <a:rPr lang="en-US" sz="1050" dirty="0">
                <a:solidFill>
                  <a:srgbClr val="8A91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(π.χ. 4721 → 4 ψηφία, άθροισμα 14). Με while, // και %.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Μάθημα 2 — if, while, for</dc:title>
  <dc:subject>PptxGenJS Presentation</dc:subject>
  <dc:creator>Λαμπρόπουλος Χρήστος</dc:creator>
  <cp:lastModifiedBy>Λαμπρόπουλος Χρήστος</cp:lastModifiedBy>
  <cp:revision>1</cp:revision>
  <dcterms:created xsi:type="dcterms:W3CDTF">2026-10-05T13:38:27Z</dcterms:created>
  <dcterms:modified xsi:type="dcterms:W3CDTF">2026-10-05T13:38:27Z</dcterms:modified>
</cp:coreProperties>
</file>