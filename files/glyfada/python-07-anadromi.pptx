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7"/>
    <p:sldId id="275" r:id="rId6"/>
    <p:sldId id="276" r:id="rId5"/>
    <p:sldId id="277" r:id="rId4"/>
    <p:sldId id="278" r:id="rId3"/>
    <p:sldId id="279" r:id="rId30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EK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6350">
            <a:solidFill>
              <a:srgbClr val="2F4B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26496" y="246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Γλυφάδας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&amp; Pygame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ΜΑΘΗΜΑ 7 ΑΠΟ 15 · ΥΠΟΕΝΟΤΗΤΑ 2.3.Γ.3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Αναδρομή και βιβλιοθήκες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Συναρτήσεις που καλούν τον εαυτό τους — και κώδικας που έγραψαν άλλοι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Θεωρία σε 14 μικρά βήματα + 18 ασκήσεις στο εργαστήριο          Διάρκεια: 4 ώρες (3η–6η)          24 διαφάνειες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Προγραμματισμός Εφαρμογών Διαδικτύου &amp; Παιχνιδιών (Python, Pygame) · Γ΄ εξάμηνο · Δευτέρα 16/11/2026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ΣΤΟΧΟΙ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θα ξέρεις στο τέλος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463040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γράφεις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αναδρομικές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συναρτήσεις: παραγοντικό, Fibonacci, δυαδική αναζήτηση.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847088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χρησιμοποιείς έτοιμες βιβλιοθήκες με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import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: math, random, datetime.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231136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φτιάχνεις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δικά σου modules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να ξέρεις τι κάνει το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if __name__ == "__main__"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615184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εγκαθιστάς πακέτα με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pip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να κάνεις πράξεις με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NumPy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γραφήματα με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Matplotlib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2999232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σχεδιάζεις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ένα πρόγραμμα σε μικρά υποπρογράμματα (τμηματικός προγραμματισμός).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84448"/>
            <a:ext cx="5303520" cy="160020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δουλεύουμε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49743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θεωρία είναι χωρισμένη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14 μικρά βήματα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Κάθε βήμα έχει πάνω δεξιά την ετικέτα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ΣΤΟ ΕΡΓΑΣΤΗΡΙΟ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τον αριθμό της άσκησης στο site.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Διαβάζεις τη διαφάνεια → λύνεις την άσκηση → πας στο επόμενο βήμα.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584448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69417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το εύκολο στο δύσκολο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502005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1–8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εύκολες, μία ιδέα τη φορά.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9–14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μέτριες, modules, NumPy, γραφήματα.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15–17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δύσκολες, όλα μαζί.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18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για το σπίτι.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NumPy και το Matplotlib φορτώνουν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μόνα τους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με το import (την πρώτη φορά θέλει λίγα δευτερόλεπτα).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ΖΕΣΤΑΜΑ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Θυμάσαι από το Μάθημα 6;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Πέντε γρήγορες ερωτήσεις, 5 λεπτά. Τι εμφανίζει κάθε γραμμή; Πρώτα σκέψου, μετά δες τη λύση.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73325"/>
            <a:ext cx="3108960" cy="10378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73325"/>
            <a:ext cx="36576" cy="10378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3053"/>
            <a:ext cx="2862072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y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58768" y="2473325"/>
          <a:ext cx="5029200" cy="201168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ΚΛΉΣΗ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ΕΜΦΑΝΊΖΕΙ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print(f(3))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y = 2 (προεπιλογή)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print(f(3, 10))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y = 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print(f(y=1, x=5))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ονομαστικά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print(f(f(2)))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f(4) → 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print(g(1))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2 · None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g χωρίς return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052560" y="2473325"/>
            <a:ext cx="2441448" cy="173736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2583053"/>
            <a:ext cx="21122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Σήμερα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2912237"/>
            <a:ext cx="2112264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Μια συνάρτηση μπορεί να καλέσει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άλλη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συνάρτηση — ακόμα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τον εαυτό της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!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ΣΥΝΔΕΣΗ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f(f(2))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είναι ήδη μια συνάρτηση μέσα σε συνάρτηση. Η αναδρομή πάει ένα βήμα παραπέρα.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ΤΟ ΣΧΕΔΙΟ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 ιδέες για τη σημερινή μέρα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 · ΑΝΑΔΡΟΜΗ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5394960" cy="1197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36576" cy="1197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14807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countdown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"Φύγαμε!"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countdown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καλεί τον εαυτό της!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 · ΒΙΒΛΙΟΘΗΚΕΣ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700784"/>
            <a:ext cx="5257800" cy="1197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36576" cy="1197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501091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numpy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np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matplotlib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pyplot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array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bar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"Γ"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show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27248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Αναδρομή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Λύνεις ένα πρόβλημα λύνοντας ένα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μικρότερο ίδιο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πρόβλημα, μέχρι να φτάσεις σε κάτι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πολύ απλό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127248"/>
            <a:ext cx="5257800" cy="11887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3697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Βιβλιοθήκες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Δεν γράφεις τα πάντα από την αρχή: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import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χρησιμοποιείς κώδικα που γράφτηκε και δοκιμάστηκε από άλλους.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ΤΑ ΒΗΜΑΤΑ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1–5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αναδρομή.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6–10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import, δικά μας modules, pip.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11–13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NumPy, Matplotlib.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14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σχεδιάζω σε υποπρογράμματα.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 ΑΠΟ 14 · ΑΝΑΔΡΟΜΗ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Μια συνάρτηση που καλεί τον εαυτό της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2494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2494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2066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countdown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η βάση: σταματάω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"Φύγαμε!"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countdown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το ίδιο, με μικρότερο n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countdown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Φύγαμε!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Αναδρομή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συνάρτηση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καλεί τον εαυτό της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ένα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πρόβλημα: countdown(3) → countdown(2) → countdown(1) → countdown(0).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βάση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περίπτωση που λύνεται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χωρίς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νέα κλήση: εδώ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 == 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Εκεί η αναδρομή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σταματά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Χωρίς βάση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συνάρτηση καλεί τον εαυτό της για πάντα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RecursionError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Κάθε αναδρομή χρειάζεται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βάση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μικραίνει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προς αυτήν.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ΙΔΙΟ ΜΕ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Ένα while που μετράει αντίστροφα. Η αναδρομή δεν κάνει κάτι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νέο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— σκέφτεται το πρόβλημα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αλλιώς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2 ΑΠΟ 14 · ΠΑΡΑΓΟΝΤΙΚΟ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παραγοντικό, αναδρομικά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ΑΝΑΔΡΟΜΙΚΑ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4112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4112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228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factorial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βάση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factorial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αναδρομικό βήμα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factorial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488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ΙΔΙΟ ΜΕ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78352"/>
            <a:ext cx="5394960" cy="1075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578352"/>
            <a:ext cx="36576" cy="10759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88080"/>
            <a:ext cx="5148072" cy="89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factorial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Ο ΟΡΙΣΜΟΣ ΑΠΟ ΤΑ ΜΑΘΗΜΑΤΙΚΑ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36208" y="1700784"/>
          <a:ext cx="5257800" cy="1673352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32461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ΠΏΣ ΓΡΆΦΕΤΑΙ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5!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5 · 4 · 3 · 2 · 1 = 120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5! με λόγια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5 ·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4!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γενικά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n! = n ·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(n − 1)!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βάση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1! = 1  (και 0! = 1)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236208" y="3474720"/>
            <a:ext cx="5257800" cy="107823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5844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συνταγή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13632"/>
            <a:ext cx="492861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1. Ποια είναι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πιο απλή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περίπτωση;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return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την απάντηση.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2. Αλλιώς: λύσε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πρόβλημα με κλήση στον εαυτό σου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χτίσε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πάνω του.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ΓΙΑΤΙ return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factorial(n - 1)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πρέπει να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δώσει πίσω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τιμή για να πολλαπλασιαστεί με το n. Χωρίς return → None.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3 ΑΠΟ 14 · ΣΤΟΙΒΑ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τρέχει μια αναδρομή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factorial(4): ΚΑΤΕΒΑΙΝΕΙ ↓ ΚΑΙ ΜΕΤΑ ΑΝΕΒΑΙΝΕΙ 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00784"/>
          <a:ext cx="5394960" cy="1892808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2286000"/>
                <a:gridCol w="15544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ΚΛΉΣΗ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ΠΕΡΙΜΈΝΕΙ…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ΔΊΝΕΙ ΠΊΣΩ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factorial(4)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 * factorial(3)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 * 6 =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factorial(3)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 * factorial(2)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 * 2 =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factorial(2)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 * factorial(1)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 * 1 =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factorial(1)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— βάση —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65760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ΧΩΡΙΣ ΒΑΣΗ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941064"/>
            <a:ext cx="5394960" cy="999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941064"/>
            <a:ext cx="36576" cy="9997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2"/>
            <a:ext cx="5148072" cy="816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forever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forever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δεν μικραίνει, δεν σταματά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forever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RecursionError: maximum recursion depth exceeded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Κατεβαίνει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κλήση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περιμένει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την επόμενη πριν τελειώσει. Οι κλήσεις «στοιβάζονται» η μία πάνω στην άλλη: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στοίβα κλήσεων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Ανεβαίνει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Μόλις φτάσει στη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βάση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οι τιμές γυρίζουν πίσω μία-μία: 1 → 2 → 6 → 24.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Δικές της μεταβλητές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κλήση έχει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δικό της 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(τοπική μεταβλητή, Μάθημα 6). Γι' αυτό δεν «μπερδεύονται».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55218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6191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Όριο ~1000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9110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Python επιτρέπει περίπου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1000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κλήσεις τη μία μέσα στην άλλη. Μετά → RecursionError.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Άσκηση 3: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sum_to(n)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= n + sum_to(n − 1). Ποια είναι η βάση;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ΣΤΟ ΧΑΡΤΙ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υπολογίζει; Τι εμφανίζει;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420624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36576" cy="12435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395935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2724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Β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410712"/>
            <a:ext cx="420624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410712"/>
            <a:ext cx="36576" cy="12435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395935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7488" y="1417320"/>
            <a:ext cx="644652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490472"/>
            <a:ext cx="62270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09928"/>
            <a:ext cx="622706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Γράψε τον πίνακα των κλήσεων, όπως στο βήμα 3. Τι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υπολογίζει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το f; Με ποια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σειρά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εμφανίζει το g;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377186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47488" y="2651506"/>
          <a:ext cx="6446520" cy="1673352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2103120"/>
                <a:gridCol w="29718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ΚΛΉΣΗ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ΥΠΟΛΟΓΊΖΕΙ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ΔΊΝΕΙ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f(472)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 + f(47)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f(47)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 + f(4)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 + f(0)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f(0)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βάση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47488" y="4480560"/>
            <a:ext cx="64465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90288"/>
            <a:ext cx="6117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απαντήσεις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919472"/>
            <a:ext cx="61173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άθροισμα των ψηφίων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(Μάθημα 1, τώρα αναδρομικά)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1 2 3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! Το print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μετά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την κλήση: τρέχει στο «ανέβασμα».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ΔΟΚΙΜΑΣΕ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Στο Β άλλαξε σειρά: πρώτα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print(n)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και μετά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g(n - 1)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Τι εμφανίζει τώρα;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4 ΑΠΟ 14 · FIBONACCI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 αναδρομικές κλήσεις: Fibonacci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5179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5179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fib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fib(0) = 0, fib(1) = 1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fib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fib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fib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 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0 1 1 2 3 5 8 13 21 34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9184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ΠΟΣΕΣ ΚΛΗΣΕΙΣ ΚΑΝΕΙ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575304"/>
          <a:ext cx="5394960" cy="1335024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33832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ΚΛΉΣΗ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ΣΥΝΟΛΙΚΈΣ ΚΛΉΣΕΙΣ ΤΟΥ FIB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fib(10)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fib(20)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21.891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fib(30)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2.692.537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Κάθε αριθμός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είναι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άθροισμα των δύο προηγούμενων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0, 1, 1, 2, 3, 5, 8, … Ο ορισμός είναι ήδη αναδρομικός!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 κλήσεις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fib(n) καλεί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fib(n − 1)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fib(n − 2). Τα ίδια νούμερα υπολογίζονται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ξανά και ξανά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507232"/>
            <a:ext cx="5257800" cy="107823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Αναδρομή ή βρόχος;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46144"/>
            <a:ext cx="492861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Ο βρόχος είναι συνήθως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πιο γρήγορος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Η αναδρομή κάνει τον κώδικα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πιο απλό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όταν το πρόβλημα «σπάει» σε μικρότερα ίδια: φάκελοι μέσα σε φακέλους, δέντρα, δυαδική αναζήτηση.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Μη δοκιμάσεις fib(30): θα αργήσει τόσο που ο έλεγχος θα το δει σαν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ατέρμονα βρόχο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5 ΑΠΟ 14 · ΔΥΑΔΙΚΗ ΑΝΑΖΗΤΗΣΗ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Ψάχνω στο μισό, κάθε φορά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3713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3713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2188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search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lst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hi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hi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δεν υπάρχει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hi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lst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βρέθηκε!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lst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search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lst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αριστερό μισό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search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lst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hi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δεξί μισό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search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ΨΑΧΝΩ ΤΟ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6208" y="1700784"/>
          <a:ext cx="5257800" cy="996696"/>
        </p:xfrm>
        <a:graphic>
          <a:graphicData uri="http://schemas.openxmlformats.org/drawingml/2006/table">
            <a:tbl>
              <a:tblPr firstRow="0" bandRow="0"/>
              <a:tblGrid>
                <a:gridCol w="822960"/>
                <a:gridCol w="822960"/>
                <a:gridCol w="822960"/>
                <a:gridCol w="1188720"/>
                <a:gridCol w="16002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LO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HI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MID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LST[MID]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ΆΡΑ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30 &gt; 17 → δεξιά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βρέθηκε: 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6208" y="283464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4436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Ταξινομημένη λίστα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7355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Δουλεύει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μόνο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αν η λίστα είναι ταξινομημένη. Κοιτάς τη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πετάς το μισό που δεν σε ενδιαφέρει.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87959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8932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Πόσο γρήγορη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1850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1.000.000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στοιχεία, η γραμμική αναζήτηση κάνει ως 1.000.000 συγκρίσεις· η δυαδική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περίπου 20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92455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03428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βάση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6346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Δύο βάσεις: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βρέθηκε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(return mid) 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 έμεινε τίποτα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(lo &gt; hi → return −1).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ΣΤΗΝ ΠΡΑΞΗ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Έτσι ψάχνεις λέξη σε λεξικό: ανοίγεις στη μέση, και πας μπροστά ή πίσω.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6 ΑΠΟ 14 ·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Έτοιμα εργαλεία: import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5 ·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ΟΛΟ ΤΟ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578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578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395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math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math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sqrt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math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math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ceil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math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floor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4.0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3.141592653589793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5 4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6252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ΜΟΝΟ ΟΣΑ ΘΕΛΩ · ΜΕ ΠΑΡΑΤΣΟΥΚΛΙ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45992"/>
            <a:ext cx="5394960" cy="14112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745992"/>
            <a:ext cx="36576" cy="14112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55720"/>
            <a:ext cx="5148072" cy="1228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math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sqrt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sqrt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math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factorial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4.442882938158366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ΤΡΕΙΣ ΤΡΟΠΟΙ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36208" y="1700784"/>
          <a:ext cx="5257800" cy="1335024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26974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ΓΡΆΦΩ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ΜΕΤΆ ΧΡΗΣΙΜΟΠΟΙΏ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import math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math.sqrt(2)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from math import sqrt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sqrt(2)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import math as m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m.sqrt(2)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236208" y="315468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6440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9359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Ένα αρχείο .py με έτοιμες συναρτήσεις.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math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έρχεται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μαζί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την Python: δεν θέλει εγκατάσταση.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19963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0936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Τα import στην αρχή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3854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Γράφε όλα τα import στις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πρώτες γραμμές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του προγράμματος. Έτσι φαίνεται αμέσως τι χρησιμοποιεί.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ΧΡΗΣΙΜΑ ΤΟΥ math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sqrt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ρίζα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pi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ceil / floor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στρογγύλεμα πάνω / κάτω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gcd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ΜΚΔ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factorial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sin, cos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τριγωνομετρία.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7 ΑΠΟ 14 · RANDOM · DATETIME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Τυχαίοι αριθμοί και ημερομηνίες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7 ·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RANDOM · ΑΣΚΗΣΗ 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761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7617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random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random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randint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ακέραιος από 1 έως 6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random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"Γ"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ένα στοιχείο της λίστας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cards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random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shuffle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cards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ανακάτεμα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cards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[3, 1, 5, 2, 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4540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DATETIME · ΑΣΚΗΣΗ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28872"/>
            <a:ext cx="5394960" cy="1456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928872"/>
            <a:ext cx="36576" cy="1456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38600"/>
            <a:ext cx="5148072" cy="1274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date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today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xmas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xmas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today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days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πόσες μέρες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xmas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weekday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0 = Δευτέρα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39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random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φορά βγαίνει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άλλο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αποτέλεσμα. Ζάρια, κάρτες, εχθροί σε τυχαίες θέσεις: το θέλει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κάθε παιχνίδι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462276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date(έτος, μήνας, μέρα)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1188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Μια ημερομηνία.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date.today()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δίνει τη σημερινή.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3679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Αφαίρεση ημερομηνιών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7571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xmas − today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δίνει διάρκεια·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.days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λέει πόσες μέρες. Η Python ξέρει πόσες μέρες έχει κάθε μήνας!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4381754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491482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weekday()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20666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= Δευτέρα, …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6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= Κυριακή. Με μια λίστα ονομάτων: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days[xmas.weekday()]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→ "Παρασκευή".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random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το είδες στο «Μάντεψε τον αριθμό» του Μαθήματος 2. Τώρα ξέρεις τι είναι το import του.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8 ΑΠΟ 14 · ΔΙΚΟ ΜΟΥ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Γράφω το δικό μου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ΑΡΧΕΙΟ grades_tools.py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9141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9141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73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average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"Ο μέσος όρος μιας λίστας."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"Οι βαθμοί από limit και πάνω."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9780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ΑΡΧΕΙΟ main.py · ΣΤΟΝ ΙΔΙΟ ΦΑΚΕΛΟ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81272"/>
            <a:ext cx="5394960" cy="13045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081272"/>
            <a:ext cx="36576" cy="13045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91000"/>
            <a:ext cx="5148072" cy="1121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grades_tools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grades_tools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average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grades_tools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13.0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[12, 17, 15]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Κάθε .py είναι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grades_tools.py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που έγραψες είναι module, όπως το math. Το φέρνεις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import grades_tools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(χωρίς .py).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Στον ίδιο φάκελο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Python ψάχνει πρώτα στον φάκελο του προγράμματος. Στο VS Code: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File → Open Folder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τα δύο αρχεία μέσα.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Γιατί;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Οι συναρτήσεις σου γράφονται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 φορά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τις χρησιμοποιούν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πολλά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προγράμματα. Και το main.py μένει μικρό και καθαρό.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Στην άσκηση 9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grades_tools.py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υπάρχει ήδη: εσύ γράφεις μόνο το main.py.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9 ΑΠΟ 14 · __MAIN__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if __name__ == "__main__":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7465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7465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temperature.py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c_to_f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c_to_f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δοκιμή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__name__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"__main__"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ΓΙΝΕΤΑΙ ΚΑΘΕ ΦΟΡΑ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6208" y="1700784"/>
          <a:ext cx="5257800" cy="996696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1554480"/>
                <a:gridCol w="14173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ΠΏΣ ΤΟ ΤΡΈΧΩ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__NAME__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ΤΡΈΧΕΙ MAIN;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py temperature.py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"__main__"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ναι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→ 77.0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import temperature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"temperature"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όχι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6208" y="283464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4436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__name__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7355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Μια μεταβλητή που φτιάχνει η ίδια η Python.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"__main__"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μόνο στο αρχείο που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τρέχεις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87959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8932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πρόβλημα που λύνει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1850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Χωρίς το if, ένα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import temperature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θα έτρεχε και τη δοκιμή, και θα έβλεπες ένα «77.0» από το πουθενά.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92455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03428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συνήθεια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6346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πρόγραμμα: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συναρτήσεις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πάνω, μια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main()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και τελευταίες γραμμές αυτό το if.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ΔΙΑΒΑΣΕ ΤΟ ΕΤΣΙ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«Αν αυτό το αρχείο είναι αυτό που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τρέχει ο χρήστης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— όχι import από άλλο — κάλεσε τη main.»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10 ΑΠΟ 14 · ΠΑΚΕΤΑ · PIP · VENV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Πακέτα και εγκατάσταση βιβλιοθηκών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ΕΝΑ ΠΑΚΕΤΟ ΕΙΝΑΙ ΦΑΚΕΛΟΣ ΜΕ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5394960" cy="1197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36576" cy="119786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14807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game/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├── main.py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└── tools/              ← πακέτο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  ├── __init__.py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  ├── grades.py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  └── files.py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8152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ΣΤΟ main.py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64992"/>
            <a:ext cx="5394960" cy="5577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364992"/>
            <a:ext cx="36576" cy="5577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tools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average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tools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ΣΤΟ ΤΕΡΜΑΤΙΚΟ ΤΟΥ VS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5257800" cy="10378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700784"/>
            <a:ext cx="36576" cy="10378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10512"/>
            <a:ext cx="5010912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&gt; py -m venv .venv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&gt; .venv\Scripts\activate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(.venv) &gt; pip install numpy matplotlib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(.venv) &gt; pip list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(.venv) &gt; py main.py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88036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9008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__init__.py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1927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Λέει στην Python «αυτός ο φάκελος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πακέτο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». Μπορεί να είναι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άδειο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92531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3504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pip install όνομα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6422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Κατεβάζει μια βιβλιοθήκη από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PyPI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(pypi.org, πάνω από 500.000 πακέτα) και την εγκαθιστά.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7027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08000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venv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40918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Ένα ξεχωριστό «κουτί» βιβλιοθηκών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για κάθε project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Έτσι δύο projects δεν μπερδεύουν τις εκδόσεις τους.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 ΤΟΥ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Δεν χρειάζεται pip: το NumPy και το Matplotlib φορτώνουν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μόνα τους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όταν γράψεις import.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11 ΑΠΟ 14 · NUMPY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NumPy: πράξεις σε όλο τον πίνακα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11 ·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218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218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2036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numpy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np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array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 ΟΛΑ μαζί, χωρίς for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[ 3.1   12.4    5.208]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array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mean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12.3 17.0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μόνο όσοι πέρασαν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[12. 17. 15.]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πόσοι πέρασαν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ΛΙΣΤΑ Ή ARRAY;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6208" y="1700784"/>
          <a:ext cx="5257800" cy="1335024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737360"/>
                <a:gridCol w="17830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ΠΡΆΞΗ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ΛΊΣΤΑ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NP.ARRAY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[1, 2] * 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[1, 2, 1, 2]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[2 4]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+ 10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TypeError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[11 12]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μέσος όρος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sum / len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.mean()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6208" y="274320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5292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import numpy as 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8211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np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το «παρατσούκλι» που χρησιμοποιούν όλοι.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np.array(λίστα)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φτιάχνει πίνακα NumPy.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78815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978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Όλα μαζί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2706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Μια πράξη σε array γίνεται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κάθε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στοιχείο. Και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πολύ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πιο γρήγορη από ένα for, γραμμένη σε C από κάτω.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83311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94284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grades &gt;=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7202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Δίνει πίνακα με True/False. Μέσα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[ ]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κρατά τα True·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.sum()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μετράει πόσα True.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ΠΟΥ ΤΟ ΒΡΙΣΚΕΙΣ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Πάνω στο NumPy στηρίζονται το pandas, το Matplotlib και σχεδόν όλη η τεχνητή νοημοσύνη στην Python.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12 ΑΠΟ 14 · MATPLOTLIB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Γράφημα γραμμής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6093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6093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matplotlib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pyplot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days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"Δευ"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"Τρι"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"Τετ"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"Πεμ"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"Παρ"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"Σαβ"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"Κυρ"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temps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plot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days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temps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marker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"o"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"Θερμοκρασίες εβδομάδας"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ylabel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"°C"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show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74720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plt.plot(x, 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13632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Ενώνει τα σημεία με γραμμή.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marker="o"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βάζει κουκκίδα σε κάθε σημείο.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19676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29404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plt.show()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58588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Ανοίγει το παράθυρο με το γράφημα. Χωρίς αυτό, στον υπολογιστή σου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θα δεις τίποτα.</a:t>
            </a:r>
          </a:p>
        </p:txBody>
      </p:sp>
      <p:pic>
        <p:nvPicPr>
          <p:cNvPr id="16" name="Picture 15" descr="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17320"/>
            <a:ext cx="5257800" cy="3259836"/>
          </a:xfrm>
          <a:prstGeom prst="rect">
            <a:avLst/>
          </a:prstGeom>
          <a:ln w="9525">
            <a:solidFill>
              <a:srgbClr val="D3D9E4"/>
            </a:solidFill>
          </a:ln>
        </p:spPr>
      </p:pic>
      <p:cxnSp>
        <p:nvCxnSpPr>
          <p:cNvPr id="17" name="Connector 16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ΤΙΤΛΟΙ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plt.title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τίτλος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plt.xlabel / plt.ylabel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ονόματα αξόνων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plt.grid()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πλέγμα.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13 ΑΠΟ 14 · MATPLOTLIB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Γράφημα ράβδων και αποθήκευση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761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7617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matplotlib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pyplot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"Ελένη"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"Μαρία"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bar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axhline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color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"red"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linestyle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"--"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η βάση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"Βαθμοί"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savefig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"grades.png"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 αρχείο εικόνας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show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57600"/>
            <a:ext cx="539496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plt.bar(ονόματα, τιμές)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50657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Μία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ράβδος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για κάθε στοιχείο. Για οριζόντιες: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plt.barh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32122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41850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plt.savefig("όνομα.png")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71034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Σώζει το γράφημα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εικόνα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για εργασία ή ιστοσελίδα. Γράψ'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πριν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show.</a:t>
            </a:r>
          </a:p>
        </p:txBody>
      </p:sp>
      <p:pic>
        <p:nvPicPr>
          <p:cNvPr id="16" name="Picture 15" descr="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17320"/>
            <a:ext cx="5257800" cy="3259836"/>
          </a:xfrm>
          <a:prstGeom prst="rect">
            <a:avLst/>
          </a:prstGeom>
          <a:ln w="9525">
            <a:solidFill>
              <a:srgbClr val="D3D9E4"/>
            </a:solidFill>
          </a:ln>
        </p:spPr>
      </p:pic>
      <p:cxnSp>
        <p:nvCxnSpPr>
          <p:cNvPr id="17" name="Connector 16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ΚΑΙ ΑΛΛΑ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plt.pie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πίτα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plt.scatter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σημεία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plt.hist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ιστόγραμμα. Ίδια λογική: δεδομένα → γράφημα → show.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ΒΙΒΛΙΟΘΗΚΕΣ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Ποια βιβλιοθήκη για ποια δουλειά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7863840" cy="361188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286000"/>
                <a:gridCol w="28346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ΘΈΛΩ ΝΑ…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ΒΙΒΛΙΟΘΉΚΗ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ΜΙΑ ΓΕΎΣΗ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κάνω πράξεις σε πίνακες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numpy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np.array([1, 2]) * 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διαβάσω / αναλύσω δεδομένα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pandas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pd.read_csv("grades.csv")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φτιάξω γραφήματα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matplotlib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plt.plot(x, y)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μιλήσω με ένα site / API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requests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requests.get(url).json()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φτιάξω ιστοσελίδα (backend)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flask · django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@app.route("/")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γράψω παιχνίδι 2D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pygame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Μαθήματα 14–15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δουλέψω με Excel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openpyxl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Μάθημα 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επεξεργαστώ εικόνες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pillow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Image.open("a.png")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τεχνητή νοημοσύνη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scikit-learn · pytorch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model.fit(X, y)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869680" y="1417320"/>
            <a:ext cx="2624328" cy="107823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34272" y="1527048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Έρχονται μαζί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34272" y="1856232"/>
            <a:ext cx="2295144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math, random, datetime, csv, os, json, sqlite3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χωρίς pip, μόνο import.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632710"/>
            <a:ext cx="2624328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742438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Θέλουν pip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3071622"/>
            <a:ext cx="2295144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Όλες οι άλλες του πίνακα: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pip install όνομα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677666"/>
            <a:ext cx="2624328" cy="107823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4272" y="3787394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διαλέγω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4116578"/>
            <a:ext cx="2295144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Ψάξε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pypi.org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στην τεκμηρίωση. Προτίμησε ό,τι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γνωστό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συντηρείται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Η ΔΥΝΑΜΗ ΤΗΣ PYTHON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 γλώσσα είναι απλή· η δύναμή της είναι οι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χιλιάδες βιβλιοθήκες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για σχεδόν κάθε δουλειά.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14 ΑΠΟ 14 · ΤΜΗΜΑΤΙΚΟΣ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Σχεδιάζω το πρόγραμμα σε υποπρογράμματα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16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41732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481328"/>
            <a:ext cx="2560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main()</a:t>
            </a:r>
          </a:p>
          <a:p>
            <a:pPr algn="ctr"/>
            <a:r>
              <a:rPr sz="9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πρόγραμμα βαθμολογιών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435608" y="2148840"/>
            <a:ext cx="2423160" cy="640080"/>
          </a:xfrm>
          <a:prstGeom prst="line">
            <a:avLst/>
          </a:prstGeom>
          <a:ln w="12700">
            <a:solidFill>
              <a:srgbClr val="8A91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2788920"/>
            <a:ext cx="1737360" cy="7315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1554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load_grades()</a:t>
            </a:r>
          </a:p>
          <a:p>
            <a:pPr algn="ctr"/>
            <a:r>
              <a:rPr sz="9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διαβάζει το CSV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355848" y="2148840"/>
            <a:ext cx="502920" cy="640080"/>
          </a:xfrm>
          <a:prstGeom prst="line">
            <a:avLst/>
          </a:prstGeom>
          <a:ln w="12700">
            <a:solidFill>
              <a:srgbClr val="8A91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87168" y="2788920"/>
            <a:ext cx="1737360" cy="7315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2852928"/>
            <a:ext cx="1554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summary()</a:t>
            </a:r>
          </a:p>
          <a:p>
            <a:pPr algn="ctr"/>
            <a:r>
              <a:rPr sz="9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μέσος όρος, πέρασαν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58768" y="2148840"/>
            <a:ext cx="1417320" cy="640080"/>
          </a:xfrm>
          <a:prstGeom prst="line">
            <a:avLst/>
          </a:prstGeom>
          <a:ln w="12700">
            <a:solidFill>
              <a:srgbClr val="8A91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07408" y="2788920"/>
            <a:ext cx="1737360" cy="7315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852928"/>
            <a:ext cx="1554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draw_chart()</a:t>
            </a:r>
          </a:p>
          <a:p>
            <a:pPr algn="ctr"/>
            <a:r>
              <a:rPr sz="9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γράφημα ράβδων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40480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ΤΟ main() ΔΙΑΒΑΖΕΤΑΙ ΣΑΝ ΠΕΡΙΛΗΨΗ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23944"/>
            <a:ext cx="5577840" cy="8778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123944"/>
            <a:ext cx="36576" cy="8778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33672"/>
            <a:ext cx="533095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load_grades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"grades.csv"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summary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draw_chart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417320"/>
            <a:ext cx="4910328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1527048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πάνω προς τα κάτω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1856232"/>
            <a:ext cx="4581144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Ξεκινάς από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μεγάλο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πρόβλημα και το σπας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Αν ένα κομμάτι είναι ακόμα μεγάλο, το ξανασπάς.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462276"/>
            <a:ext cx="4910328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572004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Ένα υποπρόγραμμα, μία δουλειά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2901188"/>
            <a:ext cx="4581144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συνάρτηση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δοκιμάζεται χωριστά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Αν κάτι χαλάσει, ξέρεις πού να ψάξεις.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507232"/>
            <a:ext cx="4910328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3616960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Και σε ομάδα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946144"/>
            <a:ext cx="4581144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Ο καθένας γράφει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συνάρτηση. Αρκεί να έχετε συμφωνήσει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παίρνει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επιστρέφει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552188"/>
            <a:ext cx="4910328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661916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Τμηματικός προγραμματισμός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991100"/>
            <a:ext cx="4581144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Αυτό ακριβώς ζητά ο οδηγός σπουδών: προγράμματα από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υποπρογράμματα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και αυτά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modules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Άσκηση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16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ο κατάλογος του Μαθήματος 5 σε υποπρογράμματα. Άσκηση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17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αυτό το σχέδιο, ολόκληρο.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18 ασκήσεις, βήμα-βήμα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5394960" cy="3858768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10515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Αντίστροφη μέτρηση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Παραγοντικό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Άθροισμα 1 έως n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Fibonacci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Κύκλος με math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Πόσα λεωφορεία;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Δύο ζάρια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Μέρες ως την προθεσμία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δικό μου module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417320"/>
          <a:ext cx="5257800" cy="3858768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9144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main() και το __name__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NumPy: τιμές με ΦΠΑ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NumPy: βαθμοί τάξης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Γράφημα γραμμής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Γράφημα ράβδων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Δυαδική αναζήτηση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Κατάλογος σε υποπρογράμματα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20, 22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Γράφημα βαθμών από CSV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Ο στόχος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20, 23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Πύργοι του Ανόι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Για το σπίτι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5–7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Εργαστήριο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Μάθημα 7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Στα γραφήματα, το ▶ Τρέξε δείχνει την εικόνα κάτω από τον κώδικα.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ΔΥΣΚΟΛΟ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κατάλογος σε υποπρογράμματα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6035040" cy="42153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421538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788152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load_phone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FileNotFoundError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pass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 </a:t>
            </a:r>
            <a:r>
              <a:rPr sz="8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1η φορά: κενός κατάλογος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save_phone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"w"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writerows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load_phone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"phone.csv"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"\n1.Προσθήκη 2.Όλοι 0.Έξοδος: 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"1"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"Όνομα: 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"Τηλέφωνο: 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"2"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f"{name}: {phone[name]}"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"0"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save_phone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"phone.csv"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break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__name__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"__main__"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700784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10512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Ίδιος κώδικας, άλλη μορφή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39696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Ό,τι έκανε ο κατάλογος του Μαθήματος 5, τώρα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συναρτήσεις +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main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2745740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85546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load_phone επιστρέφει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84652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Δεν αλλάζει καθολική μεταβλητή: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επιστρέφει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λεξικό (Μάθημα 6, βήμα 8).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3790696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900424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Επόμενο βήμα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29608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Οι δύο συναρτήσεις πάνε σε αρχείο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phone_tools.py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το main.py γράφει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import phone_tools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ΑΠΟ ΠΟΙΑ ΒΗΜΑΤΑ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9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__main__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14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υποπρογράμματα · Μάθημα 5: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csv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FileNotFoundError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Ο ΣΤΟΧΟΣ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Γράφημα βαθμολογιών από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6035040" cy="42153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421538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788152" cy="403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matplotlib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pyplot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load_grades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filename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next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</a:t>
            </a:r>
            <a:r>
              <a:rPr sz="8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επικεφαλίδα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summary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f"Μέσος όρος: {sum(grades) / len(grades):.2f}"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"Πέρασαν:"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"από"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draw_chart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bar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axhline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color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"red"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linestyle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"--"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"Βαθμολογίες τμήματος"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plt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show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load_grades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"grades.csv"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summary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draw_chart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__name__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"__main__"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960"/>
              </a:lnSpc>
            </a:pP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pic>
        <p:nvPicPr>
          <p:cNvPr id="11" name="Picture 10" descr="go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700784"/>
            <a:ext cx="4617720" cy="2610016"/>
          </a:xfrm>
          <a:prstGeom prst="rect">
            <a:avLst/>
          </a:prstGeom>
          <a:ln w="9525">
            <a:solidFill>
              <a:srgbClr val="D3D9E4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876288" y="4447960"/>
            <a:ext cx="4617720" cy="5425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76288" y="4447960"/>
            <a:ext cx="36576" cy="5425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4557688"/>
            <a:ext cx="4370832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Μέσος όρος: 12.60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Πέρασαν: 3 από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5088040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519776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main() στο τέλος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526952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Διαβάζεται σαν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περίληψη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φόρτωσε → σύνοψη → γράφημα. Κάθε βήμα είναι μια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δική του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συνάρτηση.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ΑΠΟ ΠΟΙΑ ΒΗΜΑΤΑ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13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bar, axhline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14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τρία υποπρογράμματα + main · Μάθημα 5: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csv.reader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ΣΥΝΟΨΗ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κρατάμε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6949440" cy="3694176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41148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ΘΈΛΩ ΝΑ…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ΓΡΆΦΩ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γράψω αναδρομή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βάση: return … · αλλιώς: f(μικρότερο)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φέρω ένα module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import math · from math import sqrt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δώσω παρατσούκλι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import numpy as np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τυχαίο ακέραιο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random.randint(1, 6)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μέρες ανάμεσα σε ημερομηνίες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(d2 - d1).days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τρέξω κώδικα μόνο αν τρέχει το αρχείο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if __name__ == "__main__":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εγκαταστήσω βιβλιοθήκη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pip install numpy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πράξη σε όλο τον πίνακα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np.array(λ) * 2 · a[a &gt;= 10]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γράφημα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plt.plot · plt.bar · plt.show()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90688" y="1417320"/>
            <a:ext cx="37033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527048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Μικρά κομμάτια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856232"/>
            <a:ext cx="33741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αναδρομή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σπάει το πρόβλημα σε μικρότερα ίδια. 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modules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σπάνε το πρόγραμμα σε αρχεία.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688" y="2462276"/>
            <a:ext cx="37033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572004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Επόμενη φορά · Δευ 23/11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901188"/>
            <a:ext cx="33741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Συμβολοσειρές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split, join, replace, f-strings με στοίχιση, και τα ελληνικά σε UTF-8.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 ΤΟ ΣΠΙΤΙ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Άσκηση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18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στο εργαστήριο: οι Πύργοι του Ανόι, η πιο διάσημη αναδρομή (βήματα 1–3).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Μάθημα 5 — Αρχεία και εξαιρέσεις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2026-10-11T20:36:57Z</dcterms:created>
  <dcterms:modified xsi:type="dcterms:W3CDTF">2026-10-11T20:36:57Z</dcterms:modified>
</cp:coreProperties>
</file>